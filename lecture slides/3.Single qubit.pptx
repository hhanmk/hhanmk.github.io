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307" r:id="rId3"/>
    <p:sldId id="344" r:id="rId4"/>
    <p:sldId id="306" r:id="rId5"/>
    <p:sldId id="287" r:id="rId6"/>
    <p:sldId id="305" r:id="rId7"/>
    <p:sldId id="304" r:id="rId8"/>
    <p:sldId id="303" r:id="rId9"/>
    <p:sldId id="348" r:id="rId10"/>
    <p:sldId id="257" r:id="rId11"/>
    <p:sldId id="308" r:id="rId12"/>
    <p:sldId id="345" r:id="rId13"/>
    <p:sldId id="346" r:id="rId14"/>
    <p:sldId id="347" r:id="rId15"/>
    <p:sldId id="309" r:id="rId16"/>
    <p:sldId id="310" r:id="rId17"/>
    <p:sldId id="313" r:id="rId18"/>
    <p:sldId id="311" r:id="rId19"/>
    <p:sldId id="312" r:id="rId20"/>
    <p:sldId id="314" r:id="rId21"/>
    <p:sldId id="349" r:id="rId22"/>
    <p:sldId id="316" r:id="rId23"/>
    <p:sldId id="315" r:id="rId24"/>
    <p:sldId id="318" r:id="rId25"/>
    <p:sldId id="319" r:id="rId26"/>
    <p:sldId id="320" r:id="rId27"/>
    <p:sldId id="321" r:id="rId28"/>
    <p:sldId id="322" r:id="rId29"/>
    <p:sldId id="350" r:id="rId30"/>
    <p:sldId id="351" r:id="rId31"/>
    <p:sldId id="326" r:id="rId32"/>
    <p:sldId id="327" r:id="rId33"/>
    <p:sldId id="352" r:id="rId34"/>
    <p:sldId id="324" r:id="rId35"/>
    <p:sldId id="325" r:id="rId36"/>
    <p:sldId id="323" r:id="rId37"/>
    <p:sldId id="328" r:id="rId38"/>
    <p:sldId id="353" r:id="rId39"/>
    <p:sldId id="338" r:id="rId40"/>
    <p:sldId id="339" r:id="rId41"/>
    <p:sldId id="340" r:id="rId42"/>
    <p:sldId id="341" r:id="rId43"/>
    <p:sldId id="342" r:id="rId44"/>
    <p:sldId id="343" r:id="rId45"/>
    <p:sldId id="354" r:id="rId46"/>
    <p:sldId id="356" r:id="rId47"/>
    <p:sldId id="357" r:id="rId48"/>
    <p:sldId id="358" r:id="rId49"/>
    <p:sldId id="372" r:id="rId50"/>
    <p:sldId id="355" r:id="rId51"/>
    <p:sldId id="359" r:id="rId52"/>
    <p:sldId id="360" r:id="rId53"/>
    <p:sldId id="337" r:id="rId5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60" d="100"/>
          <a:sy n="60" d="100"/>
        </p:scale>
        <p:origin x="72" y="1272"/>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F7EABD-121C-4E1C-A30D-B7AAAB8F758C}" type="datetimeFigureOut">
              <a:rPr lang="ko-KR" altLang="en-US" smtClean="0"/>
              <a:t>2026-03-31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9CA3E8-17C6-46E1-AB81-2C03EE0FF831}" type="slidenum">
              <a:rPr lang="ko-KR" altLang="en-US" smtClean="0"/>
              <a:t>‹#›</a:t>
            </a:fld>
            <a:endParaRPr lang="ko-KR" altLang="en-US"/>
          </a:p>
        </p:txBody>
      </p:sp>
    </p:spTree>
    <p:extLst>
      <p:ext uri="{BB962C8B-B14F-4D97-AF65-F5344CB8AC3E}">
        <p14:creationId xmlns:p14="http://schemas.microsoft.com/office/powerpoint/2010/main" val="9884994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10</a:t>
            </a:fld>
            <a:endParaRPr lang="en-US"/>
          </a:p>
        </p:txBody>
      </p:sp>
    </p:spTree>
    <p:extLst>
      <p:ext uri="{BB962C8B-B14F-4D97-AF65-F5344CB8AC3E}">
        <p14:creationId xmlns:p14="http://schemas.microsoft.com/office/powerpoint/2010/main" val="3537405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11</a:t>
            </a:fld>
            <a:endParaRPr lang="en-US"/>
          </a:p>
        </p:txBody>
      </p:sp>
    </p:spTree>
    <p:extLst>
      <p:ext uri="{BB962C8B-B14F-4D97-AF65-F5344CB8AC3E}">
        <p14:creationId xmlns:p14="http://schemas.microsoft.com/office/powerpoint/2010/main" val="319828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12</a:t>
            </a:fld>
            <a:endParaRPr lang="en-US"/>
          </a:p>
        </p:txBody>
      </p:sp>
    </p:spTree>
    <p:extLst>
      <p:ext uri="{BB962C8B-B14F-4D97-AF65-F5344CB8AC3E}">
        <p14:creationId xmlns:p14="http://schemas.microsoft.com/office/powerpoint/2010/main" val="2263100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13</a:t>
            </a:fld>
            <a:endParaRPr lang="en-US"/>
          </a:p>
        </p:txBody>
      </p:sp>
    </p:spTree>
    <p:extLst>
      <p:ext uri="{BB962C8B-B14F-4D97-AF65-F5344CB8AC3E}">
        <p14:creationId xmlns:p14="http://schemas.microsoft.com/office/powerpoint/2010/main" val="1280011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14</a:t>
            </a:fld>
            <a:endParaRPr lang="en-US"/>
          </a:p>
        </p:txBody>
      </p:sp>
    </p:spTree>
    <p:extLst>
      <p:ext uri="{BB962C8B-B14F-4D97-AF65-F5344CB8AC3E}">
        <p14:creationId xmlns:p14="http://schemas.microsoft.com/office/powerpoint/2010/main" val="1527607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15</a:t>
            </a:fld>
            <a:endParaRPr lang="en-US"/>
          </a:p>
        </p:txBody>
      </p:sp>
    </p:spTree>
    <p:extLst>
      <p:ext uri="{BB962C8B-B14F-4D97-AF65-F5344CB8AC3E}">
        <p14:creationId xmlns:p14="http://schemas.microsoft.com/office/powerpoint/2010/main" val="293963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16</a:t>
            </a:fld>
            <a:endParaRPr lang="en-US"/>
          </a:p>
        </p:txBody>
      </p:sp>
    </p:spTree>
    <p:extLst>
      <p:ext uri="{BB962C8B-B14F-4D97-AF65-F5344CB8AC3E}">
        <p14:creationId xmlns:p14="http://schemas.microsoft.com/office/powerpoint/2010/main" val="116146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17</a:t>
            </a:fld>
            <a:endParaRPr lang="en-US"/>
          </a:p>
        </p:txBody>
      </p:sp>
    </p:spTree>
    <p:extLst>
      <p:ext uri="{BB962C8B-B14F-4D97-AF65-F5344CB8AC3E}">
        <p14:creationId xmlns:p14="http://schemas.microsoft.com/office/powerpoint/2010/main" val="33537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18</a:t>
            </a:fld>
            <a:endParaRPr lang="en-US"/>
          </a:p>
        </p:txBody>
      </p:sp>
    </p:spTree>
    <p:extLst>
      <p:ext uri="{BB962C8B-B14F-4D97-AF65-F5344CB8AC3E}">
        <p14:creationId xmlns:p14="http://schemas.microsoft.com/office/powerpoint/2010/main" val="3174760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19</a:t>
            </a:fld>
            <a:endParaRPr lang="en-US"/>
          </a:p>
        </p:txBody>
      </p:sp>
    </p:spTree>
    <p:extLst>
      <p:ext uri="{BB962C8B-B14F-4D97-AF65-F5344CB8AC3E}">
        <p14:creationId xmlns:p14="http://schemas.microsoft.com/office/powerpoint/2010/main" val="1904632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20</a:t>
            </a:fld>
            <a:endParaRPr lang="en-US"/>
          </a:p>
        </p:txBody>
      </p:sp>
    </p:spTree>
    <p:extLst>
      <p:ext uri="{BB962C8B-B14F-4D97-AF65-F5344CB8AC3E}">
        <p14:creationId xmlns:p14="http://schemas.microsoft.com/office/powerpoint/2010/main" val="3184970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31</a:t>
            </a:fld>
            <a:endParaRPr lang="en-US"/>
          </a:p>
        </p:txBody>
      </p:sp>
    </p:spTree>
    <p:extLst>
      <p:ext uri="{BB962C8B-B14F-4D97-AF65-F5344CB8AC3E}">
        <p14:creationId xmlns:p14="http://schemas.microsoft.com/office/powerpoint/2010/main" val="1986764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32</a:t>
            </a:fld>
            <a:endParaRPr lang="en-US"/>
          </a:p>
        </p:txBody>
      </p:sp>
    </p:spTree>
    <p:extLst>
      <p:ext uri="{BB962C8B-B14F-4D97-AF65-F5344CB8AC3E}">
        <p14:creationId xmlns:p14="http://schemas.microsoft.com/office/powerpoint/2010/main" val="2261983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34</a:t>
            </a:fld>
            <a:endParaRPr lang="en-US"/>
          </a:p>
        </p:txBody>
      </p:sp>
    </p:spTree>
    <p:extLst>
      <p:ext uri="{BB962C8B-B14F-4D97-AF65-F5344CB8AC3E}">
        <p14:creationId xmlns:p14="http://schemas.microsoft.com/office/powerpoint/2010/main" val="344600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we really have to dig into the physics of how information is processed. Think about how information is stored on your hard drive, say. Ok, hard drives aren’t made like this anymore, but at some point they were stacks of discs and the data is stored via the orientation of magnetic material on disks. If the magnetization is pointing up, or down, that corresponds to 0 or 1. So when you erase or reset </a:t>
            </a:r>
            <a:r>
              <a:rPr lang="en-US"/>
              <a:t>some information, </a:t>
            </a:r>
          </a:p>
        </p:txBody>
      </p:sp>
      <p:sp>
        <p:nvSpPr>
          <p:cNvPr id="4" name="Slide Number Placeholder 3"/>
          <p:cNvSpPr>
            <a:spLocks noGrp="1"/>
          </p:cNvSpPr>
          <p:nvPr>
            <p:ph type="sldNum" sz="quarter" idx="5"/>
          </p:nvPr>
        </p:nvSpPr>
        <p:spPr/>
        <p:txBody>
          <a:bodyPr/>
          <a:lstStyle/>
          <a:p>
            <a:fld id="{EF1EDA97-CC10-0D46-BAAF-B4D45128B754}" type="slidenum">
              <a:rPr lang="en-US" smtClean="0"/>
              <a:t>35</a:t>
            </a:fld>
            <a:endParaRPr lang="en-US"/>
          </a:p>
        </p:txBody>
      </p:sp>
    </p:spTree>
    <p:extLst>
      <p:ext uri="{BB962C8B-B14F-4D97-AF65-F5344CB8AC3E}">
        <p14:creationId xmlns:p14="http://schemas.microsoft.com/office/powerpoint/2010/main" val="2339168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smtClean="0"/>
              <a:t>마스터 제목 스타일 편집</a:t>
            </a:r>
            <a:endParaRPr lang="ko-KR" altLang="en-US"/>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smtClean="0"/>
              <a:t>클릭하여 마스터 부제목 스타일 편집</a:t>
            </a:r>
            <a:endParaRPr lang="ko-KR" altLang="en-US"/>
          </a:p>
        </p:txBody>
      </p:sp>
      <p:sp>
        <p:nvSpPr>
          <p:cNvPr id="4" name="날짜 개체 틀 3"/>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1543636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414005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smtClean="0"/>
              <a:t>마스터 텍스트 스타일 편집</a:t>
            </a:r>
          </a:p>
        </p:txBody>
      </p:sp>
      <p:sp>
        <p:nvSpPr>
          <p:cNvPr id="4" name="날짜 개체 틀 3"/>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2154600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838200" y="1825625"/>
            <a:ext cx="5181600"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6172200" y="1825625"/>
            <a:ext cx="5181600"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1856718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4082596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1348691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33960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smtClean="0"/>
              <a:t>마스터 제목 스타일 편집</a:t>
            </a:r>
            <a:endParaRPr lang="ko-KR" altLang="en-US"/>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933052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3658421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2188561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2365098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B8B3D6-5FF2-4C83-B3C3-C5C37AAB6EE8}" type="datetimeFigureOut">
              <a:rPr lang="ko-KR" altLang="en-US" smtClean="0"/>
              <a:t>2026-03-31</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709058-EE6E-4782-B725-5941026A47FB}" type="slidenum">
              <a:rPr lang="ko-KR" altLang="en-US" smtClean="0"/>
              <a:t>‹#›</a:t>
            </a:fld>
            <a:endParaRPr lang="ko-KR" altLang="en-US"/>
          </a:p>
        </p:txBody>
      </p:sp>
    </p:spTree>
    <p:extLst>
      <p:ext uri="{BB962C8B-B14F-4D97-AF65-F5344CB8AC3E}">
        <p14:creationId xmlns:p14="http://schemas.microsoft.com/office/powerpoint/2010/main" val="3108009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10.png"/><Relationship Id="rId3" Type="http://schemas.openxmlformats.org/officeDocument/2006/relationships/image" Target="../media/image610.png"/><Relationship Id="rId7" Type="http://schemas.openxmlformats.org/officeDocument/2006/relationships/image" Target="../media/image1010.png"/><Relationship Id="rId2"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910.png"/><Relationship Id="rId5" Type="http://schemas.openxmlformats.org/officeDocument/2006/relationships/image" Target="../media/image810.png"/><Relationship Id="rId4" Type="http://schemas.openxmlformats.org/officeDocument/2006/relationships/image" Target="../media/image710.png"/><Relationship Id="rId9" Type="http://schemas.openxmlformats.org/officeDocument/2006/relationships/image" Target="../media/image1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wmf"/><Relationship Id="rId3" Type="http://schemas.openxmlformats.org/officeDocument/2006/relationships/notesSlide" Target="../notesSlides/notesSlide1.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30.png"/><Relationship Id="rId5" Type="http://schemas.openxmlformats.org/officeDocument/2006/relationships/image" Target="../media/image1.wmf"/><Relationship Id="rId4" Type="http://schemas.openxmlformats.org/officeDocument/2006/relationships/oleObject" Target="../embeddings/oleObject1.bin"/><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71.png"/></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0.png"/><Relationship Id="rId5" Type="http://schemas.openxmlformats.org/officeDocument/2006/relationships/image" Target="../media/image25.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90.png"/><Relationship Id="rId7" Type="http://schemas.openxmlformats.org/officeDocument/2006/relationships/image" Target="../media/image2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1.png"/><Relationship Id="rId5" Type="http://schemas.openxmlformats.org/officeDocument/2006/relationships/image" Target="../media/image24.png"/><Relationship Id="rId4" Type="http://schemas.openxmlformats.org/officeDocument/2006/relationships/image" Target="../media/image200.pn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4.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24.png"/><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3.png"/><Relationship Id="rId7"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24.png"/><Relationship Id="rId4" Type="http://schemas.openxmlformats.org/officeDocument/2006/relationships/image" Target="../media/image54.png"/><Relationship Id="rId9" Type="http://schemas.openxmlformats.org/officeDocument/2006/relationships/image" Target="../media/image58.png"/></Relationships>
</file>

<file path=ppt/slides/_rels/slide35.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570.png"/><Relationship Id="rId4" Type="http://schemas.openxmlformats.org/officeDocument/2006/relationships/image" Target="../media/image560.png"/></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7.xml.rels><?xml version="1.0" encoding="UTF-8" standalone="yes"?>
<Relationships xmlns="http://schemas.openxmlformats.org/package/2006/relationships"><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2.png"/><Relationship Id="rId7" Type="http://schemas.openxmlformats.org/officeDocument/2006/relationships/image" Target="../media/image65.png"/><Relationship Id="rId2" Type="http://schemas.openxmlformats.org/officeDocument/2006/relationships/image" Target="../media/image611.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24.png"/><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74.png"/><Relationship Id="rId4" Type="http://schemas.openxmlformats.org/officeDocument/2006/relationships/image" Target="../media/image73.png"/></Relationships>
</file>

<file path=ppt/slides/_rels/slide42.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 Type="http://schemas.openxmlformats.org/officeDocument/2006/relationships/image" Target="../media/image68.png"/><Relationship Id="rId16"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5" Type="http://schemas.openxmlformats.org/officeDocument/2006/relationships/image" Target="../media/image8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s>
</file>

<file path=ppt/slides/_rels/slide43.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24.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91.png"/><Relationship Id="rId2" Type="http://schemas.openxmlformats.org/officeDocument/2006/relationships/image" Target="../media/image68.png"/><Relationship Id="rId16"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5" Type="http://schemas.openxmlformats.org/officeDocument/2006/relationships/image" Target="../media/image900.png"/><Relationship Id="rId10" Type="http://schemas.openxmlformats.org/officeDocument/2006/relationships/image" Target="../media/image90.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4.png"/><Relationship Id="rId7" Type="http://schemas.openxmlformats.org/officeDocument/2006/relationships/image" Target="../media/image97.png"/><Relationship Id="rId2"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9.png"/><Relationship Id="rId7" Type="http://schemas.openxmlformats.org/officeDocument/2006/relationships/image" Target="../media/image96.png"/><Relationship Id="rId2"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24.png"/><Relationship Id="rId4" Type="http://schemas.openxmlformats.org/officeDocument/2006/relationships/image" Target="../media/image94.png"/><Relationship Id="rId9" Type="http://schemas.openxmlformats.org/officeDocument/2006/relationships/image" Target="../media/image98.png"/></Relationships>
</file>

<file path=ppt/slides/_rels/slide49.xml.rels><?xml version="1.0" encoding="UTF-8" standalone="yes"?>
<Relationships xmlns="http://schemas.openxmlformats.org/package/2006/relationships"><Relationship Id="rId3" Type="http://schemas.openxmlformats.org/officeDocument/2006/relationships/image" Target="../media/image102.png"/><Relationship Id="rId7" Type="http://schemas.openxmlformats.org/officeDocument/2006/relationships/image" Target="../media/image911.png"/><Relationship Id="rId2" Type="http://schemas.openxmlformats.org/officeDocument/2006/relationships/image" Target="../media/image100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103.png"/><Relationship Id="rId4" Type="http://schemas.openxmlformats.org/officeDocument/2006/relationships/image" Target="../media/image1020.png"/></Relationships>
</file>

<file path=ppt/slides/_rels/slide5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24.png"/><Relationship Id="rId3" Type="http://schemas.openxmlformats.org/officeDocument/2006/relationships/image" Target="../media/image100.png"/><Relationship Id="rId7" Type="http://schemas.openxmlformats.org/officeDocument/2006/relationships/image" Target="../media/image110.png"/><Relationship Id="rId12" Type="http://schemas.openxmlformats.org/officeDocument/2006/relationships/image" Target="../media/image115.png"/><Relationship Id="rId2"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109.png"/><Relationship Id="rId11" Type="http://schemas.openxmlformats.org/officeDocument/2006/relationships/image" Target="../media/image114.png"/><Relationship Id="rId5" Type="http://schemas.openxmlformats.org/officeDocument/2006/relationships/image" Target="../media/image108.png"/><Relationship Id="rId10" Type="http://schemas.openxmlformats.org/officeDocument/2006/relationships/image" Target="../media/image113.png"/><Relationship Id="rId4" Type="http://schemas.openxmlformats.org/officeDocument/2006/relationships/image" Target="../media/image107.png"/><Relationship Id="rId9" Type="http://schemas.openxmlformats.org/officeDocument/2006/relationships/image" Target="../media/image112.png"/><Relationship Id="rId14" Type="http://schemas.openxmlformats.org/officeDocument/2006/relationships/image" Target="../media/image116.png"/></Relationships>
</file>

<file path=ppt/slides/_rels/slide52.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8.png"/><Relationship Id="rId7" Type="http://schemas.openxmlformats.org/officeDocument/2006/relationships/image" Target="../media/image122.png"/><Relationship Id="rId2"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121.png"/><Relationship Id="rId11" Type="http://schemas.openxmlformats.org/officeDocument/2006/relationships/image" Target="../media/image24.png"/><Relationship Id="rId5" Type="http://schemas.openxmlformats.org/officeDocument/2006/relationships/image" Target="../media/image12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480683"/>
            <a:ext cx="9144000" cy="2387600"/>
          </a:xfrm>
        </p:spPr>
        <p:txBody>
          <a:bodyPr/>
          <a:lstStyle/>
          <a:p>
            <a:r>
              <a:rPr lang="en-US" altLang="ko-KR" dirty="0" smtClean="0"/>
              <a:t>Introduction to </a:t>
            </a:r>
            <a:br>
              <a:rPr lang="en-US" altLang="ko-KR" dirty="0" smtClean="0"/>
            </a:br>
            <a:r>
              <a:rPr lang="en-US" altLang="ko-KR" dirty="0" smtClean="0"/>
              <a:t>Quantum Algorithms</a:t>
            </a:r>
            <a:endParaRPr lang="ko-KR" altLang="en-US" dirty="0"/>
          </a:p>
        </p:txBody>
      </p:sp>
      <p:sp>
        <p:nvSpPr>
          <p:cNvPr id="3" name="부제목 2"/>
          <p:cNvSpPr>
            <a:spLocks noGrp="1"/>
          </p:cNvSpPr>
          <p:nvPr>
            <p:ph type="subTitle" idx="1"/>
          </p:nvPr>
        </p:nvSpPr>
        <p:spPr>
          <a:xfrm>
            <a:off x="1524000" y="2960357"/>
            <a:ext cx="9144000" cy="3648989"/>
          </a:xfrm>
        </p:spPr>
        <p:txBody>
          <a:bodyPr/>
          <a:lstStyle/>
          <a:p>
            <a:r>
              <a:rPr lang="en-US" altLang="ko-KR" dirty="0" smtClean="0"/>
              <a:t>CS.49900	(Spring 2026)</a:t>
            </a:r>
          </a:p>
          <a:p>
            <a:endParaRPr lang="en-US" altLang="ko-KR" dirty="0"/>
          </a:p>
          <a:p>
            <a:endParaRPr lang="en-US" altLang="ko-KR" dirty="0"/>
          </a:p>
          <a:p>
            <a:r>
              <a:rPr lang="en-US" altLang="ko-KR" sz="3200" dirty="0" smtClean="0"/>
              <a:t>Basics of quantum </a:t>
            </a:r>
            <a:r>
              <a:rPr lang="en-US" altLang="ko-KR" sz="3200" dirty="0" smtClean="0"/>
              <a:t>computing:</a:t>
            </a:r>
            <a:endParaRPr lang="en-US" altLang="ko-KR" sz="3200" dirty="0"/>
          </a:p>
          <a:p>
            <a:r>
              <a:rPr lang="en-US" altLang="ko-KR" sz="2800" dirty="0" smtClean="0"/>
              <a:t>Single qubit and applications</a:t>
            </a:r>
          </a:p>
        </p:txBody>
      </p:sp>
    </p:spTree>
    <p:extLst>
      <p:ext uri="{BB962C8B-B14F-4D97-AF65-F5344CB8AC3E}">
        <p14:creationId xmlns:p14="http://schemas.microsoft.com/office/powerpoint/2010/main" val="19112710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Administration</a:t>
            </a:r>
            <a:endParaRPr lang="ko-KR" altLang="en-US" dirty="0"/>
          </a:p>
        </p:txBody>
      </p:sp>
      <p:sp>
        <p:nvSpPr>
          <p:cNvPr id="3" name="내용 개체 틀 2"/>
          <p:cNvSpPr>
            <a:spLocks noGrp="1"/>
          </p:cNvSpPr>
          <p:nvPr>
            <p:ph idx="1"/>
          </p:nvPr>
        </p:nvSpPr>
        <p:spPr/>
        <p:txBody>
          <a:bodyPr>
            <a:normAutofit/>
          </a:bodyPr>
          <a:lstStyle/>
          <a:p>
            <a:r>
              <a:rPr lang="en-US" altLang="ko-KR" sz="2400" dirty="0" smtClean="0"/>
              <a:t>Grade: A-F</a:t>
            </a:r>
          </a:p>
          <a:p>
            <a:endParaRPr lang="en-US" altLang="ko-KR" sz="2400" dirty="0" smtClean="0"/>
          </a:p>
          <a:p>
            <a:r>
              <a:rPr lang="en-US" altLang="ko-KR" sz="2400" dirty="0" smtClean="0"/>
              <a:t>To participate the presentations, sends an email until March 19</a:t>
            </a:r>
            <a:r>
              <a:rPr lang="en-US" altLang="ko-KR" sz="2400" baseline="30000" dirty="0" smtClean="0"/>
              <a:t>th</a:t>
            </a:r>
            <a:r>
              <a:rPr lang="en-US" altLang="ko-KR" sz="2400" dirty="0" smtClean="0"/>
              <a:t> </a:t>
            </a:r>
          </a:p>
          <a:p>
            <a:pPr lvl="1"/>
            <a:r>
              <a:rPr lang="en-US" altLang="ko-KR" sz="2000" dirty="0" smtClean="0"/>
              <a:t>Will have a meeting for the participants in March 24</a:t>
            </a:r>
            <a:r>
              <a:rPr lang="en-US" altLang="ko-KR" sz="2000" baseline="30000" dirty="0" smtClean="0"/>
              <a:t>th</a:t>
            </a:r>
            <a:r>
              <a:rPr lang="en-US" altLang="ko-KR" sz="2000" dirty="0" smtClean="0"/>
              <a:t> (after the class)</a:t>
            </a:r>
          </a:p>
          <a:p>
            <a:pPr lvl="1"/>
            <a:r>
              <a:rPr lang="en-US" altLang="ko-KR" sz="2000" dirty="0" smtClean="0"/>
              <a:t>Up to 4 groups</a:t>
            </a:r>
          </a:p>
          <a:p>
            <a:pPr lvl="1"/>
            <a:r>
              <a:rPr lang="en-US" altLang="ko-KR" sz="2000" dirty="0" smtClean="0"/>
              <a:t>20-30 min (or shorter)</a:t>
            </a:r>
          </a:p>
          <a:p>
            <a:pPr lvl="1"/>
            <a:r>
              <a:rPr lang="en-US" altLang="ko-KR" sz="2000" dirty="0" smtClean="0"/>
              <a:t>Topics</a:t>
            </a:r>
          </a:p>
          <a:p>
            <a:pPr lvl="2"/>
            <a:r>
              <a:rPr lang="en-US" altLang="ko-KR" sz="1600" dirty="0" smtClean="0"/>
              <a:t>It would be best if you can choose one</a:t>
            </a:r>
          </a:p>
          <a:p>
            <a:pPr lvl="2"/>
            <a:r>
              <a:rPr lang="en-US" altLang="ko-KR" sz="1600" dirty="0" smtClean="0"/>
              <a:t>Otherwise I may give some</a:t>
            </a:r>
          </a:p>
          <a:p>
            <a:pPr lvl="2"/>
            <a:endParaRPr lang="en-US" altLang="ko-KR" sz="1600" dirty="0"/>
          </a:p>
          <a:p>
            <a:r>
              <a:rPr lang="en-US" altLang="ko-KR" sz="1800" dirty="0" smtClean="0"/>
              <a:t>I gave up to make a new syllabus…</a:t>
            </a:r>
          </a:p>
          <a:p>
            <a:endParaRPr lang="en-US" altLang="ko-KR" sz="1800" dirty="0"/>
          </a:p>
        </p:txBody>
      </p:sp>
    </p:spTree>
    <p:extLst>
      <p:ext uri="{BB962C8B-B14F-4D97-AF65-F5344CB8AC3E}">
        <p14:creationId xmlns:p14="http://schemas.microsoft.com/office/powerpoint/2010/main" val="2292630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Last time: Reversible computing</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normAutofit/>
              </a:bodyPr>
              <a:lstStyle/>
              <a:p>
                <a:pPr marL="0" indent="0">
                  <a:buNone/>
                </a:pPr>
                <a:r>
                  <a:rPr lang="en-US" altLang="ko-KR" sz="1800" dirty="0" smtClean="0"/>
                  <a:t>In definition, the reversible computing in dimension d is specified by:</a:t>
                </a:r>
              </a:p>
              <a:p>
                <a:r>
                  <a:rPr lang="en-US" altLang="ko-KR" sz="1800" dirty="0" smtClean="0"/>
                  <a:t>A d-dim state can be written by </a:t>
                </a:r>
                <a14:m>
                  <m:oMath xmlns:m="http://schemas.openxmlformats.org/officeDocument/2006/math">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𝑥</m:t>
                    </m:r>
                    <m:r>
                      <a:rPr lang="en-US" altLang="ko-KR" sz="1800" b="0" i="1" smtClean="0">
                        <a:latin typeface="Cambria Math" panose="02040503050406030204" pitchFamily="18" charset="0"/>
                      </a:rPr>
                      <m:t>⟩</m:t>
                    </m:r>
                  </m:oMath>
                </a14:m>
                <a:r>
                  <a:rPr lang="en-US" altLang="ko-KR" sz="1800" dirty="0" smtClean="0"/>
                  <a:t> for </a:t>
                </a:r>
                <a14:m>
                  <m:oMath xmlns:m="http://schemas.openxmlformats.org/officeDocument/2006/math">
                    <m:r>
                      <a:rPr lang="en-US" altLang="ko-KR" sz="1800" b="0" i="1" smtClean="0">
                        <a:latin typeface="Cambria Math" panose="02040503050406030204" pitchFamily="18" charset="0"/>
                      </a:rPr>
                      <m:t>𝑥</m:t>
                    </m:r>
                    <m:r>
                      <a:rPr lang="en-US" altLang="ko-KR" sz="1800" b="0" i="1" smtClean="0">
                        <a:latin typeface="Cambria Math" panose="02040503050406030204" pitchFamily="18" charset="0"/>
                      </a:rPr>
                      <m:t>=0,…,</m:t>
                    </m:r>
                    <m:r>
                      <a:rPr lang="en-US" altLang="ko-KR" sz="1800" b="0" i="1" smtClean="0">
                        <a:latin typeface="Cambria Math" panose="02040503050406030204" pitchFamily="18" charset="0"/>
                      </a:rPr>
                      <m:t>𝑑</m:t>
                    </m:r>
                    <m:r>
                      <a:rPr lang="en-US" altLang="ko-KR" sz="1800" b="0" i="1" smtClean="0">
                        <a:latin typeface="Cambria Math" panose="02040503050406030204" pitchFamily="18" charset="0"/>
                      </a:rPr>
                      <m:t>−1</m:t>
                    </m:r>
                  </m:oMath>
                </a14:m>
                <a:r>
                  <a:rPr lang="en-US" altLang="ko-KR" sz="1800" dirty="0" smtClean="0"/>
                  <a:t>		n-bit </a:t>
                </a:r>
                <a14:m>
                  <m:oMath xmlns:m="http://schemas.openxmlformats.org/officeDocument/2006/math">
                    <m:r>
                      <a:rPr lang="en-US" altLang="ko-KR" sz="1800" i="1">
                        <a:latin typeface="Cambria Math" panose="02040503050406030204" pitchFamily="18" charset="0"/>
                      </a:rPr>
                      <m:t>|</m:t>
                    </m:r>
                    <m:r>
                      <a:rPr lang="en-US" altLang="ko-KR" sz="1800" i="1">
                        <a:latin typeface="Cambria Math" panose="02040503050406030204" pitchFamily="18" charset="0"/>
                      </a:rPr>
                      <m:t>𝑥</m:t>
                    </m:r>
                    <m:r>
                      <a:rPr lang="en-US" altLang="ko-KR" sz="1800" i="1">
                        <a:latin typeface="Cambria Math" panose="02040503050406030204" pitchFamily="18" charset="0"/>
                      </a:rPr>
                      <m:t>⟩</m:t>
                    </m:r>
                  </m:oMath>
                </a14:m>
                <a:r>
                  <a:rPr lang="en-US" altLang="ko-KR" sz="1800" dirty="0" smtClean="0"/>
                  <a:t> for </a:t>
                </a:r>
                <a14:m>
                  <m:oMath xmlns:m="http://schemas.openxmlformats.org/officeDocument/2006/math">
                    <m:r>
                      <a:rPr lang="en-US" altLang="ko-KR" sz="1800" b="0" i="1" smtClean="0">
                        <a:latin typeface="Cambria Math" panose="02040503050406030204" pitchFamily="18" charset="0"/>
                      </a:rPr>
                      <m:t>𝑥</m:t>
                    </m:r>
                    <m:r>
                      <a:rPr lang="en-US" altLang="ko-KR" sz="1800" b="0" i="1" smtClean="0">
                        <a:latin typeface="Cambria Math" panose="02040503050406030204" pitchFamily="18" charset="0"/>
                      </a:rPr>
                      <m:t>∈</m:t>
                    </m:r>
                    <m:sSup>
                      <m:sSupPr>
                        <m:ctrlPr>
                          <a:rPr lang="en-US" altLang="ko-KR" sz="1800" b="0" i="1" smtClean="0">
                            <a:latin typeface="Cambria Math" panose="02040503050406030204" pitchFamily="18" charset="0"/>
                          </a:rPr>
                        </m:ctrlPr>
                      </m:sSupPr>
                      <m:e>
                        <m:d>
                          <m:dPr>
                            <m:begChr m:val="{"/>
                            <m:endChr m:val="}"/>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0,1</m:t>
                            </m:r>
                          </m:e>
                        </m:d>
                      </m:e>
                      <m:sup>
                        <m:r>
                          <a:rPr lang="en-US" altLang="ko-KR" sz="1800" b="0" i="1" smtClean="0">
                            <a:latin typeface="Cambria Math" panose="02040503050406030204" pitchFamily="18" charset="0"/>
                          </a:rPr>
                          <m:t>𝑛</m:t>
                        </m:r>
                      </m:sup>
                    </m:sSup>
                  </m:oMath>
                </a14:m>
                <a:endParaRPr lang="en-US" altLang="ko-KR" sz="1800" dirty="0" smtClean="0"/>
              </a:p>
              <a:p>
                <a:r>
                  <a:rPr lang="en-US" altLang="ko-KR" sz="1800" dirty="0" smtClean="0"/>
                  <a:t>A transformation is a permutation on </a:t>
                </a:r>
                <a14:m>
                  <m:oMath xmlns:m="http://schemas.openxmlformats.org/officeDocument/2006/math">
                    <m:r>
                      <a:rPr lang="en-US" altLang="ko-KR" sz="1800" b="0" i="0" smtClean="0">
                        <a:latin typeface="Cambria Math" panose="02040503050406030204" pitchFamily="18" charset="0"/>
                      </a:rPr>
                      <m:t>{</m:t>
                    </m:r>
                    <m:r>
                      <a:rPr lang="en-US" altLang="ko-KR" sz="1800" i="1">
                        <a:latin typeface="Cambria Math" panose="02040503050406030204" pitchFamily="18" charset="0"/>
                      </a:rPr>
                      <m:t>0,…,</m:t>
                    </m:r>
                    <m:r>
                      <a:rPr lang="en-US" altLang="ko-KR" sz="1800" i="1">
                        <a:latin typeface="Cambria Math" panose="02040503050406030204" pitchFamily="18" charset="0"/>
                      </a:rPr>
                      <m:t>𝑑</m:t>
                    </m:r>
                    <m:r>
                      <a:rPr lang="en-US" altLang="ko-KR" sz="1800" i="1">
                        <a:latin typeface="Cambria Math" panose="02040503050406030204" pitchFamily="18" charset="0"/>
                      </a:rPr>
                      <m:t>−1</m:t>
                    </m:r>
                    <m:r>
                      <a:rPr lang="en-US" altLang="ko-KR" sz="1800" b="0" i="0" smtClean="0">
                        <a:latin typeface="Cambria Math" panose="02040503050406030204" pitchFamily="18" charset="0"/>
                      </a:rPr>
                      <m:t>}</m:t>
                    </m:r>
                  </m:oMath>
                </a14:m>
                <a:r>
                  <a:rPr lang="en-US" altLang="ko-KR" sz="1800" dirty="0" smtClean="0"/>
                  <a:t>			</a:t>
                </a:r>
              </a:p>
              <a:p>
                <a:pPr marL="0" indent="0">
                  <a:buNone/>
                </a:pPr>
                <a:endParaRPr lang="en-US" altLang="ko-KR" sz="1800" dirty="0" smtClean="0"/>
              </a:p>
              <a:p>
                <a:pPr marL="0" indent="0">
                  <a:buNone/>
                </a:pPr>
                <a:endParaRPr lang="en-US" altLang="ko-KR" sz="1800" dirty="0"/>
              </a:p>
              <a:p>
                <a:pPr marL="0" indent="0">
                  <a:buNone/>
                </a:pPr>
                <a:endParaRPr lang="en-US" altLang="ko-KR" sz="1800" dirty="0" smtClean="0"/>
              </a:p>
              <a:p>
                <a:pPr marL="0" indent="0">
                  <a:buNone/>
                </a:pPr>
                <a:endParaRPr lang="en-US" altLang="ko-KR" sz="1800" dirty="0"/>
              </a:p>
              <a:p>
                <a:pPr marL="0" indent="0">
                  <a:buNone/>
                </a:pPr>
                <a:endParaRPr lang="en-US" altLang="ko-KR" sz="1800" dirty="0" smtClean="0"/>
              </a:p>
              <a:p>
                <a:pPr marL="0" indent="0">
                  <a:buNone/>
                </a:pPr>
                <a:endParaRPr lang="en-US" altLang="ko-KR" sz="1800" dirty="0"/>
              </a:p>
              <a:p>
                <a:pPr marL="0" indent="0">
                  <a:buNone/>
                </a:pPr>
                <a:endParaRPr lang="en-US" altLang="ko-KR" sz="1800" dirty="0" smtClean="0"/>
              </a:p>
              <a:p>
                <a:pPr marL="0" indent="0">
                  <a:buNone/>
                </a:pPr>
                <a:r>
                  <a:rPr lang="en-US" altLang="ko-KR" sz="1800" dirty="0" smtClean="0"/>
                  <a:t>In theory</a:t>
                </a:r>
                <a:r>
                  <a:rPr lang="en-US" altLang="ko-KR" sz="1800" dirty="0"/>
                  <a:t>, it is good </a:t>
                </a:r>
                <a:r>
                  <a:rPr lang="en-US" altLang="ko-KR" sz="1800" dirty="0" smtClean="0"/>
                  <a:t>enough…</a:t>
                </a:r>
                <a:r>
                  <a:rPr lang="en-US" altLang="ko-KR" sz="1800" dirty="0"/>
                  <a:t>	</a:t>
                </a:r>
                <a:r>
                  <a:rPr lang="en-US" altLang="ko-KR" sz="1800" dirty="0" smtClean="0"/>
                  <a:t>but it is hard to describe and implement</a:t>
                </a:r>
                <a:endParaRPr lang="en-US" altLang="ko-KR" sz="1800" dirty="0"/>
              </a:p>
              <a:p>
                <a:endParaRPr lang="en-US" altLang="ko-KR" sz="1800"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a:blip r:embed="rId2"/>
                <a:stretch>
                  <a:fillRect l="-522" t="-1401"/>
                </a:stretch>
              </a:blipFill>
            </p:spPr>
            <p:txBody>
              <a:bodyPr/>
              <a:lstStyle/>
              <a:p>
                <a:r>
                  <a:rPr lang="ko-KR" altLang="en-US">
                    <a:noFill/>
                  </a:rPr>
                  <a:t> </a:t>
                </a:r>
              </a:p>
            </p:txBody>
          </p:sp>
        </mc:Fallback>
      </mc:AlternateContent>
      <p:sp>
        <p:nvSpPr>
          <p:cNvPr id="6" name="직사각형 5"/>
          <p:cNvSpPr/>
          <p:nvPr/>
        </p:nvSpPr>
        <p:spPr>
          <a:xfrm>
            <a:off x="8169585" y="2371879"/>
            <a:ext cx="184731" cy="369332"/>
          </a:xfrm>
          <a:prstGeom prst="rect">
            <a:avLst/>
          </a:prstGeom>
        </p:spPr>
        <p:txBody>
          <a:bodyPr wrap="none">
            <a:spAutoFit/>
          </a:bodyPr>
          <a:lstStyle/>
          <a:p>
            <a:endParaRPr lang="ko-KR" altLang="en-US" dirty="0"/>
          </a:p>
        </p:txBody>
      </p:sp>
      <p:cxnSp>
        <p:nvCxnSpPr>
          <p:cNvPr id="5" name="Straight Connector 5">
            <a:extLst>
              <a:ext uri="{FF2B5EF4-FFF2-40B4-BE49-F238E27FC236}">
                <a16:creationId xmlns:a16="http://schemas.microsoft.com/office/drawing/2014/main" id="{99ACEA54-913D-8CB3-494F-B935AA4B07C1}"/>
              </a:ext>
            </a:extLst>
          </p:cNvPr>
          <p:cNvCxnSpPr/>
          <p:nvPr/>
        </p:nvCxnSpPr>
        <p:spPr>
          <a:xfrm>
            <a:off x="4513330" y="3361224"/>
            <a:ext cx="990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3BAF0D3-4D6C-F3EB-71DF-5F5595CD7217}"/>
              </a:ext>
            </a:extLst>
          </p:cNvPr>
          <p:cNvCxnSpPr/>
          <p:nvPr/>
        </p:nvCxnSpPr>
        <p:spPr>
          <a:xfrm>
            <a:off x="4513330" y="3742225"/>
            <a:ext cx="990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247A8B7-3E9E-68C0-8DBD-6C4052240DFF}"/>
              </a:ext>
            </a:extLst>
          </p:cNvPr>
          <p:cNvCxnSpPr>
            <a:cxnSpLocks/>
          </p:cNvCxnSpPr>
          <p:nvPr/>
        </p:nvCxnSpPr>
        <p:spPr>
          <a:xfrm>
            <a:off x="4513330" y="4156562"/>
            <a:ext cx="267958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F8C30A2-A972-77DA-0C5B-305510918A61}"/>
              </a:ext>
            </a:extLst>
          </p:cNvPr>
          <p:cNvSpPr/>
          <p:nvPr/>
        </p:nvSpPr>
        <p:spPr>
          <a:xfrm>
            <a:off x="4774753" y="3254271"/>
            <a:ext cx="2062675" cy="2039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10">
            <a:extLst>
              <a:ext uri="{FF2B5EF4-FFF2-40B4-BE49-F238E27FC236}">
                <a16:creationId xmlns:a16="http://schemas.microsoft.com/office/drawing/2014/main" id="{34CED6E9-D22B-BDE4-137A-0AA40FD6ABB9}"/>
              </a:ext>
            </a:extLst>
          </p:cNvPr>
          <p:cNvCxnSpPr>
            <a:cxnSpLocks/>
          </p:cNvCxnSpPr>
          <p:nvPr/>
        </p:nvCxnSpPr>
        <p:spPr>
          <a:xfrm>
            <a:off x="6039712" y="3742225"/>
            <a:ext cx="115319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1">
            <a:extLst>
              <a:ext uri="{FF2B5EF4-FFF2-40B4-BE49-F238E27FC236}">
                <a16:creationId xmlns:a16="http://schemas.microsoft.com/office/drawing/2014/main" id="{A44899F0-A2A0-31FC-6AA1-5D3991AFA5A2}"/>
              </a:ext>
            </a:extLst>
          </p:cNvPr>
          <p:cNvCxnSpPr>
            <a:cxnSpLocks/>
          </p:cNvCxnSpPr>
          <p:nvPr/>
        </p:nvCxnSpPr>
        <p:spPr>
          <a:xfrm>
            <a:off x="6039712" y="3361224"/>
            <a:ext cx="115319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Straight Connector 14">
            <a:extLst>
              <a:ext uri="{FF2B5EF4-FFF2-40B4-BE49-F238E27FC236}">
                <a16:creationId xmlns:a16="http://schemas.microsoft.com/office/drawing/2014/main" id="{85DABE39-2961-0A53-EBDD-CF2F4A6F9058}"/>
              </a:ext>
            </a:extLst>
          </p:cNvPr>
          <p:cNvCxnSpPr>
            <a:cxnSpLocks/>
          </p:cNvCxnSpPr>
          <p:nvPr/>
        </p:nvCxnSpPr>
        <p:spPr>
          <a:xfrm>
            <a:off x="4509665" y="5098958"/>
            <a:ext cx="268324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7">
                <a:extLst>
                  <a:ext uri="{FF2B5EF4-FFF2-40B4-BE49-F238E27FC236}">
                    <a16:creationId xmlns:a16="http://schemas.microsoft.com/office/drawing/2014/main" id="{0056F082-62D1-EA18-850D-758B08830239}"/>
                  </a:ext>
                </a:extLst>
              </p:cNvPr>
              <p:cNvSpPr/>
              <p:nvPr/>
            </p:nvSpPr>
            <p:spPr>
              <a:xfrm>
                <a:off x="3810861" y="3176558"/>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e>
                      </m:d>
                    </m:oMath>
                  </m:oMathPara>
                </a14:m>
                <a:endParaRPr lang="en-US" dirty="0"/>
              </a:p>
            </p:txBody>
          </p:sp>
        </mc:Choice>
        <mc:Fallback xmlns="">
          <p:sp>
            <p:nvSpPr>
              <p:cNvPr id="13" name="Rectangle 17">
                <a:extLst>
                  <a:ext uri="{FF2B5EF4-FFF2-40B4-BE49-F238E27FC236}">
                    <a16:creationId xmlns:a16="http://schemas.microsoft.com/office/drawing/2014/main" id="{0056F082-62D1-EA18-850D-758B08830239}"/>
                  </a:ext>
                </a:extLst>
              </p:cNvPr>
              <p:cNvSpPr>
                <a:spLocks noRot="1" noChangeAspect="1" noMove="1" noResize="1" noEditPoints="1" noAdjustHandles="1" noChangeArrowheads="1" noChangeShapeType="1" noTextEdit="1"/>
              </p:cNvSpPr>
              <p:nvPr/>
            </p:nvSpPr>
            <p:spPr>
              <a:xfrm>
                <a:off x="3810861" y="3176558"/>
                <a:ext cx="616771" cy="369332"/>
              </a:xfrm>
              <a:prstGeom prst="rect">
                <a:avLst/>
              </a:prstGeom>
              <a:blipFill>
                <a:blip r:embed="rId3"/>
                <a:stretch>
                  <a:fillRect b="-163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Rectangle 18">
                <a:extLst>
                  <a:ext uri="{FF2B5EF4-FFF2-40B4-BE49-F238E27FC236}">
                    <a16:creationId xmlns:a16="http://schemas.microsoft.com/office/drawing/2014/main" id="{6C9ED94D-B122-E5CD-665E-D29418FAAA6C}"/>
                  </a:ext>
                </a:extLst>
              </p:cNvPr>
              <p:cNvSpPr/>
              <p:nvPr/>
            </p:nvSpPr>
            <p:spPr>
              <a:xfrm>
                <a:off x="3806466" y="3509620"/>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e>
                      </m:d>
                    </m:oMath>
                  </m:oMathPara>
                </a14:m>
                <a:endParaRPr lang="en-US" dirty="0"/>
              </a:p>
            </p:txBody>
          </p:sp>
        </mc:Choice>
        <mc:Fallback xmlns="">
          <p:sp>
            <p:nvSpPr>
              <p:cNvPr id="14" name="Rectangle 18">
                <a:extLst>
                  <a:ext uri="{FF2B5EF4-FFF2-40B4-BE49-F238E27FC236}">
                    <a16:creationId xmlns:a16="http://schemas.microsoft.com/office/drawing/2014/main" id="{6C9ED94D-B122-E5CD-665E-D29418FAAA6C}"/>
                  </a:ext>
                </a:extLst>
              </p:cNvPr>
              <p:cNvSpPr>
                <a:spLocks noRot="1" noChangeAspect="1" noMove="1" noResize="1" noEditPoints="1" noAdjustHandles="1" noChangeArrowheads="1" noChangeShapeType="1" noTextEdit="1"/>
              </p:cNvSpPr>
              <p:nvPr/>
            </p:nvSpPr>
            <p:spPr>
              <a:xfrm>
                <a:off x="3806466" y="3509620"/>
                <a:ext cx="616771" cy="369332"/>
              </a:xfrm>
              <a:prstGeom prst="rect">
                <a:avLst/>
              </a:prstGeom>
              <a:blipFill>
                <a:blip r:embed="rId4"/>
                <a:stretch>
                  <a:fillRect b="-333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5" name="Rectangle 19">
                <a:extLst>
                  <a:ext uri="{FF2B5EF4-FFF2-40B4-BE49-F238E27FC236}">
                    <a16:creationId xmlns:a16="http://schemas.microsoft.com/office/drawing/2014/main" id="{C354FC34-81A8-723D-F447-FA82A017E6A4}"/>
                  </a:ext>
                </a:extLst>
              </p:cNvPr>
              <p:cNvSpPr/>
              <p:nvPr/>
            </p:nvSpPr>
            <p:spPr>
              <a:xfrm>
                <a:off x="3810544" y="3891290"/>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3</m:t>
                              </m:r>
                            </m:sub>
                          </m:sSub>
                        </m:e>
                      </m:d>
                    </m:oMath>
                  </m:oMathPara>
                </a14:m>
                <a:endParaRPr lang="en-US" dirty="0"/>
              </a:p>
            </p:txBody>
          </p:sp>
        </mc:Choice>
        <mc:Fallback xmlns="">
          <p:sp>
            <p:nvSpPr>
              <p:cNvPr id="15" name="Rectangle 19">
                <a:extLst>
                  <a:ext uri="{FF2B5EF4-FFF2-40B4-BE49-F238E27FC236}">
                    <a16:creationId xmlns:a16="http://schemas.microsoft.com/office/drawing/2014/main" id="{C354FC34-81A8-723D-F447-FA82A017E6A4}"/>
                  </a:ext>
                </a:extLst>
              </p:cNvPr>
              <p:cNvSpPr>
                <a:spLocks noRot="1" noChangeAspect="1" noMove="1" noResize="1" noEditPoints="1" noAdjustHandles="1" noChangeArrowheads="1" noChangeShapeType="1" noTextEdit="1"/>
              </p:cNvSpPr>
              <p:nvPr/>
            </p:nvSpPr>
            <p:spPr>
              <a:xfrm>
                <a:off x="3810544" y="3891290"/>
                <a:ext cx="616771" cy="369332"/>
              </a:xfrm>
              <a:prstGeom prst="rect">
                <a:avLst/>
              </a:prstGeom>
              <a:blipFill>
                <a:blip r:embed="rId5"/>
                <a:stretch>
                  <a:fillRect b="-163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Rectangle 20">
                <a:extLst>
                  <a:ext uri="{FF2B5EF4-FFF2-40B4-BE49-F238E27FC236}">
                    <a16:creationId xmlns:a16="http://schemas.microsoft.com/office/drawing/2014/main" id="{72464EE4-12FA-DEB3-F1DC-6BB6AADDF394}"/>
                  </a:ext>
                </a:extLst>
              </p:cNvPr>
              <p:cNvSpPr/>
              <p:nvPr/>
            </p:nvSpPr>
            <p:spPr>
              <a:xfrm>
                <a:off x="3806466" y="4895502"/>
                <a:ext cx="6650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oMath>
                  </m:oMathPara>
                </a14:m>
                <a:endParaRPr lang="en-US" dirty="0"/>
              </a:p>
            </p:txBody>
          </p:sp>
        </mc:Choice>
        <mc:Fallback xmlns="">
          <p:sp>
            <p:nvSpPr>
              <p:cNvPr id="16" name="Rectangle 20">
                <a:extLst>
                  <a:ext uri="{FF2B5EF4-FFF2-40B4-BE49-F238E27FC236}">
                    <a16:creationId xmlns:a16="http://schemas.microsoft.com/office/drawing/2014/main" id="{72464EE4-12FA-DEB3-F1DC-6BB6AADDF394}"/>
                  </a:ext>
                </a:extLst>
              </p:cNvPr>
              <p:cNvSpPr>
                <a:spLocks noRot="1" noChangeAspect="1" noMove="1" noResize="1" noEditPoints="1" noAdjustHandles="1" noChangeArrowheads="1" noChangeShapeType="1" noTextEdit="1"/>
              </p:cNvSpPr>
              <p:nvPr/>
            </p:nvSpPr>
            <p:spPr>
              <a:xfrm>
                <a:off x="3806466" y="4895502"/>
                <a:ext cx="665054" cy="369332"/>
              </a:xfrm>
              <a:prstGeom prst="rect">
                <a:avLst/>
              </a:prstGeom>
              <a:blipFill>
                <a:blip r:embed="rId6"/>
                <a:stretch>
                  <a:fillRect/>
                </a:stretch>
              </a:blipFill>
            </p:spPr>
            <p:txBody>
              <a:bodyPr/>
              <a:lstStyle/>
              <a:p>
                <a:r>
                  <a:rPr lang="ko-KR" altLang="en-US">
                    <a:noFill/>
                  </a:rPr>
                  <a:t> </a:t>
                </a:r>
              </a:p>
            </p:txBody>
          </p:sp>
        </mc:Fallback>
      </mc:AlternateContent>
      <p:cxnSp>
        <p:nvCxnSpPr>
          <p:cNvPr id="17" name="Straight Connector 30">
            <a:extLst>
              <a:ext uri="{FF2B5EF4-FFF2-40B4-BE49-F238E27FC236}">
                <a16:creationId xmlns:a16="http://schemas.microsoft.com/office/drawing/2014/main" id="{20E5B44C-32FE-9364-DF9B-F5D060FC0F3E}"/>
              </a:ext>
            </a:extLst>
          </p:cNvPr>
          <p:cNvCxnSpPr>
            <a:cxnSpLocks/>
          </p:cNvCxnSpPr>
          <p:nvPr/>
        </p:nvCxnSpPr>
        <p:spPr>
          <a:xfrm>
            <a:off x="4501303" y="4720026"/>
            <a:ext cx="268324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31">
                <a:extLst>
                  <a:ext uri="{FF2B5EF4-FFF2-40B4-BE49-F238E27FC236}">
                    <a16:creationId xmlns:a16="http://schemas.microsoft.com/office/drawing/2014/main" id="{B27DEBFF-3A76-91B7-D384-82C9F0038336}"/>
                  </a:ext>
                </a:extLst>
              </p:cNvPr>
              <p:cNvSpPr/>
              <p:nvPr/>
            </p:nvSpPr>
            <p:spPr>
              <a:xfrm>
                <a:off x="3798104" y="4516570"/>
                <a:ext cx="88466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𝑛</m:t>
                              </m:r>
                              <m:r>
                                <a:rPr lang="en-US" b="0" i="1" smtClean="0">
                                  <a:latin typeface="Cambria Math" panose="02040503050406030204" pitchFamily="18" charset="0"/>
                                </a:rPr>
                                <m:t>−1</m:t>
                              </m:r>
                            </m:sub>
                          </m:sSub>
                        </m:e>
                      </m:d>
                    </m:oMath>
                  </m:oMathPara>
                </a14:m>
                <a:endParaRPr lang="en-US" dirty="0"/>
              </a:p>
            </p:txBody>
          </p:sp>
        </mc:Choice>
        <mc:Fallback xmlns="">
          <p:sp>
            <p:nvSpPr>
              <p:cNvPr id="18" name="Rectangle 31">
                <a:extLst>
                  <a:ext uri="{FF2B5EF4-FFF2-40B4-BE49-F238E27FC236}">
                    <a16:creationId xmlns:a16="http://schemas.microsoft.com/office/drawing/2014/main" id="{B27DEBFF-3A76-91B7-D384-82C9F0038336}"/>
                  </a:ext>
                </a:extLst>
              </p:cNvPr>
              <p:cNvSpPr>
                <a:spLocks noRot="1" noChangeAspect="1" noMove="1" noResize="1" noEditPoints="1" noAdjustHandles="1" noChangeArrowheads="1" noChangeShapeType="1" noTextEdit="1"/>
              </p:cNvSpPr>
              <p:nvPr/>
            </p:nvSpPr>
            <p:spPr>
              <a:xfrm>
                <a:off x="3798104" y="4516570"/>
                <a:ext cx="884666" cy="369332"/>
              </a:xfrm>
              <a:prstGeom prst="rect">
                <a:avLst/>
              </a:prstGeom>
              <a:blipFill>
                <a:blip r:embed="rId7"/>
                <a:stretch>
                  <a:fillRect b="-3333"/>
                </a:stretch>
              </a:blipFill>
            </p:spPr>
            <p:txBody>
              <a:bodyPr/>
              <a:lstStyle/>
              <a:p>
                <a:r>
                  <a:rPr lang="ko-KR" altLang="en-US">
                    <a:noFill/>
                  </a:rPr>
                  <a:t> </a:t>
                </a:r>
              </a:p>
            </p:txBody>
          </p:sp>
        </mc:Fallback>
      </mc:AlternateContent>
      <p:sp>
        <p:nvSpPr>
          <p:cNvPr id="19" name="TextBox 18">
            <a:extLst>
              <a:ext uri="{FF2B5EF4-FFF2-40B4-BE49-F238E27FC236}">
                <a16:creationId xmlns:a16="http://schemas.microsoft.com/office/drawing/2014/main" id="{539FE2F5-6378-4391-ABD7-61F316438DC1}"/>
              </a:ext>
            </a:extLst>
          </p:cNvPr>
          <p:cNvSpPr txBox="1"/>
          <p:nvPr/>
        </p:nvSpPr>
        <p:spPr>
          <a:xfrm rot="5400000">
            <a:off x="3945329" y="4309853"/>
            <a:ext cx="475565" cy="369332"/>
          </a:xfrm>
          <a:prstGeom prst="rect">
            <a:avLst/>
          </a:prstGeom>
          <a:noFill/>
        </p:spPr>
        <p:txBody>
          <a:bodyPr wrap="square" rtlCol="0">
            <a:spAutoFit/>
          </a:bodyPr>
          <a:lstStyle/>
          <a:p>
            <a:r>
              <a:rPr lang="en-US" dirty="0"/>
              <a:t>…</a:t>
            </a:r>
          </a:p>
        </p:txBody>
      </p:sp>
      <p:sp>
        <p:nvSpPr>
          <p:cNvPr id="20" name="TextBox 19">
            <a:extLst>
              <a:ext uri="{FF2B5EF4-FFF2-40B4-BE49-F238E27FC236}">
                <a16:creationId xmlns:a16="http://schemas.microsoft.com/office/drawing/2014/main" id="{E728C979-1C3C-E8BE-557B-4639F86714F9}"/>
              </a:ext>
            </a:extLst>
          </p:cNvPr>
          <p:cNvSpPr txBox="1"/>
          <p:nvPr/>
        </p:nvSpPr>
        <p:spPr>
          <a:xfrm rot="5400000">
            <a:off x="6859598" y="4331904"/>
            <a:ext cx="475565" cy="369332"/>
          </a:xfrm>
          <a:prstGeom prst="rect">
            <a:avLst/>
          </a:prstGeom>
          <a:noFill/>
        </p:spPr>
        <p:txBody>
          <a:bodyPr wrap="square" rtlCol="0">
            <a:spAutoFit/>
          </a:bodyPr>
          <a:lstStyle/>
          <a:p>
            <a:r>
              <a:rPr lang="en-US" dirty="0"/>
              <a:t>…</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15F584D-43C4-54C5-127E-34070AEF56E1}"/>
                  </a:ext>
                </a:extLst>
              </p:cNvPr>
              <p:cNvSpPr txBox="1"/>
              <p:nvPr/>
            </p:nvSpPr>
            <p:spPr>
              <a:xfrm>
                <a:off x="5485176" y="3884647"/>
                <a:ext cx="641827"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𝑅</m:t>
                      </m:r>
                    </m:oMath>
                  </m:oMathPara>
                </a14:m>
                <a:endParaRPr lang="en-US" sz="3200" dirty="0"/>
              </a:p>
            </p:txBody>
          </p:sp>
        </mc:Choice>
        <mc:Fallback xmlns="">
          <p:sp>
            <p:nvSpPr>
              <p:cNvPr id="21" name="TextBox 20">
                <a:extLst>
                  <a:ext uri="{FF2B5EF4-FFF2-40B4-BE49-F238E27FC236}">
                    <a16:creationId xmlns:a16="http://schemas.microsoft.com/office/drawing/2014/main" id="{715F584D-43C4-54C5-127E-34070AEF56E1}"/>
                  </a:ext>
                </a:extLst>
              </p:cNvPr>
              <p:cNvSpPr txBox="1">
                <a:spLocks noRot="1" noChangeAspect="1" noMove="1" noResize="1" noEditPoints="1" noAdjustHandles="1" noChangeArrowheads="1" noChangeShapeType="1" noTextEdit="1"/>
              </p:cNvSpPr>
              <p:nvPr/>
            </p:nvSpPr>
            <p:spPr>
              <a:xfrm>
                <a:off x="5485176" y="3884647"/>
                <a:ext cx="641827" cy="584775"/>
              </a:xfrm>
              <a:prstGeom prst="rect">
                <a:avLst/>
              </a:prstGeom>
              <a:blipFill>
                <a:blip r:embed="rId8"/>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405476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animBg="1"/>
      <p:bldP spid="13" grpId="0"/>
      <p:bldP spid="14" grpId="0"/>
      <p:bldP spid="15" grpId="0"/>
      <p:bldP spid="16" grpId="0"/>
      <p:bldP spid="18" grpId="0"/>
      <p:bldP spid="19" grpId="0"/>
      <p:bldP spid="20" grpId="0"/>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Last time: Reversible computing</a:t>
            </a:r>
            <a:endParaRPr lang="ko-KR" altLang="en-US" dirty="0"/>
          </a:p>
        </p:txBody>
      </p:sp>
      <p:sp>
        <p:nvSpPr>
          <p:cNvPr id="3" name="내용 개체 틀 2"/>
          <p:cNvSpPr>
            <a:spLocks noGrp="1"/>
          </p:cNvSpPr>
          <p:nvPr>
            <p:ph idx="1"/>
          </p:nvPr>
        </p:nvSpPr>
        <p:spPr/>
        <p:txBody>
          <a:bodyPr>
            <a:normAutofit/>
          </a:bodyPr>
          <a:lstStyle/>
          <a:p>
            <a:pPr marL="0" indent="0">
              <a:buNone/>
            </a:pPr>
            <a:r>
              <a:rPr lang="en-US" altLang="ko-KR" sz="1800" dirty="0" smtClean="0"/>
              <a:t>In practice, we want to use a small number of “basis” gates (e.g., CNOT, X, …) to implement our interested transformations (to implement “efficient” transformation)</a:t>
            </a:r>
          </a:p>
          <a:p>
            <a:pPr marL="0" indent="0">
              <a:buNone/>
            </a:pPr>
            <a:endParaRPr lang="en-US" altLang="ko-KR" sz="1800" dirty="0" smtClean="0"/>
          </a:p>
          <a:p>
            <a:pPr marL="0" indent="0">
              <a:buNone/>
            </a:pPr>
            <a:endParaRPr lang="en-US" altLang="ko-KR" sz="1800" dirty="0"/>
          </a:p>
          <a:p>
            <a:pPr marL="0" indent="0">
              <a:buNone/>
            </a:pPr>
            <a:endParaRPr lang="en-US" altLang="ko-KR" sz="1800" dirty="0" smtClean="0"/>
          </a:p>
          <a:p>
            <a:pPr marL="0" indent="0">
              <a:buNone/>
            </a:pPr>
            <a:endParaRPr lang="en-US" altLang="ko-KR" sz="1800" dirty="0"/>
          </a:p>
          <a:p>
            <a:pPr marL="0" indent="0">
              <a:buNone/>
            </a:pPr>
            <a:endParaRPr lang="en-US" altLang="ko-KR" sz="1800" dirty="0" smtClean="0"/>
          </a:p>
          <a:p>
            <a:pPr marL="0" indent="0">
              <a:buNone/>
            </a:pPr>
            <a:endParaRPr lang="en-US" altLang="ko-KR" sz="1800" dirty="0" smtClean="0"/>
          </a:p>
          <a:p>
            <a:pPr marL="0" indent="0">
              <a:buNone/>
            </a:pPr>
            <a:endParaRPr lang="en-US" altLang="ko-KR" sz="1800" dirty="0" smtClean="0"/>
          </a:p>
          <a:p>
            <a:endParaRPr lang="en-US" altLang="ko-KR" sz="1800" dirty="0" smtClean="0"/>
          </a:p>
          <a:p>
            <a:r>
              <a:rPr lang="en-US" altLang="ko-KR" sz="1800" dirty="0" smtClean="0"/>
              <a:t>Circuit descriptions (useful for most understanding and for implementation)</a:t>
            </a:r>
          </a:p>
          <a:p>
            <a:r>
              <a:rPr lang="en-US" altLang="ko-KR" sz="1800" dirty="0" smtClean="0"/>
              <a:t>Linear algebraic description (mathematically precise and useful)</a:t>
            </a:r>
            <a:endParaRPr lang="en-US" altLang="ko-KR" sz="1800" dirty="0"/>
          </a:p>
        </p:txBody>
      </p:sp>
      <p:sp>
        <p:nvSpPr>
          <p:cNvPr id="6" name="직사각형 5"/>
          <p:cNvSpPr/>
          <p:nvPr/>
        </p:nvSpPr>
        <p:spPr>
          <a:xfrm>
            <a:off x="10779055" y="2328543"/>
            <a:ext cx="184731" cy="369332"/>
          </a:xfrm>
          <a:prstGeom prst="rect">
            <a:avLst/>
          </a:prstGeom>
        </p:spPr>
        <p:txBody>
          <a:bodyPr wrap="none">
            <a:spAutoFit/>
          </a:bodyPr>
          <a:lstStyle/>
          <a:p>
            <a:endParaRPr lang="ko-KR" altLang="en-US" dirty="0"/>
          </a:p>
        </p:txBody>
      </p:sp>
      <p:cxnSp>
        <p:nvCxnSpPr>
          <p:cNvPr id="32" name="Straight Connector 5">
            <a:extLst>
              <a:ext uri="{FF2B5EF4-FFF2-40B4-BE49-F238E27FC236}">
                <a16:creationId xmlns:a16="http://schemas.microsoft.com/office/drawing/2014/main" id="{282D9D76-FEDE-2651-EF74-FD134B6EFACC}"/>
              </a:ext>
            </a:extLst>
          </p:cNvPr>
          <p:cNvCxnSpPr>
            <a:cxnSpLocks/>
          </p:cNvCxnSpPr>
          <p:nvPr/>
        </p:nvCxnSpPr>
        <p:spPr>
          <a:xfrm>
            <a:off x="7594583" y="3147477"/>
            <a:ext cx="181939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6">
            <a:extLst>
              <a:ext uri="{FF2B5EF4-FFF2-40B4-BE49-F238E27FC236}">
                <a16:creationId xmlns:a16="http://schemas.microsoft.com/office/drawing/2014/main" id="{B2A18816-8ECE-F437-A83A-652BD9224B18}"/>
              </a:ext>
            </a:extLst>
          </p:cNvPr>
          <p:cNvCxnSpPr/>
          <p:nvPr/>
        </p:nvCxnSpPr>
        <p:spPr>
          <a:xfrm>
            <a:off x="7594583" y="3528478"/>
            <a:ext cx="990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7">
            <a:extLst>
              <a:ext uri="{FF2B5EF4-FFF2-40B4-BE49-F238E27FC236}">
                <a16:creationId xmlns:a16="http://schemas.microsoft.com/office/drawing/2014/main" id="{DA0D7262-C44D-77D7-4F1E-4853DD7B0E61}"/>
              </a:ext>
            </a:extLst>
          </p:cNvPr>
          <p:cNvCxnSpPr>
            <a:cxnSpLocks/>
          </p:cNvCxnSpPr>
          <p:nvPr/>
        </p:nvCxnSpPr>
        <p:spPr>
          <a:xfrm>
            <a:off x="7594583" y="3942815"/>
            <a:ext cx="267958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5" name="Rectangle 8">
            <a:extLst>
              <a:ext uri="{FF2B5EF4-FFF2-40B4-BE49-F238E27FC236}">
                <a16:creationId xmlns:a16="http://schemas.microsoft.com/office/drawing/2014/main" id="{C6C9463E-9B71-9B62-2A58-F22271296CBF}"/>
              </a:ext>
            </a:extLst>
          </p:cNvPr>
          <p:cNvSpPr/>
          <p:nvPr/>
        </p:nvSpPr>
        <p:spPr>
          <a:xfrm>
            <a:off x="7856007" y="3040525"/>
            <a:ext cx="389570" cy="624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6" name="Straight Connector 9">
            <a:extLst>
              <a:ext uri="{FF2B5EF4-FFF2-40B4-BE49-F238E27FC236}">
                <a16:creationId xmlns:a16="http://schemas.microsoft.com/office/drawing/2014/main" id="{280A945C-9E12-FE65-AA0E-B93230CE1A48}"/>
              </a:ext>
            </a:extLst>
          </p:cNvPr>
          <p:cNvCxnSpPr>
            <a:cxnSpLocks/>
          </p:cNvCxnSpPr>
          <p:nvPr/>
        </p:nvCxnSpPr>
        <p:spPr>
          <a:xfrm>
            <a:off x="8245577" y="3528478"/>
            <a:ext cx="202858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7" name="Straight Connector 10">
            <a:extLst>
              <a:ext uri="{FF2B5EF4-FFF2-40B4-BE49-F238E27FC236}">
                <a16:creationId xmlns:a16="http://schemas.microsoft.com/office/drawing/2014/main" id="{7DDBEB20-31B4-3BA9-007F-198860B7AC25}"/>
              </a:ext>
            </a:extLst>
          </p:cNvPr>
          <p:cNvCxnSpPr>
            <a:cxnSpLocks/>
          </p:cNvCxnSpPr>
          <p:nvPr/>
        </p:nvCxnSpPr>
        <p:spPr>
          <a:xfrm>
            <a:off x="9120965" y="3147477"/>
            <a:ext cx="115319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11">
            <a:extLst>
              <a:ext uri="{FF2B5EF4-FFF2-40B4-BE49-F238E27FC236}">
                <a16:creationId xmlns:a16="http://schemas.microsoft.com/office/drawing/2014/main" id="{92958BA3-F4CA-C062-3D07-38F45BDC9285}"/>
              </a:ext>
            </a:extLst>
          </p:cNvPr>
          <p:cNvCxnSpPr>
            <a:cxnSpLocks/>
          </p:cNvCxnSpPr>
          <p:nvPr/>
        </p:nvCxnSpPr>
        <p:spPr>
          <a:xfrm>
            <a:off x="7590918" y="4885211"/>
            <a:ext cx="268324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Rectangle 12">
                <a:extLst>
                  <a:ext uri="{FF2B5EF4-FFF2-40B4-BE49-F238E27FC236}">
                    <a16:creationId xmlns:a16="http://schemas.microsoft.com/office/drawing/2014/main" id="{864D7D29-CDFF-E045-8549-6A9AA89ED965}"/>
                  </a:ext>
                </a:extLst>
              </p:cNvPr>
              <p:cNvSpPr/>
              <p:nvPr/>
            </p:nvSpPr>
            <p:spPr>
              <a:xfrm>
                <a:off x="6892114" y="2962811"/>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e>
                      </m:d>
                    </m:oMath>
                  </m:oMathPara>
                </a14:m>
                <a:endParaRPr lang="en-US" dirty="0"/>
              </a:p>
            </p:txBody>
          </p:sp>
        </mc:Choice>
        <mc:Fallback xmlns="">
          <p:sp>
            <p:nvSpPr>
              <p:cNvPr id="39" name="Rectangle 12">
                <a:extLst>
                  <a:ext uri="{FF2B5EF4-FFF2-40B4-BE49-F238E27FC236}">
                    <a16:creationId xmlns:a16="http://schemas.microsoft.com/office/drawing/2014/main" id="{864D7D29-CDFF-E045-8549-6A9AA89ED965}"/>
                  </a:ext>
                </a:extLst>
              </p:cNvPr>
              <p:cNvSpPr>
                <a:spLocks noRot="1" noChangeAspect="1" noMove="1" noResize="1" noEditPoints="1" noAdjustHandles="1" noChangeArrowheads="1" noChangeShapeType="1" noTextEdit="1"/>
              </p:cNvSpPr>
              <p:nvPr/>
            </p:nvSpPr>
            <p:spPr>
              <a:xfrm>
                <a:off x="6892114" y="2962811"/>
                <a:ext cx="616771" cy="369332"/>
              </a:xfrm>
              <a:prstGeom prst="rect">
                <a:avLst/>
              </a:prstGeom>
              <a:blipFill>
                <a:blip r:embed="rId2"/>
                <a:stretch>
                  <a:fillRect b="-163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0" name="Rectangle 13">
                <a:extLst>
                  <a:ext uri="{FF2B5EF4-FFF2-40B4-BE49-F238E27FC236}">
                    <a16:creationId xmlns:a16="http://schemas.microsoft.com/office/drawing/2014/main" id="{D8FFE864-37E0-4661-AC80-0BE5391A7BE0}"/>
                  </a:ext>
                </a:extLst>
              </p:cNvPr>
              <p:cNvSpPr/>
              <p:nvPr/>
            </p:nvSpPr>
            <p:spPr>
              <a:xfrm>
                <a:off x="6887719" y="3295873"/>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e>
                      </m:d>
                    </m:oMath>
                  </m:oMathPara>
                </a14:m>
                <a:endParaRPr lang="en-US" dirty="0"/>
              </a:p>
            </p:txBody>
          </p:sp>
        </mc:Choice>
        <mc:Fallback xmlns="">
          <p:sp>
            <p:nvSpPr>
              <p:cNvPr id="40" name="Rectangle 13">
                <a:extLst>
                  <a:ext uri="{FF2B5EF4-FFF2-40B4-BE49-F238E27FC236}">
                    <a16:creationId xmlns:a16="http://schemas.microsoft.com/office/drawing/2014/main" id="{D8FFE864-37E0-4661-AC80-0BE5391A7BE0}"/>
                  </a:ext>
                </a:extLst>
              </p:cNvPr>
              <p:cNvSpPr>
                <a:spLocks noRot="1" noChangeAspect="1" noMove="1" noResize="1" noEditPoints="1" noAdjustHandles="1" noChangeArrowheads="1" noChangeShapeType="1" noTextEdit="1"/>
              </p:cNvSpPr>
              <p:nvPr/>
            </p:nvSpPr>
            <p:spPr>
              <a:xfrm>
                <a:off x="6887719" y="3295873"/>
                <a:ext cx="616771" cy="369332"/>
              </a:xfrm>
              <a:prstGeom prst="rect">
                <a:avLst/>
              </a:prstGeom>
              <a:blipFill>
                <a:blip r:embed="rId3"/>
                <a:stretch>
                  <a:fillRect b="-333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1" name="Rectangle 14">
                <a:extLst>
                  <a:ext uri="{FF2B5EF4-FFF2-40B4-BE49-F238E27FC236}">
                    <a16:creationId xmlns:a16="http://schemas.microsoft.com/office/drawing/2014/main" id="{9C22749A-3391-F483-AC6B-539BD426DF28}"/>
                  </a:ext>
                </a:extLst>
              </p:cNvPr>
              <p:cNvSpPr/>
              <p:nvPr/>
            </p:nvSpPr>
            <p:spPr>
              <a:xfrm>
                <a:off x="6891797" y="3677543"/>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3</m:t>
                              </m:r>
                            </m:sub>
                          </m:sSub>
                        </m:e>
                      </m:d>
                    </m:oMath>
                  </m:oMathPara>
                </a14:m>
                <a:endParaRPr lang="en-US" dirty="0"/>
              </a:p>
            </p:txBody>
          </p:sp>
        </mc:Choice>
        <mc:Fallback xmlns="">
          <p:sp>
            <p:nvSpPr>
              <p:cNvPr id="41" name="Rectangle 14">
                <a:extLst>
                  <a:ext uri="{FF2B5EF4-FFF2-40B4-BE49-F238E27FC236}">
                    <a16:creationId xmlns:a16="http://schemas.microsoft.com/office/drawing/2014/main" id="{9C22749A-3391-F483-AC6B-539BD426DF28}"/>
                  </a:ext>
                </a:extLst>
              </p:cNvPr>
              <p:cNvSpPr>
                <a:spLocks noRot="1" noChangeAspect="1" noMove="1" noResize="1" noEditPoints="1" noAdjustHandles="1" noChangeArrowheads="1" noChangeShapeType="1" noTextEdit="1"/>
              </p:cNvSpPr>
              <p:nvPr/>
            </p:nvSpPr>
            <p:spPr>
              <a:xfrm>
                <a:off x="6891797" y="3677543"/>
                <a:ext cx="616771" cy="369332"/>
              </a:xfrm>
              <a:prstGeom prst="rect">
                <a:avLst/>
              </a:prstGeom>
              <a:blipFill>
                <a:blip r:embed="rId4"/>
                <a:stretch>
                  <a:fillRect b="-163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2" name="Rectangle 15">
                <a:extLst>
                  <a:ext uri="{FF2B5EF4-FFF2-40B4-BE49-F238E27FC236}">
                    <a16:creationId xmlns:a16="http://schemas.microsoft.com/office/drawing/2014/main" id="{618D2E4C-580F-209E-7C8D-E37AB56E9BBD}"/>
                  </a:ext>
                </a:extLst>
              </p:cNvPr>
              <p:cNvSpPr/>
              <p:nvPr/>
            </p:nvSpPr>
            <p:spPr>
              <a:xfrm>
                <a:off x="6887719" y="4681755"/>
                <a:ext cx="6650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oMath>
                  </m:oMathPara>
                </a14:m>
                <a:endParaRPr lang="en-US" dirty="0"/>
              </a:p>
            </p:txBody>
          </p:sp>
        </mc:Choice>
        <mc:Fallback xmlns="">
          <p:sp>
            <p:nvSpPr>
              <p:cNvPr id="42" name="Rectangle 15">
                <a:extLst>
                  <a:ext uri="{FF2B5EF4-FFF2-40B4-BE49-F238E27FC236}">
                    <a16:creationId xmlns:a16="http://schemas.microsoft.com/office/drawing/2014/main" id="{618D2E4C-580F-209E-7C8D-E37AB56E9BBD}"/>
                  </a:ext>
                </a:extLst>
              </p:cNvPr>
              <p:cNvSpPr>
                <a:spLocks noRot="1" noChangeAspect="1" noMove="1" noResize="1" noEditPoints="1" noAdjustHandles="1" noChangeArrowheads="1" noChangeShapeType="1" noTextEdit="1"/>
              </p:cNvSpPr>
              <p:nvPr/>
            </p:nvSpPr>
            <p:spPr>
              <a:xfrm>
                <a:off x="6887719" y="4681755"/>
                <a:ext cx="665054" cy="369332"/>
              </a:xfrm>
              <a:prstGeom prst="rect">
                <a:avLst/>
              </a:prstGeom>
              <a:blipFill>
                <a:blip r:embed="rId5"/>
                <a:stretch>
                  <a:fillRect/>
                </a:stretch>
              </a:blipFill>
            </p:spPr>
            <p:txBody>
              <a:bodyPr/>
              <a:lstStyle/>
              <a:p>
                <a:r>
                  <a:rPr lang="ko-KR" altLang="en-US">
                    <a:noFill/>
                  </a:rPr>
                  <a:t> </a:t>
                </a:r>
              </a:p>
            </p:txBody>
          </p:sp>
        </mc:Fallback>
      </mc:AlternateContent>
      <p:cxnSp>
        <p:nvCxnSpPr>
          <p:cNvPr id="43" name="Straight Connector 16">
            <a:extLst>
              <a:ext uri="{FF2B5EF4-FFF2-40B4-BE49-F238E27FC236}">
                <a16:creationId xmlns:a16="http://schemas.microsoft.com/office/drawing/2014/main" id="{2A3DACC5-66EB-7E52-0CDA-CCB7B2058547}"/>
              </a:ext>
            </a:extLst>
          </p:cNvPr>
          <p:cNvCxnSpPr>
            <a:cxnSpLocks/>
          </p:cNvCxnSpPr>
          <p:nvPr/>
        </p:nvCxnSpPr>
        <p:spPr>
          <a:xfrm>
            <a:off x="7582556" y="4506279"/>
            <a:ext cx="268324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Rectangle 17">
                <a:extLst>
                  <a:ext uri="{FF2B5EF4-FFF2-40B4-BE49-F238E27FC236}">
                    <a16:creationId xmlns:a16="http://schemas.microsoft.com/office/drawing/2014/main" id="{55713C74-0280-97A2-DAF3-7BB7B465CE9C}"/>
                  </a:ext>
                </a:extLst>
              </p:cNvPr>
              <p:cNvSpPr/>
              <p:nvPr/>
            </p:nvSpPr>
            <p:spPr>
              <a:xfrm>
                <a:off x="6879357" y="4302823"/>
                <a:ext cx="88466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𝑛</m:t>
                              </m:r>
                              <m:r>
                                <a:rPr lang="en-US" b="0" i="1" smtClean="0">
                                  <a:latin typeface="Cambria Math" panose="02040503050406030204" pitchFamily="18" charset="0"/>
                                </a:rPr>
                                <m:t>−1</m:t>
                              </m:r>
                            </m:sub>
                          </m:sSub>
                        </m:e>
                      </m:d>
                    </m:oMath>
                  </m:oMathPara>
                </a14:m>
                <a:endParaRPr lang="en-US" dirty="0"/>
              </a:p>
            </p:txBody>
          </p:sp>
        </mc:Choice>
        <mc:Fallback xmlns="">
          <p:sp>
            <p:nvSpPr>
              <p:cNvPr id="44" name="Rectangle 17">
                <a:extLst>
                  <a:ext uri="{FF2B5EF4-FFF2-40B4-BE49-F238E27FC236}">
                    <a16:creationId xmlns:a16="http://schemas.microsoft.com/office/drawing/2014/main" id="{55713C74-0280-97A2-DAF3-7BB7B465CE9C}"/>
                  </a:ext>
                </a:extLst>
              </p:cNvPr>
              <p:cNvSpPr>
                <a:spLocks noRot="1" noChangeAspect="1" noMove="1" noResize="1" noEditPoints="1" noAdjustHandles="1" noChangeArrowheads="1" noChangeShapeType="1" noTextEdit="1"/>
              </p:cNvSpPr>
              <p:nvPr/>
            </p:nvSpPr>
            <p:spPr>
              <a:xfrm>
                <a:off x="6879357" y="4302823"/>
                <a:ext cx="884666" cy="369332"/>
              </a:xfrm>
              <a:prstGeom prst="rect">
                <a:avLst/>
              </a:prstGeom>
              <a:blipFill>
                <a:blip r:embed="rId6"/>
                <a:stretch>
                  <a:fillRect b="-3333"/>
                </a:stretch>
              </a:blipFill>
            </p:spPr>
            <p:txBody>
              <a:bodyPr/>
              <a:lstStyle/>
              <a:p>
                <a:r>
                  <a:rPr lang="ko-KR" altLang="en-US">
                    <a:noFill/>
                  </a:rPr>
                  <a:t> </a:t>
                </a:r>
              </a:p>
            </p:txBody>
          </p:sp>
        </mc:Fallback>
      </mc:AlternateContent>
      <p:sp>
        <p:nvSpPr>
          <p:cNvPr id="45" name="TextBox 44">
            <a:extLst>
              <a:ext uri="{FF2B5EF4-FFF2-40B4-BE49-F238E27FC236}">
                <a16:creationId xmlns:a16="http://schemas.microsoft.com/office/drawing/2014/main" id="{4BD43386-F072-448C-82BD-F2EB8F067585}"/>
              </a:ext>
            </a:extLst>
          </p:cNvPr>
          <p:cNvSpPr txBox="1"/>
          <p:nvPr/>
        </p:nvSpPr>
        <p:spPr>
          <a:xfrm rot="5400000">
            <a:off x="7026582" y="4096106"/>
            <a:ext cx="475565" cy="369332"/>
          </a:xfrm>
          <a:prstGeom prst="rect">
            <a:avLst/>
          </a:prstGeom>
          <a:noFill/>
        </p:spPr>
        <p:txBody>
          <a:bodyPr wrap="square" rtlCol="0">
            <a:spAutoFit/>
          </a:bodyPr>
          <a:lstStyle/>
          <a:p>
            <a:r>
              <a:rPr lang="en-US" dirty="0"/>
              <a:t>…</a:t>
            </a:r>
          </a:p>
        </p:txBody>
      </p:sp>
      <p:sp>
        <p:nvSpPr>
          <p:cNvPr id="46" name="TextBox 45">
            <a:extLst>
              <a:ext uri="{FF2B5EF4-FFF2-40B4-BE49-F238E27FC236}">
                <a16:creationId xmlns:a16="http://schemas.microsoft.com/office/drawing/2014/main" id="{24DCAC8E-4734-7A83-A112-59FA1A9B8964}"/>
              </a:ext>
            </a:extLst>
          </p:cNvPr>
          <p:cNvSpPr txBox="1"/>
          <p:nvPr/>
        </p:nvSpPr>
        <p:spPr>
          <a:xfrm rot="5400000">
            <a:off x="9940851" y="4118157"/>
            <a:ext cx="475565" cy="369332"/>
          </a:xfrm>
          <a:prstGeom prst="rect">
            <a:avLst/>
          </a:prstGeom>
          <a:noFill/>
        </p:spPr>
        <p:txBody>
          <a:bodyPr wrap="square" rtlCol="0">
            <a:spAutoFit/>
          </a:bodyPr>
          <a:lstStyle/>
          <a:p>
            <a:r>
              <a:rPr lang="en-US" dirty="0"/>
              <a:t>…</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24DC0B14-7A7A-9954-DD93-F156E6C27BBC}"/>
                  </a:ext>
                </a:extLst>
              </p:cNvPr>
              <p:cNvSpPr txBox="1"/>
              <p:nvPr/>
            </p:nvSpPr>
            <p:spPr>
              <a:xfrm>
                <a:off x="8479138" y="2350031"/>
                <a:ext cx="641827"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𝑅</m:t>
                      </m:r>
                    </m:oMath>
                  </m:oMathPara>
                </a14:m>
                <a:endParaRPr lang="en-US" sz="3200" dirty="0"/>
              </a:p>
            </p:txBody>
          </p:sp>
        </mc:Choice>
        <mc:Fallback xmlns="">
          <p:sp>
            <p:nvSpPr>
              <p:cNvPr id="47" name="TextBox 46">
                <a:extLst>
                  <a:ext uri="{FF2B5EF4-FFF2-40B4-BE49-F238E27FC236}">
                    <a16:creationId xmlns:a16="http://schemas.microsoft.com/office/drawing/2014/main" id="{24DC0B14-7A7A-9954-DD93-F156E6C27BBC}"/>
                  </a:ext>
                </a:extLst>
              </p:cNvPr>
              <p:cNvSpPr txBox="1">
                <a:spLocks noRot="1" noChangeAspect="1" noMove="1" noResize="1" noEditPoints="1" noAdjustHandles="1" noChangeArrowheads="1" noChangeShapeType="1" noTextEdit="1"/>
              </p:cNvSpPr>
              <p:nvPr/>
            </p:nvSpPr>
            <p:spPr>
              <a:xfrm>
                <a:off x="8479138" y="2350031"/>
                <a:ext cx="641827" cy="584775"/>
              </a:xfrm>
              <a:prstGeom prst="rect">
                <a:avLst/>
              </a:prstGeom>
              <a:blipFill>
                <a:blip r:embed="rId7"/>
                <a:stretch>
                  <a:fillRect/>
                </a:stretch>
              </a:blipFill>
            </p:spPr>
            <p:txBody>
              <a:bodyPr/>
              <a:lstStyle/>
              <a:p>
                <a:r>
                  <a:rPr lang="ko-KR" altLang="en-US">
                    <a:noFill/>
                  </a:rPr>
                  <a:t> </a:t>
                </a:r>
              </a:p>
            </p:txBody>
          </p:sp>
        </mc:Fallback>
      </mc:AlternateContent>
      <p:sp>
        <p:nvSpPr>
          <p:cNvPr id="54" name="Rectangle 28">
            <a:extLst>
              <a:ext uri="{FF2B5EF4-FFF2-40B4-BE49-F238E27FC236}">
                <a16:creationId xmlns:a16="http://schemas.microsoft.com/office/drawing/2014/main" id="{69BF4AC5-57B8-D66F-9553-67B8234A24D7}"/>
              </a:ext>
            </a:extLst>
          </p:cNvPr>
          <p:cNvSpPr/>
          <p:nvPr/>
        </p:nvSpPr>
        <p:spPr>
          <a:xfrm>
            <a:off x="8482138" y="3429000"/>
            <a:ext cx="389570" cy="6246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31">
            <a:extLst>
              <a:ext uri="{FF2B5EF4-FFF2-40B4-BE49-F238E27FC236}">
                <a16:creationId xmlns:a16="http://schemas.microsoft.com/office/drawing/2014/main" id="{D7B0F65E-BFBF-DD5F-511E-3086004827B3}"/>
              </a:ext>
            </a:extLst>
          </p:cNvPr>
          <p:cNvSpPr/>
          <p:nvPr/>
        </p:nvSpPr>
        <p:spPr>
          <a:xfrm>
            <a:off x="9083010" y="4302823"/>
            <a:ext cx="315425" cy="8378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32">
            <a:extLst>
              <a:ext uri="{FF2B5EF4-FFF2-40B4-BE49-F238E27FC236}">
                <a16:creationId xmlns:a16="http://schemas.microsoft.com/office/drawing/2014/main" id="{D5A8D7D7-B597-3BDA-518D-5E118808E9AD}"/>
              </a:ext>
            </a:extLst>
          </p:cNvPr>
          <p:cNvSpPr/>
          <p:nvPr/>
        </p:nvSpPr>
        <p:spPr>
          <a:xfrm>
            <a:off x="9637994" y="3729663"/>
            <a:ext cx="389570" cy="427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33">
            <a:extLst>
              <a:ext uri="{FF2B5EF4-FFF2-40B4-BE49-F238E27FC236}">
                <a16:creationId xmlns:a16="http://schemas.microsoft.com/office/drawing/2014/main" id="{5B298ECF-B591-05A0-8648-E0A642B25870}"/>
              </a:ext>
            </a:extLst>
          </p:cNvPr>
          <p:cNvSpPr/>
          <p:nvPr/>
        </p:nvSpPr>
        <p:spPr>
          <a:xfrm>
            <a:off x="9916404" y="4676178"/>
            <a:ext cx="389570" cy="427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8" name="Straight Connector 5">
            <a:extLst>
              <a:ext uri="{FF2B5EF4-FFF2-40B4-BE49-F238E27FC236}">
                <a16:creationId xmlns:a16="http://schemas.microsoft.com/office/drawing/2014/main" id="{99ACEA54-913D-8CB3-494F-B935AA4B07C1}"/>
              </a:ext>
            </a:extLst>
          </p:cNvPr>
          <p:cNvCxnSpPr/>
          <p:nvPr/>
        </p:nvCxnSpPr>
        <p:spPr>
          <a:xfrm>
            <a:off x="2240896" y="3201029"/>
            <a:ext cx="990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9" name="Straight Connector 6">
            <a:extLst>
              <a:ext uri="{FF2B5EF4-FFF2-40B4-BE49-F238E27FC236}">
                <a16:creationId xmlns:a16="http://schemas.microsoft.com/office/drawing/2014/main" id="{63BAF0D3-4D6C-F3EB-71DF-5F5595CD7217}"/>
              </a:ext>
            </a:extLst>
          </p:cNvPr>
          <p:cNvCxnSpPr/>
          <p:nvPr/>
        </p:nvCxnSpPr>
        <p:spPr>
          <a:xfrm>
            <a:off x="2240896" y="3582030"/>
            <a:ext cx="9906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0" name="Straight Connector 7">
            <a:extLst>
              <a:ext uri="{FF2B5EF4-FFF2-40B4-BE49-F238E27FC236}">
                <a16:creationId xmlns:a16="http://schemas.microsoft.com/office/drawing/2014/main" id="{8247A8B7-3E9E-68C0-8DBD-6C4052240DFF}"/>
              </a:ext>
            </a:extLst>
          </p:cNvPr>
          <p:cNvCxnSpPr>
            <a:cxnSpLocks/>
          </p:cNvCxnSpPr>
          <p:nvPr/>
        </p:nvCxnSpPr>
        <p:spPr>
          <a:xfrm>
            <a:off x="2240896" y="3996367"/>
            <a:ext cx="267958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1" name="Rectangle 8">
            <a:extLst>
              <a:ext uri="{FF2B5EF4-FFF2-40B4-BE49-F238E27FC236}">
                <a16:creationId xmlns:a16="http://schemas.microsoft.com/office/drawing/2014/main" id="{8F8C30A2-A972-77DA-0C5B-305510918A61}"/>
              </a:ext>
            </a:extLst>
          </p:cNvPr>
          <p:cNvSpPr/>
          <p:nvPr/>
        </p:nvSpPr>
        <p:spPr>
          <a:xfrm>
            <a:off x="2502319" y="3094076"/>
            <a:ext cx="2062675" cy="2039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10">
            <a:extLst>
              <a:ext uri="{FF2B5EF4-FFF2-40B4-BE49-F238E27FC236}">
                <a16:creationId xmlns:a16="http://schemas.microsoft.com/office/drawing/2014/main" id="{34CED6E9-D22B-BDE4-137A-0AA40FD6ABB9}"/>
              </a:ext>
            </a:extLst>
          </p:cNvPr>
          <p:cNvCxnSpPr>
            <a:cxnSpLocks/>
          </p:cNvCxnSpPr>
          <p:nvPr/>
        </p:nvCxnSpPr>
        <p:spPr>
          <a:xfrm>
            <a:off x="3767278" y="3582030"/>
            <a:ext cx="115319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3" name="Straight Connector 11">
            <a:extLst>
              <a:ext uri="{FF2B5EF4-FFF2-40B4-BE49-F238E27FC236}">
                <a16:creationId xmlns:a16="http://schemas.microsoft.com/office/drawing/2014/main" id="{A44899F0-A2A0-31FC-6AA1-5D3991AFA5A2}"/>
              </a:ext>
            </a:extLst>
          </p:cNvPr>
          <p:cNvCxnSpPr>
            <a:cxnSpLocks/>
          </p:cNvCxnSpPr>
          <p:nvPr/>
        </p:nvCxnSpPr>
        <p:spPr>
          <a:xfrm>
            <a:off x="3767278" y="3201029"/>
            <a:ext cx="115319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4" name="Straight Connector 14">
            <a:extLst>
              <a:ext uri="{FF2B5EF4-FFF2-40B4-BE49-F238E27FC236}">
                <a16:creationId xmlns:a16="http://schemas.microsoft.com/office/drawing/2014/main" id="{85DABE39-2961-0A53-EBDD-CF2F4A6F9058}"/>
              </a:ext>
            </a:extLst>
          </p:cNvPr>
          <p:cNvCxnSpPr>
            <a:cxnSpLocks/>
          </p:cNvCxnSpPr>
          <p:nvPr/>
        </p:nvCxnSpPr>
        <p:spPr>
          <a:xfrm>
            <a:off x="2237231" y="4938763"/>
            <a:ext cx="268324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Rectangle 17">
                <a:extLst>
                  <a:ext uri="{FF2B5EF4-FFF2-40B4-BE49-F238E27FC236}">
                    <a16:creationId xmlns:a16="http://schemas.microsoft.com/office/drawing/2014/main" id="{0056F082-62D1-EA18-850D-758B08830239}"/>
                  </a:ext>
                </a:extLst>
              </p:cNvPr>
              <p:cNvSpPr/>
              <p:nvPr/>
            </p:nvSpPr>
            <p:spPr>
              <a:xfrm>
                <a:off x="1538427" y="3016363"/>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e>
                      </m:d>
                    </m:oMath>
                  </m:oMathPara>
                </a14:m>
                <a:endParaRPr lang="en-US" dirty="0"/>
              </a:p>
            </p:txBody>
          </p:sp>
        </mc:Choice>
        <mc:Fallback xmlns="">
          <p:sp>
            <p:nvSpPr>
              <p:cNvPr id="65" name="Rectangle 17">
                <a:extLst>
                  <a:ext uri="{FF2B5EF4-FFF2-40B4-BE49-F238E27FC236}">
                    <a16:creationId xmlns:a16="http://schemas.microsoft.com/office/drawing/2014/main" id="{0056F082-62D1-EA18-850D-758B08830239}"/>
                  </a:ext>
                </a:extLst>
              </p:cNvPr>
              <p:cNvSpPr>
                <a:spLocks noRot="1" noChangeAspect="1" noMove="1" noResize="1" noEditPoints="1" noAdjustHandles="1" noChangeArrowheads="1" noChangeShapeType="1" noTextEdit="1"/>
              </p:cNvSpPr>
              <p:nvPr/>
            </p:nvSpPr>
            <p:spPr>
              <a:xfrm>
                <a:off x="1538427" y="3016363"/>
                <a:ext cx="616771" cy="369332"/>
              </a:xfrm>
              <a:prstGeom prst="rect">
                <a:avLst/>
              </a:prstGeom>
              <a:blipFill>
                <a:blip r:embed="rId8"/>
                <a:stretch>
                  <a:fillRect b="-333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6" name="Rectangle 18">
                <a:extLst>
                  <a:ext uri="{FF2B5EF4-FFF2-40B4-BE49-F238E27FC236}">
                    <a16:creationId xmlns:a16="http://schemas.microsoft.com/office/drawing/2014/main" id="{6C9ED94D-B122-E5CD-665E-D29418FAAA6C}"/>
                  </a:ext>
                </a:extLst>
              </p:cNvPr>
              <p:cNvSpPr/>
              <p:nvPr/>
            </p:nvSpPr>
            <p:spPr>
              <a:xfrm>
                <a:off x="1534032" y="3349425"/>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e>
                      </m:d>
                    </m:oMath>
                  </m:oMathPara>
                </a14:m>
                <a:endParaRPr lang="en-US" dirty="0"/>
              </a:p>
            </p:txBody>
          </p:sp>
        </mc:Choice>
        <mc:Fallback xmlns="">
          <p:sp>
            <p:nvSpPr>
              <p:cNvPr id="66" name="Rectangle 18">
                <a:extLst>
                  <a:ext uri="{FF2B5EF4-FFF2-40B4-BE49-F238E27FC236}">
                    <a16:creationId xmlns:a16="http://schemas.microsoft.com/office/drawing/2014/main" id="{6C9ED94D-B122-E5CD-665E-D29418FAAA6C}"/>
                  </a:ext>
                </a:extLst>
              </p:cNvPr>
              <p:cNvSpPr>
                <a:spLocks noRot="1" noChangeAspect="1" noMove="1" noResize="1" noEditPoints="1" noAdjustHandles="1" noChangeArrowheads="1" noChangeShapeType="1" noTextEdit="1"/>
              </p:cNvSpPr>
              <p:nvPr/>
            </p:nvSpPr>
            <p:spPr>
              <a:xfrm>
                <a:off x="1534032" y="3349425"/>
                <a:ext cx="616771" cy="369332"/>
              </a:xfrm>
              <a:prstGeom prst="rect">
                <a:avLst/>
              </a:prstGeom>
              <a:blipFill>
                <a:blip r:embed="rId9"/>
                <a:stretch>
                  <a:fillRect b="-163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7" name="Rectangle 19">
                <a:extLst>
                  <a:ext uri="{FF2B5EF4-FFF2-40B4-BE49-F238E27FC236}">
                    <a16:creationId xmlns:a16="http://schemas.microsoft.com/office/drawing/2014/main" id="{C354FC34-81A8-723D-F447-FA82A017E6A4}"/>
                  </a:ext>
                </a:extLst>
              </p:cNvPr>
              <p:cNvSpPr/>
              <p:nvPr/>
            </p:nvSpPr>
            <p:spPr>
              <a:xfrm>
                <a:off x="1538110" y="3731095"/>
                <a:ext cx="6167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3</m:t>
                              </m:r>
                            </m:sub>
                          </m:sSub>
                        </m:e>
                      </m:d>
                    </m:oMath>
                  </m:oMathPara>
                </a14:m>
                <a:endParaRPr lang="en-US" dirty="0"/>
              </a:p>
            </p:txBody>
          </p:sp>
        </mc:Choice>
        <mc:Fallback xmlns="">
          <p:sp>
            <p:nvSpPr>
              <p:cNvPr id="67" name="Rectangle 19">
                <a:extLst>
                  <a:ext uri="{FF2B5EF4-FFF2-40B4-BE49-F238E27FC236}">
                    <a16:creationId xmlns:a16="http://schemas.microsoft.com/office/drawing/2014/main" id="{C354FC34-81A8-723D-F447-FA82A017E6A4}"/>
                  </a:ext>
                </a:extLst>
              </p:cNvPr>
              <p:cNvSpPr>
                <a:spLocks noRot="1" noChangeAspect="1" noMove="1" noResize="1" noEditPoints="1" noAdjustHandles="1" noChangeArrowheads="1" noChangeShapeType="1" noTextEdit="1"/>
              </p:cNvSpPr>
              <p:nvPr/>
            </p:nvSpPr>
            <p:spPr>
              <a:xfrm>
                <a:off x="1538110" y="3731095"/>
                <a:ext cx="616771" cy="369332"/>
              </a:xfrm>
              <a:prstGeom prst="rect">
                <a:avLst/>
              </a:prstGeom>
              <a:blipFill>
                <a:blip r:embed="rId10"/>
                <a:stretch>
                  <a:fillRect b="-163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8" name="Rectangle 20">
                <a:extLst>
                  <a:ext uri="{FF2B5EF4-FFF2-40B4-BE49-F238E27FC236}">
                    <a16:creationId xmlns:a16="http://schemas.microsoft.com/office/drawing/2014/main" id="{72464EE4-12FA-DEB3-F1DC-6BB6AADDF394}"/>
                  </a:ext>
                </a:extLst>
              </p:cNvPr>
              <p:cNvSpPr/>
              <p:nvPr/>
            </p:nvSpPr>
            <p:spPr>
              <a:xfrm>
                <a:off x="1534032" y="4735307"/>
                <a:ext cx="6650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e>
                      </m:d>
                    </m:oMath>
                  </m:oMathPara>
                </a14:m>
                <a:endParaRPr lang="en-US" dirty="0"/>
              </a:p>
            </p:txBody>
          </p:sp>
        </mc:Choice>
        <mc:Fallback xmlns="">
          <p:sp>
            <p:nvSpPr>
              <p:cNvPr id="68" name="Rectangle 20">
                <a:extLst>
                  <a:ext uri="{FF2B5EF4-FFF2-40B4-BE49-F238E27FC236}">
                    <a16:creationId xmlns:a16="http://schemas.microsoft.com/office/drawing/2014/main" id="{72464EE4-12FA-DEB3-F1DC-6BB6AADDF394}"/>
                  </a:ext>
                </a:extLst>
              </p:cNvPr>
              <p:cNvSpPr>
                <a:spLocks noRot="1" noChangeAspect="1" noMove="1" noResize="1" noEditPoints="1" noAdjustHandles="1" noChangeArrowheads="1" noChangeShapeType="1" noTextEdit="1"/>
              </p:cNvSpPr>
              <p:nvPr/>
            </p:nvSpPr>
            <p:spPr>
              <a:xfrm>
                <a:off x="1534032" y="4735307"/>
                <a:ext cx="665054" cy="369332"/>
              </a:xfrm>
              <a:prstGeom prst="rect">
                <a:avLst/>
              </a:prstGeom>
              <a:blipFill>
                <a:blip r:embed="rId11"/>
                <a:stretch>
                  <a:fillRect/>
                </a:stretch>
              </a:blipFill>
            </p:spPr>
            <p:txBody>
              <a:bodyPr/>
              <a:lstStyle/>
              <a:p>
                <a:r>
                  <a:rPr lang="ko-KR" altLang="en-US">
                    <a:noFill/>
                  </a:rPr>
                  <a:t> </a:t>
                </a:r>
              </a:p>
            </p:txBody>
          </p:sp>
        </mc:Fallback>
      </mc:AlternateContent>
      <p:cxnSp>
        <p:nvCxnSpPr>
          <p:cNvPr id="69" name="Straight Connector 30">
            <a:extLst>
              <a:ext uri="{FF2B5EF4-FFF2-40B4-BE49-F238E27FC236}">
                <a16:creationId xmlns:a16="http://schemas.microsoft.com/office/drawing/2014/main" id="{20E5B44C-32FE-9364-DF9B-F5D060FC0F3E}"/>
              </a:ext>
            </a:extLst>
          </p:cNvPr>
          <p:cNvCxnSpPr>
            <a:cxnSpLocks/>
          </p:cNvCxnSpPr>
          <p:nvPr/>
        </p:nvCxnSpPr>
        <p:spPr>
          <a:xfrm>
            <a:off x="2228869" y="4559831"/>
            <a:ext cx="2683246"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Rectangle 31">
                <a:extLst>
                  <a:ext uri="{FF2B5EF4-FFF2-40B4-BE49-F238E27FC236}">
                    <a16:creationId xmlns:a16="http://schemas.microsoft.com/office/drawing/2014/main" id="{B27DEBFF-3A76-91B7-D384-82C9F0038336}"/>
                  </a:ext>
                </a:extLst>
              </p:cNvPr>
              <p:cNvSpPr/>
              <p:nvPr/>
            </p:nvSpPr>
            <p:spPr>
              <a:xfrm>
                <a:off x="1525670" y="4356375"/>
                <a:ext cx="88466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𝑛</m:t>
                              </m:r>
                              <m:r>
                                <a:rPr lang="en-US" b="0" i="1" smtClean="0">
                                  <a:latin typeface="Cambria Math" panose="02040503050406030204" pitchFamily="18" charset="0"/>
                                </a:rPr>
                                <m:t>−1</m:t>
                              </m:r>
                            </m:sub>
                          </m:sSub>
                        </m:e>
                      </m:d>
                    </m:oMath>
                  </m:oMathPara>
                </a14:m>
                <a:endParaRPr lang="en-US" dirty="0"/>
              </a:p>
            </p:txBody>
          </p:sp>
        </mc:Choice>
        <mc:Fallback xmlns="">
          <p:sp>
            <p:nvSpPr>
              <p:cNvPr id="70" name="Rectangle 31">
                <a:extLst>
                  <a:ext uri="{FF2B5EF4-FFF2-40B4-BE49-F238E27FC236}">
                    <a16:creationId xmlns:a16="http://schemas.microsoft.com/office/drawing/2014/main" id="{B27DEBFF-3A76-91B7-D384-82C9F0038336}"/>
                  </a:ext>
                </a:extLst>
              </p:cNvPr>
              <p:cNvSpPr>
                <a:spLocks noRot="1" noChangeAspect="1" noMove="1" noResize="1" noEditPoints="1" noAdjustHandles="1" noChangeArrowheads="1" noChangeShapeType="1" noTextEdit="1"/>
              </p:cNvSpPr>
              <p:nvPr/>
            </p:nvSpPr>
            <p:spPr>
              <a:xfrm>
                <a:off x="1525670" y="4356375"/>
                <a:ext cx="884666" cy="369332"/>
              </a:xfrm>
              <a:prstGeom prst="rect">
                <a:avLst/>
              </a:prstGeom>
              <a:blipFill>
                <a:blip r:embed="rId12"/>
                <a:stretch>
                  <a:fillRect b="-3333"/>
                </a:stretch>
              </a:blipFill>
            </p:spPr>
            <p:txBody>
              <a:bodyPr/>
              <a:lstStyle/>
              <a:p>
                <a:r>
                  <a:rPr lang="ko-KR" altLang="en-US">
                    <a:noFill/>
                  </a:rPr>
                  <a:t> </a:t>
                </a:r>
              </a:p>
            </p:txBody>
          </p:sp>
        </mc:Fallback>
      </mc:AlternateContent>
      <p:sp>
        <p:nvSpPr>
          <p:cNvPr id="71" name="TextBox 70">
            <a:extLst>
              <a:ext uri="{FF2B5EF4-FFF2-40B4-BE49-F238E27FC236}">
                <a16:creationId xmlns:a16="http://schemas.microsoft.com/office/drawing/2014/main" id="{539FE2F5-6378-4391-ABD7-61F316438DC1}"/>
              </a:ext>
            </a:extLst>
          </p:cNvPr>
          <p:cNvSpPr txBox="1"/>
          <p:nvPr/>
        </p:nvSpPr>
        <p:spPr>
          <a:xfrm rot="5400000">
            <a:off x="1672895" y="4149658"/>
            <a:ext cx="475565" cy="369332"/>
          </a:xfrm>
          <a:prstGeom prst="rect">
            <a:avLst/>
          </a:prstGeom>
          <a:noFill/>
        </p:spPr>
        <p:txBody>
          <a:bodyPr wrap="square" rtlCol="0">
            <a:spAutoFit/>
          </a:bodyPr>
          <a:lstStyle/>
          <a:p>
            <a:r>
              <a:rPr lang="en-US" dirty="0"/>
              <a:t>…</a:t>
            </a:r>
          </a:p>
        </p:txBody>
      </p:sp>
      <p:sp>
        <p:nvSpPr>
          <p:cNvPr id="72" name="TextBox 71">
            <a:extLst>
              <a:ext uri="{FF2B5EF4-FFF2-40B4-BE49-F238E27FC236}">
                <a16:creationId xmlns:a16="http://schemas.microsoft.com/office/drawing/2014/main" id="{E728C979-1C3C-E8BE-557B-4639F86714F9}"/>
              </a:ext>
            </a:extLst>
          </p:cNvPr>
          <p:cNvSpPr txBox="1"/>
          <p:nvPr/>
        </p:nvSpPr>
        <p:spPr>
          <a:xfrm rot="5400000">
            <a:off x="4587164" y="4171709"/>
            <a:ext cx="475565" cy="369332"/>
          </a:xfrm>
          <a:prstGeom prst="rect">
            <a:avLst/>
          </a:prstGeom>
          <a:noFill/>
        </p:spPr>
        <p:txBody>
          <a:bodyPr wrap="square" rtlCol="0">
            <a:spAutoFit/>
          </a:bodyPr>
          <a:lstStyle/>
          <a:p>
            <a:r>
              <a:rPr lang="en-US" dirty="0"/>
              <a:t>…</a:t>
            </a: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715F584D-43C4-54C5-127E-34070AEF56E1}"/>
                  </a:ext>
                </a:extLst>
              </p:cNvPr>
              <p:cNvSpPr txBox="1"/>
              <p:nvPr/>
            </p:nvSpPr>
            <p:spPr>
              <a:xfrm>
                <a:off x="3212742" y="3724452"/>
                <a:ext cx="641827" cy="58477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𝑅</m:t>
                      </m:r>
                    </m:oMath>
                  </m:oMathPara>
                </a14:m>
                <a:endParaRPr lang="en-US" sz="3200" dirty="0"/>
              </a:p>
            </p:txBody>
          </p:sp>
        </mc:Choice>
        <mc:Fallback xmlns="">
          <p:sp>
            <p:nvSpPr>
              <p:cNvPr id="73" name="TextBox 72">
                <a:extLst>
                  <a:ext uri="{FF2B5EF4-FFF2-40B4-BE49-F238E27FC236}">
                    <a16:creationId xmlns:a16="http://schemas.microsoft.com/office/drawing/2014/main" id="{715F584D-43C4-54C5-127E-34070AEF56E1}"/>
                  </a:ext>
                </a:extLst>
              </p:cNvPr>
              <p:cNvSpPr txBox="1">
                <a:spLocks noRot="1" noChangeAspect="1" noMove="1" noResize="1" noEditPoints="1" noAdjustHandles="1" noChangeArrowheads="1" noChangeShapeType="1" noTextEdit="1"/>
              </p:cNvSpPr>
              <p:nvPr/>
            </p:nvSpPr>
            <p:spPr>
              <a:xfrm>
                <a:off x="3212742" y="3724452"/>
                <a:ext cx="641827" cy="584775"/>
              </a:xfrm>
              <a:prstGeom prst="rect">
                <a:avLst/>
              </a:prstGeom>
              <a:blipFill>
                <a:blip r:embed="rId1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 name="직사각형 3"/>
              <p:cNvSpPr/>
              <p:nvPr/>
            </p:nvSpPr>
            <p:spPr>
              <a:xfrm>
                <a:off x="5733812" y="3947692"/>
                <a:ext cx="4395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m:t>
                      </m:r>
                    </m:oMath>
                  </m:oMathPara>
                </a14:m>
                <a:endParaRPr lang="en-US" altLang="ko-KR" dirty="0"/>
              </a:p>
            </p:txBody>
          </p:sp>
        </mc:Choice>
        <mc:Fallback xmlns="">
          <p:sp>
            <p:nvSpPr>
              <p:cNvPr id="4" name="직사각형 3"/>
              <p:cNvSpPr>
                <a:spLocks noRot="1" noChangeAspect="1" noMove="1" noResize="1" noEditPoints="1" noAdjustHandles="1" noChangeArrowheads="1" noChangeShapeType="1" noTextEdit="1"/>
              </p:cNvSpPr>
              <p:nvPr/>
            </p:nvSpPr>
            <p:spPr>
              <a:xfrm>
                <a:off x="5733812" y="3947692"/>
                <a:ext cx="439544" cy="369332"/>
              </a:xfrm>
              <a:prstGeom prst="rect">
                <a:avLst/>
              </a:prstGeom>
              <a:blipFill>
                <a:blip r:embed="rId14"/>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75926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35" grpId="0" animBg="1"/>
      <p:bldP spid="39" grpId="0"/>
      <p:bldP spid="40" grpId="0"/>
      <p:bldP spid="41" grpId="0"/>
      <p:bldP spid="42" grpId="0"/>
      <p:bldP spid="44" grpId="0"/>
      <p:bldP spid="45" grpId="0"/>
      <p:bldP spid="46" grpId="0"/>
      <p:bldP spid="47" grpId="0" animBg="1"/>
      <p:bldP spid="54" grpId="0" animBg="1"/>
      <p:bldP spid="55" grpId="0" animBg="1"/>
      <p:bldP spid="56" grpId="0" animBg="1"/>
      <p:bldP spid="57" grpId="0" animBg="1"/>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Last time: Reversible computing</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normAutofit fontScale="92500" lnSpcReduction="10000"/>
              </a:bodyPr>
              <a:lstStyle/>
              <a:p>
                <a:pPr marL="0" indent="0">
                  <a:buNone/>
                </a:pPr>
                <a:r>
                  <a:rPr lang="en-US" altLang="ko-KR" sz="1800" dirty="0" smtClean="0"/>
                  <a:t>We learnt different notations for reversible computing</a:t>
                </a:r>
                <a:endParaRPr lang="en-US" altLang="ko-KR" sz="1800" dirty="0" smtClean="0">
                  <a:ea typeface="Cambria Math" panose="02040503050406030204" pitchFamily="18" charset="0"/>
                </a:endParaRPr>
              </a:p>
              <a:p>
                <a:r>
                  <a:rPr lang="en-US" altLang="ko-KR" sz="1800" dirty="0" smtClean="0">
                    <a:ea typeface="Cambria Math" panose="02040503050406030204" pitchFamily="18" charset="0"/>
                  </a:rPr>
                  <a:t>1-bit states: 		</a:t>
                </a:r>
                <a14:m>
                  <m:oMath xmlns:m="http://schemas.openxmlformats.org/officeDocument/2006/math">
                    <m:d>
                      <m:dPr>
                        <m:begChr m:val="|"/>
                        <m:endChr m:val="⟩"/>
                        <m:ctrlPr>
                          <a:rPr lang="en-US" altLang="ko-KR" sz="1800" i="1" smtClean="0">
                            <a:solidFill>
                              <a:schemeClr val="accent1"/>
                            </a:solidFill>
                            <a:latin typeface="Cambria Math" panose="02040503050406030204" pitchFamily="18" charset="0"/>
                            <a:ea typeface="Cambria Math" panose="02040503050406030204" pitchFamily="18" charset="0"/>
                          </a:rPr>
                        </m:ctrlPr>
                      </m:dPr>
                      <m:e>
                        <m:r>
                          <a:rPr lang="en-US" altLang="ko-KR" sz="1800" i="1">
                            <a:solidFill>
                              <a:schemeClr val="accent1"/>
                            </a:solidFill>
                            <a:latin typeface="Cambria Math" panose="02040503050406030204" pitchFamily="18" charset="0"/>
                            <a:ea typeface="Cambria Math" panose="02040503050406030204" pitchFamily="18" charset="0"/>
                          </a:rPr>
                          <m:t>0</m:t>
                        </m:r>
                      </m:e>
                    </m:d>
                    <m:r>
                      <a:rPr lang="en-US" altLang="ko-KR" sz="1800" i="1">
                        <a:solidFill>
                          <a:schemeClr val="accent1"/>
                        </a:solidFill>
                        <a:latin typeface="Cambria Math" panose="02040503050406030204" pitchFamily="18" charset="0"/>
                        <a:ea typeface="Cambria Math" panose="02040503050406030204" pitchFamily="18" charset="0"/>
                      </a:rPr>
                      <m:t>=</m:t>
                    </m:r>
                    <m:d>
                      <m:dPr>
                        <m:ctrlPr>
                          <a:rPr lang="en-US" altLang="ko-KR" sz="1800" i="1">
                            <a:solidFill>
                              <a:schemeClr val="accent1"/>
                            </a:solidFill>
                            <a:latin typeface="Cambria Math" panose="02040503050406030204" pitchFamily="18" charset="0"/>
                            <a:ea typeface="Cambria Math" panose="02040503050406030204" pitchFamily="18" charset="0"/>
                          </a:rPr>
                        </m:ctrlPr>
                      </m:dPr>
                      <m:e>
                        <m:eqArr>
                          <m:eqArrPr>
                            <m:ctrlPr>
                              <a:rPr lang="en-US" altLang="ko-KR" sz="1800" i="1">
                                <a:solidFill>
                                  <a:schemeClr val="accent1"/>
                                </a:solidFill>
                                <a:latin typeface="Cambria Math" panose="02040503050406030204" pitchFamily="18" charset="0"/>
                                <a:ea typeface="Cambria Math" panose="02040503050406030204" pitchFamily="18" charset="0"/>
                              </a:rPr>
                            </m:ctrlPr>
                          </m:eqArrPr>
                          <m:e>
                            <m:r>
                              <a:rPr lang="en-US" altLang="ko-KR" sz="1800" i="1">
                                <a:solidFill>
                                  <a:schemeClr val="accent1"/>
                                </a:solidFill>
                                <a:latin typeface="Cambria Math" panose="02040503050406030204" pitchFamily="18" charset="0"/>
                                <a:ea typeface="Cambria Math" panose="02040503050406030204" pitchFamily="18" charset="0"/>
                              </a:rPr>
                              <m:t>1</m:t>
                            </m:r>
                          </m:e>
                          <m:e>
                            <m:r>
                              <a:rPr lang="en-US" altLang="ko-KR" sz="1800" i="1">
                                <a:solidFill>
                                  <a:schemeClr val="accent1"/>
                                </a:solidFill>
                                <a:latin typeface="Cambria Math" panose="02040503050406030204" pitchFamily="18" charset="0"/>
                                <a:ea typeface="Cambria Math" panose="02040503050406030204" pitchFamily="18" charset="0"/>
                              </a:rPr>
                              <m:t>0</m:t>
                            </m:r>
                          </m:e>
                        </m:eqArr>
                      </m:e>
                    </m:d>
                  </m:oMath>
                </a14:m>
                <a:r>
                  <a:rPr lang="en-US" altLang="ko-KR" sz="1800" dirty="0" smtClean="0">
                    <a:solidFill>
                      <a:schemeClr val="accent1"/>
                    </a:solidFill>
                  </a:rPr>
                  <a:t>, 	</a:t>
                </a:r>
                <a14:m>
                  <m:oMath xmlns:m="http://schemas.openxmlformats.org/officeDocument/2006/math">
                    <m:d>
                      <m:dPr>
                        <m:begChr m:val="|"/>
                        <m:endChr m:val="⟩"/>
                        <m:ctrlPr>
                          <a:rPr lang="en-US" altLang="ko-KR" sz="1800" i="1">
                            <a:solidFill>
                              <a:schemeClr val="accent1"/>
                            </a:solidFill>
                            <a:latin typeface="Cambria Math" panose="02040503050406030204" pitchFamily="18" charset="0"/>
                            <a:ea typeface="Cambria Math" panose="02040503050406030204" pitchFamily="18" charset="0"/>
                          </a:rPr>
                        </m:ctrlPr>
                      </m:dPr>
                      <m:e>
                        <m:r>
                          <a:rPr lang="en-US" altLang="ko-KR" sz="1800" i="1">
                            <a:solidFill>
                              <a:schemeClr val="accent1"/>
                            </a:solidFill>
                            <a:latin typeface="Cambria Math" panose="02040503050406030204" pitchFamily="18" charset="0"/>
                            <a:ea typeface="Cambria Math" panose="02040503050406030204" pitchFamily="18" charset="0"/>
                          </a:rPr>
                          <m:t>1</m:t>
                        </m:r>
                      </m:e>
                    </m:d>
                    <m:r>
                      <a:rPr lang="en-US" altLang="ko-KR" sz="1800" i="1">
                        <a:solidFill>
                          <a:schemeClr val="accent1"/>
                        </a:solidFill>
                        <a:latin typeface="Cambria Math" panose="02040503050406030204" pitchFamily="18" charset="0"/>
                        <a:ea typeface="Cambria Math" panose="02040503050406030204" pitchFamily="18" charset="0"/>
                      </a:rPr>
                      <m:t>=</m:t>
                    </m:r>
                    <m:d>
                      <m:dPr>
                        <m:ctrlPr>
                          <a:rPr lang="en-US" altLang="ko-KR" sz="1800" i="1">
                            <a:solidFill>
                              <a:schemeClr val="accent1"/>
                            </a:solidFill>
                            <a:latin typeface="Cambria Math" panose="02040503050406030204" pitchFamily="18" charset="0"/>
                            <a:ea typeface="Cambria Math" panose="02040503050406030204" pitchFamily="18" charset="0"/>
                          </a:rPr>
                        </m:ctrlPr>
                      </m:dPr>
                      <m:e>
                        <m:eqArr>
                          <m:eqArrPr>
                            <m:ctrlPr>
                              <a:rPr lang="en-US" altLang="ko-KR" sz="1800" i="1">
                                <a:solidFill>
                                  <a:schemeClr val="accent1"/>
                                </a:solidFill>
                                <a:latin typeface="Cambria Math" panose="02040503050406030204" pitchFamily="18" charset="0"/>
                                <a:ea typeface="Cambria Math" panose="02040503050406030204" pitchFamily="18" charset="0"/>
                              </a:rPr>
                            </m:ctrlPr>
                          </m:eqArrPr>
                          <m:e>
                            <m:r>
                              <a:rPr lang="en-US" altLang="ko-KR" sz="1800" i="1">
                                <a:solidFill>
                                  <a:schemeClr val="accent1"/>
                                </a:solidFill>
                                <a:latin typeface="Cambria Math" panose="02040503050406030204" pitchFamily="18" charset="0"/>
                                <a:ea typeface="Cambria Math" panose="02040503050406030204" pitchFamily="18" charset="0"/>
                              </a:rPr>
                              <m:t>0</m:t>
                            </m:r>
                          </m:e>
                          <m:e>
                            <m:r>
                              <a:rPr lang="en-US" altLang="ko-KR" sz="1800" i="1">
                                <a:solidFill>
                                  <a:schemeClr val="accent1"/>
                                </a:solidFill>
                                <a:latin typeface="Cambria Math" panose="02040503050406030204" pitchFamily="18" charset="0"/>
                                <a:ea typeface="Cambria Math" panose="02040503050406030204" pitchFamily="18" charset="0"/>
                              </a:rPr>
                              <m:t>1</m:t>
                            </m:r>
                          </m:e>
                        </m:eqArr>
                      </m:e>
                    </m:d>
                  </m:oMath>
                </a14:m>
                <a:endParaRPr lang="en-US" altLang="ko-KR" sz="1800" dirty="0">
                  <a:solidFill>
                    <a:schemeClr val="accent1"/>
                  </a:solidFill>
                </a:endParaRPr>
              </a:p>
              <a:p>
                <a:r>
                  <a:rPr lang="en-US" altLang="ko-KR" sz="1800" dirty="0" smtClean="0"/>
                  <a:t>1-bit transformations: 	</a:t>
                </a:r>
                <a14:m>
                  <m:oMath xmlns:m="http://schemas.openxmlformats.org/officeDocument/2006/math">
                    <m:r>
                      <a:rPr lang="en-US" altLang="ko-KR" sz="1800" i="1" smtClean="0">
                        <a:solidFill>
                          <a:srgbClr val="FF0000"/>
                        </a:solidFill>
                        <a:latin typeface="Cambria Math" panose="02040503050406030204" pitchFamily="18" charset="0"/>
                        <a:ea typeface="Cambria Math" panose="02040503050406030204" pitchFamily="18" charset="0"/>
                      </a:rPr>
                      <m:t>𝐼</m:t>
                    </m:r>
                    <m:r>
                      <a:rPr lang="en-US" altLang="ko-KR" sz="1800" i="1" smtClean="0">
                        <a:solidFill>
                          <a:srgbClr val="FF0000"/>
                        </a:solidFill>
                        <a:latin typeface="Cambria Math" panose="02040503050406030204" pitchFamily="18" charset="0"/>
                        <a:ea typeface="Cambria Math" panose="02040503050406030204" pitchFamily="18" charset="0"/>
                      </a:rPr>
                      <m:t>=</m:t>
                    </m:r>
                    <m:d>
                      <m:dPr>
                        <m:ctrlPr>
                          <a:rPr lang="en-US" altLang="ko-KR" sz="1800" i="1">
                            <a:solidFill>
                              <a:srgbClr val="FF0000"/>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ko-KR" sz="1800" i="1">
                                <a:solidFill>
                                  <a:srgbClr val="FF0000"/>
                                </a:solidFill>
                                <a:latin typeface="Cambria Math" panose="02040503050406030204" pitchFamily="18" charset="0"/>
                                <a:ea typeface="Cambria Math" panose="02040503050406030204" pitchFamily="18" charset="0"/>
                              </a:rPr>
                            </m:ctrlPr>
                          </m:mPr>
                          <m:mr>
                            <m:e>
                              <m:r>
                                <a:rPr lang="en-US" altLang="ko-KR" sz="1800" i="1">
                                  <a:solidFill>
                                    <a:srgbClr val="FF0000"/>
                                  </a:solidFill>
                                  <a:latin typeface="Cambria Math" panose="02040503050406030204" pitchFamily="18" charset="0"/>
                                  <a:ea typeface="Cambria Math" panose="02040503050406030204" pitchFamily="18" charset="0"/>
                                </a:rPr>
                                <m:t>1</m:t>
                              </m:r>
                            </m:e>
                            <m:e>
                              <m:r>
                                <a:rPr lang="en-US" altLang="ko-KR" sz="1800" i="1">
                                  <a:solidFill>
                                    <a:srgbClr val="FF0000"/>
                                  </a:solidFill>
                                  <a:latin typeface="Cambria Math" panose="02040503050406030204" pitchFamily="18" charset="0"/>
                                  <a:ea typeface="Cambria Math" panose="02040503050406030204" pitchFamily="18" charset="0"/>
                                </a:rPr>
                                <m:t>0</m:t>
                              </m:r>
                            </m:e>
                          </m:mr>
                          <m:mr>
                            <m:e>
                              <m:r>
                                <a:rPr lang="en-US" altLang="ko-KR" sz="1800" i="1">
                                  <a:solidFill>
                                    <a:srgbClr val="FF0000"/>
                                  </a:solidFill>
                                  <a:latin typeface="Cambria Math" panose="02040503050406030204" pitchFamily="18" charset="0"/>
                                  <a:ea typeface="Cambria Math" panose="02040503050406030204" pitchFamily="18" charset="0"/>
                                </a:rPr>
                                <m:t>0</m:t>
                              </m:r>
                            </m:e>
                            <m:e>
                              <m:r>
                                <a:rPr lang="en-US" altLang="ko-KR" sz="1800" i="1">
                                  <a:solidFill>
                                    <a:srgbClr val="FF0000"/>
                                  </a:solidFill>
                                  <a:latin typeface="Cambria Math" panose="02040503050406030204" pitchFamily="18" charset="0"/>
                                  <a:ea typeface="Cambria Math" panose="02040503050406030204" pitchFamily="18" charset="0"/>
                                </a:rPr>
                                <m:t>1</m:t>
                              </m:r>
                            </m:e>
                          </m:mr>
                        </m:m>
                      </m:e>
                    </m:d>
                  </m:oMath>
                </a14:m>
                <a:r>
                  <a:rPr lang="en-US" altLang="ko-KR" sz="1800" dirty="0" smtClean="0">
                    <a:solidFill>
                      <a:srgbClr val="FF0000"/>
                    </a:solidFill>
                  </a:rPr>
                  <a:t>,	</a:t>
                </a:r>
                <a14:m>
                  <m:oMath xmlns:m="http://schemas.openxmlformats.org/officeDocument/2006/math">
                    <m:r>
                      <a:rPr lang="en-US" altLang="ko-KR" sz="1800" i="1">
                        <a:solidFill>
                          <a:srgbClr val="FF0000"/>
                        </a:solidFill>
                        <a:latin typeface="Cambria Math" panose="02040503050406030204" pitchFamily="18" charset="0"/>
                        <a:ea typeface="Cambria Math" panose="02040503050406030204" pitchFamily="18" charset="0"/>
                      </a:rPr>
                      <m:t>𝑋</m:t>
                    </m:r>
                    <m:r>
                      <a:rPr lang="en-US" altLang="ko-KR" sz="1800" i="1">
                        <a:solidFill>
                          <a:srgbClr val="FF0000"/>
                        </a:solidFill>
                        <a:latin typeface="Cambria Math" panose="02040503050406030204" pitchFamily="18" charset="0"/>
                        <a:ea typeface="Cambria Math" panose="02040503050406030204" pitchFamily="18" charset="0"/>
                      </a:rPr>
                      <m:t>=</m:t>
                    </m:r>
                    <m:d>
                      <m:dPr>
                        <m:ctrlPr>
                          <a:rPr lang="en-US" altLang="ko-KR" sz="1800" i="1">
                            <a:solidFill>
                              <a:srgbClr val="FF0000"/>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ko-KR" sz="1800" i="1">
                                <a:solidFill>
                                  <a:srgbClr val="FF0000"/>
                                </a:solidFill>
                                <a:latin typeface="Cambria Math" panose="02040503050406030204" pitchFamily="18" charset="0"/>
                                <a:ea typeface="Cambria Math" panose="02040503050406030204" pitchFamily="18" charset="0"/>
                              </a:rPr>
                            </m:ctrlPr>
                          </m:mPr>
                          <m:mr>
                            <m:e>
                              <m:r>
                                <m:rPr>
                                  <m:brk m:alnAt="7"/>
                                </m:rPr>
                                <a:rPr lang="en-US" altLang="ko-KR" sz="1800" i="1">
                                  <a:solidFill>
                                    <a:srgbClr val="FF0000"/>
                                  </a:solidFill>
                                  <a:latin typeface="Cambria Math" panose="02040503050406030204" pitchFamily="18" charset="0"/>
                                  <a:ea typeface="Cambria Math" panose="02040503050406030204" pitchFamily="18" charset="0"/>
                                </a:rPr>
                                <m:t>0</m:t>
                              </m:r>
                            </m:e>
                            <m:e>
                              <m:r>
                                <a:rPr lang="en-US" altLang="ko-KR" sz="1800" i="1">
                                  <a:solidFill>
                                    <a:srgbClr val="FF0000"/>
                                  </a:solidFill>
                                  <a:latin typeface="Cambria Math" panose="02040503050406030204" pitchFamily="18" charset="0"/>
                                  <a:ea typeface="Cambria Math" panose="02040503050406030204" pitchFamily="18" charset="0"/>
                                </a:rPr>
                                <m:t>1</m:t>
                              </m:r>
                            </m:e>
                          </m:mr>
                          <m:mr>
                            <m:e>
                              <m:r>
                                <a:rPr lang="en-US" altLang="ko-KR" sz="1800" i="1">
                                  <a:solidFill>
                                    <a:srgbClr val="FF0000"/>
                                  </a:solidFill>
                                  <a:latin typeface="Cambria Math" panose="02040503050406030204" pitchFamily="18" charset="0"/>
                                  <a:ea typeface="Cambria Math" panose="02040503050406030204" pitchFamily="18" charset="0"/>
                                </a:rPr>
                                <m:t>1</m:t>
                              </m:r>
                            </m:e>
                            <m:e>
                              <m:r>
                                <a:rPr lang="en-US" altLang="ko-KR" sz="1800" i="1">
                                  <a:solidFill>
                                    <a:srgbClr val="FF0000"/>
                                  </a:solidFill>
                                  <a:latin typeface="Cambria Math" panose="02040503050406030204" pitchFamily="18" charset="0"/>
                                  <a:ea typeface="Cambria Math" panose="02040503050406030204" pitchFamily="18" charset="0"/>
                                </a:rPr>
                                <m:t>0</m:t>
                              </m:r>
                            </m:e>
                          </m:mr>
                        </m:m>
                      </m:e>
                    </m:d>
                  </m:oMath>
                </a14:m>
                <a:endParaRPr lang="en-US" altLang="ko-KR" sz="1800" dirty="0" smtClean="0">
                  <a:solidFill>
                    <a:srgbClr val="FF0000"/>
                  </a:solidFill>
                </a:endParaRPr>
              </a:p>
              <a:p>
                <a:pPr marL="0" indent="0">
                  <a:buNone/>
                </a:pPr>
                <a:endParaRPr lang="en-US" altLang="ko-KR" sz="1800" dirty="0" smtClean="0"/>
              </a:p>
              <a:p>
                <a:pPr marL="0" indent="0">
                  <a:buNone/>
                </a:pPr>
                <a:r>
                  <a:rPr lang="en-US" altLang="ko-KR" sz="1800" dirty="0" smtClean="0"/>
                  <a:t>Tensor products to represent multiple states simultaneously using smaller notations	</a:t>
                </a:r>
                <a:endParaRPr lang="en-US" altLang="ko-KR" sz="1800" i="1" dirty="0" smtClean="0">
                  <a:latin typeface="Cambria Math" panose="02040503050406030204" pitchFamily="18" charset="0"/>
                  <a:ea typeface="Cambria Math" panose="02040503050406030204" pitchFamily="18" charset="0"/>
                </a:endParaRPr>
              </a:p>
              <a:p>
                <a:pPr marL="0" indent="0">
                  <a:buNone/>
                </a:pPr>
                <a:endParaRPr lang="en-US" altLang="ko-KR" sz="1800" i="1" dirty="0" smtClean="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ko-KR" sz="1800" b="1" i="1" smtClean="0">
                              <a:solidFill>
                                <a:schemeClr val="accent1"/>
                              </a:solidFill>
                              <a:latin typeface="Cambria Math" panose="02040503050406030204" pitchFamily="18" charset="0"/>
                              <a:ea typeface="Cambria Math" panose="02040503050406030204" pitchFamily="18" charset="0"/>
                            </a:rPr>
                          </m:ctrlPr>
                        </m:dPr>
                        <m:e>
                          <m:r>
                            <a:rPr lang="en-US" altLang="ko-KR" sz="1800" b="1" i="1">
                              <a:solidFill>
                                <a:schemeClr val="accent1"/>
                              </a:solidFill>
                              <a:latin typeface="Cambria Math" panose="02040503050406030204" pitchFamily="18" charset="0"/>
                              <a:ea typeface="Cambria Math" panose="02040503050406030204" pitchFamily="18" charset="0"/>
                            </a:rPr>
                            <m:t>𝟎</m:t>
                          </m:r>
                        </m:e>
                      </m:d>
                      <m:r>
                        <a:rPr lang="en-US" altLang="ko-KR" sz="1800" i="1">
                          <a:latin typeface="Cambria Math" panose="02040503050406030204" pitchFamily="18" charset="0"/>
                          <a:ea typeface="Cambria Math" panose="02040503050406030204" pitchFamily="18" charset="0"/>
                        </a:rPr>
                        <m:t>⊗</m:t>
                      </m:r>
                      <m:d>
                        <m:dPr>
                          <m:begChr m:val="|"/>
                          <m:endChr m:val="⟩"/>
                          <m:ctrlPr>
                            <a:rPr lang="en-US" altLang="ko-KR" sz="1800" i="1">
                              <a:latin typeface="Cambria Math" panose="02040503050406030204" pitchFamily="18" charset="0"/>
                              <a:ea typeface="Cambria Math" panose="02040503050406030204" pitchFamily="18" charset="0"/>
                            </a:rPr>
                          </m:ctrlPr>
                        </m:dPr>
                        <m:e>
                          <m:r>
                            <a:rPr lang="en-US" altLang="ko-KR" sz="1800" i="1">
                              <a:latin typeface="Cambria Math" panose="02040503050406030204" pitchFamily="18" charset="0"/>
                              <a:ea typeface="Cambria Math" panose="02040503050406030204" pitchFamily="18" charset="0"/>
                            </a:rPr>
                            <m:t>1</m:t>
                          </m:r>
                        </m:e>
                      </m:d>
                      <m:r>
                        <a:rPr lang="en-US" altLang="ko-KR" sz="1800" b="0" i="1" smtClean="0">
                          <a:latin typeface="Cambria Math" panose="02040503050406030204" pitchFamily="18" charset="0"/>
                          <a:ea typeface="Cambria Math" panose="02040503050406030204" pitchFamily="18" charset="0"/>
                        </a:rPr>
                        <m:t>=</m:t>
                      </m:r>
                      <m:d>
                        <m:dPr>
                          <m:ctrlPr>
                            <a:rPr lang="en-US" altLang="ko-KR" sz="1800" b="1" i="1" smtClean="0">
                              <a:solidFill>
                                <a:schemeClr val="accent1"/>
                              </a:solidFill>
                              <a:latin typeface="Cambria Math" panose="02040503050406030204" pitchFamily="18" charset="0"/>
                              <a:ea typeface="Cambria Math" panose="02040503050406030204" pitchFamily="18" charset="0"/>
                            </a:rPr>
                          </m:ctrlPr>
                        </m:dPr>
                        <m:e>
                          <m:eqArr>
                            <m:eqArrPr>
                              <m:ctrlPr>
                                <a:rPr lang="en-US" altLang="ko-KR" sz="1800" b="1" i="1">
                                  <a:solidFill>
                                    <a:schemeClr val="accent1"/>
                                  </a:solidFill>
                                  <a:latin typeface="Cambria Math" panose="02040503050406030204" pitchFamily="18" charset="0"/>
                                  <a:ea typeface="Cambria Math" panose="02040503050406030204" pitchFamily="18" charset="0"/>
                                </a:rPr>
                              </m:ctrlPr>
                            </m:eqArrPr>
                            <m:e>
                              <m:r>
                                <a:rPr lang="en-US" altLang="ko-KR" sz="1800" b="1" i="1">
                                  <a:solidFill>
                                    <a:schemeClr val="accent1"/>
                                  </a:solidFill>
                                  <a:latin typeface="Cambria Math" panose="02040503050406030204" pitchFamily="18" charset="0"/>
                                  <a:ea typeface="Cambria Math" panose="02040503050406030204" pitchFamily="18" charset="0"/>
                                </a:rPr>
                                <m:t>𝟏</m:t>
                              </m:r>
                            </m:e>
                            <m:e>
                              <m:r>
                                <a:rPr lang="en-US" altLang="ko-KR" sz="1800" b="1" i="1">
                                  <a:solidFill>
                                    <a:schemeClr val="accent1"/>
                                  </a:solidFill>
                                  <a:latin typeface="Cambria Math" panose="02040503050406030204" pitchFamily="18" charset="0"/>
                                  <a:ea typeface="Cambria Math" panose="02040503050406030204" pitchFamily="18" charset="0"/>
                                </a:rPr>
                                <m:t>𝟎</m:t>
                              </m:r>
                            </m:e>
                          </m:eqArr>
                        </m:e>
                      </m:d>
                      <m:r>
                        <a:rPr lang="en-US" altLang="ko-KR" sz="1800" b="0" i="1" smtClean="0">
                          <a:latin typeface="Cambria Math" panose="02040503050406030204" pitchFamily="18" charset="0"/>
                          <a:ea typeface="Cambria Math" panose="02040503050406030204" pitchFamily="18" charset="0"/>
                        </a:rPr>
                        <m:t>⊗</m:t>
                      </m:r>
                      <m:d>
                        <m:dPr>
                          <m:ctrlPr>
                            <a:rPr lang="en-US" altLang="ko-KR" sz="1800" i="1">
                              <a:latin typeface="Cambria Math" panose="02040503050406030204" pitchFamily="18" charset="0"/>
                              <a:ea typeface="Cambria Math" panose="02040503050406030204" pitchFamily="18" charset="0"/>
                            </a:rPr>
                          </m:ctrlPr>
                        </m:dPr>
                        <m:e>
                          <m:eqArr>
                            <m:eqArrPr>
                              <m:ctrlPr>
                                <a:rPr lang="en-US" altLang="ko-KR" sz="1800" i="1">
                                  <a:latin typeface="Cambria Math" panose="02040503050406030204" pitchFamily="18" charset="0"/>
                                  <a:ea typeface="Cambria Math" panose="02040503050406030204" pitchFamily="18" charset="0"/>
                                </a:rPr>
                              </m:ctrlPr>
                            </m:eqArrPr>
                            <m:e>
                              <m:r>
                                <a:rPr lang="en-US" altLang="ko-KR" sz="1800" i="1">
                                  <a:latin typeface="Cambria Math" panose="02040503050406030204" pitchFamily="18" charset="0"/>
                                  <a:ea typeface="Cambria Math" panose="02040503050406030204" pitchFamily="18" charset="0"/>
                                </a:rPr>
                                <m:t>0</m:t>
                              </m:r>
                            </m:e>
                            <m:e>
                              <m:r>
                                <a:rPr lang="en-US" altLang="ko-KR" sz="1800" i="1">
                                  <a:latin typeface="Cambria Math" panose="02040503050406030204" pitchFamily="18" charset="0"/>
                                  <a:ea typeface="Cambria Math" panose="02040503050406030204" pitchFamily="18" charset="0"/>
                                </a:rPr>
                                <m:t>1</m:t>
                              </m:r>
                            </m:e>
                          </m:eqArr>
                        </m:e>
                      </m:d>
                      <m:r>
                        <a:rPr lang="en-US" altLang="ko-KR" sz="1800" b="0" i="1" smtClean="0">
                          <a:latin typeface="Cambria Math" panose="02040503050406030204" pitchFamily="18" charset="0"/>
                          <a:ea typeface="Cambria Math" panose="02040503050406030204" pitchFamily="18" charset="0"/>
                        </a:rPr>
                        <m:t>=</m:t>
                      </m:r>
                      <m:d>
                        <m:dPr>
                          <m:ctrlPr>
                            <a:rPr lang="en-US" altLang="ko-KR" sz="1800" i="1">
                              <a:latin typeface="Cambria Math" panose="02040503050406030204" pitchFamily="18" charset="0"/>
                              <a:ea typeface="Cambria Math" panose="02040503050406030204" pitchFamily="18" charset="0"/>
                            </a:rPr>
                          </m:ctrlPr>
                        </m:dPr>
                        <m:e>
                          <m:eqArr>
                            <m:eqArrPr>
                              <m:ctrlPr>
                                <a:rPr lang="en-US" altLang="ko-KR" sz="1800" i="1">
                                  <a:latin typeface="Cambria Math" panose="02040503050406030204" pitchFamily="18" charset="0"/>
                                  <a:ea typeface="Cambria Math" panose="02040503050406030204" pitchFamily="18" charset="0"/>
                                </a:rPr>
                              </m:ctrlPr>
                            </m:eqArrPr>
                            <m:e>
                              <m:r>
                                <a:rPr lang="en-US" altLang="ko-KR" sz="1800" b="1" i="1" smtClean="0">
                                  <a:solidFill>
                                    <a:schemeClr val="accent1"/>
                                  </a:solidFill>
                                  <a:latin typeface="Cambria Math" panose="02040503050406030204" pitchFamily="18" charset="0"/>
                                  <a:ea typeface="Cambria Math" panose="02040503050406030204" pitchFamily="18" charset="0"/>
                                </a:rPr>
                                <m:t>𝟏</m:t>
                              </m:r>
                              <m:r>
                                <a:rPr lang="en-US" altLang="ko-KR" sz="1800" b="0" i="1" smtClean="0">
                                  <a:latin typeface="Cambria Math" panose="02040503050406030204" pitchFamily="18" charset="0"/>
                                  <a:ea typeface="Cambria Math" panose="02040503050406030204" pitchFamily="18" charset="0"/>
                                </a:rPr>
                                <m:t>⋅</m:t>
                              </m:r>
                              <m:d>
                                <m:dPr>
                                  <m:ctrlPr>
                                    <a:rPr lang="en-US" altLang="ko-KR" sz="1800" i="1">
                                      <a:latin typeface="Cambria Math" panose="02040503050406030204" pitchFamily="18" charset="0"/>
                                      <a:ea typeface="Cambria Math" panose="02040503050406030204" pitchFamily="18" charset="0"/>
                                    </a:rPr>
                                  </m:ctrlPr>
                                </m:dPr>
                                <m:e>
                                  <m:eqArr>
                                    <m:eqArrPr>
                                      <m:ctrlPr>
                                        <a:rPr lang="en-US" altLang="ko-KR" sz="1800" i="1">
                                          <a:latin typeface="Cambria Math" panose="02040503050406030204" pitchFamily="18" charset="0"/>
                                          <a:ea typeface="Cambria Math" panose="02040503050406030204" pitchFamily="18" charset="0"/>
                                        </a:rPr>
                                      </m:ctrlPr>
                                    </m:eqArrPr>
                                    <m:e>
                                      <m:r>
                                        <a:rPr lang="en-US" altLang="ko-KR" sz="1800" i="1">
                                          <a:latin typeface="Cambria Math" panose="02040503050406030204" pitchFamily="18" charset="0"/>
                                          <a:ea typeface="Cambria Math" panose="02040503050406030204" pitchFamily="18" charset="0"/>
                                        </a:rPr>
                                        <m:t>0</m:t>
                                      </m:r>
                                    </m:e>
                                    <m:e>
                                      <m:r>
                                        <a:rPr lang="en-US" altLang="ko-KR" sz="1800" i="1">
                                          <a:latin typeface="Cambria Math" panose="02040503050406030204" pitchFamily="18" charset="0"/>
                                          <a:ea typeface="Cambria Math" panose="02040503050406030204" pitchFamily="18" charset="0"/>
                                        </a:rPr>
                                        <m:t>1</m:t>
                                      </m:r>
                                    </m:e>
                                  </m:eqArr>
                                </m:e>
                              </m:d>
                            </m:e>
                            <m:e>
                              <m:r>
                                <a:rPr lang="en-US" altLang="ko-KR" sz="1800" b="1" i="1" smtClean="0">
                                  <a:solidFill>
                                    <a:schemeClr val="accent1"/>
                                  </a:solidFill>
                                  <a:latin typeface="Cambria Math" panose="02040503050406030204" pitchFamily="18" charset="0"/>
                                  <a:ea typeface="Cambria Math" panose="02040503050406030204" pitchFamily="18" charset="0"/>
                                </a:rPr>
                                <m:t>𝟎</m:t>
                              </m:r>
                              <m:r>
                                <a:rPr lang="en-US" altLang="ko-KR" sz="1800" b="0" i="1" smtClean="0">
                                  <a:latin typeface="Cambria Math" panose="02040503050406030204" pitchFamily="18" charset="0"/>
                                  <a:ea typeface="Cambria Math" panose="02040503050406030204" pitchFamily="18" charset="0"/>
                                </a:rPr>
                                <m:t>⋅</m:t>
                              </m:r>
                              <m:d>
                                <m:dPr>
                                  <m:ctrlPr>
                                    <a:rPr lang="en-US" altLang="ko-KR" sz="1800" i="1">
                                      <a:latin typeface="Cambria Math" panose="02040503050406030204" pitchFamily="18" charset="0"/>
                                      <a:ea typeface="Cambria Math" panose="02040503050406030204" pitchFamily="18" charset="0"/>
                                    </a:rPr>
                                  </m:ctrlPr>
                                </m:dPr>
                                <m:e>
                                  <m:eqArr>
                                    <m:eqArrPr>
                                      <m:ctrlPr>
                                        <a:rPr lang="en-US" altLang="ko-KR" sz="1800" i="1">
                                          <a:latin typeface="Cambria Math" panose="02040503050406030204" pitchFamily="18" charset="0"/>
                                          <a:ea typeface="Cambria Math" panose="02040503050406030204" pitchFamily="18" charset="0"/>
                                        </a:rPr>
                                      </m:ctrlPr>
                                    </m:eqArrPr>
                                    <m:e>
                                      <m:r>
                                        <a:rPr lang="en-US" altLang="ko-KR" sz="1800" i="1">
                                          <a:latin typeface="Cambria Math" panose="02040503050406030204" pitchFamily="18" charset="0"/>
                                          <a:ea typeface="Cambria Math" panose="02040503050406030204" pitchFamily="18" charset="0"/>
                                        </a:rPr>
                                        <m:t>0</m:t>
                                      </m:r>
                                    </m:e>
                                    <m:e>
                                      <m:r>
                                        <a:rPr lang="en-US" altLang="ko-KR" sz="1800" i="1">
                                          <a:latin typeface="Cambria Math" panose="02040503050406030204" pitchFamily="18" charset="0"/>
                                          <a:ea typeface="Cambria Math" panose="02040503050406030204" pitchFamily="18" charset="0"/>
                                        </a:rPr>
                                        <m:t>1</m:t>
                                      </m:r>
                                    </m:e>
                                  </m:eqArr>
                                </m:e>
                              </m:d>
                            </m:e>
                          </m:eqArr>
                        </m:e>
                      </m:d>
                      <m:r>
                        <a:rPr lang="en-US" altLang="ko-KR" sz="1800" b="0" i="1" smtClean="0">
                          <a:latin typeface="Cambria Math" panose="02040503050406030204" pitchFamily="18" charset="0"/>
                          <a:ea typeface="Cambria Math" panose="02040503050406030204" pitchFamily="18" charset="0"/>
                        </a:rPr>
                        <m:t>=</m:t>
                      </m:r>
                      <m:d>
                        <m:dPr>
                          <m:ctrlPr>
                            <a:rPr lang="en-US" altLang="ko-KR" sz="1800" i="1">
                              <a:latin typeface="Cambria Math" panose="02040503050406030204" pitchFamily="18" charset="0"/>
                              <a:ea typeface="Cambria Math" panose="02040503050406030204" pitchFamily="18" charset="0"/>
                            </a:rPr>
                          </m:ctrlPr>
                        </m:dPr>
                        <m:e>
                          <m:m>
                            <m:mPr>
                              <m:mcs>
                                <m:mc>
                                  <m:mcPr>
                                    <m:count m:val="1"/>
                                    <m:mcJc m:val="center"/>
                                  </m:mcPr>
                                </m:mc>
                              </m:mcs>
                              <m:ctrlPr>
                                <a:rPr lang="en-US" altLang="ko-KR" sz="1800" i="1">
                                  <a:latin typeface="Cambria Math" panose="02040503050406030204" pitchFamily="18" charset="0"/>
                                  <a:ea typeface="Cambria Math" panose="02040503050406030204" pitchFamily="18" charset="0"/>
                                </a:rPr>
                              </m:ctrlPr>
                            </m:mPr>
                            <m:mr>
                              <m:e>
                                <m:r>
                                  <m:rPr>
                                    <m:brk m:alnAt="7"/>
                                  </m:rPr>
                                  <a:rPr lang="en-US" altLang="ko-KR" sz="1800" i="1">
                                    <a:latin typeface="Cambria Math" panose="02040503050406030204" pitchFamily="18" charset="0"/>
                                    <a:ea typeface="Cambria Math" panose="02040503050406030204" pitchFamily="18" charset="0"/>
                                  </a:rPr>
                                  <m:t>0</m:t>
                                </m:r>
                              </m:e>
                            </m:mr>
                            <m:mr>
                              <m:e>
                                <m:r>
                                  <a:rPr lang="en-US" altLang="ko-KR" sz="1800" i="1">
                                    <a:latin typeface="Cambria Math" panose="02040503050406030204" pitchFamily="18" charset="0"/>
                                    <a:ea typeface="Cambria Math" panose="02040503050406030204" pitchFamily="18" charset="0"/>
                                  </a:rPr>
                                  <m:t>1</m:t>
                                </m:r>
                              </m:e>
                            </m:mr>
                            <m:mr>
                              <m:e>
                                <m:eqArr>
                                  <m:eqArrPr>
                                    <m:ctrlPr>
                                      <a:rPr lang="en-US" altLang="ko-KR" sz="1800" i="1">
                                        <a:latin typeface="Cambria Math" panose="02040503050406030204" pitchFamily="18" charset="0"/>
                                        <a:ea typeface="Cambria Math" panose="02040503050406030204" pitchFamily="18" charset="0"/>
                                      </a:rPr>
                                    </m:ctrlPr>
                                  </m:eqArrPr>
                                  <m:e>
                                    <m:r>
                                      <a:rPr lang="en-US" altLang="ko-KR" sz="1800" i="1">
                                        <a:latin typeface="Cambria Math" panose="02040503050406030204" pitchFamily="18" charset="0"/>
                                        <a:ea typeface="Cambria Math" panose="02040503050406030204" pitchFamily="18" charset="0"/>
                                      </a:rPr>
                                      <m:t>0</m:t>
                                    </m:r>
                                  </m:e>
                                  <m:e>
                                    <m:r>
                                      <a:rPr lang="en-US" altLang="ko-KR" sz="1800" i="1">
                                        <a:latin typeface="Cambria Math" panose="02040503050406030204" pitchFamily="18" charset="0"/>
                                      </a:rPr>
                                      <m:t>0</m:t>
                                    </m:r>
                                  </m:e>
                                </m:eqArr>
                              </m:e>
                            </m:mr>
                          </m:m>
                        </m:e>
                      </m:d>
                    </m:oMath>
                  </m:oMathPara>
                </a14:m>
                <a:endParaRPr lang="en-US" altLang="ko-KR" sz="1800" dirty="0" smtClean="0"/>
              </a:p>
              <a:p>
                <a:pPr marL="0" indent="0">
                  <a:buNone/>
                </a:pPr>
                <a:endParaRPr lang="en-US" altLang="ko-KR" sz="1800" dirty="0"/>
              </a:p>
              <a:p>
                <a:pPr marL="0" indent="0">
                  <a:buNone/>
                </a:pPr>
                <a14:m>
                  <m:oMathPara xmlns:m="http://schemas.openxmlformats.org/officeDocument/2006/math">
                    <m:oMathParaPr>
                      <m:jc m:val="centerGroup"/>
                    </m:oMathParaPr>
                    <m:oMath xmlns:m="http://schemas.openxmlformats.org/officeDocument/2006/math">
                      <m:r>
                        <a:rPr lang="en-US" altLang="ko-KR" sz="1800" b="1" i="1" smtClean="0">
                          <a:solidFill>
                            <a:srgbClr val="FF0000"/>
                          </a:solidFill>
                          <a:latin typeface="Cambria Math" panose="02040503050406030204" pitchFamily="18" charset="0"/>
                          <a:ea typeface="Cambria Math" panose="02040503050406030204" pitchFamily="18" charset="0"/>
                        </a:rPr>
                        <m:t>𝑿</m:t>
                      </m:r>
                      <m:r>
                        <a:rPr lang="en-CA" altLang="ko-KR" sz="1800" i="1">
                          <a:latin typeface="Cambria Math" panose="02040503050406030204" pitchFamily="18" charset="0"/>
                          <a:ea typeface="Cambria Math" panose="02040503050406030204" pitchFamily="18" charset="0"/>
                        </a:rPr>
                        <m:t>⊗</m:t>
                      </m:r>
                      <m:r>
                        <a:rPr lang="en-CA" altLang="ko-KR" sz="1800" i="1">
                          <a:latin typeface="Cambria Math" panose="02040503050406030204" pitchFamily="18" charset="0"/>
                          <a:ea typeface="Cambria Math" panose="02040503050406030204" pitchFamily="18" charset="0"/>
                        </a:rPr>
                        <m:t>𝐼</m:t>
                      </m:r>
                      <m:r>
                        <a:rPr lang="en-US" altLang="ko-KR" sz="1800" i="1">
                          <a:latin typeface="Cambria Math" panose="02040503050406030204" pitchFamily="18" charset="0"/>
                          <a:ea typeface="Cambria Math" panose="02040503050406030204" pitchFamily="18" charset="0"/>
                        </a:rPr>
                        <m:t>=</m:t>
                      </m:r>
                      <m:d>
                        <m:dPr>
                          <m:ctrlPr>
                            <a:rPr lang="en-US" altLang="ko-KR" sz="1800" b="1" i="1" smtClean="0">
                              <a:solidFill>
                                <a:srgbClr val="FF0000"/>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ko-KR" sz="1800" b="1" i="1">
                                  <a:solidFill>
                                    <a:srgbClr val="FF0000"/>
                                  </a:solidFill>
                                  <a:latin typeface="Cambria Math" panose="02040503050406030204" pitchFamily="18" charset="0"/>
                                  <a:ea typeface="Cambria Math" panose="02040503050406030204" pitchFamily="18" charset="0"/>
                                </a:rPr>
                              </m:ctrlPr>
                            </m:mPr>
                            <m:mr>
                              <m:e>
                                <m:r>
                                  <m:rPr>
                                    <m:brk m:alnAt="7"/>
                                  </m:rPr>
                                  <a:rPr lang="en-US" altLang="ko-KR" sz="1800" b="1" i="1">
                                    <a:solidFill>
                                      <a:srgbClr val="FF0000"/>
                                    </a:solidFill>
                                    <a:latin typeface="Cambria Math" panose="02040503050406030204" pitchFamily="18" charset="0"/>
                                    <a:ea typeface="Cambria Math" panose="02040503050406030204" pitchFamily="18" charset="0"/>
                                  </a:rPr>
                                  <m:t>𝟎</m:t>
                                </m:r>
                              </m:e>
                              <m:e>
                                <m:r>
                                  <a:rPr lang="en-US" altLang="ko-KR" sz="1800" b="1" i="1">
                                    <a:solidFill>
                                      <a:srgbClr val="FF0000"/>
                                    </a:solidFill>
                                    <a:latin typeface="Cambria Math" panose="02040503050406030204" pitchFamily="18" charset="0"/>
                                    <a:ea typeface="Cambria Math" panose="02040503050406030204" pitchFamily="18" charset="0"/>
                                  </a:rPr>
                                  <m:t>𝟏</m:t>
                                </m:r>
                              </m:e>
                            </m:mr>
                            <m:mr>
                              <m:e>
                                <m:r>
                                  <a:rPr lang="en-US" altLang="ko-KR" sz="1800" b="1" i="1">
                                    <a:solidFill>
                                      <a:srgbClr val="FF0000"/>
                                    </a:solidFill>
                                    <a:latin typeface="Cambria Math" panose="02040503050406030204" pitchFamily="18" charset="0"/>
                                    <a:ea typeface="Cambria Math" panose="02040503050406030204" pitchFamily="18" charset="0"/>
                                  </a:rPr>
                                  <m:t>𝟏</m:t>
                                </m:r>
                              </m:e>
                              <m:e>
                                <m:r>
                                  <a:rPr lang="en-US" altLang="ko-KR" sz="1800" b="1" i="1">
                                    <a:solidFill>
                                      <a:srgbClr val="FF0000"/>
                                    </a:solidFill>
                                    <a:latin typeface="Cambria Math" panose="02040503050406030204" pitchFamily="18" charset="0"/>
                                    <a:ea typeface="Cambria Math" panose="02040503050406030204" pitchFamily="18" charset="0"/>
                                  </a:rPr>
                                  <m:t>𝟎</m:t>
                                </m:r>
                              </m:e>
                            </m:mr>
                          </m:m>
                        </m:e>
                      </m:d>
                      <m:r>
                        <a:rPr lang="en-US" altLang="ko-KR" sz="1800" i="1">
                          <a:latin typeface="Cambria Math" panose="02040503050406030204" pitchFamily="18" charset="0"/>
                          <a:ea typeface="Cambria Math" panose="02040503050406030204" pitchFamily="18" charset="0"/>
                        </a:rPr>
                        <m:t>⊗</m:t>
                      </m:r>
                      <m:d>
                        <m:dPr>
                          <m:ctrlPr>
                            <a:rPr lang="en-US" altLang="ko-KR" sz="1800" i="1">
                              <a:latin typeface="Cambria Math" panose="02040503050406030204" pitchFamily="18" charset="0"/>
                              <a:ea typeface="Cambria Math" panose="02040503050406030204" pitchFamily="18" charset="0"/>
                            </a:rPr>
                          </m:ctrlPr>
                        </m:dPr>
                        <m:e>
                          <m:m>
                            <m:mPr>
                              <m:mcs>
                                <m:mc>
                                  <m:mcPr>
                                    <m:count m:val="2"/>
                                    <m:mcJc m:val="center"/>
                                  </m:mcPr>
                                </m:mc>
                              </m:mcs>
                              <m:ctrlPr>
                                <a:rPr lang="en-US" altLang="ko-KR" sz="1800" i="1">
                                  <a:latin typeface="Cambria Math" panose="02040503050406030204" pitchFamily="18" charset="0"/>
                                  <a:ea typeface="Cambria Math" panose="02040503050406030204" pitchFamily="18" charset="0"/>
                                </a:rPr>
                              </m:ctrlPr>
                            </m:mPr>
                            <m:mr>
                              <m:e>
                                <m:r>
                                  <a:rPr lang="en-US" altLang="ko-KR" sz="1800" i="1">
                                    <a:latin typeface="Cambria Math" panose="02040503050406030204" pitchFamily="18" charset="0"/>
                                    <a:ea typeface="Cambria Math" panose="02040503050406030204" pitchFamily="18" charset="0"/>
                                  </a:rPr>
                                  <m:t>1</m:t>
                                </m:r>
                              </m:e>
                              <m:e>
                                <m:r>
                                  <a:rPr lang="en-US" altLang="ko-KR" sz="1800" i="1">
                                    <a:latin typeface="Cambria Math" panose="02040503050406030204" pitchFamily="18" charset="0"/>
                                    <a:ea typeface="Cambria Math" panose="02040503050406030204" pitchFamily="18" charset="0"/>
                                  </a:rPr>
                                  <m:t>0</m:t>
                                </m:r>
                              </m:e>
                            </m:mr>
                            <m:mr>
                              <m:e>
                                <m:r>
                                  <a:rPr lang="en-US" altLang="ko-KR" sz="1800" i="1">
                                    <a:latin typeface="Cambria Math" panose="02040503050406030204" pitchFamily="18" charset="0"/>
                                    <a:ea typeface="Cambria Math" panose="02040503050406030204" pitchFamily="18" charset="0"/>
                                  </a:rPr>
                                  <m:t>0</m:t>
                                </m:r>
                              </m:e>
                              <m:e>
                                <m:r>
                                  <a:rPr lang="en-US" altLang="ko-KR" sz="1800" i="1">
                                    <a:latin typeface="Cambria Math" panose="02040503050406030204" pitchFamily="18" charset="0"/>
                                    <a:ea typeface="Cambria Math" panose="02040503050406030204" pitchFamily="18" charset="0"/>
                                  </a:rPr>
                                  <m:t>1</m:t>
                                </m:r>
                              </m:e>
                            </m:mr>
                          </m:m>
                        </m:e>
                      </m:d>
                      <m:r>
                        <a:rPr lang="en-US" altLang="ko-KR" sz="1800" i="1">
                          <a:latin typeface="Cambria Math" panose="02040503050406030204" pitchFamily="18" charset="0"/>
                          <a:ea typeface="Cambria Math" panose="02040503050406030204" pitchFamily="18" charset="0"/>
                        </a:rPr>
                        <m:t>=</m:t>
                      </m:r>
                      <m:d>
                        <m:dPr>
                          <m:ctrlPr>
                            <a:rPr lang="en-US" altLang="ko-KR" sz="1800" i="1">
                              <a:latin typeface="Cambria Math" panose="02040503050406030204" pitchFamily="18" charset="0"/>
                              <a:ea typeface="Cambria Math" panose="02040503050406030204" pitchFamily="18" charset="0"/>
                            </a:rPr>
                          </m:ctrlPr>
                        </m:dPr>
                        <m:e>
                          <m:m>
                            <m:mPr>
                              <m:mcs>
                                <m:mc>
                                  <m:mcPr>
                                    <m:count m:val="2"/>
                                    <m:mcJc m:val="center"/>
                                  </m:mcPr>
                                </m:mc>
                              </m:mcs>
                              <m:ctrlPr>
                                <a:rPr lang="en-US" altLang="ko-KR" sz="1800" i="1">
                                  <a:latin typeface="Cambria Math" panose="02040503050406030204" pitchFamily="18" charset="0"/>
                                  <a:ea typeface="Cambria Math" panose="02040503050406030204" pitchFamily="18" charset="0"/>
                                </a:rPr>
                              </m:ctrlPr>
                            </m:mPr>
                            <m:mr>
                              <m:e>
                                <m:r>
                                  <m:rPr>
                                    <m:brk m:alnAt="7"/>
                                  </m:rPr>
                                  <a:rPr lang="en-US" altLang="ko-KR" sz="1800" b="1" i="1" smtClean="0">
                                    <a:solidFill>
                                      <a:srgbClr val="FF0000"/>
                                    </a:solidFill>
                                    <a:latin typeface="Cambria Math" panose="02040503050406030204" pitchFamily="18" charset="0"/>
                                    <a:ea typeface="Cambria Math" panose="02040503050406030204" pitchFamily="18" charset="0"/>
                                  </a:rPr>
                                  <m:t>𝟎</m:t>
                                </m:r>
                                <m:r>
                                  <a:rPr lang="en-US" altLang="ko-KR" sz="1800" i="1">
                                    <a:latin typeface="Cambria Math" panose="02040503050406030204" pitchFamily="18" charset="0"/>
                                    <a:ea typeface="Cambria Math" panose="02040503050406030204" pitchFamily="18" charset="0"/>
                                  </a:rPr>
                                  <m:t>⋅</m:t>
                                </m:r>
                                <m:r>
                                  <a:rPr lang="en-US" altLang="ko-KR" sz="1800" i="1">
                                    <a:latin typeface="Cambria Math" panose="02040503050406030204" pitchFamily="18" charset="0"/>
                                    <a:ea typeface="Cambria Math" panose="02040503050406030204" pitchFamily="18" charset="0"/>
                                  </a:rPr>
                                  <m:t>𝐼</m:t>
                                </m:r>
                              </m:e>
                              <m:e>
                                <m:r>
                                  <a:rPr lang="en-US" altLang="ko-KR" sz="1800" b="1" i="1" smtClean="0">
                                    <a:solidFill>
                                      <a:srgbClr val="FF0000"/>
                                    </a:solidFill>
                                    <a:latin typeface="Cambria Math" panose="02040503050406030204" pitchFamily="18" charset="0"/>
                                    <a:ea typeface="Cambria Math" panose="02040503050406030204" pitchFamily="18" charset="0"/>
                                  </a:rPr>
                                  <m:t>𝟏</m:t>
                                </m:r>
                                <m:r>
                                  <a:rPr lang="en-US" altLang="ko-KR" sz="1800" i="1">
                                    <a:latin typeface="Cambria Math" panose="02040503050406030204" pitchFamily="18" charset="0"/>
                                    <a:ea typeface="Cambria Math" panose="02040503050406030204" pitchFamily="18" charset="0"/>
                                  </a:rPr>
                                  <m:t>⋅</m:t>
                                </m:r>
                                <m:r>
                                  <a:rPr lang="en-US" altLang="ko-KR" sz="1800" i="1">
                                    <a:latin typeface="Cambria Math" panose="02040503050406030204" pitchFamily="18" charset="0"/>
                                    <a:ea typeface="Cambria Math" panose="02040503050406030204" pitchFamily="18" charset="0"/>
                                  </a:rPr>
                                  <m:t>𝐼</m:t>
                                </m:r>
                              </m:e>
                            </m:mr>
                            <m:mr>
                              <m:e>
                                <m:r>
                                  <a:rPr lang="en-US" altLang="ko-KR" sz="1800" b="1" i="1" smtClean="0">
                                    <a:solidFill>
                                      <a:srgbClr val="FF0000"/>
                                    </a:solidFill>
                                    <a:latin typeface="Cambria Math" panose="02040503050406030204" pitchFamily="18" charset="0"/>
                                    <a:ea typeface="Cambria Math" panose="02040503050406030204" pitchFamily="18" charset="0"/>
                                  </a:rPr>
                                  <m:t>𝟏</m:t>
                                </m:r>
                                <m:r>
                                  <a:rPr lang="en-US" altLang="ko-KR" sz="1800" i="1">
                                    <a:latin typeface="Cambria Math" panose="02040503050406030204" pitchFamily="18" charset="0"/>
                                    <a:ea typeface="Cambria Math" panose="02040503050406030204" pitchFamily="18" charset="0"/>
                                  </a:rPr>
                                  <m:t>⋅</m:t>
                                </m:r>
                                <m:r>
                                  <a:rPr lang="en-US" altLang="ko-KR" sz="1800" i="1">
                                    <a:latin typeface="Cambria Math" panose="02040503050406030204" pitchFamily="18" charset="0"/>
                                    <a:ea typeface="Cambria Math" panose="02040503050406030204" pitchFamily="18" charset="0"/>
                                  </a:rPr>
                                  <m:t>𝐼</m:t>
                                </m:r>
                              </m:e>
                              <m:e>
                                <m:r>
                                  <a:rPr lang="en-US" altLang="ko-KR" sz="1800" b="1" i="1" smtClean="0">
                                    <a:solidFill>
                                      <a:srgbClr val="FF0000"/>
                                    </a:solidFill>
                                    <a:latin typeface="Cambria Math" panose="02040503050406030204" pitchFamily="18" charset="0"/>
                                    <a:ea typeface="Cambria Math" panose="02040503050406030204" pitchFamily="18" charset="0"/>
                                  </a:rPr>
                                  <m:t>𝟎</m:t>
                                </m:r>
                                <m:r>
                                  <a:rPr lang="en-US" altLang="ko-KR" sz="1800" i="1">
                                    <a:latin typeface="Cambria Math" panose="02040503050406030204" pitchFamily="18" charset="0"/>
                                    <a:ea typeface="Cambria Math" panose="02040503050406030204" pitchFamily="18" charset="0"/>
                                  </a:rPr>
                                  <m:t>⋅</m:t>
                                </m:r>
                                <m:r>
                                  <a:rPr lang="en-US" altLang="ko-KR" sz="1800" i="1">
                                    <a:latin typeface="Cambria Math" panose="02040503050406030204" pitchFamily="18" charset="0"/>
                                    <a:ea typeface="Cambria Math" panose="02040503050406030204" pitchFamily="18" charset="0"/>
                                  </a:rPr>
                                  <m:t>𝐼</m:t>
                                </m:r>
                              </m:e>
                            </m:mr>
                          </m:m>
                        </m:e>
                      </m:d>
                      <m:r>
                        <a:rPr lang="en-US" altLang="ko-KR" sz="1800" i="1">
                          <a:latin typeface="Cambria Math" panose="02040503050406030204" pitchFamily="18" charset="0"/>
                          <a:ea typeface="Cambria Math" panose="02040503050406030204" pitchFamily="18" charset="0"/>
                        </a:rPr>
                        <m:t>=</m:t>
                      </m:r>
                      <m:d>
                        <m:dPr>
                          <m:ctrlPr>
                            <a:rPr lang="en-US" altLang="ko-KR" sz="1800" i="1">
                              <a:latin typeface="Cambria Math" panose="02040503050406030204" pitchFamily="18" charset="0"/>
                              <a:ea typeface="Cambria Math" panose="02040503050406030204" pitchFamily="18" charset="0"/>
                            </a:rPr>
                          </m:ctrlPr>
                        </m:dPr>
                        <m:e>
                          <m:m>
                            <m:mPr>
                              <m:mcs>
                                <m:mc>
                                  <m:mcPr>
                                    <m:count m:val="2"/>
                                    <m:mcJc m:val="center"/>
                                  </m:mcPr>
                                </m:mc>
                              </m:mcs>
                              <m:ctrlPr>
                                <a:rPr lang="en-US" altLang="ko-KR" sz="1800" i="1">
                                  <a:latin typeface="Cambria Math" panose="02040503050406030204" pitchFamily="18" charset="0"/>
                                  <a:ea typeface="Cambria Math" panose="02040503050406030204" pitchFamily="18" charset="0"/>
                                </a:rPr>
                              </m:ctrlPr>
                            </m:mPr>
                            <m:mr>
                              <m:e>
                                <m:m>
                                  <m:mPr>
                                    <m:mcs>
                                      <m:mc>
                                        <m:mcPr>
                                          <m:count m:val="2"/>
                                          <m:mcJc m:val="center"/>
                                        </m:mcPr>
                                      </m:mc>
                                    </m:mcs>
                                    <m:ctrlPr>
                                      <a:rPr lang="en-US" altLang="ko-KR" sz="1800" i="1">
                                        <a:latin typeface="Cambria Math" panose="02040503050406030204" pitchFamily="18" charset="0"/>
                                        <a:ea typeface="Cambria Math" panose="02040503050406030204" pitchFamily="18" charset="0"/>
                                      </a:rPr>
                                    </m:ctrlPr>
                                  </m:mPr>
                                  <m:mr>
                                    <m:e/>
                                    <m:e/>
                                  </m:mr>
                                  <m:mr>
                                    <m:e/>
                                    <m:e/>
                                  </m:mr>
                                </m:m>
                              </m:e>
                              <m:e>
                                <m:m>
                                  <m:mPr>
                                    <m:mcs>
                                      <m:mc>
                                        <m:mcPr>
                                          <m:count m:val="2"/>
                                          <m:mcJc m:val="center"/>
                                        </m:mcPr>
                                      </m:mc>
                                    </m:mcs>
                                    <m:ctrlPr>
                                      <a:rPr lang="en-US" altLang="ko-KR" sz="1800" i="1">
                                        <a:latin typeface="Cambria Math" panose="02040503050406030204" pitchFamily="18" charset="0"/>
                                        <a:ea typeface="Cambria Math" panose="02040503050406030204" pitchFamily="18" charset="0"/>
                                      </a:rPr>
                                    </m:ctrlPr>
                                  </m:mPr>
                                  <m:mr>
                                    <m:e>
                                      <m:r>
                                        <m:rPr>
                                          <m:brk m:alnAt="7"/>
                                        </m:rPr>
                                        <a:rPr lang="en-CA" altLang="ko-KR" sz="1800" i="1">
                                          <a:latin typeface="Cambria Math" panose="02040503050406030204" pitchFamily="18" charset="0"/>
                                          <a:ea typeface="Cambria Math" panose="02040503050406030204" pitchFamily="18" charset="0"/>
                                        </a:rPr>
                                        <m:t>1</m:t>
                                      </m:r>
                                    </m:e>
                                    <m:e>
                                      <m:r>
                                        <a:rPr lang="en-CA" altLang="ko-KR" sz="1800" i="1">
                                          <a:latin typeface="Cambria Math" panose="02040503050406030204" pitchFamily="18" charset="0"/>
                                          <a:ea typeface="Cambria Math" panose="02040503050406030204" pitchFamily="18" charset="0"/>
                                        </a:rPr>
                                        <m:t>0</m:t>
                                      </m:r>
                                    </m:e>
                                  </m:mr>
                                  <m:mr>
                                    <m:e>
                                      <m:r>
                                        <a:rPr lang="en-CA" altLang="ko-KR" sz="1800" i="1">
                                          <a:latin typeface="Cambria Math" panose="02040503050406030204" pitchFamily="18" charset="0"/>
                                          <a:ea typeface="Cambria Math" panose="02040503050406030204" pitchFamily="18" charset="0"/>
                                        </a:rPr>
                                        <m:t>0</m:t>
                                      </m:r>
                                    </m:e>
                                    <m:e>
                                      <m:r>
                                        <a:rPr lang="en-CA" altLang="ko-KR" sz="1800" i="1">
                                          <a:latin typeface="Cambria Math" panose="02040503050406030204" pitchFamily="18" charset="0"/>
                                          <a:ea typeface="Cambria Math" panose="02040503050406030204" pitchFamily="18" charset="0"/>
                                        </a:rPr>
                                        <m:t>1</m:t>
                                      </m:r>
                                    </m:e>
                                  </m:mr>
                                </m:m>
                              </m:e>
                            </m:mr>
                            <m:mr>
                              <m:e>
                                <m:m>
                                  <m:mPr>
                                    <m:mcs>
                                      <m:mc>
                                        <m:mcPr>
                                          <m:count m:val="2"/>
                                          <m:mcJc m:val="center"/>
                                        </m:mcPr>
                                      </m:mc>
                                    </m:mcs>
                                    <m:ctrlPr>
                                      <a:rPr lang="en-US" altLang="ko-KR" sz="1800" i="1">
                                        <a:latin typeface="Cambria Math" panose="02040503050406030204" pitchFamily="18" charset="0"/>
                                        <a:ea typeface="Cambria Math" panose="02040503050406030204" pitchFamily="18" charset="0"/>
                                      </a:rPr>
                                    </m:ctrlPr>
                                  </m:mPr>
                                  <m:mr>
                                    <m:e>
                                      <m:r>
                                        <m:rPr>
                                          <m:brk m:alnAt="7"/>
                                        </m:rPr>
                                        <a:rPr lang="en-CA" altLang="ko-KR" sz="1800" i="1">
                                          <a:latin typeface="Cambria Math" panose="02040503050406030204" pitchFamily="18" charset="0"/>
                                          <a:ea typeface="Cambria Math" panose="02040503050406030204" pitchFamily="18" charset="0"/>
                                        </a:rPr>
                                        <m:t>1</m:t>
                                      </m:r>
                                    </m:e>
                                    <m:e>
                                      <m:r>
                                        <a:rPr lang="en-CA" altLang="ko-KR" sz="1800" i="1">
                                          <a:latin typeface="Cambria Math" panose="02040503050406030204" pitchFamily="18" charset="0"/>
                                          <a:ea typeface="Cambria Math" panose="02040503050406030204" pitchFamily="18" charset="0"/>
                                        </a:rPr>
                                        <m:t>0</m:t>
                                      </m:r>
                                    </m:e>
                                  </m:mr>
                                  <m:mr>
                                    <m:e>
                                      <m:r>
                                        <a:rPr lang="en-CA" altLang="ko-KR" sz="1800" i="1">
                                          <a:latin typeface="Cambria Math" panose="02040503050406030204" pitchFamily="18" charset="0"/>
                                          <a:ea typeface="Cambria Math" panose="02040503050406030204" pitchFamily="18" charset="0"/>
                                        </a:rPr>
                                        <m:t>0</m:t>
                                      </m:r>
                                    </m:e>
                                    <m:e>
                                      <m:r>
                                        <a:rPr lang="en-CA" altLang="ko-KR" sz="1800" i="1">
                                          <a:latin typeface="Cambria Math" panose="02040503050406030204" pitchFamily="18" charset="0"/>
                                          <a:ea typeface="Cambria Math" panose="02040503050406030204" pitchFamily="18" charset="0"/>
                                        </a:rPr>
                                        <m:t>1</m:t>
                                      </m:r>
                                    </m:e>
                                  </m:mr>
                                </m:m>
                              </m:e>
                              <m:e>
                                <m:m>
                                  <m:mPr>
                                    <m:mcs>
                                      <m:mc>
                                        <m:mcPr>
                                          <m:count m:val="2"/>
                                          <m:mcJc m:val="center"/>
                                        </m:mcPr>
                                      </m:mc>
                                    </m:mcs>
                                    <m:ctrlPr>
                                      <a:rPr lang="en-US" altLang="ko-KR" sz="1800" i="1">
                                        <a:latin typeface="Cambria Math" panose="02040503050406030204" pitchFamily="18" charset="0"/>
                                        <a:ea typeface="Cambria Math" panose="02040503050406030204" pitchFamily="18" charset="0"/>
                                      </a:rPr>
                                    </m:ctrlPr>
                                  </m:mPr>
                                  <m:mr>
                                    <m:e/>
                                    <m:e/>
                                  </m:mr>
                                  <m:mr>
                                    <m:e/>
                                    <m:e/>
                                  </m:mr>
                                </m:m>
                              </m:e>
                            </m:mr>
                          </m:m>
                        </m:e>
                      </m:d>
                    </m:oMath>
                  </m:oMathPara>
                </a14:m>
                <a:endParaRPr lang="en-US" altLang="ko-KR" sz="1800" dirty="0"/>
              </a:p>
              <a:p>
                <a:pPr marL="0" indent="0">
                  <a:buNone/>
                </a:pPr>
                <a:endParaRPr lang="en-US" altLang="ko-KR" sz="1800" dirty="0" smtClean="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a:blip r:embed="rId2"/>
                <a:stretch>
                  <a:fillRect l="-406" t="-168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직사각형 5"/>
              <p:cNvSpPr/>
              <p:nvPr/>
            </p:nvSpPr>
            <p:spPr>
              <a:xfrm>
                <a:off x="8169585" y="2371879"/>
                <a:ext cx="3134897" cy="554254"/>
              </a:xfrm>
              <a:prstGeom prst="rect">
                <a:avLst/>
              </a:prstGeom>
            </p:spPr>
            <p:txBody>
              <a:bodyPr wrap="none">
                <a:spAutoFit/>
              </a:bodyPr>
              <a:lstStyle/>
              <a:p>
                <a14:m>
                  <m:oMath xmlns:m="http://schemas.openxmlformats.org/officeDocument/2006/math">
                    <m:r>
                      <a:rPr lang="en-US" altLang="ko-KR" b="0" i="1" smtClean="0">
                        <a:solidFill>
                          <a:srgbClr val="FF0000"/>
                        </a:solidFill>
                        <a:latin typeface="Cambria Math" panose="02040503050406030204" pitchFamily="18" charset="0"/>
                        <a:ea typeface="Cambria Math" panose="02040503050406030204" pitchFamily="18" charset="0"/>
                      </a:rPr>
                      <m:t>𝑋</m:t>
                    </m:r>
                    <m:d>
                      <m:dPr>
                        <m:begChr m:val="|"/>
                        <m:endChr m:val="⟩"/>
                        <m:ctrlPr>
                          <a:rPr lang="en-US" altLang="ko-KR" i="1" smtClean="0">
                            <a:solidFill>
                              <a:schemeClr val="accent1"/>
                            </a:solidFill>
                            <a:latin typeface="Cambria Math" panose="02040503050406030204" pitchFamily="18" charset="0"/>
                            <a:ea typeface="Cambria Math" panose="02040503050406030204" pitchFamily="18" charset="0"/>
                          </a:rPr>
                        </m:ctrlPr>
                      </m:dPr>
                      <m:e>
                        <m:r>
                          <a:rPr lang="en-US" altLang="ko-KR" i="1">
                            <a:solidFill>
                              <a:schemeClr val="accent1"/>
                            </a:solidFill>
                            <a:latin typeface="Cambria Math" panose="02040503050406030204" pitchFamily="18" charset="0"/>
                            <a:ea typeface="Cambria Math" panose="02040503050406030204" pitchFamily="18" charset="0"/>
                          </a:rPr>
                          <m:t>1</m:t>
                        </m:r>
                      </m:e>
                    </m:d>
                    <m:r>
                      <a:rPr lang="en-US" altLang="ko-KR" b="0" i="1" smtClean="0">
                        <a:latin typeface="Cambria Math" panose="02040503050406030204" pitchFamily="18" charset="0"/>
                        <a:ea typeface="Cambria Math" panose="02040503050406030204" pitchFamily="18" charset="0"/>
                      </a:rPr>
                      <m:t>=</m:t>
                    </m:r>
                    <m:d>
                      <m:dPr>
                        <m:ctrlPr>
                          <a:rPr lang="en-US" altLang="ko-KR" i="1" smtClean="0">
                            <a:solidFill>
                              <a:srgbClr val="FF0000"/>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ko-KR" i="1">
                                <a:solidFill>
                                  <a:srgbClr val="FF0000"/>
                                </a:solidFill>
                                <a:latin typeface="Cambria Math" panose="02040503050406030204" pitchFamily="18" charset="0"/>
                                <a:ea typeface="Cambria Math" panose="02040503050406030204" pitchFamily="18" charset="0"/>
                              </a:rPr>
                            </m:ctrlPr>
                          </m:mPr>
                          <m:mr>
                            <m:e>
                              <m:r>
                                <m:rPr>
                                  <m:brk m:alnAt="7"/>
                                </m:rPr>
                                <a:rPr lang="en-US" altLang="ko-KR" i="1">
                                  <a:solidFill>
                                    <a:srgbClr val="FF0000"/>
                                  </a:solidFill>
                                  <a:latin typeface="Cambria Math" panose="02040503050406030204" pitchFamily="18" charset="0"/>
                                  <a:ea typeface="Cambria Math" panose="02040503050406030204" pitchFamily="18" charset="0"/>
                                </a:rPr>
                                <m:t>0</m:t>
                              </m:r>
                            </m:e>
                            <m:e>
                              <m:r>
                                <a:rPr lang="en-US" altLang="ko-KR" i="1">
                                  <a:solidFill>
                                    <a:srgbClr val="FF0000"/>
                                  </a:solidFill>
                                  <a:latin typeface="Cambria Math" panose="02040503050406030204" pitchFamily="18" charset="0"/>
                                  <a:ea typeface="Cambria Math" panose="02040503050406030204" pitchFamily="18" charset="0"/>
                                </a:rPr>
                                <m:t>1</m:t>
                              </m:r>
                            </m:e>
                          </m:mr>
                          <m:mr>
                            <m:e>
                              <m:r>
                                <a:rPr lang="en-US" altLang="ko-KR" i="1">
                                  <a:solidFill>
                                    <a:srgbClr val="FF0000"/>
                                  </a:solidFill>
                                  <a:latin typeface="Cambria Math" panose="02040503050406030204" pitchFamily="18" charset="0"/>
                                  <a:ea typeface="Cambria Math" panose="02040503050406030204" pitchFamily="18" charset="0"/>
                                </a:rPr>
                                <m:t>1</m:t>
                              </m:r>
                            </m:e>
                            <m:e>
                              <m:r>
                                <a:rPr lang="en-US" altLang="ko-KR" i="1">
                                  <a:solidFill>
                                    <a:srgbClr val="FF0000"/>
                                  </a:solidFill>
                                  <a:latin typeface="Cambria Math" panose="02040503050406030204" pitchFamily="18" charset="0"/>
                                  <a:ea typeface="Cambria Math" panose="02040503050406030204" pitchFamily="18" charset="0"/>
                                </a:rPr>
                                <m:t>0</m:t>
                              </m:r>
                            </m:e>
                          </m:mr>
                        </m:m>
                      </m:e>
                    </m:d>
                    <m:d>
                      <m:dPr>
                        <m:ctrlPr>
                          <a:rPr lang="en-US" altLang="ko-KR" i="1" smtClean="0">
                            <a:solidFill>
                              <a:schemeClr val="accent1"/>
                            </a:solidFill>
                            <a:latin typeface="Cambria Math" panose="02040503050406030204" pitchFamily="18" charset="0"/>
                            <a:ea typeface="Cambria Math" panose="02040503050406030204" pitchFamily="18" charset="0"/>
                          </a:rPr>
                        </m:ctrlPr>
                      </m:dPr>
                      <m:e>
                        <m:eqArr>
                          <m:eqArrPr>
                            <m:ctrlPr>
                              <a:rPr lang="en-US" altLang="ko-KR" i="1">
                                <a:solidFill>
                                  <a:schemeClr val="accent1"/>
                                </a:solidFill>
                                <a:latin typeface="Cambria Math" panose="02040503050406030204" pitchFamily="18" charset="0"/>
                                <a:ea typeface="Cambria Math" panose="02040503050406030204" pitchFamily="18" charset="0"/>
                              </a:rPr>
                            </m:ctrlPr>
                          </m:eqArrPr>
                          <m:e>
                            <m:r>
                              <a:rPr lang="en-US" altLang="ko-KR" i="1">
                                <a:solidFill>
                                  <a:schemeClr val="accent1"/>
                                </a:solidFill>
                                <a:latin typeface="Cambria Math" panose="02040503050406030204" pitchFamily="18" charset="0"/>
                                <a:ea typeface="Cambria Math" panose="02040503050406030204" pitchFamily="18" charset="0"/>
                              </a:rPr>
                              <m:t>0</m:t>
                            </m:r>
                          </m:e>
                          <m:e>
                            <m:r>
                              <a:rPr lang="en-US" altLang="ko-KR" i="1">
                                <a:solidFill>
                                  <a:schemeClr val="accent1"/>
                                </a:solidFill>
                                <a:latin typeface="Cambria Math" panose="02040503050406030204" pitchFamily="18" charset="0"/>
                                <a:ea typeface="Cambria Math" panose="02040503050406030204" pitchFamily="18" charset="0"/>
                              </a:rPr>
                              <m:t>1</m:t>
                            </m:r>
                          </m:e>
                        </m:eqArr>
                      </m:e>
                    </m:d>
                  </m:oMath>
                </a14:m>
                <a:r>
                  <a:rPr lang="en-US" altLang="ko-KR" dirty="0" smtClean="0"/>
                  <a:t>=</a:t>
                </a:r>
                <a14:m>
                  <m:oMath xmlns:m="http://schemas.openxmlformats.org/officeDocument/2006/math">
                    <m:d>
                      <m:dPr>
                        <m:ctrlPr>
                          <a:rPr lang="en-US" altLang="ko-KR" i="1">
                            <a:latin typeface="Cambria Math" panose="02040503050406030204" pitchFamily="18" charset="0"/>
                            <a:ea typeface="Cambria Math" panose="02040503050406030204" pitchFamily="18" charset="0"/>
                          </a:rPr>
                        </m:ctrlPr>
                      </m:dPr>
                      <m:e>
                        <m:eqArr>
                          <m:eqArrPr>
                            <m:ctrlPr>
                              <a:rPr lang="en-US" altLang="ko-KR" i="1">
                                <a:latin typeface="Cambria Math" panose="02040503050406030204" pitchFamily="18" charset="0"/>
                                <a:ea typeface="Cambria Math" panose="02040503050406030204" pitchFamily="18" charset="0"/>
                              </a:rPr>
                            </m:ctrlPr>
                          </m:eqArrPr>
                          <m:e>
                            <m:r>
                              <a:rPr lang="en-US" altLang="ko-KR" i="1">
                                <a:latin typeface="Cambria Math" panose="02040503050406030204" pitchFamily="18" charset="0"/>
                                <a:ea typeface="Cambria Math" panose="02040503050406030204" pitchFamily="18" charset="0"/>
                              </a:rPr>
                              <m:t>1</m:t>
                            </m:r>
                          </m:e>
                          <m:e>
                            <m:r>
                              <a:rPr lang="en-US" altLang="ko-KR" i="1">
                                <a:latin typeface="Cambria Math" panose="02040503050406030204" pitchFamily="18" charset="0"/>
                                <a:ea typeface="Cambria Math" panose="02040503050406030204" pitchFamily="18" charset="0"/>
                              </a:rPr>
                              <m:t>0</m:t>
                            </m:r>
                          </m:e>
                        </m:eqArr>
                      </m:e>
                    </m:d>
                    <m:r>
                      <a:rPr lang="en-US" altLang="ko-KR" b="0" i="0" smtClean="0">
                        <a:latin typeface="Cambria Math" panose="02040503050406030204" pitchFamily="18" charset="0"/>
                        <a:ea typeface="Cambria Math" panose="02040503050406030204" pitchFamily="18" charset="0"/>
                      </a:rPr>
                      <m:t>=|0</m:t>
                    </m:r>
                    <m:r>
                      <a:rPr lang="en-US" altLang="ko-KR" b="0" i="1" smtClean="0">
                        <a:latin typeface="Cambria Math" panose="02040503050406030204" pitchFamily="18" charset="0"/>
                        <a:ea typeface="Cambria Math" panose="02040503050406030204" pitchFamily="18" charset="0"/>
                      </a:rPr>
                      <m:t>⟩</m:t>
                    </m:r>
                  </m:oMath>
                </a14:m>
                <a:endParaRPr lang="ko-KR" altLang="en-US" dirty="0"/>
              </a:p>
            </p:txBody>
          </p:sp>
        </mc:Choice>
        <mc:Fallback xmlns="">
          <p:sp>
            <p:nvSpPr>
              <p:cNvPr id="6" name="직사각형 5"/>
              <p:cNvSpPr>
                <a:spLocks noRot="1" noChangeAspect="1" noMove="1" noResize="1" noEditPoints="1" noAdjustHandles="1" noChangeArrowheads="1" noChangeShapeType="1" noTextEdit="1"/>
              </p:cNvSpPr>
              <p:nvPr/>
            </p:nvSpPr>
            <p:spPr>
              <a:xfrm>
                <a:off x="8169585" y="2371879"/>
                <a:ext cx="3134897" cy="554254"/>
              </a:xfrm>
              <a:prstGeom prst="rect">
                <a:avLst/>
              </a:prstGeom>
              <a:blipFill>
                <a:blip r:embed="rId3"/>
                <a:stretch>
                  <a:fillRect/>
                </a:stretch>
              </a:blipFill>
            </p:spPr>
            <p:txBody>
              <a:bodyPr/>
              <a:lstStyle/>
              <a:p>
                <a:r>
                  <a:rPr lang="ko-KR" altLang="en-US">
                    <a:noFill/>
                  </a:rPr>
                  <a:t> </a:t>
                </a:r>
              </a:p>
            </p:txBody>
          </p:sp>
        </mc:Fallback>
      </mc:AlternateContent>
      <p:sp>
        <p:nvSpPr>
          <p:cNvPr id="5" name="모서리가 둥근 사각형 설명선 4"/>
          <p:cNvSpPr/>
          <p:nvPr/>
        </p:nvSpPr>
        <p:spPr>
          <a:xfrm>
            <a:off x="8741329" y="3950960"/>
            <a:ext cx="3229762" cy="874552"/>
          </a:xfrm>
          <a:prstGeom prst="wedgeRoundRectCallout">
            <a:avLst>
              <a:gd name="adj1" fmla="val -63258"/>
              <a:gd name="adj2" fmla="val -5930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We will study tensor more later with greater details</a:t>
            </a:r>
            <a:endParaRPr lang="ko-KR" altLang="en-US" dirty="0"/>
          </a:p>
        </p:txBody>
      </p:sp>
    </p:spTree>
    <p:extLst>
      <p:ext uri="{BB962C8B-B14F-4D97-AF65-F5344CB8AC3E}">
        <p14:creationId xmlns:p14="http://schemas.microsoft.com/office/powerpoint/2010/main" val="367620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Last time: Reversible computing</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normAutofit/>
              </a:bodyPr>
              <a:lstStyle/>
              <a:p>
                <a:pPr marL="0" indent="0">
                  <a:buNone/>
                </a:pPr>
                <a:r>
                  <a:rPr lang="en-US" altLang="ko-KR" sz="1800" dirty="0" smtClean="0"/>
                  <a:t>Alternative (easier) way to understand the tensor product of states:</a:t>
                </a:r>
                <a:endParaRPr lang="en-US" altLang="ko-KR" sz="1800" i="1" dirty="0" smtClean="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ko-KR" sz="1800" i="1">
                              <a:latin typeface="Cambria Math" panose="02040503050406030204" pitchFamily="18" charset="0"/>
                              <a:ea typeface="Cambria Math" panose="02040503050406030204" pitchFamily="18" charset="0"/>
                            </a:rPr>
                          </m:ctrlPr>
                        </m:dPr>
                        <m:e>
                          <m:r>
                            <a:rPr lang="en-US" altLang="ko-KR" sz="1800" i="1">
                              <a:latin typeface="Cambria Math" panose="02040503050406030204" pitchFamily="18" charset="0"/>
                              <a:ea typeface="Cambria Math" panose="02040503050406030204" pitchFamily="18" charset="0"/>
                            </a:rPr>
                            <m:t>0</m:t>
                          </m:r>
                        </m:e>
                      </m:d>
                      <m:r>
                        <a:rPr lang="en-US" altLang="ko-KR" sz="1800" i="1">
                          <a:latin typeface="Cambria Math" panose="02040503050406030204" pitchFamily="18" charset="0"/>
                          <a:ea typeface="Cambria Math" panose="02040503050406030204" pitchFamily="18" charset="0"/>
                        </a:rPr>
                        <m:t>⊗</m:t>
                      </m:r>
                      <m:d>
                        <m:dPr>
                          <m:begChr m:val="|"/>
                          <m:endChr m:val="⟩"/>
                          <m:ctrlPr>
                            <a:rPr lang="en-US" altLang="ko-KR" sz="1800" i="1">
                              <a:latin typeface="Cambria Math" panose="02040503050406030204" pitchFamily="18" charset="0"/>
                              <a:ea typeface="Cambria Math" panose="02040503050406030204" pitchFamily="18" charset="0"/>
                            </a:rPr>
                          </m:ctrlPr>
                        </m:dPr>
                        <m:e>
                          <m:r>
                            <a:rPr lang="en-US" altLang="ko-KR" sz="1800" i="1">
                              <a:latin typeface="Cambria Math" panose="02040503050406030204" pitchFamily="18" charset="0"/>
                              <a:ea typeface="Cambria Math" panose="02040503050406030204" pitchFamily="18" charset="0"/>
                            </a:rPr>
                            <m:t>1</m:t>
                          </m:r>
                        </m:e>
                      </m:d>
                      <m:r>
                        <a:rPr lang="en-US" altLang="ko-KR" sz="1800" i="1">
                          <a:latin typeface="Cambria Math" panose="02040503050406030204" pitchFamily="18" charset="0"/>
                          <a:ea typeface="Cambria Math" panose="02040503050406030204" pitchFamily="18" charset="0"/>
                        </a:rPr>
                        <m:t>=</m:t>
                      </m:r>
                      <m:d>
                        <m:dPr>
                          <m:begChr m:val="|"/>
                          <m:endChr m:val="⟩"/>
                          <m:ctrlPr>
                            <a:rPr lang="en-US" altLang="ko-KR" sz="1800" b="0" i="1" smtClean="0">
                              <a:latin typeface="Cambria Math" panose="02040503050406030204" pitchFamily="18" charset="0"/>
                              <a:ea typeface="Cambria Math" panose="02040503050406030204" pitchFamily="18" charset="0"/>
                            </a:rPr>
                          </m:ctrlPr>
                        </m:dPr>
                        <m:e>
                          <m:r>
                            <a:rPr lang="en-US" altLang="ko-KR" sz="1800" b="0" i="1" smtClean="0">
                              <a:latin typeface="Cambria Math" panose="02040503050406030204" pitchFamily="18" charset="0"/>
                              <a:ea typeface="Cambria Math" panose="02040503050406030204" pitchFamily="18" charset="0"/>
                            </a:rPr>
                            <m:t>01</m:t>
                          </m:r>
                        </m:e>
                      </m:d>
                      <m:r>
                        <a:rPr lang="en-US" altLang="ko-KR" sz="1800" b="0" i="1" smtClean="0">
                          <a:latin typeface="Cambria Math" panose="02040503050406030204" pitchFamily="18" charset="0"/>
                          <a:ea typeface="Cambria Math" panose="02040503050406030204" pitchFamily="18" charset="0"/>
                        </a:rPr>
                        <m:t>=</m:t>
                      </m:r>
                      <m:sSub>
                        <m:sSubPr>
                          <m:ctrlPr>
                            <a:rPr lang="en-US" altLang="ko-KR" sz="1800" b="0" i="1" smtClean="0">
                              <a:latin typeface="Cambria Math" panose="02040503050406030204" pitchFamily="18" charset="0"/>
                              <a:ea typeface="Cambria Math" panose="02040503050406030204" pitchFamily="18" charset="0"/>
                            </a:rPr>
                          </m:ctrlPr>
                        </m:sSubPr>
                        <m:e>
                          <m:r>
                            <a:rPr lang="en-US" altLang="ko-KR" sz="1800" b="0" i="1" smtClean="0">
                              <a:latin typeface="Cambria Math" panose="02040503050406030204" pitchFamily="18" charset="0"/>
                              <a:ea typeface="Cambria Math" panose="02040503050406030204" pitchFamily="18" charset="0"/>
                            </a:rPr>
                            <m:t>𝑒</m:t>
                          </m:r>
                        </m:e>
                        <m:sub>
                          <m:sSub>
                            <m:sSubPr>
                              <m:ctrlPr>
                                <a:rPr lang="en-US" altLang="ko-KR" sz="1800" b="0" i="1" smtClean="0">
                                  <a:latin typeface="Cambria Math" panose="02040503050406030204" pitchFamily="18" charset="0"/>
                                  <a:ea typeface="Cambria Math" panose="02040503050406030204" pitchFamily="18" charset="0"/>
                                </a:rPr>
                              </m:ctrlPr>
                            </m:sSubPr>
                            <m:e>
                              <m:r>
                                <a:rPr lang="en-US" altLang="ko-KR" sz="1800" b="0" i="1" smtClean="0">
                                  <a:latin typeface="Cambria Math" panose="02040503050406030204" pitchFamily="18" charset="0"/>
                                  <a:ea typeface="Cambria Math" panose="02040503050406030204" pitchFamily="18" charset="0"/>
                                </a:rPr>
                                <m:t>01</m:t>
                              </m:r>
                            </m:e>
                            <m:sub>
                              <m:d>
                                <m:dPr>
                                  <m:ctrlPr>
                                    <a:rPr lang="en-US" altLang="ko-KR" sz="1800" b="0" i="1" smtClean="0">
                                      <a:latin typeface="Cambria Math" panose="02040503050406030204" pitchFamily="18" charset="0"/>
                                      <a:ea typeface="Cambria Math" panose="02040503050406030204" pitchFamily="18" charset="0"/>
                                    </a:rPr>
                                  </m:ctrlPr>
                                </m:dPr>
                                <m:e>
                                  <m:r>
                                    <a:rPr lang="en-US" altLang="ko-KR" sz="1800" b="0" i="1" smtClean="0">
                                      <a:latin typeface="Cambria Math" panose="02040503050406030204" pitchFamily="18" charset="0"/>
                                      <a:ea typeface="Cambria Math" panose="02040503050406030204" pitchFamily="18" charset="0"/>
                                    </a:rPr>
                                    <m:t>2</m:t>
                                  </m:r>
                                </m:e>
                              </m:d>
                            </m:sub>
                          </m:sSub>
                        </m:sub>
                      </m:sSub>
                      <m:r>
                        <a:rPr lang="en-US" altLang="ko-KR" sz="1800" b="0" i="1" smtClean="0">
                          <a:latin typeface="Cambria Math" panose="02040503050406030204" pitchFamily="18" charset="0"/>
                          <a:ea typeface="Cambria Math" panose="02040503050406030204" pitchFamily="18" charset="0"/>
                        </a:rPr>
                        <m:t>=</m:t>
                      </m:r>
                      <m:sSub>
                        <m:sSubPr>
                          <m:ctrlPr>
                            <a:rPr lang="en-US" altLang="ko-KR" sz="1800" b="0" i="1" smtClean="0">
                              <a:latin typeface="Cambria Math" panose="02040503050406030204" pitchFamily="18" charset="0"/>
                              <a:ea typeface="Cambria Math" panose="02040503050406030204" pitchFamily="18" charset="0"/>
                            </a:rPr>
                          </m:ctrlPr>
                        </m:sSubPr>
                        <m:e>
                          <m:r>
                            <a:rPr lang="en-US" altLang="ko-KR" sz="1800" b="0" i="1" smtClean="0">
                              <a:latin typeface="Cambria Math" panose="02040503050406030204" pitchFamily="18" charset="0"/>
                              <a:ea typeface="Cambria Math" panose="02040503050406030204" pitchFamily="18" charset="0"/>
                            </a:rPr>
                            <m:t>𝑒</m:t>
                          </m:r>
                        </m:e>
                        <m:sub>
                          <m:r>
                            <a:rPr lang="en-US" altLang="ko-KR" sz="1800" b="0" i="1" smtClean="0">
                              <a:latin typeface="Cambria Math" panose="02040503050406030204" pitchFamily="18" charset="0"/>
                              <a:ea typeface="Cambria Math" panose="02040503050406030204" pitchFamily="18" charset="0"/>
                            </a:rPr>
                            <m:t>1</m:t>
                          </m:r>
                        </m:sub>
                      </m:sSub>
                      <m:r>
                        <a:rPr lang="en-US" altLang="ko-KR" sz="1800" b="0" i="1" smtClean="0">
                          <a:latin typeface="Cambria Math" panose="02040503050406030204" pitchFamily="18" charset="0"/>
                          <a:ea typeface="Cambria Math" panose="02040503050406030204" pitchFamily="18" charset="0"/>
                        </a:rPr>
                        <m:t>=</m:t>
                      </m:r>
                      <m:d>
                        <m:dPr>
                          <m:ctrlPr>
                            <a:rPr lang="en-US" altLang="ko-KR" sz="1800" i="1">
                              <a:latin typeface="Cambria Math" panose="02040503050406030204" pitchFamily="18" charset="0"/>
                              <a:ea typeface="Cambria Math" panose="02040503050406030204" pitchFamily="18" charset="0"/>
                            </a:rPr>
                          </m:ctrlPr>
                        </m:dPr>
                        <m:e>
                          <m:m>
                            <m:mPr>
                              <m:mcs>
                                <m:mc>
                                  <m:mcPr>
                                    <m:count m:val="1"/>
                                    <m:mcJc m:val="center"/>
                                  </m:mcPr>
                                </m:mc>
                              </m:mcs>
                              <m:ctrlPr>
                                <a:rPr lang="en-US" altLang="ko-KR" sz="1800" i="1">
                                  <a:latin typeface="Cambria Math" panose="02040503050406030204" pitchFamily="18" charset="0"/>
                                  <a:ea typeface="Cambria Math" panose="02040503050406030204" pitchFamily="18" charset="0"/>
                                </a:rPr>
                              </m:ctrlPr>
                            </m:mPr>
                            <m:mr>
                              <m:e>
                                <m:r>
                                  <m:rPr>
                                    <m:brk m:alnAt="7"/>
                                  </m:rPr>
                                  <a:rPr lang="en-US" altLang="ko-KR" sz="1800" i="1">
                                    <a:latin typeface="Cambria Math" panose="02040503050406030204" pitchFamily="18" charset="0"/>
                                    <a:ea typeface="Cambria Math" panose="02040503050406030204" pitchFamily="18" charset="0"/>
                                  </a:rPr>
                                  <m:t>0</m:t>
                                </m:r>
                              </m:e>
                            </m:mr>
                            <m:mr>
                              <m:e>
                                <m:r>
                                  <a:rPr lang="en-US" altLang="ko-KR" sz="1800" i="1">
                                    <a:latin typeface="Cambria Math" panose="02040503050406030204" pitchFamily="18" charset="0"/>
                                    <a:ea typeface="Cambria Math" panose="02040503050406030204" pitchFamily="18" charset="0"/>
                                  </a:rPr>
                                  <m:t>1</m:t>
                                </m:r>
                              </m:e>
                            </m:mr>
                            <m:mr>
                              <m:e>
                                <m:eqArr>
                                  <m:eqArrPr>
                                    <m:ctrlPr>
                                      <a:rPr lang="en-US" altLang="ko-KR" sz="1800" i="1">
                                        <a:latin typeface="Cambria Math" panose="02040503050406030204" pitchFamily="18" charset="0"/>
                                        <a:ea typeface="Cambria Math" panose="02040503050406030204" pitchFamily="18" charset="0"/>
                                      </a:rPr>
                                    </m:ctrlPr>
                                  </m:eqArrPr>
                                  <m:e>
                                    <m:r>
                                      <a:rPr lang="en-US" altLang="ko-KR" sz="1800" i="1">
                                        <a:latin typeface="Cambria Math" panose="02040503050406030204" pitchFamily="18" charset="0"/>
                                        <a:ea typeface="Cambria Math" panose="02040503050406030204" pitchFamily="18" charset="0"/>
                                      </a:rPr>
                                      <m:t>0</m:t>
                                    </m:r>
                                  </m:e>
                                  <m:e>
                                    <m:r>
                                      <a:rPr lang="en-US" altLang="ko-KR" sz="1800" i="1">
                                        <a:latin typeface="Cambria Math" panose="02040503050406030204" pitchFamily="18" charset="0"/>
                                      </a:rPr>
                                      <m:t>0</m:t>
                                    </m:r>
                                  </m:e>
                                </m:eqArr>
                              </m:e>
                            </m:mr>
                          </m:m>
                        </m:e>
                      </m:d>
                    </m:oMath>
                  </m:oMathPara>
                </a14:m>
                <a:endParaRPr lang="en-US" altLang="ko-KR" sz="1800" dirty="0" smtClean="0"/>
              </a:p>
              <a:p>
                <a:pPr marL="0" indent="0">
                  <a:buNone/>
                </a:pPr>
                <a:endParaRPr lang="en-US" altLang="ko-KR" sz="1800" dirty="0" smtClean="0"/>
              </a:p>
              <a:p>
                <a:pPr marL="0" indent="0">
                  <a:buNone/>
                </a:pPr>
                <a:r>
                  <a:rPr lang="en-US" altLang="ko-KR" sz="1800" dirty="0" smtClean="0"/>
                  <a:t>We can calculate the results of computation in several ways:</a:t>
                </a:r>
              </a:p>
              <a:p>
                <a:pPr marL="0" indent="0">
                  <a:buNone/>
                </a:pPr>
                <a14:m>
                  <m:oMathPara xmlns:m="http://schemas.openxmlformats.org/officeDocument/2006/math">
                    <m:oMathParaPr>
                      <m:jc m:val="centerGroup"/>
                    </m:oMathParaPr>
                    <m:oMath xmlns:m="http://schemas.openxmlformats.org/officeDocument/2006/math">
                      <m:d>
                        <m:dPr>
                          <m:ctrlPr>
                            <a:rPr lang="en-US" altLang="ko-KR" sz="1800" i="1">
                              <a:latin typeface="Cambria Math" panose="02040503050406030204" pitchFamily="18" charset="0"/>
                              <a:ea typeface="Cambria Math" panose="02040503050406030204" pitchFamily="18" charset="0"/>
                            </a:rPr>
                          </m:ctrlPr>
                        </m:dPr>
                        <m:e>
                          <m:r>
                            <a:rPr lang="en-US" altLang="ko-KR" sz="1800" i="1">
                              <a:latin typeface="Cambria Math" panose="02040503050406030204" pitchFamily="18" charset="0"/>
                              <a:ea typeface="Cambria Math" panose="02040503050406030204" pitchFamily="18" charset="0"/>
                            </a:rPr>
                            <m:t>𝑋</m:t>
                          </m:r>
                          <m:r>
                            <a:rPr lang="en-CA" altLang="ko-KR" sz="1800" i="1">
                              <a:latin typeface="Cambria Math" panose="02040503050406030204" pitchFamily="18" charset="0"/>
                              <a:ea typeface="Cambria Math" panose="02040503050406030204" pitchFamily="18" charset="0"/>
                            </a:rPr>
                            <m:t>⊗</m:t>
                          </m:r>
                          <m:r>
                            <a:rPr lang="en-CA" altLang="ko-KR" sz="1800" i="1">
                              <a:latin typeface="Cambria Math" panose="02040503050406030204" pitchFamily="18" charset="0"/>
                              <a:ea typeface="Cambria Math" panose="02040503050406030204" pitchFamily="18" charset="0"/>
                            </a:rPr>
                            <m:t>𝐼</m:t>
                          </m:r>
                        </m:e>
                      </m:d>
                      <m:d>
                        <m:dPr>
                          <m:begChr m:val="|"/>
                          <m:endChr m:val="⟩"/>
                          <m:ctrlPr>
                            <a:rPr lang="en-US" altLang="ko-KR" sz="1800" i="1">
                              <a:latin typeface="Cambria Math" panose="02040503050406030204" pitchFamily="18" charset="0"/>
                              <a:ea typeface="Cambria Math" panose="02040503050406030204" pitchFamily="18" charset="0"/>
                            </a:rPr>
                          </m:ctrlPr>
                        </m:dPr>
                        <m:e>
                          <m:r>
                            <a:rPr lang="en-US" altLang="ko-KR" sz="1800" i="1">
                              <a:latin typeface="Cambria Math" panose="02040503050406030204" pitchFamily="18" charset="0"/>
                              <a:ea typeface="Cambria Math" panose="02040503050406030204" pitchFamily="18" charset="0"/>
                            </a:rPr>
                            <m:t>0</m:t>
                          </m:r>
                        </m:e>
                      </m:d>
                      <m:r>
                        <a:rPr lang="en-US" altLang="ko-KR" sz="1800" i="1">
                          <a:latin typeface="Cambria Math" panose="02040503050406030204" pitchFamily="18" charset="0"/>
                          <a:ea typeface="Cambria Math" panose="02040503050406030204" pitchFamily="18" charset="0"/>
                        </a:rPr>
                        <m:t>⊗</m:t>
                      </m:r>
                      <m:d>
                        <m:dPr>
                          <m:begChr m:val="|"/>
                          <m:endChr m:val="⟩"/>
                          <m:ctrlPr>
                            <a:rPr lang="en-US" altLang="ko-KR" sz="1800" i="1">
                              <a:latin typeface="Cambria Math" panose="02040503050406030204" pitchFamily="18" charset="0"/>
                              <a:ea typeface="Cambria Math" panose="02040503050406030204" pitchFamily="18" charset="0"/>
                            </a:rPr>
                          </m:ctrlPr>
                        </m:dPr>
                        <m:e>
                          <m:r>
                            <a:rPr lang="en-US" altLang="ko-KR" sz="1800" i="1">
                              <a:latin typeface="Cambria Math" panose="02040503050406030204" pitchFamily="18" charset="0"/>
                              <a:ea typeface="Cambria Math" panose="02040503050406030204" pitchFamily="18" charset="0"/>
                            </a:rPr>
                            <m:t>1</m:t>
                          </m:r>
                        </m:e>
                      </m:d>
                      <m:r>
                        <a:rPr lang="en-US" altLang="ko-KR" sz="1800" b="0" i="1" smtClean="0">
                          <a:latin typeface="Cambria Math" panose="02040503050406030204" pitchFamily="18" charset="0"/>
                          <a:ea typeface="Cambria Math" panose="02040503050406030204" pitchFamily="18" charset="0"/>
                        </a:rPr>
                        <m:t>=(</m:t>
                      </m:r>
                      <m:r>
                        <a:rPr lang="en-US" altLang="ko-KR" sz="1800" b="0" i="1" smtClean="0">
                          <a:latin typeface="Cambria Math" panose="02040503050406030204" pitchFamily="18" charset="0"/>
                          <a:ea typeface="Cambria Math" panose="02040503050406030204" pitchFamily="18" charset="0"/>
                        </a:rPr>
                        <m:t>𝑋</m:t>
                      </m:r>
                      <m:r>
                        <a:rPr lang="en-US" altLang="ko-KR" sz="1800" b="0" i="1" smtClean="0">
                          <a:latin typeface="Cambria Math" panose="02040503050406030204" pitchFamily="18" charset="0"/>
                          <a:ea typeface="Cambria Math" panose="02040503050406030204" pitchFamily="18" charset="0"/>
                        </a:rPr>
                        <m:t>|0⟩)⊗(</m:t>
                      </m:r>
                      <m:r>
                        <a:rPr lang="en-US" altLang="ko-KR" sz="1800" b="0" i="1" smtClean="0">
                          <a:latin typeface="Cambria Math" panose="02040503050406030204" pitchFamily="18" charset="0"/>
                          <a:ea typeface="Cambria Math" panose="02040503050406030204" pitchFamily="18" charset="0"/>
                        </a:rPr>
                        <m:t>𝐼</m:t>
                      </m:r>
                      <m:r>
                        <a:rPr lang="en-US" altLang="ko-KR" sz="1800" b="0" i="1" smtClean="0">
                          <a:latin typeface="Cambria Math" panose="02040503050406030204" pitchFamily="18" charset="0"/>
                          <a:ea typeface="Cambria Math" panose="02040503050406030204" pitchFamily="18" charset="0"/>
                        </a:rPr>
                        <m:t>|1⟩)=|1⟩⊗|1⟩</m:t>
                      </m:r>
                    </m:oMath>
                  </m:oMathPara>
                </a14:m>
                <a:endParaRPr lang="en-US" altLang="ko-KR" sz="1800" dirty="0" smtClean="0"/>
              </a:p>
              <a:p>
                <a:pPr marL="0" indent="0">
                  <a:buNone/>
                </a:pPr>
                <a:endParaRPr lang="en-US" altLang="ko-KR" sz="1400" dirty="0" smtClean="0"/>
              </a:p>
              <a:p>
                <a:pPr marL="0" indent="0">
                  <a:buNone/>
                </a:pPr>
                <a:r>
                  <a:rPr lang="en-US" altLang="ko-KR" sz="1400" dirty="0" smtClean="0"/>
                  <a:t>or in a more involved way:</a:t>
                </a:r>
                <a:endParaRPr lang="en-US" altLang="ko-KR" sz="1400" dirty="0"/>
              </a:p>
              <a:p>
                <a:pPr marL="0" indent="0">
                  <a:buNone/>
                </a:pPr>
                <a14:m>
                  <m:oMathPara xmlns:m="http://schemas.openxmlformats.org/officeDocument/2006/math">
                    <m:oMathParaPr>
                      <m:jc m:val="centerGroup"/>
                    </m:oMathParaPr>
                    <m:oMath xmlns:m="http://schemas.openxmlformats.org/officeDocument/2006/math">
                      <m:d>
                        <m:dPr>
                          <m:ctrlPr>
                            <a:rPr lang="en-US" altLang="ko-KR" sz="1400" b="0" i="1" smtClean="0">
                              <a:latin typeface="Cambria Math" panose="02040503050406030204" pitchFamily="18" charset="0"/>
                              <a:ea typeface="Cambria Math" panose="02040503050406030204" pitchFamily="18" charset="0"/>
                            </a:rPr>
                          </m:ctrlPr>
                        </m:dPr>
                        <m:e>
                          <m:r>
                            <a:rPr lang="en-US" altLang="ko-KR" sz="1400" b="0" i="1">
                              <a:latin typeface="Cambria Math" panose="02040503050406030204" pitchFamily="18" charset="0"/>
                              <a:ea typeface="Cambria Math" panose="02040503050406030204" pitchFamily="18" charset="0"/>
                            </a:rPr>
                            <m:t>𝑋</m:t>
                          </m:r>
                          <m:r>
                            <a:rPr lang="en-CA" altLang="ko-KR" sz="1400" b="0" i="1">
                              <a:latin typeface="Cambria Math" panose="02040503050406030204" pitchFamily="18" charset="0"/>
                              <a:ea typeface="Cambria Math" panose="02040503050406030204" pitchFamily="18" charset="0"/>
                            </a:rPr>
                            <m:t>⊗</m:t>
                          </m:r>
                          <m:r>
                            <a:rPr lang="en-CA" altLang="ko-KR" sz="1400" b="0" i="1">
                              <a:latin typeface="Cambria Math" panose="02040503050406030204" pitchFamily="18" charset="0"/>
                              <a:ea typeface="Cambria Math" panose="02040503050406030204" pitchFamily="18" charset="0"/>
                            </a:rPr>
                            <m:t>𝐼</m:t>
                          </m:r>
                        </m:e>
                      </m:d>
                      <m:d>
                        <m:dPr>
                          <m:begChr m:val="|"/>
                          <m:endChr m:val="⟩"/>
                          <m:ctrlPr>
                            <a:rPr lang="en-US" altLang="ko-KR" sz="1400" i="1">
                              <a:latin typeface="Cambria Math" panose="02040503050406030204" pitchFamily="18" charset="0"/>
                              <a:ea typeface="Cambria Math" panose="02040503050406030204" pitchFamily="18" charset="0"/>
                            </a:rPr>
                          </m:ctrlPr>
                        </m:dPr>
                        <m:e>
                          <m:r>
                            <a:rPr lang="en-US" altLang="ko-KR" sz="1400" i="1">
                              <a:latin typeface="Cambria Math" panose="02040503050406030204" pitchFamily="18" charset="0"/>
                              <a:ea typeface="Cambria Math" panose="02040503050406030204" pitchFamily="18" charset="0"/>
                            </a:rPr>
                            <m:t>0</m:t>
                          </m:r>
                        </m:e>
                      </m:d>
                      <m:r>
                        <a:rPr lang="en-US" altLang="ko-KR" sz="1400" i="1">
                          <a:latin typeface="Cambria Math" panose="02040503050406030204" pitchFamily="18" charset="0"/>
                          <a:ea typeface="Cambria Math" panose="02040503050406030204" pitchFamily="18" charset="0"/>
                        </a:rPr>
                        <m:t>⊗</m:t>
                      </m:r>
                      <m:d>
                        <m:dPr>
                          <m:begChr m:val="|"/>
                          <m:endChr m:val="⟩"/>
                          <m:ctrlPr>
                            <a:rPr lang="en-US" altLang="ko-KR" sz="1400" i="1">
                              <a:latin typeface="Cambria Math" panose="02040503050406030204" pitchFamily="18" charset="0"/>
                              <a:ea typeface="Cambria Math" panose="02040503050406030204" pitchFamily="18" charset="0"/>
                            </a:rPr>
                          </m:ctrlPr>
                        </m:dPr>
                        <m:e>
                          <m:r>
                            <a:rPr lang="en-US" altLang="ko-KR" sz="1400" i="1">
                              <a:latin typeface="Cambria Math" panose="02040503050406030204" pitchFamily="18" charset="0"/>
                              <a:ea typeface="Cambria Math" panose="02040503050406030204" pitchFamily="18" charset="0"/>
                            </a:rPr>
                            <m:t>1</m:t>
                          </m:r>
                        </m:e>
                      </m:d>
                      <m:r>
                        <a:rPr lang="en-US" altLang="ko-KR" sz="1400" b="0" i="1">
                          <a:latin typeface="Cambria Math" panose="02040503050406030204" pitchFamily="18" charset="0"/>
                          <a:ea typeface="Cambria Math" panose="02040503050406030204" pitchFamily="18" charset="0"/>
                        </a:rPr>
                        <m:t>=</m:t>
                      </m:r>
                      <m:d>
                        <m:dPr>
                          <m:ctrlPr>
                            <a:rPr lang="en-US" altLang="ko-KR" sz="1400" b="0" i="1" smtClean="0">
                              <a:latin typeface="Cambria Math" panose="02040503050406030204" pitchFamily="18" charset="0"/>
                              <a:ea typeface="Cambria Math" panose="02040503050406030204" pitchFamily="18" charset="0"/>
                            </a:rPr>
                          </m:ctrlPr>
                        </m:dPr>
                        <m:e>
                          <m:d>
                            <m:dPr>
                              <m:ctrlPr>
                                <a:rPr lang="en-US" altLang="ko-KR" sz="1400" i="1">
                                  <a:latin typeface="Cambria Math" panose="02040503050406030204" pitchFamily="18" charset="0"/>
                                  <a:ea typeface="Cambria Math" panose="02040503050406030204" pitchFamily="18" charset="0"/>
                                </a:rPr>
                              </m:ctrlPr>
                            </m:dPr>
                            <m:e>
                              <m:m>
                                <m:mPr>
                                  <m:mcs>
                                    <m:mc>
                                      <m:mcPr>
                                        <m:count m:val="2"/>
                                        <m:mcJc m:val="center"/>
                                      </m:mcPr>
                                    </m:mc>
                                  </m:mcs>
                                  <m:ctrlPr>
                                    <a:rPr lang="en-US" altLang="ko-KR" sz="1400" i="1">
                                      <a:latin typeface="Cambria Math" panose="02040503050406030204" pitchFamily="18" charset="0"/>
                                      <a:ea typeface="Cambria Math" panose="02040503050406030204" pitchFamily="18" charset="0"/>
                                    </a:rPr>
                                  </m:ctrlPr>
                                </m:mPr>
                                <m:mr>
                                  <m:e>
                                    <m:r>
                                      <m:rPr>
                                        <m:brk m:alnAt="7"/>
                                      </m:rPr>
                                      <a:rPr lang="en-US" altLang="ko-KR" sz="1400" b="0" i="1">
                                        <a:latin typeface="Cambria Math" panose="02040503050406030204" pitchFamily="18" charset="0"/>
                                        <a:ea typeface="Cambria Math" panose="02040503050406030204" pitchFamily="18" charset="0"/>
                                      </a:rPr>
                                      <m:t>0</m:t>
                                    </m:r>
                                  </m:e>
                                  <m:e>
                                    <m:r>
                                      <a:rPr lang="en-US" altLang="ko-KR" sz="1400" b="0" i="1">
                                        <a:latin typeface="Cambria Math" panose="02040503050406030204" pitchFamily="18" charset="0"/>
                                        <a:ea typeface="Cambria Math" panose="02040503050406030204" pitchFamily="18" charset="0"/>
                                      </a:rPr>
                                      <m:t>1</m:t>
                                    </m:r>
                                  </m:e>
                                </m:mr>
                                <m:mr>
                                  <m:e>
                                    <m:r>
                                      <a:rPr lang="en-US" altLang="ko-KR" sz="1400" b="0" i="1">
                                        <a:latin typeface="Cambria Math" panose="02040503050406030204" pitchFamily="18" charset="0"/>
                                        <a:ea typeface="Cambria Math" panose="02040503050406030204" pitchFamily="18" charset="0"/>
                                      </a:rPr>
                                      <m:t>1</m:t>
                                    </m:r>
                                  </m:e>
                                  <m:e>
                                    <m:r>
                                      <a:rPr lang="en-US" altLang="ko-KR" sz="1400" b="0" i="1">
                                        <a:latin typeface="Cambria Math" panose="02040503050406030204" pitchFamily="18" charset="0"/>
                                        <a:ea typeface="Cambria Math" panose="02040503050406030204" pitchFamily="18" charset="0"/>
                                      </a:rPr>
                                      <m:t>0</m:t>
                                    </m:r>
                                  </m:e>
                                </m:mr>
                              </m:m>
                            </m:e>
                          </m:d>
                          <m:r>
                            <a:rPr lang="en-US" altLang="ko-KR" sz="1400" b="0" i="1">
                              <a:latin typeface="Cambria Math" panose="02040503050406030204" pitchFamily="18" charset="0"/>
                              <a:ea typeface="Cambria Math" panose="02040503050406030204" pitchFamily="18" charset="0"/>
                            </a:rPr>
                            <m:t>⊗</m:t>
                          </m:r>
                          <m:d>
                            <m:dPr>
                              <m:ctrlPr>
                                <a:rPr lang="en-US" altLang="ko-KR" sz="1400" i="1">
                                  <a:latin typeface="Cambria Math" panose="02040503050406030204" pitchFamily="18" charset="0"/>
                                  <a:ea typeface="Cambria Math" panose="02040503050406030204" pitchFamily="18" charset="0"/>
                                </a:rPr>
                              </m:ctrlPr>
                            </m:dPr>
                            <m:e>
                              <m:m>
                                <m:mPr>
                                  <m:mcs>
                                    <m:mc>
                                      <m:mcPr>
                                        <m:count m:val="2"/>
                                        <m:mcJc m:val="center"/>
                                      </m:mcPr>
                                    </m:mc>
                                  </m:mcs>
                                  <m:ctrlPr>
                                    <a:rPr lang="en-US" altLang="ko-KR" sz="1400" i="1">
                                      <a:latin typeface="Cambria Math" panose="02040503050406030204" pitchFamily="18" charset="0"/>
                                      <a:ea typeface="Cambria Math" panose="02040503050406030204" pitchFamily="18" charset="0"/>
                                    </a:rPr>
                                  </m:ctrlPr>
                                </m:mPr>
                                <m:mr>
                                  <m:e>
                                    <m:r>
                                      <a:rPr lang="en-US" altLang="ko-KR" sz="1400" b="0" i="1">
                                        <a:latin typeface="Cambria Math" panose="02040503050406030204" pitchFamily="18" charset="0"/>
                                        <a:ea typeface="Cambria Math" panose="02040503050406030204" pitchFamily="18" charset="0"/>
                                      </a:rPr>
                                      <m:t>1</m:t>
                                    </m:r>
                                  </m:e>
                                  <m:e>
                                    <m:r>
                                      <a:rPr lang="en-US" altLang="ko-KR" sz="1400" b="0" i="1">
                                        <a:latin typeface="Cambria Math" panose="02040503050406030204" pitchFamily="18" charset="0"/>
                                        <a:ea typeface="Cambria Math" panose="02040503050406030204" pitchFamily="18" charset="0"/>
                                      </a:rPr>
                                      <m:t>0</m:t>
                                    </m:r>
                                  </m:e>
                                </m:mr>
                                <m:mr>
                                  <m:e>
                                    <m:r>
                                      <a:rPr lang="en-US" altLang="ko-KR" sz="1400" b="0" i="1">
                                        <a:latin typeface="Cambria Math" panose="02040503050406030204" pitchFamily="18" charset="0"/>
                                        <a:ea typeface="Cambria Math" panose="02040503050406030204" pitchFamily="18" charset="0"/>
                                      </a:rPr>
                                      <m:t>0</m:t>
                                    </m:r>
                                  </m:e>
                                  <m:e>
                                    <m:r>
                                      <a:rPr lang="en-US" altLang="ko-KR" sz="1400" b="0" i="1">
                                        <a:latin typeface="Cambria Math" panose="02040503050406030204" pitchFamily="18" charset="0"/>
                                        <a:ea typeface="Cambria Math" panose="02040503050406030204" pitchFamily="18" charset="0"/>
                                      </a:rPr>
                                      <m:t>1</m:t>
                                    </m:r>
                                  </m:e>
                                </m:mr>
                              </m:m>
                            </m:e>
                          </m:d>
                        </m:e>
                      </m:d>
                      <m:d>
                        <m:dPr>
                          <m:ctrlPr>
                            <a:rPr lang="en-US" altLang="ko-KR" sz="1400" i="1" smtClean="0">
                              <a:solidFill>
                                <a:schemeClr val="tx1"/>
                              </a:solidFill>
                              <a:latin typeface="Cambria Math" panose="02040503050406030204" pitchFamily="18" charset="0"/>
                              <a:ea typeface="Cambria Math" panose="02040503050406030204" pitchFamily="18" charset="0"/>
                            </a:rPr>
                          </m:ctrlPr>
                        </m:dPr>
                        <m:e>
                          <m:eqArr>
                            <m:eqArrPr>
                              <m:ctrlPr>
                                <a:rPr lang="en-US" altLang="ko-KR" sz="1400" i="1">
                                  <a:solidFill>
                                    <a:schemeClr val="tx1"/>
                                  </a:solidFill>
                                  <a:latin typeface="Cambria Math" panose="02040503050406030204" pitchFamily="18" charset="0"/>
                                  <a:ea typeface="Cambria Math" panose="02040503050406030204" pitchFamily="18" charset="0"/>
                                </a:rPr>
                              </m:ctrlPr>
                            </m:eqArrPr>
                            <m:e>
                              <m:r>
                                <a:rPr lang="en-US" altLang="ko-KR" sz="1400" b="0" i="1">
                                  <a:solidFill>
                                    <a:schemeClr val="tx1"/>
                                  </a:solidFill>
                                  <a:latin typeface="Cambria Math" panose="02040503050406030204" pitchFamily="18" charset="0"/>
                                  <a:ea typeface="Cambria Math" panose="02040503050406030204" pitchFamily="18" charset="0"/>
                                </a:rPr>
                                <m:t>1</m:t>
                              </m:r>
                            </m:e>
                            <m:e>
                              <m:r>
                                <a:rPr lang="en-US" altLang="ko-KR" sz="1400" b="0" i="1">
                                  <a:solidFill>
                                    <a:schemeClr val="tx1"/>
                                  </a:solidFill>
                                  <a:latin typeface="Cambria Math" panose="02040503050406030204" pitchFamily="18" charset="0"/>
                                  <a:ea typeface="Cambria Math" panose="02040503050406030204" pitchFamily="18" charset="0"/>
                                </a:rPr>
                                <m:t>0</m:t>
                              </m:r>
                            </m:e>
                          </m:eqArr>
                        </m:e>
                      </m:d>
                      <m:r>
                        <a:rPr lang="en-US" altLang="ko-KR" sz="1400" b="0" i="1">
                          <a:solidFill>
                            <a:schemeClr val="tx1"/>
                          </a:solidFill>
                          <a:latin typeface="Cambria Math" panose="02040503050406030204" pitchFamily="18" charset="0"/>
                          <a:ea typeface="Cambria Math" panose="02040503050406030204" pitchFamily="18" charset="0"/>
                        </a:rPr>
                        <m:t>⊗</m:t>
                      </m:r>
                      <m:d>
                        <m:dPr>
                          <m:ctrlPr>
                            <a:rPr lang="en-US" altLang="ko-KR" sz="1400" i="1">
                              <a:solidFill>
                                <a:schemeClr val="tx1"/>
                              </a:solidFill>
                              <a:latin typeface="Cambria Math" panose="02040503050406030204" pitchFamily="18" charset="0"/>
                              <a:ea typeface="Cambria Math" panose="02040503050406030204" pitchFamily="18" charset="0"/>
                            </a:rPr>
                          </m:ctrlPr>
                        </m:dPr>
                        <m:e>
                          <m:eqArr>
                            <m:eqArrPr>
                              <m:ctrlPr>
                                <a:rPr lang="en-US" altLang="ko-KR" sz="1400" i="1">
                                  <a:solidFill>
                                    <a:schemeClr val="tx1"/>
                                  </a:solidFill>
                                  <a:latin typeface="Cambria Math" panose="02040503050406030204" pitchFamily="18" charset="0"/>
                                  <a:ea typeface="Cambria Math" panose="02040503050406030204" pitchFamily="18" charset="0"/>
                                </a:rPr>
                              </m:ctrlPr>
                            </m:eqArrPr>
                            <m:e>
                              <m:r>
                                <a:rPr lang="en-US" altLang="ko-KR" sz="1400" b="0" i="1">
                                  <a:solidFill>
                                    <a:schemeClr val="tx1"/>
                                  </a:solidFill>
                                  <a:latin typeface="Cambria Math" panose="02040503050406030204" pitchFamily="18" charset="0"/>
                                  <a:ea typeface="Cambria Math" panose="02040503050406030204" pitchFamily="18" charset="0"/>
                                </a:rPr>
                                <m:t>0</m:t>
                              </m:r>
                            </m:e>
                            <m:e>
                              <m:r>
                                <a:rPr lang="en-US" altLang="ko-KR" sz="1400" b="0" i="1">
                                  <a:solidFill>
                                    <a:schemeClr val="tx1"/>
                                  </a:solidFill>
                                  <a:latin typeface="Cambria Math" panose="02040503050406030204" pitchFamily="18" charset="0"/>
                                  <a:ea typeface="Cambria Math" panose="02040503050406030204" pitchFamily="18" charset="0"/>
                                </a:rPr>
                                <m:t>1</m:t>
                              </m:r>
                            </m:e>
                          </m:eqArr>
                        </m:e>
                      </m:d>
                      <m:r>
                        <a:rPr lang="en-US" altLang="ko-KR" sz="1400" b="0" i="1">
                          <a:latin typeface="Cambria Math" panose="02040503050406030204" pitchFamily="18" charset="0"/>
                          <a:ea typeface="Cambria Math" panose="02040503050406030204" pitchFamily="18" charset="0"/>
                        </a:rPr>
                        <m:t>=</m:t>
                      </m:r>
                      <m:d>
                        <m:dPr>
                          <m:ctrlPr>
                            <a:rPr lang="en-US" altLang="ko-KR" sz="1400" i="1">
                              <a:latin typeface="Cambria Math" panose="02040503050406030204" pitchFamily="18" charset="0"/>
                              <a:ea typeface="Cambria Math" panose="02040503050406030204" pitchFamily="18" charset="0"/>
                            </a:rPr>
                          </m:ctrlPr>
                        </m:dPr>
                        <m:e>
                          <m:m>
                            <m:mPr>
                              <m:mcs>
                                <m:mc>
                                  <m:mcPr>
                                    <m:count m:val="2"/>
                                    <m:mcJc m:val="center"/>
                                  </m:mcPr>
                                </m:mc>
                              </m:mcs>
                              <m:ctrlPr>
                                <a:rPr lang="en-US" altLang="ko-KR" sz="1400" i="1">
                                  <a:latin typeface="Cambria Math" panose="02040503050406030204" pitchFamily="18" charset="0"/>
                                  <a:ea typeface="Cambria Math" panose="02040503050406030204" pitchFamily="18" charset="0"/>
                                </a:rPr>
                              </m:ctrlPr>
                            </m:mPr>
                            <m:mr>
                              <m:e>
                                <m:m>
                                  <m:mPr>
                                    <m:mcs>
                                      <m:mc>
                                        <m:mcPr>
                                          <m:count m:val="2"/>
                                          <m:mcJc m:val="center"/>
                                        </m:mcPr>
                                      </m:mc>
                                    </m:mcs>
                                    <m:ctrlPr>
                                      <a:rPr lang="en-US" altLang="ko-KR" sz="1400" i="1">
                                        <a:latin typeface="Cambria Math" panose="02040503050406030204" pitchFamily="18" charset="0"/>
                                        <a:ea typeface="Cambria Math" panose="02040503050406030204" pitchFamily="18" charset="0"/>
                                      </a:rPr>
                                    </m:ctrlPr>
                                  </m:mPr>
                                  <m:mr>
                                    <m:e/>
                                    <m:e/>
                                  </m:mr>
                                  <m:mr>
                                    <m:e/>
                                    <m:e/>
                                  </m:mr>
                                </m:m>
                              </m:e>
                              <m:e>
                                <m:m>
                                  <m:mPr>
                                    <m:mcs>
                                      <m:mc>
                                        <m:mcPr>
                                          <m:count m:val="2"/>
                                          <m:mcJc m:val="center"/>
                                        </m:mcPr>
                                      </m:mc>
                                    </m:mcs>
                                    <m:ctrlPr>
                                      <a:rPr lang="en-US" altLang="ko-KR" sz="1400" i="1">
                                        <a:latin typeface="Cambria Math" panose="02040503050406030204" pitchFamily="18" charset="0"/>
                                        <a:ea typeface="Cambria Math" panose="02040503050406030204" pitchFamily="18" charset="0"/>
                                      </a:rPr>
                                    </m:ctrlPr>
                                  </m:mPr>
                                  <m:mr>
                                    <m:e>
                                      <m:r>
                                        <m:rPr>
                                          <m:brk m:alnAt="7"/>
                                        </m:rPr>
                                        <a:rPr lang="en-CA" altLang="ko-KR" sz="1400" b="0" i="1">
                                          <a:latin typeface="Cambria Math" panose="02040503050406030204" pitchFamily="18" charset="0"/>
                                          <a:ea typeface="Cambria Math" panose="02040503050406030204" pitchFamily="18" charset="0"/>
                                        </a:rPr>
                                        <m:t>1</m:t>
                                      </m:r>
                                    </m:e>
                                    <m:e>
                                      <m:r>
                                        <a:rPr lang="en-CA" altLang="ko-KR" sz="1400" b="0" i="1">
                                          <a:latin typeface="Cambria Math" panose="02040503050406030204" pitchFamily="18" charset="0"/>
                                          <a:ea typeface="Cambria Math" panose="02040503050406030204" pitchFamily="18" charset="0"/>
                                        </a:rPr>
                                        <m:t>0</m:t>
                                      </m:r>
                                    </m:e>
                                  </m:mr>
                                  <m:mr>
                                    <m:e>
                                      <m:r>
                                        <a:rPr lang="en-CA" altLang="ko-KR" sz="1400" b="0" i="1">
                                          <a:latin typeface="Cambria Math" panose="02040503050406030204" pitchFamily="18" charset="0"/>
                                          <a:ea typeface="Cambria Math" panose="02040503050406030204" pitchFamily="18" charset="0"/>
                                        </a:rPr>
                                        <m:t>0</m:t>
                                      </m:r>
                                    </m:e>
                                    <m:e>
                                      <m:r>
                                        <a:rPr lang="en-CA" altLang="ko-KR" sz="1400" b="0" i="1">
                                          <a:latin typeface="Cambria Math" panose="02040503050406030204" pitchFamily="18" charset="0"/>
                                          <a:ea typeface="Cambria Math" panose="02040503050406030204" pitchFamily="18" charset="0"/>
                                        </a:rPr>
                                        <m:t>1</m:t>
                                      </m:r>
                                    </m:e>
                                  </m:mr>
                                </m:m>
                              </m:e>
                            </m:mr>
                            <m:mr>
                              <m:e>
                                <m:m>
                                  <m:mPr>
                                    <m:mcs>
                                      <m:mc>
                                        <m:mcPr>
                                          <m:count m:val="2"/>
                                          <m:mcJc m:val="center"/>
                                        </m:mcPr>
                                      </m:mc>
                                    </m:mcs>
                                    <m:ctrlPr>
                                      <a:rPr lang="en-US" altLang="ko-KR" sz="1400" i="1">
                                        <a:latin typeface="Cambria Math" panose="02040503050406030204" pitchFamily="18" charset="0"/>
                                        <a:ea typeface="Cambria Math" panose="02040503050406030204" pitchFamily="18" charset="0"/>
                                      </a:rPr>
                                    </m:ctrlPr>
                                  </m:mPr>
                                  <m:mr>
                                    <m:e>
                                      <m:r>
                                        <m:rPr>
                                          <m:brk m:alnAt="7"/>
                                        </m:rPr>
                                        <a:rPr lang="en-CA" altLang="ko-KR" sz="1400" b="0" i="1">
                                          <a:latin typeface="Cambria Math" panose="02040503050406030204" pitchFamily="18" charset="0"/>
                                          <a:ea typeface="Cambria Math" panose="02040503050406030204" pitchFamily="18" charset="0"/>
                                        </a:rPr>
                                        <m:t>1</m:t>
                                      </m:r>
                                    </m:e>
                                    <m:e>
                                      <m:r>
                                        <a:rPr lang="en-CA" altLang="ko-KR" sz="1400" b="0" i="1">
                                          <a:latin typeface="Cambria Math" panose="02040503050406030204" pitchFamily="18" charset="0"/>
                                          <a:ea typeface="Cambria Math" panose="02040503050406030204" pitchFamily="18" charset="0"/>
                                        </a:rPr>
                                        <m:t>0</m:t>
                                      </m:r>
                                    </m:e>
                                  </m:mr>
                                  <m:mr>
                                    <m:e>
                                      <m:r>
                                        <a:rPr lang="en-CA" altLang="ko-KR" sz="1400" b="0" i="1">
                                          <a:latin typeface="Cambria Math" panose="02040503050406030204" pitchFamily="18" charset="0"/>
                                          <a:ea typeface="Cambria Math" panose="02040503050406030204" pitchFamily="18" charset="0"/>
                                        </a:rPr>
                                        <m:t>0</m:t>
                                      </m:r>
                                    </m:e>
                                    <m:e>
                                      <m:r>
                                        <a:rPr lang="en-CA" altLang="ko-KR" sz="1400" b="0" i="1">
                                          <a:latin typeface="Cambria Math" panose="02040503050406030204" pitchFamily="18" charset="0"/>
                                          <a:ea typeface="Cambria Math" panose="02040503050406030204" pitchFamily="18" charset="0"/>
                                        </a:rPr>
                                        <m:t>1</m:t>
                                      </m:r>
                                    </m:e>
                                  </m:mr>
                                </m:m>
                              </m:e>
                              <m:e>
                                <m:m>
                                  <m:mPr>
                                    <m:mcs>
                                      <m:mc>
                                        <m:mcPr>
                                          <m:count m:val="2"/>
                                          <m:mcJc m:val="center"/>
                                        </m:mcPr>
                                      </m:mc>
                                    </m:mcs>
                                    <m:ctrlPr>
                                      <a:rPr lang="en-US" altLang="ko-KR" sz="1400" i="1">
                                        <a:latin typeface="Cambria Math" panose="02040503050406030204" pitchFamily="18" charset="0"/>
                                        <a:ea typeface="Cambria Math" panose="02040503050406030204" pitchFamily="18" charset="0"/>
                                      </a:rPr>
                                    </m:ctrlPr>
                                  </m:mPr>
                                  <m:mr>
                                    <m:e/>
                                    <m:e/>
                                  </m:mr>
                                  <m:mr>
                                    <m:e/>
                                    <m:e/>
                                  </m:mr>
                                </m:m>
                              </m:e>
                            </m:mr>
                          </m:m>
                        </m:e>
                      </m:d>
                      <m:d>
                        <m:dPr>
                          <m:ctrlPr>
                            <a:rPr lang="en-US" altLang="ko-KR" sz="1400" i="1">
                              <a:latin typeface="Cambria Math" panose="02040503050406030204" pitchFamily="18" charset="0"/>
                              <a:ea typeface="Cambria Math" panose="02040503050406030204" pitchFamily="18" charset="0"/>
                            </a:rPr>
                          </m:ctrlPr>
                        </m:dPr>
                        <m:e>
                          <m:m>
                            <m:mPr>
                              <m:mcs>
                                <m:mc>
                                  <m:mcPr>
                                    <m:count m:val="1"/>
                                    <m:mcJc m:val="center"/>
                                  </m:mcPr>
                                </m:mc>
                              </m:mcs>
                              <m:ctrlPr>
                                <a:rPr lang="en-US" altLang="ko-KR" sz="1400" i="1">
                                  <a:latin typeface="Cambria Math" panose="02040503050406030204" pitchFamily="18" charset="0"/>
                                  <a:ea typeface="Cambria Math" panose="02040503050406030204" pitchFamily="18" charset="0"/>
                                </a:rPr>
                              </m:ctrlPr>
                            </m:mPr>
                            <m:mr>
                              <m:e>
                                <m:r>
                                  <m:rPr>
                                    <m:brk m:alnAt="7"/>
                                  </m:rPr>
                                  <a:rPr lang="en-US" altLang="ko-KR" sz="1400" i="1">
                                    <a:latin typeface="Cambria Math" panose="02040503050406030204" pitchFamily="18" charset="0"/>
                                    <a:ea typeface="Cambria Math" panose="02040503050406030204" pitchFamily="18" charset="0"/>
                                  </a:rPr>
                                  <m:t>0</m:t>
                                </m:r>
                              </m:e>
                            </m:mr>
                            <m:mr>
                              <m:e>
                                <m:r>
                                  <a:rPr lang="en-US" altLang="ko-KR" sz="1400" i="1">
                                    <a:latin typeface="Cambria Math" panose="02040503050406030204" pitchFamily="18" charset="0"/>
                                    <a:ea typeface="Cambria Math" panose="02040503050406030204" pitchFamily="18" charset="0"/>
                                  </a:rPr>
                                  <m:t>1</m:t>
                                </m:r>
                              </m:e>
                            </m:mr>
                            <m:mr>
                              <m:e>
                                <m:eqArr>
                                  <m:eqArrPr>
                                    <m:ctrlPr>
                                      <a:rPr lang="en-US" altLang="ko-KR" sz="1400" i="1">
                                        <a:latin typeface="Cambria Math" panose="02040503050406030204" pitchFamily="18" charset="0"/>
                                        <a:ea typeface="Cambria Math" panose="02040503050406030204" pitchFamily="18" charset="0"/>
                                      </a:rPr>
                                    </m:ctrlPr>
                                  </m:eqArrPr>
                                  <m:e>
                                    <m:r>
                                      <a:rPr lang="en-US" altLang="ko-KR" sz="1400" i="1">
                                        <a:latin typeface="Cambria Math" panose="02040503050406030204" pitchFamily="18" charset="0"/>
                                        <a:ea typeface="Cambria Math" panose="02040503050406030204" pitchFamily="18" charset="0"/>
                                      </a:rPr>
                                      <m:t>0</m:t>
                                    </m:r>
                                  </m:e>
                                  <m:e>
                                    <m:r>
                                      <a:rPr lang="en-US" altLang="ko-KR" sz="1400" i="1">
                                        <a:latin typeface="Cambria Math" panose="02040503050406030204" pitchFamily="18" charset="0"/>
                                      </a:rPr>
                                      <m:t>0</m:t>
                                    </m:r>
                                  </m:e>
                                </m:eqArr>
                              </m:e>
                            </m:mr>
                          </m:m>
                        </m:e>
                      </m:d>
                    </m:oMath>
                  </m:oMathPara>
                </a14:m>
                <a:endParaRPr lang="en-US" altLang="ko-KR" sz="140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ko-KR" sz="1400" b="0" i="1" smtClean="0">
                          <a:latin typeface="Cambria Math" panose="02040503050406030204" pitchFamily="18" charset="0"/>
                        </a:rPr>
                        <m:t>=</m:t>
                      </m:r>
                      <m:d>
                        <m:dPr>
                          <m:ctrlPr>
                            <a:rPr lang="en-US" altLang="ko-KR" sz="1400" i="1">
                              <a:latin typeface="Cambria Math" panose="02040503050406030204" pitchFamily="18" charset="0"/>
                              <a:ea typeface="Cambria Math" panose="02040503050406030204" pitchFamily="18" charset="0"/>
                            </a:rPr>
                          </m:ctrlPr>
                        </m:dPr>
                        <m:e>
                          <m:m>
                            <m:mPr>
                              <m:mcs>
                                <m:mc>
                                  <m:mcPr>
                                    <m:count m:val="1"/>
                                    <m:mcJc m:val="center"/>
                                  </m:mcPr>
                                </m:mc>
                              </m:mcs>
                              <m:ctrlPr>
                                <a:rPr lang="en-US" altLang="ko-KR" sz="1400" i="1">
                                  <a:latin typeface="Cambria Math" panose="02040503050406030204" pitchFamily="18" charset="0"/>
                                  <a:ea typeface="Cambria Math" panose="02040503050406030204" pitchFamily="18" charset="0"/>
                                </a:rPr>
                              </m:ctrlPr>
                            </m:mPr>
                            <m:mr>
                              <m:e>
                                <m:r>
                                  <m:rPr>
                                    <m:brk m:alnAt="7"/>
                                  </m:rPr>
                                  <a:rPr lang="en-US" altLang="ko-KR" sz="1400" i="1">
                                    <a:latin typeface="Cambria Math" panose="02040503050406030204" pitchFamily="18" charset="0"/>
                                    <a:ea typeface="Cambria Math" panose="02040503050406030204" pitchFamily="18" charset="0"/>
                                  </a:rPr>
                                  <m:t>0</m:t>
                                </m:r>
                              </m:e>
                            </m:mr>
                            <m:mr>
                              <m:e>
                                <m:r>
                                  <a:rPr lang="en-US" altLang="ko-KR" sz="1400" b="0" i="1" smtClean="0">
                                    <a:latin typeface="Cambria Math" panose="02040503050406030204" pitchFamily="18" charset="0"/>
                                    <a:ea typeface="Cambria Math" panose="02040503050406030204" pitchFamily="18" charset="0"/>
                                  </a:rPr>
                                  <m:t>0</m:t>
                                </m:r>
                              </m:e>
                            </m:mr>
                            <m:mr>
                              <m:e>
                                <m:eqArr>
                                  <m:eqArrPr>
                                    <m:ctrlPr>
                                      <a:rPr lang="en-US" altLang="ko-KR" sz="1400" i="1">
                                        <a:latin typeface="Cambria Math" panose="02040503050406030204" pitchFamily="18" charset="0"/>
                                        <a:ea typeface="Cambria Math" panose="02040503050406030204" pitchFamily="18" charset="0"/>
                                      </a:rPr>
                                    </m:ctrlPr>
                                  </m:eqArrPr>
                                  <m:e>
                                    <m:r>
                                      <a:rPr lang="en-US" altLang="ko-KR" sz="1400" i="1">
                                        <a:latin typeface="Cambria Math" panose="02040503050406030204" pitchFamily="18" charset="0"/>
                                        <a:ea typeface="Cambria Math" panose="02040503050406030204" pitchFamily="18" charset="0"/>
                                      </a:rPr>
                                      <m:t>0</m:t>
                                    </m:r>
                                  </m:e>
                                  <m:e>
                                    <m:r>
                                      <a:rPr lang="en-US" altLang="ko-KR" sz="1400" b="0" i="1" smtClean="0">
                                        <a:latin typeface="Cambria Math" panose="02040503050406030204" pitchFamily="18" charset="0"/>
                                        <a:ea typeface="Cambria Math" panose="02040503050406030204" pitchFamily="18" charset="0"/>
                                      </a:rPr>
                                      <m:t>1</m:t>
                                    </m:r>
                                  </m:e>
                                </m:eqArr>
                              </m:e>
                            </m:mr>
                          </m:m>
                        </m:e>
                      </m:d>
                      <m:r>
                        <a:rPr lang="en-US" altLang="ko-KR" sz="1400" b="0" i="1" smtClean="0">
                          <a:latin typeface="Cambria Math" panose="02040503050406030204" pitchFamily="18" charset="0"/>
                        </a:rPr>
                        <m:t>=</m:t>
                      </m:r>
                      <m:d>
                        <m:dPr>
                          <m:ctrlPr>
                            <a:rPr lang="en-US" altLang="ko-KR" sz="1400" i="1">
                              <a:latin typeface="Cambria Math" panose="02040503050406030204" pitchFamily="18" charset="0"/>
                              <a:ea typeface="Cambria Math" panose="02040503050406030204" pitchFamily="18" charset="0"/>
                            </a:rPr>
                          </m:ctrlPr>
                        </m:dPr>
                        <m:e>
                          <m:eqArr>
                            <m:eqArrPr>
                              <m:ctrlPr>
                                <a:rPr lang="en-US" altLang="ko-KR" sz="1400" i="1">
                                  <a:latin typeface="Cambria Math" panose="02040503050406030204" pitchFamily="18" charset="0"/>
                                  <a:ea typeface="Cambria Math" panose="02040503050406030204" pitchFamily="18" charset="0"/>
                                </a:rPr>
                              </m:ctrlPr>
                            </m:eqArrPr>
                            <m:e>
                              <m:r>
                                <a:rPr lang="en-US" altLang="ko-KR" sz="1400" b="0" i="1" smtClean="0">
                                  <a:latin typeface="Cambria Math" panose="02040503050406030204" pitchFamily="18" charset="0"/>
                                  <a:ea typeface="Cambria Math" panose="02040503050406030204" pitchFamily="18" charset="0"/>
                                </a:rPr>
                                <m:t>0</m:t>
                              </m:r>
                            </m:e>
                            <m:e>
                              <m:r>
                                <a:rPr lang="en-US" altLang="ko-KR" sz="1400" b="0" i="1" smtClean="0">
                                  <a:latin typeface="Cambria Math" panose="02040503050406030204" pitchFamily="18" charset="0"/>
                                  <a:ea typeface="Cambria Math" panose="02040503050406030204" pitchFamily="18" charset="0"/>
                                </a:rPr>
                                <m:t>1</m:t>
                              </m:r>
                            </m:e>
                          </m:eqArr>
                        </m:e>
                      </m:d>
                      <m:r>
                        <a:rPr lang="en-US" altLang="ko-KR" sz="1400" i="1">
                          <a:latin typeface="Cambria Math" panose="02040503050406030204" pitchFamily="18" charset="0"/>
                          <a:ea typeface="Cambria Math" panose="02040503050406030204" pitchFamily="18" charset="0"/>
                        </a:rPr>
                        <m:t>⊗</m:t>
                      </m:r>
                      <m:d>
                        <m:dPr>
                          <m:ctrlPr>
                            <a:rPr lang="en-US" altLang="ko-KR" sz="1400" i="1">
                              <a:latin typeface="Cambria Math" panose="02040503050406030204" pitchFamily="18" charset="0"/>
                              <a:ea typeface="Cambria Math" panose="02040503050406030204" pitchFamily="18" charset="0"/>
                            </a:rPr>
                          </m:ctrlPr>
                        </m:dPr>
                        <m:e>
                          <m:eqArr>
                            <m:eqArrPr>
                              <m:ctrlPr>
                                <a:rPr lang="en-US" altLang="ko-KR" sz="1400" i="1">
                                  <a:latin typeface="Cambria Math" panose="02040503050406030204" pitchFamily="18" charset="0"/>
                                  <a:ea typeface="Cambria Math" panose="02040503050406030204" pitchFamily="18" charset="0"/>
                                </a:rPr>
                              </m:ctrlPr>
                            </m:eqArrPr>
                            <m:e>
                              <m:r>
                                <a:rPr lang="en-US" altLang="ko-KR" sz="1400" i="1">
                                  <a:latin typeface="Cambria Math" panose="02040503050406030204" pitchFamily="18" charset="0"/>
                                  <a:ea typeface="Cambria Math" panose="02040503050406030204" pitchFamily="18" charset="0"/>
                                </a:rPr>
                                <m:t>0</m:t>
                              </m:r>
                            </m:e>
                            <m:e>
                              <m:r>
                                <a:rPr lang="en-US" altLang="ko-KR" sz="1400" i="1">
                                  <a:latin typeface="Cambria Math" panose="02040503050406030204" pitchFamily="18" charset="0"/>
                                  <a:ea typeface="Cambria Math" panose="02040503050406030204" pitchFamily="18" charset="0"/>
                                </a:rPr>
                                <m:t>1</m:t>
                              </m:r>
                            </m:e>
                          </m:eqArr>
                        </m:e>
                      </m:d>
                      <m:r>
                        <a:rPr lang="en-US" altLang="ko-KR" sz="1400" b="0" i="1" smtClean="0">
                          <a:latin typeface="Cambria Math" panose="02040503050406030204" pitchFamily="18" charset="0"/>
                          <a:ea typeface="Cambria Math" panose="02040503050406030204" pitchFamily="18" charset="0"/>
                        </a:rPr>
                        <m:t>=</m:t>
                      </m:r>
                      <m:d>
                        <m:dPr>
                          <m:begChr m:val="|"/>
                          <m:endChr m:val="⟩"/>
                          <m:ctrlPr>
                            <a:rPr lang="en-US" altLang="ko-KR" sz="1400" b="0" i="1" smtClean="0">
                              <a:latin typeface="Cambria Math" panose="02040503050406030204" pitchFamily="18" charset="0"/>
                              <a:ea typeface="Cambria Math" panose="02040503050406030204" pitchFamily="18" charset="0"/>
                            </a:rPr>
                          </m:ctrlPr>
                        </m:dPr>
                        <m:e>
                          <m:r>
                            <a:rPr lang="en-US" altLang="ko-KR" sz="1400" b="0" i="1" smtClean="0">
                              <a:latin typeface="Cambria Math" panose="02040503050406030204" pitchFamily="18" charset="0"/>
                              <a:ea typeface="Cambria Math" panose="02040503050406030204" pitchFamily="18" charset="0"/>
                            </a:rPr>
                            <m:t>1</m:t>
                          </m:r>
                        </m:e>
                      </m:d>
                      <m:r>
                        <a:rPr lang="en-US" altLang="ko-KR" sz="1400" b="0" i="1" smtClean="0">
                          <a:latin typeface="Cambria Math" panose="02040503050406030204" pitchFamily="18" charset="0"/>
                          <a:ea typeface="Cambria Math" panose="02040503050406030204" pitchFamily="18" charset="0"/>
                        </a:rPr>
                        <m:t>⊗|1⟩</m:t>
                      </m:r>
                    </m:oMath>
                  </m:oMathPara>
                </a14:m>
                <a:endParaRPr lang="en-US" altLang="ko-KR" sz="1400" dirty="0"/>
              </a:p>
              <a:p>
                <a:pPr marL="0" indent="0">
                  <a:buNone/>
                </a:pPr>
                <a:endParaRPr lang="en-US" altLang="ko-KR" sz="1400" dirty="0" smtClean="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a:blip r:embed="rId2"/>
                <a:stretch>
                  <a:fillRect l="-522" t="-140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506177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Last time: Reversible computing</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normAutofit/>
              </a:bodyPr>
              <a:lstStyle/>
              <a:p>
                <a:pPr marL="0" indent="0">
                  <a:buNone/>
                </a:pPr>
                <a:r>
                  <a:rPr lang="en-US" altLang="ko-KR" sz="1800" dirty="0" smtClean="0"/>
                  <a:t>A more complicated example:</a:t>
                </a:r>
              </a:p>
              <a:p>
                <a:pPr marL="0" indent="0">
                  <a:buNone/>
                </a:pPr>
                <a:endParaRPr lang="en-US" altLang="ko-KR" sz="1800" i="1" dirty="0" smtClean="0">
                  <a:latin typeface="Cambria Math" panose="02040503050406030204" pitchFamily="18" charset="0"/>
                  <a:ea typeface="Cambria Math" panose="02040503050406030204" pitchFamily="18" charset="0"/>
                </a:endParaRPr>
              </a:p>
              <a:p>
                <a:pPr marL="0" indent="0">
                  <a:buNone/>
                </a:pPr>
                <a:endParaRPr lang="en-US" altLang="ko-KR" sz="1800" i="1" dirty="0">
                  <a:latin typeface="Cambria Math" panose="02040503050406030204" pitchFamily="18" charset="0"/>
                  <a:ea typeface="Cambria Math" panose="02040503050406030204" pitchFamily="18" charset="0"/>
                </a:endParaRPr>
              </a:p>
              <a:p>
                <a:pPr marL="0" indent="0">
                  <a:buNone/>
                </a:pPr>
                <a:endParaRPr lang="en-US" altLang="ko-KR" sz="1800" i="1" dirty="0" smtClean="0">
                  <a:latin typeface="Cambria Math" panose="02040503050406030204" pitchFamily="18" charset="0"/>
                  <a:ea typeface="Cambria Math" panose="02040503050406030204" pitchFamily="18" charset="0"/>
                </a:endParaRPr>
              </a:p>
              <a:p>
                <a:pPr marL="0" indent="0">
                  <a:buNone/>
                </a:pPr>
                <a:endParaRPr lang="en-US" altLang="ko-KR" sz="1800"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𝐶𝑁𝑂𝑇</m:t>
                          </m:r>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𝐼</m:t>
                          </m:r>
                        </m:e>
                      </m:d>
                      <m:d>
                        <m:dPr>
                          <m:begChr m:val="|"/>
                          <m:endChr m:val="⟩"/>
                          <m:ctrlPr>
                            <a:rPr lang="en-US" altLang="ko-KR" sz="1800" b="0" i="1" smtClean="0">
                              <a:latin typeface="Cambria Math" panose="02040503050406030204" pitchFamily="18" charset="0"/>
                            </a:rPr>
                          </m:ctrlPr>
                        </m:dPr>
                        <m:e>
                          <m:r>
                            <a:rPr lang="en-US" altLang="ko-KR" sz="1800" b="0" i="1" smtClean="0">
                              <a:latin typeface="Cambria Math" panose="02040503050406030204" pitchFamily="18" charset="0"/>
                            </a:rPr>
                            <m:t>101</m:t>
                          </m:r>
                        </m:e>
                      </m:d>
                      <m:r>
                        <a:rPr lang="en-US" altLang="ko-KR" sz="1800" b="0" i="1" smtClean="0">
                          <a:latin typeface="Cambria Math" panose="02040503050406030204" pitchFamily="18" charset="0"/>
                        </a:rPr>
                        <m:t>=</m:t>
                      </m:r>
                      <m:r>
                        <a:rPr lang="en-US" altLang="ko-KR" sz="1800" i="1">
                          <a:latin typeface="Cambria Math" panose="02040503050406030204" pitchFamily="18" charset="0"/>
                        </a:rPr>
                        <m:t>(</m:t>
                      </m:r>
                      <m:r>
                        <a:rPr lang="en-US" altLang="ko-KR" sz="1800" i="1">
                          <a:latin typeface="Cambria Math" panose="02040503050406030204" pitchFamily="18" charset="0"/>
                        </a:rPr>
                        <m:t>𝐶𝑁𝑂𝑇</m:t>
                      </m:r>
                      <m:r>
                        <a:rPr lang="en-US" altLang="ko-KR" sz="1800" i="1">
                          <a:latin typeface="Cambria Math" panose="02040503050406030204" pitchFamily="18" charset="0"/>
                        </a:rPr>
                        <m:t>⊗</m:t>
                      </m:r>
                      <m:r>
                        <a:rPr lang="en-US" altLang="ko-KR" sz="1800" i="1">
                          <a:latin typeface="Cambria Math" panose="02040503050406030204" pitchFamily="18" charset="0"/>
                        </a:rPr>
                        <m:t>𝐼</m:t>
                      </m:r>
                      <m:r>
                        <a:rPr lang="en-US" altLang="ko-KR" sz="1800" i="1">
                          <a:latin typeface="Cambria Math" panose="02040503050406030204" pitchFamily="18" charset="0"/>
                        </a:rPr>
                        <m:t>)</m:t>
                      </m:r>
                      <m:d>
                        <m:dPr>
                          <m:begChr m:val="|"/>
                          <m:endChr m:val="⟩"/>
                          <m:ctrlPr>
                            <a:rPr lang="en-US" altLang="ko-KR" sz="1800" i="1">
                              <a:latin typeface="Cambria Math" panose="02040503050406030204" pitchFamily="18" charset="0"/>
                            </a:rPr>
                          </m:ctrlPr>
                        </m:dPr>
                        <m:e>
                          <m:r>
                            <a:rPr lang="en-US" altLang="ko-KR" sz="1800" i="1">
                              <a:latin typeface="Cambria Math" panose="02040503050406030204" pitchFamily="18" charset="0"/>
                            </a:rPr>
                            <m:t>1</m:t>
                          </m:r>
                          <m:r>
                            <a:rPr lang="en-US" altLang="ko-KR" sz="1800" b="0" i="1" smtClean="0">
                              <a:latin typeface="Cambria Math" panose="02040503050406030204" pitchFamily="18" charset="0"/>
                            </a:rPr>
                            <m:t>0</m:t>
                          </m:r>
                          <m:r>
                            <a:rPr lang="en-US" altLang="ko-KR" sz="1800" i="1">
                              <a:latin typeface="Cambria Math" panose="02040503050406030204" pitchFamily="18" charset="0"/>
                            </a:rPr>
                            <m:t>⟩</m:t>
                          </m:r>
                          <m:r>
                            <a:rPr lang="en-US" altLang="ko-KR" sz="1800" b="0" i="1" smtClean="0">
                              <a:latin typeface="Cambria Math" panose="02040503050406030204" pitchFamily="18" charset="0"/>
                            </a:rPr>
                            <m:t>⊗</m:t>
                          </m:r>
                          <m:r>
                            <a:rPr lang="en-US" altLang="ko-KR" sz="1800" i="1">
                              <a:latin typeface="Cambria Math" panose="02040503050406030204" pitchFamily="18" charset="0"/>
                            </a:rPr>
                            <m:t>|1</m:t>
                          </m:r>
                        </m:e>
                      </m:d>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𝐶𝑁𝑂𝑇</m:t>
                      </m:r>
                      <m:r>
                        <a:rPr lang="en-US" altLang="ko-KR" sz="1800" b="0" i="1" smtClean="0">
                          <a:latin typeface="Cambria Math" panose="02040503050406030204" pitchFamily="18" charset="0"/>
                        </a:rPr>
                        <m:t>|10⟩)⊗(</m:t>
                      </m:r>
                      <m:r>
                        <a:rPr lang="en-US" altLang="ko-KR" sz="1800" b="0" i="1" smtClean="0">
                          <a:latin typeface="Cambria Math" panose="02040503050406030204" pitchFamily="18" charset="0"/>
                        </a:rPr>
                        <m:t>𝐼</m:t>
                      </m:r>
                      <m:r>
                        <a:rPr lang="en-US" altLang="ko-KR" sz="1800" b="0" i="1" smtClean="0">
                          <a:latin typeface="Cambria Math" panose="02040503050406030204" pitchFamily="18" charset="0"/>
                        </a:rPr>
                        <m:t>|1⟩)=|11⟩⊗|1⟩=|111⟩</m:t>
                      </m:r>
                    </m:oMath>
                  </m:oMathPara>
                </a14:m>
                <a:endParaRPr lang="en-US" altLang="ko-KR" sz="1800" dirty="0" smtClean="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a:blip r:embed="rId2"/>
                <a:stretch>
                  <a:fillRect l="-522" t="-1401"/>
                </a:stretch>
              </a:blipFill>
            </p:spPr>
            <p:txBody>
              <a:bodyPr/>
              <a:lstStyle/>
              <a:p>
                <a:r>
                  <a:rPr lang="ko-KR" altLang="en-US">
                    <a:noFill/>
                  </a:rPr>
                  <a:t> </a:t>
                </a:r>
              </a:p>
            </p:txBody>
          </p:sp>
        </mc:Fallback>
      </mc:AlternateContent>
      <p:cxnSp>
        <p:nvCxnSpPr>
          <p:cNvPr id="4" name="Straight Connector 3">
            <a:extLst>
              <a:ext uri="{FF2B5EF4-FFF2-40B4-BE49-F238E27FC236}">
                <a16:creationId xmlns:a16="http://schemas.microsoft.com/office/drawing/2014/main" id="{B91E78E4-542E-3BF9-60EB-0A75C5E77BF2}"/>
              </a:ext>
            </a:extLst>
          </p:cNvPr>
          <p:cNvCxnSpPr>
            <a:cxnSpLocks/>
          </p:cNvCxnSpPr>
          <p:nvPr/>
        </p:nvCxnSpPr>
        <p:spPr>
          <a:xfrm>
            <a:off x="5329866" y="4375267"/>
            <a:ext cx="99543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78AB706-375B-47F7-7B59-E9A1BCEE51D6}"/>
              </a:ext>
            </a:extLst>
          </p:cNvPr>
          <p:cNvCxnSpPr>
            <a:cxnSpLocks/>
          </p:cNvCxnSpPr>
          <p:nvPr/>
        </p:nvCxnSpPr>
        <p:spPr>
          <a:xfrm>
            <a:off x="5329866" y="4756268"/>
            <a:ext cx="99543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ED5DF10-67D3-32D3-58D2-6D7F10D2B0CA}"/>
              </a:ext>
            </a:extLst>
          </p:cNvPr>
          <p:cNvCxnSpPr>
            <a:cxnSpLocks/>
          </p:cNvCxnSpPr>
          <p:nvPr/>
        </p:nvCxnSpPr>
        <p:spPr>
          <a:xfrm>
            <a:off x="5329866" y="5170605"/>
            <a:ext cx="99543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23">
            <a:extLst>
              <a:ext uri="{FF2B5EF4-FFF2-40B4-BE49-F238E27FC236}">
                <a16:creationId xmlns:a16="http://schemas.microsoft.com/office/drawing/2014/main" id="{C251F492-D539-8BC9-D978-FFDA40075D94}"/>
              </a:ext>
            </a:extLst>
          </p:cNvPr>
          <p:cNvCxnSpPr>
            <a:cxnSpLocks/>
            <a:stCxn id="8" idx="4"/>
            <a:endCxn id="9" idx="4"/>
          </p:cNvCxnSpPr>
          <p:nvPr/>
        </p:nvCxnSpPr>
        <p:spPr>
          <a:xfrm>
            <a:off x="5794232" y="4431713"/>
            <a:ext cx="4762" cy="41233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Oval 24">
            <a:extLst>
              <a:ext uri="{FF2B5EF4-FFF2-40B4-BE49-F238E27FC236}">
                <a16:creationId xmlns:a16="http://schemas.microsoft.com/office/drawing/2014/main" id="{AB8B4065-5CE1-DAA6-8A24-DE0BD66656DA}"/>
              </a:ext>
            </a:extLst>
          </p:cNvPr>
          <p:cNvSpPr/>
          <p:nvPr/>
        </p:nvSpPr>
        <p:spPr>
          <a:xfrm>
            <a:off x="5718731" y="4269321"/>
            <a:ext cx="151002" cy="162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25">
            <a:extLst>
              <a:ext uri="{FF2B5EF4-FFF2-40B4-BE49-F238E27FC236}">
                <a16:creationId xmlns:a16="http://schemas.microsoft.com/office/drawing/2014/main" id="{63A30FB8-4FBA-074B-F80B-45B299B44464}"/>
              </a:ext>
            </a:extLst>
          </p:cNvPr>
          <p:cNvSpPr/>
          <p:nvPr/>
        </p:nvSpPr>
        <p:spPr>
          <a:xfrm>
            <a:off x="5718731" y="4640561"/>
            <a:ext cx="160526" cy="20348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8">
                <a:extLst>
                  <a:ext uri="{FF2B5EF4-FFF2-40B4-BE49-F238E27FC236}">
                    <a16:creationId xmlns:a16="http://schemas.microsoft.com/office/drawing/2014/main" id="{94EE92FC-DB34-FB95-BD1E-9664133A05EE}"/>
                  </a:ext>
                </a:extLst>
              </p:cNvPr>
              <p:cNvSpPr/>
              <p:nvPr/>
            </p:nvSpPr>
            <p:spPr>
              <a:xfrm>
                <a:off x="4627397" y="419060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1</m:t>
                          </m:r>
                        </m:e>
                      </m:d>
                    </m:oMath>
                  </m:oMathPara>
                </a14:m>
                <a:endParaRPr lang="en-US" dirty="0"/>
              </a:p>
            </p:txBody>
          </p:sp>
        </mc:Choice>
        <mc:Fallback xmlns="">
          <p:sp>
            <p:nvSpPr>
              <p:cNvPr id="23"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4627397" y="4190601"/>
                <a:ext cx="521810" cy="369332"/>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4" name="Rectangle 9">
                <a:extLst>
                  <a:ext uri="{FF2B5EF4-FFF2-40B4-BE49-F238E27FC236}">
                    <a16:creationId xmlns:a16="http://schemas.microsoft.com/office/drawing/2014/main" id="{F64F9B40-394B-4E54-5D8F-165A8CCF19D8}"/>
                  </a:ext>
                </a:extLst>
              </p:cNvPr>
              <p:cNvSpPr/>
              <p:nvPr/>
            </p:nvSpPr>
            <p:spPr>
              <a:xfrm>
                <a:off x="4623002" y="4523663"/>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0</m:t>
                          </m:r>
                        </m:e>
                      </m:d>
                    </m:oMath>
                  </m:oMathPara>
                </a14:m>
                <a:endParaRPr lang="en-US" dirty="0"/>
              </a:p>
            </p:txBody>
          </p:sp>
        </mc:Choice>
        <mc:Fallback xmlns="">
          <p:sp>
            <p:nvSpPr>
              <p:cNvPr id="24" name="Rectangle 9">
                <a:extLst>
                  <a:ext uri="{FF2B5EF4-FFF2-40B4-BE49-F238E27FC236}">
                    <a16:creationId xmlns:a16="http://schemas.microsoft.com/office/drawing/2014/main" id="{F64F9B40-394B-4E54-5D8F-165A8CCF19D8}"/>
                  </a:ext>
                </a:extLst>
              </p:cNvPr>
              <p:cNvSpPr>
                <a:spLocks noRot="1" noChangeAspect="1" noMove="1" noResize="1" noEditPoints="1" noAdjustHandles="1" noChangeArrowheads="1" noChangeShapeType="1" noTextEdit="1"/>
              </p:cNvSpPr>
              <p:nvPr/>
            </p:nvSpPr>
            <p:spPr>
              <a:xfrm>
                <a:off x="4623002" y="4523663"/>
                <a:ext cx="521810" cy="369332"/>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5" name="Rectangle 10">
                <a:extLst>
                  <a:ext uri="{FF2B5EF4-FFF2-40B4-BE49-F238E27FC236}">
                    <a16:creationId xmlns:a16="http://schemas.microsoft.com/office/drawing/2014/main" id="{53ACE6CD-8D10-4730-5469-21FE42AEC36C}"/>
                  </a:ext>
                </a:extLst>
              </p:cNvPr>
              <p:cNvSpPr/>
              <p:nvPr/>
            </p:nvSpPr>
            <p:spPr>
              <a:xfrm>
                <a:off x="4627080" y="4905333"/>
                <a:ext cx="55066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US" b="0" i="1" smtClean="0">
                              <a:latin typeface="Cambria Math" panose="02040503050406030204" pitchFamily="18" charset="0"/>
                            </a:rPr>
                            <m:t>1</m:t>
                          </m:r>
                        </m:e>
                      </m:d>
                    </m:oMath>
                  </m:oMathPara>
                </a14:m>
                <a:endParaRPr lang="en-US" dirty="0"/>
              </a:p>
            </p:txBody>
          </p:sp>
        </mc:Choice>
        <mc:Fallback xmlns="">
          <p:sp>
            <p:nvSpPr>
              <p:cNvPr id="25"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4627080" y="4905333"/>
                <a:ext cx="550664" cy="369332"/>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9" name="Rectangle 8">
                <a:extLst>
                  <a:ext uri="{FF2B5EF4-FFF2-40B4-BE49-F238E27FC236}">
                    <a16:creationId xmlns:a16="http://schemas.microsoft.com/office/drawing/2014/main" id="{94EE92FC-DB34-FB95-BD1E-9664133A05EE}"/>
                  </a:ext>
                </a:extLst>
              </p:cNvPr>
              <p:cNvSpPr/>
              <p:nvPr/>
            </p:nvSpPr>
            <p:spPr>
              <a:xfrm>
                <a:off x="6325300" y="4190601"/>
                <a:ext cx="5218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CA" b="0" i="1" smtClean="0">
                              <a:latin typeface="Cambria Math" panose="02040503050406030204" pitchFamily="18" charset="0"/>
                            </a:rPr>
                            <m:t>1</m:t>
                          </m:r>
                        </m:e>
                      </m:d>
                    </m:oMath>
                  </m:oMathPara>
                </a14:m>
                <a:endParaRPr lang="en-US" dirty="0"/>
              </a:p>
            </p:txBody>
          </p:sp>
        </mc:Choice>
        <mc:Fallback xmlns="">
          <p:sp>
            <p:nvSpPr>
              <p:cNvPr id="29"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6325300" y="4190601"/>
                <a:ext cx="521810" cy="369332"/>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0" name="Rectangle 9">
                <a:extLst>
                  <a:ext uri="{FF2B5EF4-FFF2-40B4-BE49-F238E27FC236}">
                    <a16:creationId xmlns:a16="http://schemas.microsoft.com/office/drawing/2014/main" id="{F64F9B40-394B-4E54-5D8F-165A8CCF19D8}"/>
                  </a:ext>
                </a:extLst>
              </p:cNvPr>
              <p:cNvSpPr/>
              <p:nvPr/>
            </p:nvSpPr>
            <p:spPr>
              <a:xfrm>
                <a:off x="6320905" y="4523663"/>
                <a:ext cx="55066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US" b="0" i="1" smtClean="0">
                              <a:latin typeface="Cambria Math" panose="02040503050406030204" pitchFamily="18" charset="0"/>
                            </a:rPr>
                            <m:t>1</m:t>
                          </m:r>
                        </m:e>
                      </m:d>
                    </m:oMath>
                  </m:oMathPara>
                </a14:m>
                <a:endParaRPr lang="en-US" dirty="0"/>
              </a:p>
            </p:txBody>
          </p:sp>
        </mc:Choice>
        <mc:Fallback xmlns="">
          <p:sp>
            <p:nvSpPr>
              <p:cNvPr id="30" name="Rectangle 9">
                <a:extLst>
                  <a:ext uri="{FF2B5EF4-FFF2-40B4-BE49-F238E27FC236}">
                    <a16:creationId xmlns:a16="http://schemas.microsoft.com/office/drawing/2014/main" id="{F64F9B40-394B-4E54-5D8F-165A8CCF19D8}"/>
                  </a:ext>
                </a:extLst>
              </p:cNvPr>
              <p:cNvSpPr>
                <a:spLocks noRot="1" noChangeAspect="1" noMove="1" noResize="1" noEditPoints="1" noAdjustHandles="1" noChangeArrowheads="1" noChangeShapeType="1" noTextEdit="1"/>
              </p:cNvSpPr>
              <p:nvPr/>
            </p:nvSpPr>
            <p:spPr>
              <a:xfrm>
                <a:off x="6320905" y="4523663"/>
                <a:ext cx="550664" cy="369332"/>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1" name="Rectangle 10">
                <a:extLst>
                  <a:ext uri="{FF2B5EF4-FFF2-40B4-BE49-F238E27FC236}">
                    <a16:creationId xmlns:a16="http://schemas.microsoft.com/office/drawing/2014/main" id="{53ACE6CD-8D10-4730-5469-21FE42AEC36C}"/>
                  </a:ext>
                </a:extLst>
              </p:cNvPr>
              <p:cNvSpPr/>
              <p:nvPr/>
            </p:nvSpPr>
            <p:spPr>
              <a:xfrm>
                <a:off x="6324983" y="4905333"/>
                <a:ext cx="55066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i="1" smtClean="0">
                              <a:latin typeface="Cambria Math" panose="02040503050406030204" pitchFamily="18" charset="0"/>
                            </a:rPr>
                          </m:ctrlPr>
                        </m:dPr>
                        <m:e>
                          <m:r>
                            <a:rPr lang="en-US" b="0" i="1" smtClean="0">
                              <a:latin typeface="Cambria Math" panose="02040503050406030204" pitchFamily="18" charset="0"/>
                            </a:rPr>
                            <m:t>1</m:t>
                          </m:r>
                        </m:e>
                      </m:d>
                    </m:oMath>
                  </m:oMathPara>
                </a14:m>
                <a:endParaRPr lang="en-US" dirty="0"/>
              </a:p>
            </p:txBody>
          </p:sp>
        </mc:Choice>
        <mc:Fallback xmlns="">
          <p:sp>
            <p:nvSpPr>
              <p:cNvPr id="31" name="Rectangle 10">
                <a:extLst>
                  <a:ext uri="{FF2B5EF4-FFF2-40B4-BE49-F238E27FC236}">
                    <a16:creationId xmlns:a16="http://schemas.microsoft.com/office/drawing/2014/main" id="{53ACE6CD-8D10-4730-5469-21FE42AEC36C}"/>
                  </a:ext>
                </a:extLst>
              </p:cNvPr>
              <p:cNvSpPr>
                <a:spLocks noRot="1" noChangeAspect="1" noMove="1" noResize="1" noEditPoints="1" noAdjustHandles="1" noChangeArrowheads="1" noChangeShapeType="1" noTextEdit="1"/>
              </p:cNvSpPr>
              <p:nvPr/>
            </p:nvSpPr>
            <p:spPr>
              <a:xfrm>
                <a:off x="6324983" y="4905333"/>
                <a:ext cx="550664" cy="369332"/>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2" name="직사각형 31"/>
              <p:cNvSpPr/>
              <p:nvPr/>
            </p:nvSpPr>
            <p:spPr>
              <a:xfrm>
                <a:off x="5880430" y="1841478"/>
                <a:ext cx="4690451" cy="16838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altLang="ko-KR" sz="1400" i="1">
                              <a:latin typeface="Cambria Math" panose="02040503050406030204" pitchFamily="18" charset="0"/>
                              <a:ea typeface="Cambria Math" panose="02040503050406030204" pitchFamily="18" charset="0"/>
                            </a:rPr>
                          </m:ctrlPr>
                        </m:dPr>
                        <m:e>
                          <m:m>
                            <m:mPr>
                              <m:mcs>
                                <m:mc>
                                  <m:mcPr>
                                    <m:count m:val="1"/>
                                    <m:mcJc m:val="center"/>
                                  </m:mcPr>
                                </m:mc>
                              </m:mcs>
                              <m:ctrlPr>
                                <a:rPr lang="en-US" altLang="ko-KR" sz="1400" i="1">
                                  <a:latin typeface="Cambria Math" panose="02040503050406030204" pitchFamily="18" charset="0"/>
                                  <a:ea typeface="Cambria Math" panose="02040503050406030204" pitchFamily="18" charset="0"/>
                                </a:rPr>
                              </m:ctrlPr>
                            </m:mPr>
                            <m:mr>
                              <m:e>
                                <m:r>
                                  <m:rPr>
                                    <m:brk m:alnAt="7"/>
                                  </m:rPr>
                                  <a:rPr lang="en-US" altLang="ko-KR" sz="1400" i="1">
                                    <a:latin typeface="Cambria Math" panose="02040503050406030204" pitchFamily="18" charset="0"/>
                                    <a:ea typeface="Cambria Math" panose="02040503050406030204" pitchFamily="18" charset="0"/>
                                  </a:rPr>
                                  <m:t>0</m:t>
                                </m:r>
                              </m:e>
                            </m:mr>
                            <m:mr>
                              <m:e>
                                <m:r>
                                  <a:rPr lang="en-US" altLang="ko-KR" sz="1400" i="1">
                                    <a:latin typeface="Cambria Math" panose="02040503050406030204" pitchFamily="18" charset="0"/>
                                    <a:ea typeface="Cambria Math" panose="02040503050406030204" pitchFamily="18" charset="0"/>
                                  </a:rPr>
                                  <m:t>0</m:t>
                                </m:r>
                              </m:e>
                            </m:mr>
                            <m:mr>
                              <m:e>
                                <m:eqArr>
                                  <m:eqArrPr>
                                    <m:ctrlPr>
                                      <a:rPr lang="en-US" altLang="ko-KR" sz="1400" i="1">
                                        <a:latin typeface="Cambria Math" panose="02040503050406030204" pitchFamily="18" charset="0"/>
                                        <a:ea typeface="Cambria Math" panose="02040503050406030204" pitchFamily="18" charset="0"/>
                                      </a:rPr>
                                    </m:ctrlPr>
                                  </m:eqArrPr>
                                  <m:e>
                                    <m:r>
                                      <a:rPr lang="en-US" altLang="ko-KR" sz="1400" i="1">
                                        <a:latin typeface="Cambria Math" panose="02040503050406030204" pitchFamily="18" charset="0"/>
                                        <a:ea typeface="Cambria Math" panose="02040503050406030204" pitchFamily="18" charset="0"/>
                                      </a:rPr>
                                      <m:t>0</m:t>
                                    </m:r>
                                  </m:e>
                                  <m:e>
                                    <m:r>
                                      <a:rPr lang="en-US" altLang="ko-KR" sz="1400" i="1">
                                        <a:latin typeface="Cambria Math" panose="02040503050406030204" pitchFamily="18" charset="0"/>
                                      </a:rPr>
                                      <m:t>0</m:t>
                                    </m:r>
                                  </m:e>
                                  <m:e>
                                    <m:r>
                                      <a:rPr lang="en-US" altLang="ko-KR" sz="1400" i="1">
                                        <a:latin typeface="Cambria Math" panose="02040503050406030204" pitchFamily="18" charset="0"/>
                                      </a:rPr>
                                      <m:t>1</m:t>
                                    </m:r>
                                  </m:e>
                                  <m:e>
                                    <m:r>
                                      <a:rPr lang="en-US" altLang="ko-KR" sz="1400" i="1">
                                        <a:latin typeface="Cambria Math" panose="02040503050406030204" pitchFamily="18" charset="0"/>
                                      </a:rPr>
                                      <m:t>0</m:t>
                                    </m:r>
                                  </m:e>
                                  <m:e>
                                    <m:r>
                                      <a:rPr lang="en-US" altLang="ko-KR" sz="1400" i="1">
                                        <a:latin typeface="Cambria Math" panose="02040503050406030204" pitchFamily="18" charset="0"/>
                                      </a:rPr>
                                      <m:t>0</m:t>
                                    </m:r>
                                  </m:e>
                                  <m:e>
                                    <m:r>
                                      <a:rPr lang="en-US" altLang="ko-KR" sz="1400" i="1">
                                        <a:latin typeface="Cambria Math" panose="02040503050406030204" pitchFamily="18" charset="0"/>
                                      </a:rPr>
                                      <m:t>0</m:t>
                                    </m:r>
                                  </m:e>
                                </m:eqArr>
                              </m:e>
                            </m:mr>
                          </m:m>
                        </m:e>
                      </m:d>
                      <m:r>
                        <a:rPr lang="en-US" altLang="ko-KR" sz="1400" i="1">
                          <a:latin typeface="Cambria Math" panose="02040503050406030204" pitchFamily="18" charset="0"/>
                        </a:rPr>
                        <m:t>=</m:t>
                      </m:r>
                      <m:sSub>
                        <m:sSubPr>
                          <m:ctrlPr>
                            <a:rPr lang="en-US" altLang="ko-KR" sz="1400" i="1">
                              <a:latin typeface="Cambria Math" panose="02040503050406030204" pitchFamily="18" charset="0"/>
                            </a:rPr>
                          </m:ctrlPr>
                        </m:sSubPr>
                        <m:e>
                          <m:r>
                            <a:rPr lang="en-US" altLang="ko-KR" sz="1400" i="1">
                              <a:latin typeface="Cambria Math" panose="02040503050406030204" pitchFamily="18" charset="0"/>
                            </a:rPr>
                            <m:t>𝑒</m:t>
                          </m:r>
                        </m:e>
                        <m:sub>
                          <m:r>
                            <a:rPr lang="en-US" altLang="ko-KR" sz="1400" i="1">
                              <a:latin typeface="Cambria Math" panose="02040503050406030204" pitchFamily="18" charset="0"/>
                            </a:rPr>
                            <m:t>5</m:t>
                          </m:r>
                        </m:sub>
                      </m:sSub>
                      <m:r>
                        <a:rPr lang="en-US" altLang="ko-KR" sz="1400" i="1">
                          <a:latin typeface="Cambria Math" panose="02040503050406030204" pitchFamily="18" charset="0"/>
                        </a:rPr>
                        <m:t>=</m:t>
                      </m:r>
                      <m:sSub>
                        <m:sSubPr>
                          <m:ctrlPr>
                            <a:rPr lang="en-US" altLang="ko-KR" sz="1400" i="1">
                              <a:latin typeface="Cambria Math" panose="02040503050406030204" pitchFamily="18" charset="0"/>
                            </a:rPr>
                          </m:ctrlPr>
                        </m:sSubPr>
                        <m:e>
                          <m:r>
                            <a:rPr lang="en-US" altLang="ko-KR" sz="1400" i="1">
                              <a:latin typeface="Cambria Math" panose="02040503050406030204" pitchFamily="18" charset="0"/>
                            </a:rPr>
                            <m:t>𝑒</m:t>
                          </m:r>
                        </m:e>
                        <m:sub>
                          <m:sSub>
                            <m:sSubPr>
                              <m:ctrlPr>
                                <a:rPr lang="en-US" altLang="ko-KR" sz="1400" i="1">
                                  <a:latin typeface="Cambria Math" panose="02040503050406030204" pitchFamily="18" charset="0"/>
                                </a:rPr>
                              </m:ctrlPr>
                            </m:sSubPr>
                            <m:e>
                              <m:r>
                                <a:rPr lang="en-US" altLang="ko-KR" sz="1400" i="1">
                                  <a:latin typeface="Cambria Math" panose="02040503050406030204" pitchFamily="18" charset="0"/>
                                </a:rPr>
                                <m:t>101</m:t>
                              </m:r>
                            </m:e>
                            <m:sub>
                              <m:r>
                                <a:rPr lang="en-US" altLang="ko-KR" sz="1400" i="1">
                                  <a:latin typeface="Cambria Math" panose="02040503050406030204" pitchFamily="18" charset="0"/>
                                </a:rPr>
                                <m:t>(2)</m:t>
                              </m:r>
                            </m:sub>
                          </m:sSub>
                        </m:sub>
                      </m:sSub>
                      <m:r>
                        <a:rPr lang="en-US" altLang="ko-KR" sz="1400" i="1">
                          <a:latin typeface="Cambria Math" panose="02040503050406030204" pitchFamily="18" charset="0"/>
                        </a:rPr>
                        <m:t>=</m:t>
                      </m:r>
                      <m:d>
                        <m:dPr>
                          <m:begChr m:val="|"/>
                          <m:endChr m:val="⟩"/>
                          <m:ctrlPr>
                            <a:rPr lang="en-US" altLang="ko-KR" sz="1400" i="1">
                              <a:latin typeface="Cambria Math" panose="02040503050406030204" pitchFamily="18" charset="0"/>
                            </a:rPr>
                          </m:ctrlPr>
                        </m:dPr>
                        <m:e>
                          <m:r>
                            <a:rPr lang="en-US" altLang="ko-KR" sz="1400" i="1">
                              <a:latin typeface="Cambria Math" panose="02040503050406030204" pitchFamily="18" charset="0"/>
                            </a:rPr>
                            <m:t>101</m:t>
                          </m:r>
                        </m:e>
                      </m:d>
                      <m:r>
                        <a:rPr lang="en-US" altLang="ko-KR" sz="1400" i="1">
                          <a:latin typeface="Cambria Math" panose="02040503050406030204" pitchFamily="18" charset="0"/>
                        </a:rPr>
                        <m:t>=</m:t>
                      </m:r>
                      <m:d>
                        <m:dPr>
                          <m:begChr m:val="|"/>
                          <m:endChr m:val="⟩"/>
                          <m:ctrlPr>
                            <a:rPr lang="en-US" altLang="ko-KR" sz="1400" i="1">
                              <a:latin typeface="Cambria Math" panose="02040503050406030204" pitchFamily="18" charset="0"/>
                            </a:rPr>
                          </m:ctrlPr>
                        </m:dPr>
                        <m:e>
                          <m:r>
                            <a:rPr lang="en-US" altLang="ko-KR" sz="1400" i="1">
                              <a:latin typeface="Cambria Math" panose="02040503050406030204" pitchFamily="18" charset="0"/>
                            </a:rPr>
                            <m:t>1</m:t>
                          </m:r>
                        </m:e>
                      </m:d>
                      <m:d>
                        <m:dPr>
                          <m:begChr m:val="|"/>
                          <m:endChr m:val="⟩"/>
                          <m:ctrlPr>
                            <a:rPr lang="en-US" altLang="ko-KR" sz="1400" i="1">
                              <a:latin typeface="Cambria Math" panose="02040503050406030204" pitchFamily="18" charset="0"/>
                            </a:rPr>
                          </m:ctrlPr>
                        </m:dPr>
                        <m:e>
                          <m:r>
                            <a:rPr lang="en-US" altLang="ko-KR" sz="1400" i="1">
                              <a:latin typeface="Cambria Math" panose="02040503050406030204" pitchFamily="18" charset="0"/>
                            </a:rPr>
                            <m:t>0</m:t>
                          </m:r>
                        </m:e>
                      </m:d>
                      <m:d>
                        <m:dPr>
                          <m:begChr m:val="|"/>
                          <m:endChr m:val="⟩"/>
                          <m:ctrlPr>
                            <a:rPr lang="en-US" altLang="ko-KR" sz="1400" i="1">
                              <a:latin typeface="Cambria Math" panose="02040503050406030204" pitchFamily="18" charset="0"/>
                            </a:rPr>
                          </m:ctrlPr>
                        </m:dPr>
                        <m:e>
                          <m:r>
                            <a:rPr lang="en-US" altLang="ko-KR" sz="1400" i="1">
                              <a:latin typeface="Cambria Math" panose="02040503050406030204" pitchFamily="18" charset="0"/>
                            </a:rPr>
                            <m:t>1</m:t>
                          </m:r>
                        </m:e>
                      </m:d>
                      <m:r>
                        <a:rPr lang="en-US" altLang="ko-KR" sz="1400" i="1">
                          <a:latin typeface="Cambria Math" panose="02040503050406030204" pitchFamily="18" charset="0"/>
                        </a:rPr>
                        <m:t>=</m:t>
                      </m:r>
                      <m:d>
                        <m:dPr>
                          <m:begChr m:val="|"/>
                          <m:endChr m:val="⟩"/>
                          <m:ctrlPr>
                            <a:rPr lang="en-US" altLang="ko-KR" sz="1400" i="1">
                              <a:latin typeface="Cambria Math" panose="02040503050406030204" pitchFamily="18" charset="0"/>
                            </a:rPr>
                          </m:ctrlPr>
                        </m:dPr>
                        <m:e>
                          <m:r>
                            <a:rPr lang="en-US" altLang="ko-KR" sz="1400" i="1">
                              <a:latin typeface="Cambria Math" panose="02040503050406030204" pitchFamily="18" charset="0"/>
                            </a:rPr>
                            <m:t>1</m:t>
                          </m:r>
                        </m:e>
                      </m:d>
                      <m:r>
                        <a:rPr lang="en-US" altLang="ko-KR" sz="1400" i="1">
                          <a:latin typeface="Cambria Math" panose="02040503050406030204" pitchFamily="18" charset="0"/>
                        </a:rPr>
                        <m:t>⊗</m:t>
                      </m:r>
                      <m:d>
                        <m:dPr>
                          <m:begChr m:val="|"/>
                          <m:endChr m:val="⟩"/>
                          <m:ctrlPr>
                            <a:rPr lang="en-US" altLang="ko-KR" sz="1400" i="1">
                              <a:latin typeface="Cambria Math" panose="02040503050406030204" pitchFamily="18" charset="0"/>
                            </a:rPr>
                          </m:ctrlPr>
                        </m:dPr>
                        <m:e>
                          <m:r>
                            <a:rPr lang="en-US" altLang="ko-KR" sz="1400" i="1">
                              <a:latin typeface="Cambria Math" panose="02040503050406030204" pitchFamily="18" charset="0"/>
                            </a:rPr>
                            <m:t>0</m:t>
                          </m:r>
                        </m:e>
                      </m:d>
                      <m:r>
                        <a:rPr lang="en-US" altLang="ko-KR" sz="1400" i="1">
                          <a:latin typeface="Cambria Math" panose="02040503050406030204" pitchFamily="18" charset="0"/>
                        </a:rPr>
                        <m:t>⊗</m:t>
                      </m:r>
                      <m:d>
                        <m:dPr>
                          <m:begChr m:val="|"/>
                          <m:endChr m:val="⟩"/>
                          <m:ctrlPr>
                            <a:rPr lang="en-US" altLang="ko-KR" sz="1400" i="1">
                              <a:latin typeface="Cambria Math" panose="02040503050406030204" pitchFamily="18" charset="0"/>
                            </a:rPr>
                          </m:ctrlPr>
                        </m:dPr>
                        <m:e>
                          <m:r>
                            <a:rPr lang="en-US" altLang="ko-KR" sz="1400" i="1">
                              <a:latin typeface="Cambria Math" panose="02040503050406030204" pitchFamily="18" charset="0"/>
                            </a:rPr>
                            <m:t>1</m:t>
                          </m:r>
                        </m:e>
                      </m:d>
                    </m:oMath>
                  </m:oMathPara>
                </a14:m>
                <a:endParaRPr lang="en-US" altLang="ko-KR" dirty="0"/>
              </a:p>
            </p:txBody>
          </p:sp>
        </mc:Choice>
        <mc:Fallback xmlns="">
          <p:sp>
            <p:nvSpPr>
              <p:cNvPr id="32" name="직사각형 31"/>
              <p:cNvSpPr>
                <a:spLocks noRot="1" noChangeAspect="1" noMove="1" noResize="1" noEditPoints="1" noAdjustHandles="1" noChangeArrowheads="1" noChangeShapeType="1" noTextEdit="1"/>
              </p:cNvSpPr>
              <p:nvPr/>
            </p:nvSpPr>
            <p:spPr>
              <a:xfrm>
                <a:off x="5880430" y="1841478"/>
                <a:ext cx="4690451" cy="1683859"/>
              </a:xfrm>
              <a:prstGeom prst="rect">
                <a:avLst/>
              </a:prstGeom>
              <a:blipFill>
                <a:blip r:embed="rId9"/>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65092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P spid="9" grpId="0" animBg="1"/>
      <p:bldP spid="23" grpId="0"/>
      <p:bldP spid="24" grpId="0"/>
      <p:bldP spid="25" grpId="0"/>
      <p:bldP spid="29" grpId="0"/>
      <p:bldP spid="30" grpId="0"/>
      <p:bldP spid="31" grpId="0"/>
      <p:bldP spid="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Today we will learn about a single-qubit</a:t>
            </a:r>
            <a:endParaRPr lang="ko-KR" altLang="en-US" dirty="0"/>
          </a:p>
        </p:txBody>
      </p:sp>
      <p:sp>
        <p:nvSpPr>
          <p:cNvPr id="3" name="내용 개체 틀 2"/>
          <p:cNvSpPr>
            <a:spLocks noGrp="1"/>
          </p:cNvSpPr>
          <p:nvPr>
            <p:ph idx="1"/>
          </p:nvPr>
        </p:nvSpPr>
        <p:spPr/>
        <p:txBody>
          <a:bodyPr>
            <a:normAutofit/>
          </a:bodyPr>
          <a:lstStyle/>
          <a:p>
            <a:pPr marL="0" indent="0">
              <a:buNone/>
            </a:pPr>
            <a:r>
              <a:rPr lang="en-US" altLang="ko-KR" dirty="0" smtClean="0"/>
              <a:t>Basic of quantum computing</a:t>
            </a:r>
          </a:p>
          <a:p>
            <a:r>
              <a:rPr lang="en-US" altLang="ko-KR" dirty="0" smtClean="0"/>
              <a:t>A single qubit</a:t>
            </a:r>
          </a:p>
          <a:p>
            <a:pPr lvl="1"/>
            <a:r>
              <a:rPr lang="en-US" altLang="ko-KR" dirty="0" smtClean="0"/>
              <a:t>Definition (superposition)</a:t>
            </a:r>
          </a:p>
          <a:p>
            <a:pPr lvl="1"/>
            <a:r>
              <a:rPr lang="en-US" altLang="ko-KR" dirty="0" smtClean="0"/>
              <a:t>Measurements</a:t>
            </a:r>
          </a:p>
          <a:p>
            <a:r>
              <a:rPr lang="en-US" altLang="ko-KR" dirty="0" smtClean="0"/>
              <a:t>Quantum operations</a:t>
            </a:r>
          </a:p>
          <a:p>
            <a:pPr lvl="1"/>
            <a:r>
              <a:rPr lang="en-US" altLang="ko-KR" dirty="0" smtClean="0"/>
              <a:t>Unitary operations</a:t>
            </a:r>
          </a:p>
          <a:p>
            <a:pPr lvl="1"/>
            <a:r>
              <a:rPr lang="en-US" altLang="ko-KR" dirty="0" smtClean="0"/>
              <a:t>Basic 1-qubit quantum gates</a:t>
            </a:r>
            <a:endParaRPr lang="en-US" altLang="ko-KR" dirty="0"/>
          </a:p>
          <a:p>
            <a:r>
              <a:rPr lang="en-US" altLang="ko-KR" dirty="0" smtClean="0"/>
              <a:t>Examples</a:t>
            </a:r>
          </a:p>
          <a:p>
            <a:pPr lvl="1"/>
            <a:r>
              <a:rPr lang="en-US" altLang="ko-KR" dirty="0" smtClean="0"/>
              <a:t>Quantum random number generators and more</a:t>
            </a:r>
          </a:p>
        </p:txBody>
      </p:sp>
    </p:spTree>
    <p:extLst>
      <p:ext uri="{BB962C8B-B14F-4D97-AF65-F5344CB8AC3E}">
        <p14:creationId xmlns:p14="http://schemas.microsoft.com/office/powerpoint/2010/main" val="279486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Today we will learn about a single-qubit</a:t>
            </a:r>
            <a:endParaRPr lang="ko-KR" altLang="en-US" dirty="0"/>
          </a:p>
        </p:txBody>
      </p:sp>
      <p:sp>
        <p:nvSpPr>
          <p:cNvPr id="3" name="내용 개체 틀 2"/>
          <p:cNvSpPr>
            <a:spLocks noGrp="1"/>
          </p:cNvSpPr>
          <p:nvPr>
            <p:ph idx="1"/>
          </p:nvPr>
        </p:nvSpPr>
        <p:spPr/>
        <p:txBody>
          <a:bodyPr>
            <a:normAutofit/>
          </a:bodyPr>
          <a:lstStyle/>
          <a:p>
            <a:pPr marL="0" indent="0">
              <a:buNone/>
            </a:pPr>
            <a:r>
              <a:rPr lang="en-US" altLang="ko-KR" dirty="0" smtClean="0"/>
              <a:t>Basic of quantum computing</a:t>
            </a:r>
          </a:p>
          <a:p>
            <a:r>
              <a:rPr lang="en-US" altLang="ko-KR" b="1" dirty="0" smtClean="0"/>
              <a:t>A single qubit</a:t>
            </a:r>
          </a:p>
          <a:p>
            <a:pPr lvl="1"/>
            <a:r>
              <a:rPr lang="en-US" altLang="ko-KR" b="1" dirty="0" smtClean="0"/>
              <a:t>Definition (superposition)</a:t>
            </a:r>
          </a:p>
          <a:p>
            <a:pPr lvl="1"/>
            <a:r>
              <a:rPr lang="en-US" altLang="ko-KR" b="1" dirty="0" smtClean="0"/>
              <a:t>Measurements</a:t>
            </a:r>
          </a:p>
          <a:p>
            <a:r>
              <a:rPr lang="en-US" altLang="ko-KR" dirty="0" smtClean="0"/>
              <a:t>Quantum operations</a:t>
            </a:r>
          </a:p>
          <a:p>
            <a:pPr lvl="1"/>
            <a:r>
              <a:rPr lang="en-US" altLang="ko-KR" dirty="0" smtClean="0"/>
              <a:t>Unitary operations</a:t>
            </a:r>
          </a:p>
          <a:p>
            <a:pPr lvl="1"/>
            <a:r>
              <a:rPr lang="en-US" altLang="ko-KR" dirty="0"/>
              <a:t>Basic 1-qubit quantum gates</a:t>
            </a:r>
          </a:p>
          <a:p>
            <a:r>
              <a:rPr lang="en-US" altLang="ko-KR" dirty="0" smtClean="0"/>
              <a:t>Examples</a:t>
            </a:r>
          </a:p>
          <a:p>
            <a:pPr lvl="1"/>
            <a:r>
              <a:rPr lang="en-US" altLang="ko-KR" dirty="0" smtClean="0"/>
              <a:t>Quantum random number generators and more</a:t>
            </a:r>
          </a:p>
        </p:txBody>
      </p:sp>
    </p:spTree>
    <p:extLst>
      <p:ext uri="{BB962C8B-B14F-4D97-AF65-F5344CB8AC3E}">
        <p14:creationId xmlns:p14="http://schemas.microsoft.com/office/powerpoint/2010/main" val="5001267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개체 3"/>
          <p:cNvGraphicFramePr>
            <a:graphicFrameLocks noChangeAspect="1"/>
          </p:cNvGraphicFramePr>
          <p:nvPr>
            <p:extLst>
              <p:ext uri="{D42A27DB-BD31-4B8C-83A1-F6EECF244321}">
                <p14:modId xmlns:p14="http://schemas.microsoft.com/office/powerpoint/2010/main" val="1256686118"/>
              </p:ext>
            </p:extLst>
          </p:nvPr>
        </p:nvGraphicFramePr>
        <p:xfrm>
          <a:off x="8159135" y="5116074"/>
          <a:ext cx="773024" cy="1044467"/>
        </p:xfrm>
        <a:graphic>
          <a:graphicData uri="http://schemas.openxmlformats.org/presentationml/2006/ole">
            <mc:AlternateContent xmlns:mc="http://schemas.openxmlformats.org/markup-compatibility/2006">
              <mc:Choice xmlns:v="urn:schemas-microsoft-com:vml" Requires="v">
                <p:oleObj spid="_x0000_s1032" name="Bitmap Image" r:id="rId4" imgW="1247760" imgH="1685880" progId="Paint.Picture">
                  <p:embed/>
                </p:oleObj>
              </mc:Choice>
              <mc:Fallback>
                <p:oleObj name="Bitmap Image" r:id="rId4" imgW="1247760" imgH="1685880" progId="Paint.Picture">
                  <p:embed/>
                  <p:pic>
                    <p:nvPicPr>
                      <p:cNvPr id="4" name="개체 3"/>
                      <p:cNvPicPr/>
                      <p:nvPr/>
                    </p:nvPicPr>
                    <p:blipFill>
                      <a:blip r:embed="rId5"/>
                      <a:stretch>
                        <a:fillRect/>
                      </a:stretch>
                    </p:blipFill>
                    <p:spPr>
                      <a:xfrm>
                        <a:off x="8159135" y="5116074"/>
                        <a:ext cx="773024" cy="1044467"/>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dirty="0" smtClean="0"/>
              <a:t>Bit vs Qubit (quantum bit)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r>
                  <a:rPr lang="en-US" sz="2400" dirty="0" smtClean="0"/>
                  <a:t>A </a:t>
                </a:r>
                <a:r>
                  <a:rPr lang="en-US" sz="2400" b="1" dirty="0" smtClean="0"/>
                  <a:t>bit</a:t>
                </a:r>
                <a:r>
                  <a:rPr lang="en-US" sz="2400" dirty="0" smtClean="0"/>
                  <a:t> is a classical system with two distinguishable states </a:t>
                </a:r>
                <a14:m>
                  <m:oMath xmlns:m="http://schemas.openxmlformats.org/officeDocument/2006/math">
                    <m:r>
                      <a:rPr lang="en-US" sz="2400" b="0" i="1" smtClean="0">
                        <a:latin typeface="Cambria Math" panose="02040503050406030204" pitchFamily="18" charset="0"/>
                      </a:rPr>
                      <m:t>|0⟩</m:t>
                    </m:r>
                  </m:oMath>
                </a14:m>
                <a:r>
                  <a:rPr lang="en-US" sz="2400" dirty="0" smtClean="0"/>
                  <a:t>, </a:t>
                </a:r>
                <a14:m>
                  <m:oMath xmlns:m="http://schemas.openxmlformats.org/officeDocument/2006/math">
                    <m:r>
                      <a:rPr lang="en-US" altLang="ko-KR" sz="2400" i="1">
                        <a:latin typeface="Cambria Math" panose="02040503050406030204" pitchFamily="18" charset="0"/>
                      </a:rPr>
                      <m:t>|</m:t>
                    </m:r>
                    <m:r>
                      <a:rPr lang="en-US" altLang="ko-KR" sz="2400" b="0" i="1" smtClean="0">
                        <a:latin typeface="Cambria Math" panose="02040503050406030204" pitchFamily="18" charset="0"/>
                      </a:rPr>
                      <m:t>1</m:t>
                    </m:r>
                    <m:r>
                      <a:rPr lang="en-US" altLang="ko-KR" sz="2400" i="1">
                        <a:latin typeface="Cambria Math" panose="02040503050406030204" pitchFamily="18" charset="0"/>
                      </a:rPr>
                      <m:t>⟩</m:t>
                    </m:r>
                  </m:oMath>
                </a14:m>
                <a:endParaRPr lang="en-US" sz="2400" dirty="0"/>
              </a:p>
              <a:p>
                <a:pPr lvl="1"/>
                <a:r>
                  <a:rPr lang="en-US" sz="2000" dirty="0" smtClean="0"/>
                  <a:t>We sometimes call them </a:t>
                </a:r>
                <a:r>
                  <a:rPr lang="en-US" sz="2000" i="1" dirty="0" smtClean="0"/>
                  <a:t>classical states</a:t>
                </a:r>
                <a:r>
                  <a:rPr lang="en-US" sz="2000" dirty="0" smtClean="0"/>
                  <a:t>, </a:t>
                </a:r>
                <a:r>
                  <a:rPr lang="en-US" sz="2000" i="1" dirty="0" smtClean="0"/>
                  <a:t>standard basis states</a:t>
                </a:r>
                <a:r>
                  <a:rPr lang="en-US" sz="2000" dirty="0" smtClean="0"/>
                  <a:t>, etc.</a:t>
                </a:r>
              </a:p>
              <a:p>
                <a:pPr lvl="1"/>
                <a14:m>
                  <m:oMath xmlns:m="http://schemas.openxmlformats.org/officeDocument/2006/math">
                    <m:d>
                      <m:dPr>
                        <m:begChr m:val="|"/>
                        <m:endChr m:val="⟩"/>
                        <m:ctrlPr>
                          <a:rPr lang="en-US" altLang="ko-KR" sz="2000" i="1" smtClean="0">
                            <a:solidFill>
                              <a:schemeClr val="tx1"/>
                            </a:solidFill>
                            <a:latin typeface="Cambria Math" panose="02040503050406030204" pitchFamily="18" charset="0"/>
                            <a:ea typeface="Cambria Math" panose="02040503050406030204" pitchFamily="18" charset="0"/>
                          </a:rPr>
                        </m:ctrlPr>
                      </m:dPr>
                      <m:e>
                        <m:r>
                          <a:rPr lang="en-US" altLang="ko-KR" sz="2000" i="1">
                            <a:solidFill>
                              <a:schemeClr val="tx1"/>
                            </a:solidFill>
                            <a:latin typeface="Cambria Math" panose="02040503050406030204" pitchFamily="18" charset="0"/>
                            <a:ea typeface="Cambria Math" panose="02040503050406030204" pitchFamily="18" charset="0"/>
                          </a:rPr>
                          <m:t>0</m:t>
                        </m:r>
                      </m:e>
                    </m:d>
                    <m:r>
                      <a:rPr lang="en-US" altLang="ko-KR" sz="2000" i="1">
                        <a:solidFill>
                          <a:schemeClr val="tx1"/>
                        </a:solidFill>
                        <a:latin typeface="Cambria Math" panose="02040503050406030204" pitchFamily="18" charset="0"/>
                        <a:ea typeface="Cambria Math" panose="02040503050406030204" pitchFamily="18" charset="0"/>
                      </a:rPr>
                      <m:t>=</m:t>
                    </m:r>
                    <m:d>
                      <m:dPr>
                        <m:ctrlPr>
                          <a:rPr lang="en-US" altLang="ko-KR" sz="2000" i="1">
                            <a:solidFill>
                              <a:schemeClr val="tx1"/>
                            </a:solidFill>
                            <a:latin typeface="Cambria Math" panose="02040503050406030204" pitchFamily="18" charset="0"/>
                            <a:ea typeface="Cambria Math" panose="02040503050406030204" pitchFamily="18" charset="0"/>
                          </a:rPr>
                        </m:ctrlPr>
                      </m:dPr>
                      <m:e>
                        <m:eqArr>
                          <m:eqArrPr>
                            <m:ctrlPr>
                              <a:rPr lang="en-US" altLang="ko-KR" sz="2000" i="1">
                                <a:solidFill>
                                  <a:schemeClr val="tx1"/>
                                </a:solidFill>
                                <a:latin typeface="Cambria Math" panose="02040503050406030204" pitchFamily="18" charset="0"/>
                                <a:ea typeface="Cambria Math" panose="02040503050406030204" pitchFamily="18" charset="0"/>
                              </a:rPr>
                            </m:ctrlPr>
                          </m:eqArrPr>
                          <m:e>
                            <m:r>
                              <a:rPr lang="en-US" altLang="ko-KR" sz="2000" i="1">
                                <a:solidFill>
                                  <a:schemeClr val="tx1"/>
                                </a:solidFill>
                                <a:latin typeface="Cambria Math" panose="02040503050406030204" pitchFamily="18" charset="0"/>
                                <a:ea typeface="Cambria Math" panose="02040503050406030204" pitchFamily="18" charset="0"/>
                              </a:rPr>
                              <m:t>1</m:t>
                            </m:r>
                          </m:e>
                          <m:e>
                            <m:r>
                              <a:rPr lang="en-US" altLang="ko-KR" sz="2000" i="1">
                                <a:solidFill>
                                  <a:schemeClr val="tx1"/>
                                </a:solidFill>
                                <a:latin typeface="Cambria Math" panose="02040503050406030204" pitchFamily="18" charset="0"/>
                                <a:ea typeface="Cambria Math" panose="02040503050406030204" pitchFamily="18" charset="0"/>
                              </a:rPr>
                              <m:t>0</m:t>
                            </m:r>
                          </m:e>
                        </m:eqArr>
                      </m:e>
                    </m:d>
                  </m:oMath>
                </a14:m>
                <a:r>
                  <a:rPr lang="en-US" altLang="ko-KR" sz="2000" dirty="0">
                    <a:solidFill>
                      <a:schemeClr val="tx1"/>
                    </a:solidFill>
                  </a:rPr>
                  <a:t>, 	</a:t>
                </a:r>
                <a14:m>
                  <m:oMath xmlns:m="http://schemas.openxmlformats.org/officeDocument/2006/math">
                    <m:d>
                      <m:dPr>
                        <m:begChr m:val="|"/>
                        <m:endChr m:val="⟩"/>
                        <m:ctrlPr>
                          <a:rPr lang="en-US" altLang="ko-KR" sz="2000" i="1">
                            <a:solidFill>
                              <a:schemeClr val="tx1"/>
                            </a:solidFill>
                            <a:latin typeface="Cambria Math" panose="02040503050406030204" pitchFamily="18" charset="0"/>
                            <a:ea typeface="Cambria Math" panose="02040503050406030204" pitchFamily="18" charset="0"/>
                          </a:rPr>
                        </m:ctrlPr>
                      </m:dPr>
                      <m:e>
                        <m:r>
                          <a:rPr lang="en-US" altLang="ko-KR" sz="2000" i="1">
                            <a:solidFill>
                              <a:schemeClr val="tx1"/>
                            </a:solidFill>
                            <a:latin typeface="Cambria Math" panose="02040503050406030204" pitchFamily="18" charset="0"/>
                            <a:ea typeface="Cambria Math" panose="02040503050406030204" pitchFamily="18" charset="0"/>
                          </a:rPr>
                          <m:t>1</m:t>
                        </m:r>
                      </m:e>
                    </m:d>
                    <m:r>
                      <a:rPr lang="en-US" altLang="ko-KR" sz="2000" i="1">
                        <a:solidFill>
                          <a:schemeClr val="tx1"/>
                        </a:solidFill>
                        <a:latin typeface="Cambria Math" panose="02040503050406030204" pitchFamily="18" charset="0"/>
                        <a:ea typeface="Cambria Math" panose="02040503050406030204" pitchFamily="18" charset="0"/>
                      </a:rPr>
                      <m:t>=</m:t>
                    </m:r>
                    <m:d>
                      <m:dPr>
                        <m:ctrlPr>
                          <a:rPr lang="en-US" altLang="ko-KR" sz="2000" i="1">
                            <a:solidFill>
                              <a:schemeClr val="tx1"/>
                            </a:solidFill>
                            <a:latin typeface="Cambria Math" panose="02040503050406030204" pitchFamily="18" charset="0"/>
                            <a:ea typeface="Cambria Math" panose="02040503050406030204" pitchFamily="18" charset="0"/>
                          </a:rPr>
                        </m:ctrlPr>
                      </m:dPr>
                      <m:e>
                        <m:eqArr>
                          <m:eqArrPr>
                            <m:ctrlPr>
                              <a:rPr lang="en-US" altLang="ko-KR" sz="2000" i="1">
                                <a:solidFill>
                                  <a:schemeClr val="tx1"/>
                                </a:solidFill>
                                <a:latin typeface="Cambria Math" panose="02040503050406030204" pitchFamily="18" charset="0"/>
                                <a:ea typeface="Cambria Math" panose="02040503050406030204" pitchFamily="18" charset="0"/>
                              </a:rPr>
                            </m:ctrlPr>
                          </m:eqArrPr>
                          <m:e>
                            <m:r>
                              <a:rPr lang="en-US" altLang="ko-KR" sz="2000" i="1">
                                <a:solidFill>
                                  <a:schemeClr val="tx1"/>
                                </a:solidFill>
                                <a:latin typeface="Cambria Math" panose="02040503050406030204" pitchFamily="18" charset="0"/>
                                <a:ea typeface="Cambria Math" panose="02040503050406030204" pitchFamily="18" charset="0"/>
                              </a:rPr>
                              <m:t>0</m:t>
                            </m:r>
                          </m:e>
                          <m:e>
                            <m:r>
                              <a:rPr lang="en-US" altLang="ko-KR" sz="2000" i="1">
                                <a:solidFill>
                                  <a:schemeClr val="tx1"/>
                                </a:solidFill>
                                <a:latin typeface="Cambria Math" panose="02040503050406030204" pitchFamily="18" charset="0"/>
                                <a:ea typeface="Cambria Math" panose="02040503050406030204" pitchFamily="18" charset="0"/>
                              </a:rPr>
                              <m:t>1</m:t>
                            </m:r>
                          </m:e>
                        </m:eqArr>
                      </m:e>
                    </m:d>
                  </m:oMath>
                </a14:m>
                <a:endParaRPr lang="en-US" sz="2000" dirty="0" smtClean="0">
                  <a:solidFill>
                    <a:schemeClr val="tx1"/>
                  </a:solidFill>
                </a:endParaRPr>
              </a:p>
              <a:p>
                <a:r>
                  <a:rPr lang="en-US" sz="2400" dirty="0" smtClean="0"/>
                  <a:t>A </a:t>
                </a:r>
                <a:r>
                  <a:rPr lang="en-US" sz="2400" b="1" dirty="0" smtClean="0"/>
                  <a:t>qubit</a:t>
                </a:r>
                <a:r>
                  <a:rPr lang="en-US" sz="2400" dirty="0" smtClean="0"/>
                  <a:t> (quantum bit) can be in a superposition of the states </a:t>
                </a:r>
                <a14:m>
                  <m:oMath xmlns:m="http://schemas.openxmlformats.org/officeDocument/2006/math">
                    <m:r>
                      <a:rPr lang="en-US" altLang="ko-KR" sz="2400" i="1">
                        <a:latin typeface="Cambria Math" panose="02040503050406030204" pitchFamily="18" charset="0"/>
                      </a:rPr>
                      <m:t>|0⟩</m:t>
                    </m:r>
                  </m:oMath>
                </a14:m>
                <a:r>
                  <a:rPr lang="en-US" altLang="ko-KR" sz="2400" dirty="0"/>
                  <a:t>, </a:t>
                </a:r>
                <a14:m>
                  <m:oMath xmlns:m="http://schemas.openxmlformats.org/officeDocument/2006/math">
                    <m:r>
                      <a:rPr lang="en-US" altLang="ko-KR" sz="2400" i="1">
                        <a:latin typeface="Cambria Math" panose="02040503050406030204" pitchFamily="18" charset="0"/>
                      </a:rPr>
                      <m:t>|1⟩</m:t>
                    </m:r>
                  </m:oMath>
                </a14:m>
                <a:endParaRPr lang="en-US" sz="2400" dirty="0" smtClean="0"/>
              </a:p>
              <a:p>
                <a:pPr lvl="1"/>
                <a:r>
                  <a:rPr lang="en-US" altLang="ko-KR" sz="2000" dirty="0" smtClean="0">
                    <a:solidFill>
                      <a:schemeClr val="tx1"/>
                    </a:solidFill>
                    <a:ea typeface="Cambria Math" panose="02040503050406030204" pitchFamily="18" charset="0"/>
                  </a:rPr>
                  <a:t>“quantum mixture</a:t>
                </a:r>
                <a:r>
                  <a:rPr lang="en-US" altLang="ko-KR" sz="2000" dirty="0" smtClean="0">
                    <a:ea typeface="Cambria Math" panose="02040503050406030204" pitchFamily="18" charset="0"/>
                  </a:rPr>
                  <a:t>” of |</a:t>
                </a:r>
                <a:r>
                  <a:rPr lang="en-US" altLang="ko-KR" sz="2000" dirty="0">
                    <a:ea typeface="Cambria Math" panose="02040503050406030204" pitchFamily="18" charset="0"/>
                  </a:rPr>
                  <a:t>0⟩, |1</a:t>
                </a:r>
                <a:r>
                  <a:rPr lang="en-US" altLang="ko-KR" sz="2000" dirty="0" smtClean="0">
                    <a:ea typeface="Cambria Math" panose="02040503050406030204" pitchFamily="18" charset="0"/>
                  </a:rPr>
                  <a:t>⟩</a:t>
                </a:r>
              </a:p>
              <a:p>
                <a:pPr lvl="1"/>
                <a:r>
                  <a:rPr lang="en-US" sz="2000" dirty="0" smtClean="0">
                    <a:ea typeface="Cambria Math" panose="02040503050406030204" pitchFamily="18" charset="0"/>
                  </a:rPr>
                  <a:t>They are written as</a:t>
                </a:r>
                <a:endParaRPr lang="en-US" sz="2000" b="0" i="1" dirty="0" smtClean="0">
                  <a:latin typeface="Cambria Math" panose="02040503050406030204" pitchFamily="18" charset="0"/>
                  <a:ea typeface="Cambria Math" panose="02040503050406030204" pitchFamily="18" charset="0"/>
                </a:endParaRPr>
              </a:p>
              <a:p>
                <a:pPr marL="457200" lvl="1" indent="0">
                  <a:buNone/>
                </a:pPr>
                <a:r>
                  <a:rPr lang="en-US" sz="1800" b="0" dirty="0" smtClean="0">
                    <a:ea typeface="Cambria Math" panose="02040503050406030204" pitchFamily="18" charset="0"/>
                  </a:rPr>
                  <a:t>				</a:t>
                </a:r>
                <a14:m>
                  <m:oMath xmlns:m="http://schemas.openxmlformats.org/officeDocument/2006/math">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𝜓</m:t>
                        </m:r>
                      </m:e>
                    </m:d>
                  </m:oMath>
                </a14:m>
                <a:r>
                  <a:rPr lang="en-US" b="0" i="1" dirty="0" smtClean="0">
                    <a:latin typeface="Cambria Math" panose="02040503050406030204" pitchFamily="18" charset="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oMath>
                </a14:m>
                <a:endParaRPr lang="en-US" b="0" i="1" dirty="0" smtClean="0">
                  <a:latin typeface="Cambria Math" panose="02040503050406030204" pitchFamily="18" charset="0"/>
                  <a:ea typeface="Cambria Math" panose="02040503050406030204" pitchFamily="18" charset="0"/>
                </a:endParaRPr>
              </a:p>
              <a:p>
                <a:pPr marL="457200" lvl="1" indent="0">
                  <a:buNone/>
                </a:pPr>
                <a:r>
                  <a:rPr lang="en-US" b="0" dirty="0" smtClean="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d>
                      <m:dPr>
                        <m:ctrlPr>
                          <a:rPr lang="en-US" altLang="ko-KR" i="1">
                            <a:latin typeface="Cambria Math" panose="02040503050406030204" pitchFamily="18" charset="0"/>
                            <a:ea typeface="Cambria Math" panose="02040503050406030204" pitchFamily="18" charset="0"/>
                          </a:rPr>
                        </m:ctrlPr>
                      </m:dPr>
                      <m:e>
                        <m:eqArr>
                          <m:eqArrPr>
                            <m:ctrlPr>
                              <a:rPr lang="en-US" altLang="ko-KR" i="1">
                                <a:latin typeface="Cambria Math" panose="02040503050406030204" pitchFamily="18" charset="0"/>
                                <a:ea typeface="Cambria Math" panose="02040503050406030204" pitchFamily="18" charset="0"/>
                              </a:rPr>
                            </m:ctrlPr>
                          </m:eqArrPr>
                          <m:e>
                            <m:r>
                              <a:rPr lang="en-US" altLang="ko-KR" i="1">
                                <a:latin typeface="Cambria Math" panose="02040503050406030204" pitchFamily="18" charset="0"/>
                                <a:ea typeface="Cambria Math" panose="02040503050406030204" pitchFamily="18" charset="0"/>
                              </a:rPr>
                              <m:t>1</m:t>
                            </m:r>
                          </m:e>
                          <m:e>
                            <m:r>
                              <a:rPr lang="en-US" altLang="ko-KR" i="1">
                                <a:latin typeface="Cambria Math" panose="02040503050406030204" pitchFamily="18" charset="0"/>
                                <a:ea typeface="Cambria Math" panose="02040503050406030204" pitchFamily="18" charset="0"/>
                              </a:rPr>
                              <m:t>0</m:t>
                            </m:r>
                          </m:e>
                        </m:eqArr>
                      </m:e>
                    </m:d>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𝛽</m:t>
                    </m:r>
                    <m:d>
                      <m:dPr>
                        <m:ctrlPr>
                          <a:rPr lang="en-US" altLang="ko-KR" i="1">
                            <a:latin typeface="Cambria Math" panose="02040503050406030204" pitchFamily="18" charset="0"/>
                            <a:ea typeface="Cambria Math" panose="02040503050406030204" pitchFamily="18" charset="0"/>
                          </a:rPr>
                        </m:ctrlPr>
                      </m:dPr>
                      <m:e>
                        <m:eqArr>
                          <m:eqArrPr>
                            <m:ctrlPr>
                              <a:rPr lang="en-US" altLang="ko-KR" i="1">
                                <a:latin typeface="Cambria Math" panose="02040503050406030204" pitchFamily="18" charset="0"/>
                                <a:ea typeface="Cambria Math" panose="02040503050406030204" pitchFamily="18" charset="0"/>
                              </a:rPr>
                            </m:ctrlPr>
                          </m:eqArrPr>
                          <m:e>
                            <m:r>
                              <a:rPr lang="en-US" altLang="ko-KR" b="0" i="1" smtClean="0">
                                <a:latin typeface="Cambria Math" panose="02040503050406030204" pitchFamily="18" charset="0"/>
                                <a:ea typeface="Cambria Math" panose="02040503050406030204" pitchFamily="18" charset="0"/>
                              </a:rPr>
                              <m:t>0</m:t>
                            </m:r>
                          </m:e>
                          <m:e>
                            <m:r>
                              <a:rPr lang="en-US" altLang="ko-KR" b="0" i="1" smtClean="0">
                                <a:latin typeface="Cambria Math" panose="02040503050406030204" pitchFamily="18" charset="0"/>
                                <a:ea typeface="Cambria Math" panose="02040503050406030204" pitchFamily="18" charset="0"/>
                              </a:rPr>
                              <m:t>1</m:t>
                            </m:r>
                          </m:e>
                        </m:eqArr>
                      </m:e>
                    </m:d>
                    <m:r>
                      <a:rPr lang="en-US" altLang="ko-KR" b="0" i="0" smtClean="0">
                        <a:latin typeface="Cambria Math" panose="02040503050406030204" pitchFamily="18" charset="0"/>
                        <a:ea typeface="Cambria Math" panose="02040503050406030204" pitchFamily="18" charset="0"/>
                      </a:rPr>
                      <m:t>=</m:t>
                    </m:r>
                    <m:d>
                      <m:dPr>
                        <m:ctrlPr>
                          <a:rPr lang="en-US" altLang="ko-KR" i="1">
                            <a:latin typeface="Cambria Math" panose="02040503050406030204" pitchFamily="18" charset="0"/>
                            <a:ea typeface="Cambria Math" panose="02040503050406030204" pitchFamily="18" charset="0"/>
                          </a:rPr>
                        </m:ctrlPr>
                      </m:dPr>
                      <m:e>
                        <m:eqArr>
                          <m:eqArrPr>
                            <m:ctrlPr>
                              <a:rPr lang="en-US" altLang="ko-KR" i="1">
                                <a:latin typeface="Cambria Math" panose="02040503050406030204" pitchFamily="18" charset="0"/>
                                <a:ea typeface="Cambria Math" panose="02040503050406030204" pitchFamily="18" charset="0"/>
                              </a:rPr>
                            </m:ctrlPr>
                          </m:eqArrPr>
                          <m:e>
                            <m:r>
                              <a:rPr lang="en-US" altLang="ko-KR" b="0" i="1" smtClean="0">
                                <a:latin typeface="Cambria Math" panose="02040503050406030204" pitchFamily="18" charset="0"/>
                                <a:ea typeface="Cambria Math" panose="02040503050406030204" pitchFamily="18" charset="0"/>
                              </a:rPr>
                              <m:t>𝛼</m:t>
                            </m:r>
                          </m:e>
                          <m:e>
                            <m:r>
                              <a:rPr lang="en-US" altLang="ko-KR" b="0" i="1" smtClean="0">
                                <a:latin typeface="Cambria Math" panose="02040503050406030204" pitchFamily="18" charset="0"/>
                                <a:ea typeface="Cambria Math" panose="02040503050406030204" pitchFamily="18" charset="0"/>
                              </a:rPr>
                              <m:t>𝛽</m:t>
                            </m:r>
                          </m:e>
                        </m:eqArr>
                      </m:e>
                    </m:d>
                  </m:oMath>
                </a14:m>
                <a:endParaRPr lang="en-US" dirty="0" smtClean="0"/>
              </a:p>
              <a:p>
                <a:pPr lvl="1"/>
                <a:endParaRPr lang="en-US" altLang="ko-KR" sz="2000" dirty="0">
                  <a:ea typeface="Cambria Math" panose="02040503050406030204" pitchFamily="18" charset="0"/>
                </a:endParaRPr>
              </a:p>
              <a:p>
                <a:pPr lvl="1"/>
                <a14:m>
                  <m:oMath xmlns:m="http://schemas.openxmlformats.org/officeDocument/2006/math">
                    <m:r>
                      <a:rPr lang="en-US" altLang="ko-KR" sz="2000" b="0" i="1" smtClean="0">
                        <a:latin typeface="Cambria Math" panose="02040503050406030204" pitchFamily="18" charset="0"/>
                        <a:ea typeface="Cambria Math" panose="02040503050406030204" pitchFamily="18" charset="0"/>
                      </a:rPr>
                      <m:t>𝛼</m:t>
                    </m:r>
                  </m:oMath>
                </a14:m>
                <a:r>
                  <a:rPr lang="en-US" altLang="ko-KR" sz="2000" dirty="0" smtClean="0">
                    <a:ea typeface="Cambria Math" panose="02040503050406030204" pitchFamily="18" charset="0"/>
                  </a:rPr>
                  <a:t> and </a:t>
                </a:r>
                <a14:m>
                  <m:oMath xmlns:m="http://schemas.openxmlformats.org/officeDocument/2006/math">
                    <m:r>
                      <a:rPr lang="en-US" altLang="ko-KR" sz="2000" b="0" i="1" smtClean="0">
                        <a:latin typeface="Cambria Math" panose="02040503050406030204" pitchFamily="18" charset="0"/>
                        <a:ea typeface="Cambria Math" panose="02040503050406030204" pitchFamily="18" charset="0"/>
                      </a:rPr>
                      <m:t>𝛽</m:t>
                    </m:r>
                  </m:oMath>
                </a14:m>
                <a:r>
                  <a:rPr lang="en-US" altLang="ko-KR" sz="2000" dirty="0" smtClean="0">
                    <a:ea typeface="Cambria Math" panose="02040503050406030204" pitchFamily="18" charset="0"/>
                  </a:rPr>
                  <a:t> are the </a:t>
                </a:r>
                <a:r>
                  <a:rPr lang="en-US" altLang="ko-KR" sz="2000" b="1" dirty="0" smtClean="0">
                    <a:ea typeface="Cambria Math" panose="02040503050406030204" pitchFamily="18" charset="0"/>
                  </a:rPr>
                  <a:t>amplitudes</a:t>
                </a:r>
                <a:r>
                  <a:rPr lang="en-US" altLang="ko-KR" sz="2000" dirty="0" smtClean="0">
                    <a:ea typeface="Cambria Math" panose="02040503050406030204" pitchFamily="18" charset="0"/>
                  </a:rPr>
                  <a:t> of 0 and 1.</a:t>
                </a:r>
                <a:endParaRPr lang="en-US" altLang="ko-KR" sz="20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6"/>
                <a:stretch>
                  <a:fillRect l="-812" t="-1961"/>
                </a:stretch>
              </a:blipFill>
            </p:spPr>
            <p:txBody>
              <a:bodyPr/>
              <a:lstStyle/>
              <a:p>
                <a:r>
                  <a:rPr lang="ko-KR" altLang="en-US">
                    <a:noFill/>
                  </a:rPr>
                  <a:t> </a:t>
                </a:r>
              </a:p>
            </p:txBody>
          </p:sp>
        </mc:Fallback>
      </mc:AlternateContent>
      <p:graphicFrame>
        <p:nvGraphicFramePr>
          <p:cNvPr id="5" name="개체 4"/>
          <p:cNvGraphicFramePr>
            <a:graphicFrameLocks noChangeAspect="1"/>
          </p:cNvGraphicFramePr>
          <p:nvPr>
            <p:extLst>
              <p:ext uri="{D42A27DB-BD31-4B8C-83A1-F6EECF244321}">
                <p14:modId xmlns:p14="http://schemas.microsoft.com/office/powerpoint/2010/main" val="3477145844"/>
              </p:ext>
            </p:extLst>
          </p:nvPr>
        </p:nvGraphicFramePr>
        <p:xfrm>
          <a:off x="10358686" y="5433232"/>
          <a:ext cx="1062170" cy="761222"/>
        </p:xfrm>
        <a:graphic>
          <a:graphicData uri="http://schemas.openxmlformats.org/presentationml/2006/ole">
            <mc:AlternateContent xmlns:mc="http://schemas.openxmlformats.org/markup-compatibility/2006">
              <mc:Choice xmlns:v="urn:schemas-microsoft-com:vml" Requires="v">
                <p:oleObj spid="_x0000_s1033" name="Bitmap Image" r:id="rId7" imgW="1714680" imgH="1228680" progId="PBrush">
                  <p:embed/>
                </p:oleObj>
              </mc:Choice>
              <mc:Fallback>
                <p:oleObj name="Bitmap Image" r:id="rId7" imgW="1714680" imgH="1228680" progId="PBrush">
                  <p:embed/>
                  <p:pic>
                    <p:nvPicPr>
                      <p:cNvPr id="5" name="개체 4"/>
                      <p:cNvPicPr/>
                      <p:nvPr/>
                    </p:nvPicPr>
                    <p:blipFill>
                      <a:blip r:embed="rId8"/>
                      <a:stretch>
                        <a:fillRect/>
                      </a:stretch>
                    </p:blipFill>
                    <p:spPr>
                      <a:xfrm>
                        <a:off x="10358686" y="5433232"/>
                        <a:ext cx="1062170" cy="761222"/>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TextBox 5"/>
              <p:cNvSpPr txBox="1"/>
              <p:nvPr/>
            </p:nvSpPr>
            <p:spPr>
              <a:xfrm>
                <a:off x="7572328" y="5436237"/>
                <a:ext cx="4403000" cy="13065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ko-KR" sz="4000" b="0" i="1" smtClean="0">
                              <a:latin typeface="Cambria Math" panose="02040503050406030204" pitchFamily="18" charset="0"/>
                            </a:rPr>
                          </m:ctrlPr>
                        </m:fPr>
                        <m:num>
                          <m:d>
                            <m:dPr>
                              <m:begChr m:val="|"/>
                              <m:endChr m:val="⟩"/>
                              <m:ctrlPr>
                                <a:rPr lang="en-US" altLang="ko-KR" sz="4000" i="1">
                                  <a:latin typeface="Cambria Math" panose="02040503050406030204" pitchFamily="18" charset="0"/>
                                </a:rPr>
                              </m:ctrlPr>
                            </m:dPr>
                            <m:e>
                              <m:r>
                                <a:rPr lang="en-US" altLang="ko-KR" sz="4000" i="1">
                                  <a:latin typeface="Cambria Math" panose="02040503050406030204" pitchFamily="18" charset="0"/>
                                </a:rPr>
                                <m:t>             </m:t>
                              </m:r>
                            </m:e>
                          </m:d>
                          <m:r>
                            <a:rPr lang="en-US" altLang="ko-KR" sz="4000" b="0" i="1" smtClean="0">
                              <a:latin typeface="Cambria Math" panose="02040503050406030204" pitchFamily="18" charset="0"/>
                            </a:rPr>
                            <m:t>+</m:t>
                          </m:r>
                          <m:d>
                            <m:dPr>
                              <m:begChr m:val="|"/>
                              <m:endChr m:val="⟩"/>
                              <m:ctrlPr>
                                <a:rPr lang="en-US" altLang="ko-KR" sz="4000" b="0" i="1" smtClean="0">
                                  <a:latin typeface="Cambria Math" panose="02040503050406030204" pitchFamily="18" charset="0"/>
                                </a:rPr>
                              </m:ctrlPr>
                            </m:dPr>
                            <m:e>
                              <m:r>
                                <a:rPr lang="en-US" altLang="ko-KR" sz="4000" b="0" i="1" smtClean="0">
                                  <a:latin typeface="Cambria Math" panose="02040503050406030204" pitchFamily="18" charset="0"/>
                                </a:rPr>
                                <m:t>             </m:t>
                              </m:r>
                            </m:e>
                          </m:d>
                        </m:num>
                        <m:den>
                          <m:rad>
                            <m:radPr>
                              <m:degHide m:val="on"/>
                              <m:ctrlPr>
                                <a:rPr lang="en-US" altLang="ko-KR" sz="4000" b="0" i="1" smtClean="0">
                                  <a:latin typeface="Cambria Math" panose="02040503050406030204" pitchFamily="18" charset="0"/>
                                </a:rPr>
                              </m:ctrlPr>
                            </m:radPr>
                            <m:deg/>
                            <m:e>
                              <m:r>
                                <a:rPr lang="en-US" altLang="ko-KR" sz="4000" b="0" i="1" smtClean="0">
                                  <a:latin typeface="Cambria Math" panose="02040503050406030204" pitchFamily="18" charset="0"/>
                                </a:rPr>
                                <m:t>2</m:t>
                              </m:r>
                            </m:e>
                          </m:rad>
                        </m:den>
                      </m:f>
                    </m:oMath>
                  </m:oMathPara>
                </a14:m>
                <a:endParaRPr lang="ko-KR" altLang="en-US" sz="4000" dirty="0"/>
              </a:p>
            </p:txBody>
          </p:sp>
        </mc:Choice>
        <mc:Fallback xmlns="">
          <p:sp>
            <p:nvSpPr>
              <p:cNvPr id="6" name="TextBox 5"/>
              <p:cNvSpPr txBox="1">
                <a:spLocks noRot="1" noChangeAspect="1" noMove="1" noResize="1" noEditPoints="1" noAdjustHandles="1" noChangeArrowheads="1" noChangeShapeType="1" noTextEdit="1"/>
              </p:cNvSpPr>
              <p:nvPr/>
            </p:nvSpPr>
            <p:spPr>
              <a:xfrm>
                <a:off x="7572328" y="5436237"/>
                <a:ext cx="4403000" cy="1306512"/>
              </a:xfrm>
              <a:prstGeom prst="rect">
                <a:avLst/>
              </a:prstGeom>
              <a:blipFill>
                <a:blip r:embed="rId9"/>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55197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dirty="0" smtClean="0"/>
              <a:t>Qubit as a unit vector</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altLang="ko-KR" sz="2400" dirty="0" smtClean="0"/>
                  <a:t>A single qubit state (1-qubit) can be written as:</a:t>
                </a:r>
                <a:endParaRPr lang="en-US" sz="2800" b="0" i="1" dirty="0" smtClean="0">
                  <a:latin typeface="Cambria Math" panose="02040503050406030204" pitchFamily="18" charset="0"/>
                  <a:ea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d>
                        <m:dPr>
                          <m:begChr m:val="|"/>
                          <m:endChr m:val="⟩"/>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𝜓</m:t>
                          </m:r>
                        </m:e>
                      </m:d>
                      <m:r>
                        <a:rPr lang="en-US" altLang="ko-KR" sz="2800" b="0" i="0" smtClean="0">
                          <a:latin typeface="Cambria Math" panose="02040503050406030204" pitchFamily="18" charset="0"/>
                          <a:ea typeface="Cambria Math" panose="02040503050406030204" pitchFamily="18" charset="0"/>
                        </a:rPr>
                        <m:t>=</m:t>
                      </m:r>
                      <m:r>
                        <a:rPr lang="en-US" altLang="ko-KR" sz="2800" i="1">
                          <a:latin typeface="Cambria Math" panose="02040503050406030204" pitchFamily="18" charset="0"/>
                          <a:ea typeface="Cambria Math" panose="02040503050406030204" pitchFamily="18" charset="0"/>
                        </a:rPr>
                        <m:t>𝛼</m:t>
                      </m:r>
                      <m:d>
                        <m:dPr>
                          <m:begChr m:val="|"/>
                          <m:endChr m:val="⟩"/>
                          <m:ctrlPr>
                            <a:rPr lang="en-US" altLang="ko-KR" sz="2800" i="1">
                              <a:latin typeface="Cambria Math" panose="02040503050406030204" pitchFamily="18" charset="0"/>
                              <a:ea typeface="Cambria Math" panose="02040503050406030204" pitchFamily="18" charset="0"/>
                            </a:rPr>
                          </m:ctrlPr>
                        </m:dPr>
                        <m:e>
                          <m:r>
                            <a:rPr lang="en-US" altLang="ko-KR" sz="2800" i="1">
                              <a:latin typeface="Cambria Math" panose="02040503050406030204" pitchFamily="18" charset="0"/>
                              <a:ea typeface="Cambria Math" panose="02040503050406030204" pitchFamily="18" charset="0"/>
                            </a:rPr>
                            <m:t>0</m:t>
                          </m:r>
                        </m:e>
                      </m:d>
                      <m:r>
                        <a:rPr lang="en-US" altLang="ko-KR" sz="2800" i="1">
                          <a:latin typeface="Cambria Math" panose="02040503050406030204" pitchFamily="18" charset="0"/>
                          <a:ea typeface="Cambria Math" panose="02040503050406030204" pitchFamily="18" charset="0"/>
                        </a:rPr>
                        <m:t>+</m:t>
                      </m:r>
                      <m:r>
                        <a:rPr lang="en-US" altLang="ko-KR" sz="2800" i="1">
                          <a:latin typeface="Cambria Math" panose="02040503050406030204" pitchFamily="18" charset="0"/>
                          <a:ea typeface="Cambria Math" panose="02040503050406030204" pitchFamily="18" charset="0"/>
                        </a:rPr>
                        <m:t>𝛽</m:t>
                      </m:r>
                      <m:d>
                        <m:dPr>
                          <m:begChr m:val="|"/>
                          <m:endChr m:val="⟩"/>
                          <m:ctrlPr>
                            <a:rPr lang="en-US" altLang="ko-KR" sz="2800" i="1">
                              <a:latin typeface="Cambria Math" panose="02040503050406030204" pitchFamily="18" charset="0"/>
                              <a:ea typeface="Cambria Math" panose="02040503050406030204" pitchFamily="18" charset="0"/>
                            </a:rPr>
                          </m:ctrlPr>
                        </m:dPr>
                        <m:e>
                          <m:r>
                            <a:rPr lang="en-US" altLang="ko-KR" sz="2800" i="1">
                              <a:latin typeface="Cambria Math" panose="02040503050406030204" pitchFamily="18" charset="0"/>
                              <a:ea typeface="Cambria Math" panose="02040503050406030204" pitchFamily="18" charset="0"/>
                            </a:rPr>
                            <m:t>1</m:t>
                          </m:r>
                        </m:e>
                      </m:d>
                      <m:r>
                        <a:rPr lang="en-US" altLang="ko-KR" sz="2800" b="0" i="1" smtClean="0">
                          <a:latin typeface="Cambria Math" panose="02040503050406030204" pitchFamily="18" charset="0"/>
                          <a:ea typeface="Cambria Math" panose="02040503050406030204" pitchFamily="18" charset="0"/>
                        </a:rPr>
                        <m:t>=</m:t>
                      </m:r>
                      <m:d>
                        <m:dPr>
                          <m:ctrlPr>
                            <a:rPr lang="en-US" altLang="ko-KR" sz="2800" i="1">
                              <a:latin typeface="Cambria Math" panose="02040503050406030204" pitchFamily="18" charset="0"/>
                              <a:ea typeface="Cambria Math" panose="02040503050406030204" pitchFamily="18" charset="0"/>
                            </a:rPr>
                          </m:ctrlPr>
                        </m:dPr>
                        <m:e>
                          <m:eqArr>
                            <m:eqArrPr>
                              <m:ctrlPr>
                                <a:rPr lang="en-US" altLang="ko-KR" sz="2800" i="1">
                                  <a:latin typeface="Cambria Math" panose="02040503050406030204" pitchFamily="18" charset="0"/>
                                  <a:ea typeface="Cambria Math" panose="02040503050406030204" pitchFamily="18" charset="0"/>
                                </a:rPr>
                              </m:ctrlPr>
                            </m:eqArrPr>
                            <m:e>
                              <m:r>
                                <a:rPr lang="en-US" altLang="ko-KR" sz="2800" b="0" i="1" smtClean="0">
                                  <a:latin typeface="Cambria Math" panose="02040503050406030204" pitchFamily="18" charset="0"/>
                                  <a:ea typeface="Cambria Math" panose="02040503050406030204" pitchFamily="18" charset="0"/>
                                </a:rPr>
                                <m:t>𝛼</m:t>
                              </m:r>
                            </m:e>
                            <m:e>
                              <m:r>
                                <a:rPr lang="en-US" altLang="ko-KR" sz="2800" b="0" i="1" smtClean="0">
                                  <a:latin typeface="Cambria Math" panose="02040503050406030204" pitchFamily="18" charset="0"/>
                                  <a:ea typeface="Cambria Math" panose="02040503050406030204" pitchFamily="18" charset="0"/>
                                </a:rPr>
                                <m:t>𝛽</m:t>
                              </m:r>
                            </m:e>
                          </m:eqArr>
                        </m:e>
                      </m:d>
                    </m:oMath>
                  </m:oMathPara>
                </a14:m>
                <a:endParaRPr lang="en-US" sz="2800" dirty="0" smtClean="0"/>
              </a:p>
              <a:p>
                <a:pPr marL="0" indent="0">
                  <a:buNone/>
                </a:pPr>
                <a:r>
                  <a:rPr lang="en-US" sz="2400" dirty="0" smtClean="0">
                    <a:solidFill>
                      <a:srgbClr val="FF0000"/>
                    </a:solidFill>
                  </a:rPr>
                  <a:t>where </a:t>
                </a:r>
                <a14:m>
                  <m:oMath xmlns:m="http://schemas.openxmlformats.org/officeDocument/2006/math">
                    <m:r>
                      <a:rPr lang="en-US" altLang="ko-KR" sz="2400" b="0" i="1">
                        <a:solidFill>
                          <a:srgbClr val="FF0000"/>
                        </a:solidFill>
                        <a:latin typeface="Cambria Math" panose="02040503050406030204" pitchFamily="18" charset="0"/>
                        <a:ea typeface="Cambria Math" panose="02040503050406030204" pitchFamily="18" charset="0"/>
                      </a:rPr>
                      <m:t>𝛼</m:t>
                    </m:r>
                    <m:r>
                      <a:rPr lang="en-US" altLang="ko-KR" sz="2400" b="0" i="1" smtClean="0">
                        <a:solidFill>
                          <a:srgbClr val="FF0000"/>
                        </a:solidFill>
                        <a:latin typeface="Cambria Math" panose="02040503050406030204" pitchFamily="18" charset="0"/>
                        <a:ea typeface="Cambria Math" panose="02040503050406030204" pitchFamily="18" charset="0"/>
                      </a:rPr>
                      <m:t>,</m:t>
                    </m:r>
                    <m:r>
                      <a:rPr lang="en-US" altLang="ko-KR" sz="2400" b="0" i="1" smtClean="0">
                        <a:solidFill>
                          <a:srgbClr val="FF0000"/>
                        </a:solidFill>
                        <a:latin typeface="Cambria Math" panose="02040503050406030204" pitchFamily="18" charset="0"/>
                        <a:ea typeface="Cambria Math" panose="02040503050406030204" pitchFamily="18" charset="0"/>
                      </a:rPr>
                      <m:t>𝛽</m:t>
                    </m:r>
                    <m:r>
                      <a:rPr lang="en-US" altLang="ko-KR" sz="2400" b="0" i="1" smtClean="0">
                        <a:solidFill>
                          <a:srgbClr val="FF0000"/>
                        </a:solidFill>
                        <a:latin typeface="Cambria Math" panose="02040503050406030204" pitchFamily="18" charset="0"/>
                        <a:ea typeface="Cambria Math" panose="02040503050406030204" pitchFamily="18" charset="0"/>
                      </a:rPr>
                      <m:t>∈</m:t>
                    </m:r>
                    <m:r>
                      <a:rPr lang="en-US" altLang="ko-KR" sz="2400" b="0" i="1" smtClean="0">
                        <a:solidFill>
                          <a:srgbClr val="FF0000"/>
                        </a:solidFill>
                        <a:latin typeface="Cambria Math" panose="02040503050406030204" pitchFamily="18" charset="0"/>
                        <a:ea typeface="Cambria Math" panose="02040503050406030204" pitchFamily="18" charset="0"/>
                      </a:rPr>
                      <m:t>ℂ</m:t>
                    </m:r>
                  </m:oMath>
                </a14:m>
                <a:r>
                  <a:rPr lang="en-US" sz="2400" dirty="0" smtClean="0">
                    <a:solidFill>
                      <a:srgbClr val="FF0000"/>
                    </a:solidFill>
                  </a:rPr>
                  <a:t> such that </a:t>
                </a:r>
                <a14:m>
                  <m:oMath xmlns:m="http://schemas.openxmlformats.org/officeDocument/2006/math">
                    <m:r>
                      <m:rPr>
                        <m:lit/>
                      </m:rPr>
                      <a:rPr lang="en-US" altLang="ko-KR" sz="2400" b="0" i="1" smtClean="0">
                        <a:solidFill>
                          <a:srgbClr val="FF0000"/>
                        </a:solidFill>
                        <a:latin typeface="Cambria Math" panose="02040503050406030204" pitchFamily="18" charset="0"/>
                        <a:ea typeface="Cambria Math" panose="02040503050406030204" pitchFamily="18" charset="0"/>
                      </a:rPr>
                      <m:t>|</m:t>
                    </m:r>
                    <m:r>
                      <a:rPr lang="en-US" altLang="ko-KR" sz="2400" b="0" i="1">
                        <a:solidFill>
                          <a:srgbClr val="FF0000"/>
                        </a:solidFill>
                        <a:latin typeface="Cambria Math" panose="02040503050406030204" pitchFamily="18" charset="0"/>
                        <a:ea typeface="Cambria Math" panose="02040503050406030204" pitchFamily="18" charset="0"/>
                      </a:rPr>
                      <m:t>𝛼</m:t>
                    </m:r>
                    <m:sSup>
                      <m:sSupPr>
                        <m:ctrlPr>
                          <a:rPr lang="en-US" altLang="ko-KR" sz="2400" i="1" smtClean="0">
                            <a:solidFill>
                              <a:srgbClr val="FF0000"/>
                            </a:solidFill>
                            <a:latin typeface="Cambria Math" panose="02040503050406030204" pitchFamily="18" charset="0"/>
                            <a:ea typeface="Cambria Math" panose="02040503050406030204" pitchFamily="18" charset="0"/>
                          </a:rPr>
                        </m:ctrlPr>
                      </m:sSupPr>
                      <m:e>
                        <m:r>
                          <m:rPr>
                            <m:lit/>
                          </m:rPr>
                          <a:rPr lang="en-US" altLang="ko-KR" sz="2400" b="0" i="1" smtClean="0">
                            <a:solidFill>
                              <a:srgbClr val="FF0000"/>
                            </a:solidFill>
                            <a:latin typeface="Cambria Math" panose="02040503050406030204" pitchFamily="18" charset="0"/>
                            <a:ea typeface="Cambria Math" panose="02040503050406030204" pitchFamily="18" charset="0"/>
                          </a:rPr>
                          <m:t>|</m:t>
                        </m:r>
                      </m:e>
                      <m:sup>
                        <m:r>
                          <a:rPr lang="en-US" altLang="ko-KR" sz="2400" b="0" i="1" smtClean="0">
                            <a:solidFill>
                              <a:srgbClr val="FF0000"/>
                            </a:solidFill>
                            <a:latin typeface="Cambria Math" panose="02040503050406030204" pitchFamily="18" charset="0"/>
                            <a:ea typeface="Cambria Math" panose="02040503050406030204" pitchFamily="18" charset="0"/>
                          </a:rPr>
                          <m:t>2</m:t>
                        </m:r>
                      </m:sup>
                    </m:sSup>
                    <m:r>
                      <a:rPr lang="en-US" altLang="ko-KR" sz="2400" b="0" i="1" smtClean="0">
                        <a:solidFill>
                          <a:srgbClr val="FF0000"/>
                        </a:solidFill>
                        <a:latin typeface="Cambria Math" panose="02040503050406030204" pitchFamily="18" charset="0"/>
                        <a:ea typeface="Cambria Math" panose="02040503050406030204" pitchFamily="18" charset="0"/>
                      </a:rPr>
                      <m:t>+</m:t>
                    </m:r>
                    <m:sSup>
                      <m:sSupPr>
                        <m:ctrlPr>
                          <a:rPr lang="en-US" altLang="ko-KR" sz="2400" i="1" smtClean="0">
                            <a:solidFill>
                              <a:srgbClr val="FF0000"/>
                            </a:solidFill>
                            <a:latin typeface="Cambria Math" panose="02040503050406030204" pitchFamily="18" charset="0"/>
                            <a:ea typeface="Cambria Math" panose="02040503050406030204" pitchFamily="18" charset="0"/>
                          </a:rPr>
                        </m:ctrlPr>
                      </m:sSupPr>
                      <m:e>
                        <m:d>
                          <m:dPr>
                            <m:begChr m:val="|"/>
                            <m:endChr m:val="|"/>
                            <m:ctrlPr>
                              <a:rPr lang="en-US" altLang="ko-KR" sz="2400" i="1" smtClean="0">
                                <a:solidFill>
                                  <a:srgbClr val="FF0000"/>
                                </a:solidFill>
                                <a:latin typeface="Cambria Math" panose="02040503050406030204" pitchFamily="18" charset="0"/>
                                <a:ea typeface="Cambria Math" panose="02040503050406030204" pitchFamily="18" charset="0"/>
                              </a:rPr>
                            </m:ctrlPr>
                          </m:dPr>
                          <m:e>
                            <m:r>
                              <a:rPr lang="en-US" altLang="ko-KR" sz="2400" b="0" i="1" smtClean="0">
                                <a:solidFill>
                                  <a:srgbClr val="FF0000"/>
                                </a:solidFill>
                                <a:latin typeface="Cambria Math" panose="02040503050406030204" pitchFamily="18" charset="0"/>
                                <a:ea typeface="Cambria Math" panose="02040503050406030204" pitchFamily="18" charset="0"/>
                              </a:rPr>
                              <m:t>𝛽</m:t>
                            </m:r>
                          </m:e>
                        </m:d>
                      </m:e>
                      <m:sup>
                        <m:r>
                          <a:rPr lang="en-US" altLang="ko-KR" sz="2400" b="0" i="1" smtClean="0">
                            <a:solidFill>
                              <a:srgbClr val="FF0000"/>
                            </a:solidFill>
                            <a:latin typeface="Cambria Math" panose="02040503050406030204" pitchFamily="18" charset="0"/>
                            <a:ea typeface="Cambria Math" panose="02040503050406030204" pitchFamily="18" charset="0"/>
                          </a:rPr>
                          <m:t>2</m:t>
                        </m:r>
                      </m:sup>
                    </m:sSup>
                    <m:r>
                      <a:rPr lang="en-US" altLang="ko-KR" sz="2400" b="0" i="1" smtClean="0">
                        <a:solidFill>
                          <a:srgbClr val="FF0000"/>
                        </a:solidFill>
                        <a:latin typeface="Cambria Math" panose="02040503050406030204" pitchFamily="18" charset="0"/>
                        <a:ea typeface="Cambria Math" panose="02040503050406030204" pitchFamily="18" charset="0"/>
                      </a:rPr>
                      <m:t>=1</m:t>
                    </m:r>
                  </m:oMath>
                </a14:m>
                <a:r>
                  <a:rPr lang="en-US" altLang="ko-KR" sz="2400" dirty="0" smtClean="0">
                    <a:solidFill>
                      <a:srgbClr val="FF0000"/>
                    </a:solidFill>
                    <a:ea typeface="Cambria Math" panose="02040503050406030204" pitchFamily="18" charset="0"/>
                  </a:rPr>
                  <a:t>.</a:t>
                </a:r>
                <a:endParaRPr lang="en-US" sz="2400" dirty="0" smtClean="0">
                  <a:solidFill>
                    <a:srgbClr val="FF0000"/>
                  </a:solidFill>
                </a:endParaRPr>
              </a:p>
              <a:p>
                <a:pPr marL="0" indent="0">
                  <a:buNone/>
                </a:pPr>
                <a:endParaRPr lang="en-US" sz="2400" dirty="0"/>
              </a:p>
              <a:p>
                <a:pPr marL="0" indent="0">
                  <a:buNone/>
                </a:pPr>
                <a:r>
                  <a:rPr lang="en-US" sz="2400" dirty="0" smtClean="0"/>
                  <a:t>In other words, a qubit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𝜓</m:t>
                        </m:r>
                      </m:e>
                    </m:d>
                  </m:oMath>
                </a14:m>
                <a:r>
                  <a:rPr lang="en-US" sz="2400" dirty="0" smtClean="0"/>
                  <a:t> is a two-dimensional unit vector in </a:t>
                </a:r>
                <a14:m>
                  <m:oMath xmlns:m="http://schemas.openxmlformats.org/officeDocument/2006/math">
                    <m:sSup>
                      <m:sSupPr>
                        <m:ctrlPr>
                          <a:rPr lang="en-US" altLang="ko-KR" sz="2400" b="0" i="1" smtClean="0">
                            <a:latin typeface="Cambria Math" panose="02040503050406030204" pitchFamily="18" charset="0"/>
                            <a:ea typeface="Cambria Math" panose="02040503050406030204" pitchFamily="18" charset="0"/>
                          </a:rPr>
                        </m:ctrlPr>
                      </m:sSupPr>
                      <m:e>
                        <m:r>
                          <a:rPr lang="en-US" altLang="ko-KR" sz="2400" i="1">
                            <a:latin typeface="Cambria Math" panose="02040503050406030204" pitchFamily="18" charset="0"/>
                            <a:ea typeface="Cambria Math" panose="02040503050406030204" pitchFamily="18" charset="0"/>
                          </a:rPr>
                          <m:t>ℂ</m:t>
                        </m:r>
                      </m:e>
                      <m:sup>
                        <m:r>
                          <a:rPr lang="en-US" altLang="ko-KR" sz="2400" b="0" i="1" smtClean="0">
                            <a:latin typeface="Cambria Math" panose="02040503050406030204" pitchFamily="18" charset="0"/>
                            <a:ea typeface="Cambria Math" panose="02040503050406030204" pitchFamily="18" charset="0"/>
                          </a:rPr>
                          <m:t>2</m:t>
                        </m:r>
                      </m:sup>
                    </m:sSup>
                  </m:oMath>
                </a14:m>
                <a:r>
                  <a:rPr lang="en-US" sz="2400" dirty="0" smtClean="0"/>
                  <a:t>.</a:t>
                </a:r>
              </a:p>
              <a:p>
                <a:pPr marL="0" indent="0">
                  <a:buNone/>
                </a:pPr>
                <a:endParaRPr lang="en-US" sz="2400" dirty="0"/>
              </a:p>
              <a:p>
                <a:pPr marL="0" indent="0">
                  <a:buNone/>
                </a:pPr>
                <a:r>
                  <a:rPr lang="en-US" sz="1800" dirty="0" smtClean="0"/>
                  <a:t>(Likewise, a quantum system of d distinguishable states is a d-dimensional unit vector in </a:t>
                </a:r>
                <a14:m>
                  <m:oMath xmlns:m="http://schemas.openxmlformats.org/officeDocument/2006/math">
                    <m:sSup>
                      <m:sSupPr>
                        <m:ctrlPr>
                          <a:rPr lang="en-US" altLang="ko-KR" sz="1800" i="1">
                            <a:latin typeface="Cambria Math" panose="02040503050406030204" pitchFamily="18" charset="0"/>
                            <a:ea typeface="Cambria Math" panose="02040503050406030204" pitchFamily="18" charset="0"/>
                          </a:rPr>
                        </m:ctrlPr>
                      </m:sSupPr>
                      <m:e>
                        <m:r>
                          <a:rPr lang="en-US" altLang="ko-KR" sz="1800" i="1">
                            <a:latin typeface="Cambria Math" panose="02040503050406030204" pitchFamily="18" charset="0"/>
                            <a:ea typeface="Cambria Math" panose="02040503050406030204" pitchFamily="18" charset="0"/>
                          </a:rPr>
                          <m:t>ℂ</m:t>
                        </m:r>
                      </m:e>
                      <m:sup>
                        <m:r>
                          <a:rPr lang="en-US" altLang="ko-KR" sz="1800" b="0" i="1" smtClean="0">
                            <a:latin typeface="Cambria Math" panose="02040503050406030204" pitchFamily="18" charset="0"/>
                            <a:ea typeface="Cambria Math" panose="02040503050406030204" pitchFamily="18" charset="0"/>
                          </a:rPr>
                          <m:t>𝑑</m:t>
                        </m:r>
                      </m:sup>
                    </m:sSup>
                  </m:oMath>
                </a14:m>
                <a:r>
                  <a:rPr lang="en-US" sz="1800" dirty="0" smtClean="0"/>
                  <a:t>.)</a:t>
                </a:r>
              </a:p>
              <a:p>
                <a:pPr marL="0" indent="0">
                  <a:buNone/>
                </a:pPr>
                <a:r>
                  <a:rPr lang="en-US" altLang="ko-KR" sz="1800" dirty="0" smtClean="0"/>
                  <a:t>(</a:t>
                </a:r>
                <a:r>
                  <a:rPr lang="en-US" altLang="ko-KR" sz="1800" dirty="0"/>
                  <a:t>Likewise, </a:t>
                </a:r>
                <a14:m>
                  <m:oMath xmlns:m="http://schemas.openxmlformats.org/officeDocument/2006/math">
                    <m:r>
                      <a:rPr lang="en-US" altLang="ko-KR" sz="1800" b="0" i="1" smtClean="0">
                        <a:latin typeface="Cambria Math" panose="02040503050406030204" pitchFamily="18" charset="0"/>
                        <a:ea typeface="Cambria Math" panose="02040503050406030204" pitchFamily="18" charset="0"/>
                      </a:rPr>
                      <m:t>𝑛</m:t>
                    </m:r>
                  </m:oMath>
                </a14:m>
                <a:r>
                  <a:rPr lang="en-US" altLang="ko-KR" sz="1800" dirty="0" smtClean="0"/>
                  <a:t>-qubit </a:t>
                </a:r>
                <a:r>
                  <a:rPr lang="en-US" altLang="ko-KR" sz="1800" dirty="0"/>
                  <a:t>states is a d-dimensional unit vector in </a:t>
                </a:r>
                <a14:m>
                  <m:oMath xmlns:m="http://schemas.openxmlformats.org/officeDocument/2006/math">
                    <m:sSup>
                      <m:sSupPr>
                        <m:ctrlPr>
                          <a:rPr lang="en-US" altLang="ko-KR" sz="1800" i="1">
                            <a:latin typeface="Cambria Math" panose="02040503050406030204" pitchFamily="18" charset="0"/>
                            <a:ea typeface="Cambria Math" panose="02040503050406030204" pitchFamily="18" charset="0"/>
                          </a:rPr>
                        </m:ctrlPr>
                      </m:sSupPr>
                      <m:e>
                        <m:r>
                          <a:rPr lang="en-US" altLang="ko-KR" sz="1800" i="1">
                            <a:latin typeface="Cambria Math" panose="02040503050406030204" pitchFamily="18" charset="0"/>
                            <a:ea typeface="Cambria Math" panose="02040503050406030204" pitchFamily="18" charset="0"/>
                          </a:rPr>
                          <m:t>ℂ</m:t>
                        </m:r>
                      </m:e>
                      <m:sup>
                        <m:sSup>
                          <m:sSupPr>
                            <m:ctrlPr>
                              <a:rPr lang="en-US" altLang="ko-KR" sz="1800" b="0" i="1" smtClean="0">
                                <a:latin typeface="Cambria Math" panose="02040503050406030204" pitchFamily="18" charset="0"/>
                                <a:ea typeface="Cambria Math" panose="02040503050406030204" pitchFamily="18" charset="0"/>
                              </a:rPr>
                            </m:ctrlPr>
                          </m:sSupPr>
                          <m:e>
                            <m:r>
                              <a:rPr lang="en-US" altLang="ko-KR" sz="1800" b="0" i="1" smtClean="0">
                                <a:latin typeface="Cambria Math" panose="02040503050406030204" pitchFamily="18" charset="0"/>
                                <a:ea typeface="Cambria Math" panose="02040503050406030204" pitchFamily="18" charset="0"/>
                              </a:rPr>
                              <m:t>2</m:t>
                            </m:r>
                          </m:e>
                          <m:sup>
                            <m:r>
                              <a:rPr lang="en-US" altLang="ko-KR" sz="1800" b="0" i="1" smtClean="0">
                                <a:latin typeface="Cambria Math" panose="02040503050406030204" pitchFamily="18" charset="0"/>
                                <a:ea typeface="Cambria Math" panose="02040503050406030204" pitchFamily="18" charset="0"/>
                              </a:rPr>
                              <m:t>𝑛</m:t>
                            </m:r>
                          </m:sup>
                        </m:sSup>
                      </m:sup>
                    </m:sSup>
                  </m:oMath>
                </a14:m>
                <a:r>
                  <a:rPr lang="en-US" altLang="ko-KR" sz="1800" dirty="0" smtClean="0"/>
                  <a:t>.)</a:t>
                </a:r>
                <a:endParaRPr lang="en-US" sz="1800" dirty="0"/>
              </a:p>
              <a:p>
                <a:pPr marL="0" indent="0">
                  <a:buNone/>
                </a:pPr>
                <a:endParaRPr lang="en-US" altLang="ko-KR" sz="1400" dirty="0" smtClean="0"/>
              </a:p>
              <a:p>
                <a:pPr marL="0" indent="0">
                  <a:buNone/>
                </a:pPr>
                <a:r>
                  <a:rPr lang="en-US" altLang="ko-KR" sz="1400" dirty="0" smtClean="0"/>
                  <a:t>A </a:t>
                </a:r>
                <a:r>
                  <a:rPr lang="en-US" altLang="ko-KR" sz="1400" dirty="0"/>
                  <a:t>state of quantum data (=quantum state) is usually written as Greek words (</a:t>
                </a:r>
                <a14:m>
                  <m:oMath xmlns:m="http://schemas.openxmlformats.org/officeDocument/2006/math">
                    <m:d>
                      <m:dPr>
                        <m:begChr m:val="|"/>
                        <m:endChr m:val="⟩"/>
                        <m:ctrlPr>
                          <a:rPr lang="en-US" altLang="ko-KR" sz="1400" i="1">
                            <a:latin typeface="Cambria Math" panose="02040503050406030204" pitchFamily="18" charset="0"/>
                          </a:rPr>
                        </m:ctrlPr>
                      </m:dPr>
                      <m:e>
                        <m:r>
                          <a:rPr lang="en-US" altLang="ko-KR" sz="1400" i="1">
                            <a:latin typeface="Cambria Math" panose="02040503050406030204" pitchFamily="18" charset="0"/>
                          </a:rPr>
                          <m:t>𝜙</m:t>
                        </m:r>
                      </m:e>
                    </m:d>
                    <m:r>
                      <a:rPr lang="en-US" altLang="ko-KR" sz="1400" i="1">
                        <a:latin typeface="Cambria Math" panose="02040503050406030204" pitchFamily="18" charset="0"/>
                      </a:rPr>
                      <m:t>,</m:t>
                    </m:r>
                    <m:d>
                      <m:dPr>
                        <m:begChr m:val="|"/>
                        <m:endChr m:val="⟩"/>
                        <m:ctrlPr>
                          <a:rPr lang="en-US" altLang="ko-KR" sz="1400" i="1">
                            <a:latin typeface="Cambria Math" panose="02040503050406030204" pitchFamily="18" charset="0"/>
                          </a:rPr>
                        </m:ctrlPr>
                      </m:dPr>
                      <m:e>
                        <m:r>
                          <a:rPr lang="en-US" altLang="ko-KR" sz="1400" i="1">
                            <a:latin typeface="Cambria Math" panose="02040503050406030204" pitchFamily="18" charset="0"/>
                          </a:rPr>
                          <m:t>𝜓</m:t>
                        </m:r>
                      </m:e>
                    </m:d>
                    <m:r>
                      <a:rPr lang="en-US" altLang="ko-KR" sz="1400" i="1">
                        <a:latin typeface="Cambria Math" panose="02040503050406030204" pitchFamily="18" charset="0"/>
                      </a:rPr>
                      <m:t>,</m:t>
                    </m:r>
                    <m:d>
                      <m:dPr>
                        <m:begChr m:val="|"/>
                        <m:endChr m:val="⟩"/>
                        <m:ctrlPr>
                          <a:rPr lang="en-US" altLang="ko-KR" sz="1400" i="1">
                            <a:latin typeface="Cambria Math" panose="02040503050406030204" pitchFamily="18" charset="0"/>
                          </a:rPr>
                        </m:ctrlPr>
                      </m:dPr>
                      <m:e>
                        <m:r>
                          <a:rPr lang="en-US" altLang="ko-KR" sz="1400" i="1">
                            <a:latin typeface="Cambria Math" panose="02040503050406030204" pitchFamily="18" charset="0"/>
                          </a:rPr>
                          <m:t>𝜌</m:t>
                        </m:r>
                      </m:e>
                    </m:d>
                  </m:oMath>
                </a14:m>
                <a:r>
                  <a:rPr lang="en-US" altLang="ko-KR" sz="1400" dirty="0"/>
                  <a:t>, </a:t>
                </a:r>
                <a:r>
                  <a:rPr lang="en-US" altLang="ko-KR" sz="1400" dirty="0" err="1"/>
                  <a:t>etc</a:t>
                </a:r>
                <a:r>
                  <a:rPr lang="en-US" altLang="ko-KR" sz="1400" dirty="0"/>
                  <a:t>)</a:t>
                </a:r>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t="-1961" b="-280"/>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669139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altLang="ko-KR" dirty="0" smtClean="0"/>
              <a:t>Examples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altLang="ko-KR" sz="2400" dirty="0" smtClean="0"/>
                  <a:t>Classical states</a:t>
                </a:r>
                <a:endParaRPr lang="en-US" altLang="ko-KR" sz="2400" dirty="0" smtClean="0">
                  <a:ea typeface="Cambria Math" panose="02040503050406030204" pitchFamily="18" charset="0"/>
                </a:endParaRPr>
              </a:p>
              <a:p>
                <a:pPr marL="0" indent="0" algn="ctr">
                  <a:buNone/>
                </a:pP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i="1">
                                <a:latin typeface="Cambria Math" panose="02040503050406030204" pitchFamily="18" charset="0"/>
                                <a:ea typeface="Cambria Math" panose="02040503050406030204" pitchFamily="18" charset="0"/>
                              </a:rPr>
                              <m:t>1</m:t>
                            </m:r>
                          </m:e>
                          <m:e>
                            <m:r>
                              <a:rPr lang="en-US" altLang="ko-KR" sz="2400" i="1">
                                <a:latin typeface="Cambria Math" panose="02040503050406030204" pitchFamily="18" charset="0"/>
                                <a:ea typeface="Cambria Math" panose="02040503050406030204" pitchFamily="18" charset="0"/>
                              </a:rPr>
                              <m:t>0</m:t>
                            </m:r>
                          </m:e>
                        </m:eqArr>
                      </m:e>
                    </m:d>
                    <m:r>
                      <a:rPr lang="en-US" altLang="ko-KR" sz="2400" b="0" i="1" smtClean="0">
                        <a:latin typeface="Cambria Math" panose="02040503050406030204" pitchFamily="18" charset="0"/>
                        <a:ea typeface="Cambria Math" panose="02040503050406030204" pitchFamily="18" charset="0"/>
                      </a:rPr>
                      <m:t> </m:t>
                    </m:r>
                  </m:oMath>
                </a14:m>
                <a:r>
                  <a:rPr lang="en-US" altLang="ko-KR" sz="2400" dirty="0" smtClean="0">
                    <a:ea typeface="Cambria Math" panose="02040503050406030204" pitchFamily="18" charset="0"/>
                  </a:rPr>
                  <a:t> and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1</m:t>
                        </m:r>
                      </m:e>
                    </m:d>
                    <m:r>
                      <a:rPr lang="en-US" altLang="ko-KR" sz="2400" b="0" i="1" smtClean="0">
                        <a:latin typeface="Cambria Math" panose="02040503050406030204" pitchFamily="18" charset="0"/>
                        <a:ea typeface="Cambria Math" panose="02040503050406030204" pitchFamily="18" charset="0"/>
                      </a:rPr>
                      <m:t>=</m:t>
                    </m:r>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b="0" i="1" smtClean="0">
                                <a:latin typeface="Cambria Math" panose="02040503050406030204" pitchFamily="18" charset="0"/>
                                <a:ea typeface="Cambria Math" panose="02040503050406030204" pitchFamily="18" charset="0"/>
                              </a:rPr>
                              <m:t>0</m:t>
                            </m:r>
                          </m:e>
                          <m:e>
                            <m:r>
                              <a:rPr lang="en-US" altLang="ko-KR" sz="2400" b="0" i="1" smtClean="0">
                                <a:latin typeface="Cambria Math" panose="02040503050406030204" pitchFamily="18" charset="0"/>
                                <a:ea typeface="Cambria Math" panose="02040503050406030204" pitchFamily="18" charset="0"/>
                              </a:rPr>
                              <m:t>1</m:t>
                            </m:r>
                          </m:e>
                        </m:eqArr>
                      </m:e>
                    </m:d>
                  </m:oMath>
                </a14:m>
                <a:endParaRPr lang="en-US" altLang="ko-KR" sz="2400" dirty="0" smtClean="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t="-1961"/>
                </a:stretch>
              </a:blipFill>
            </p:spPr>
            <p:txBody>
              <a:bodyPr/>
              <a:lstStyle/>
              <a:p>
                <a:r>
                  <a:rPr lang="ko-KR" altLang="en-US">
                    <a:noFill/>
                  </a:rPr>
                  <a:t> </a:t>
                </a:r>
              </a:p>
            </p:txBody>
          </p:sp>
        </mc:Fallback>
      </mc:AlternateContent>
      <p:sp>
        <p:nvSpPr>
          <p:cNvPr id="7" name="모서리가 둥근 직사각형 6"/>
          <p:cNvSpPr/>
          <p:nvPr/>
        </p:nvSpPr>
        <p:spPr>
          <a:xfrm>
            <a:off x="8668871" y="1048871"/>
            <a:ext cx="2684929" cy="641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Check on board</a:t>
            </a:r>
            <a:endParaRPr lang="ko-KR" altLang="en-US" dirty="0"/>
          </a:p>
        </p:txBody>
      </p:sp>
    </p:spTree>
    <p:extLst>
      <p:ext uri="{BB962C8B-B14F-4D97-AF65-F5344CB8AC3E}">
        <p14:creationId xmlns:p14="http://schemas.microsoft.com/office/powerpoint/2010/main" val="16815626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altLang="ko-KR" dirty="0" smtClean="0"/>
              <a:t>Examples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altLang="ko-KR" sz="2400" dirty="0" smtClean="0"/>
                  <a:t>Uniform </a:t>
                </a:r>
                <a:r>
                  <a:rPr lang="en-US" altLang="ko-KR" sz="2400" dirty="0" err="1" smtClean="0"/>
                  <a:t>superpositions</a:t>
                </a:r>
                <a:endParaRPr lang="en-US" altLang="ko-KR" sz="2400" dirty="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m:t>
                          </m:r>
                        </m:e>
                      </m:d>
                      <m:r>
                        <a:rPr lang="en-US" altLang="ko-KR" sz="2400" b="0" i="1" smtClean="0">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1</m:t>
                          </m:r>
                        </m:num>
                        <m:den>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1</m:t>
                          </m:r>
                        </m:num>
                        <m:den>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1</m:t>
                          </m:r>
                        </m:e>
                      </m:d>
                      <m:r>
                        <a:rPr lang="en-US" altLang="ko-KR" sz="2400" i="1">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1</m:t>
                          </m:r>
                        </m:num>
                        <m:den>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den>
                      </m:f>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i="1">
                                  <a:latin typeface="Cambria Math" panose="02040503050406030204" pitchFamily="18" charset="0"/>
                                  <a:ea typeface="Cambria Math" panose="02040503050406030204" pitchFamily="18" charset="0"/>
                                </a:rPr>
                                <m:t>1</m:t>
                              </m:r>
                            </m:e>
                            <m:e>
                              <m:r>
                                <a:rPr lang="en-US" altLang="ko-KR" sz="2400" b="0" i="1" smtClean="0">
                                  <a:latin typeface="Cambria Math" panose="02040503050406030204" pitchFamily="18" charset="0"/>
                                  <a:ea typeface="Cambria Math" panose="02040503050406030204" pitchFamily="18" charset="0"/>
                                </a:rPr>
                                <m:t>1</m:t>
                              </m:r>
                            </m:e>
                          </m:eqArr>
                        </m:e>
                      </m:d>
                      <m:r>
                        <a:rPr lang="en-US" altLang="ko-KR" sz="2400" b="0" i="1" smtClean="0">
                          <a:latin typeface="Cambria Math" panose="02040503050406030204" pitchFamily="18" charset="0"/>
                          <a:ea typeface="Cambria Math" panose="02040503050406030204" pitchFamily="18" charset="0"/>
                        </a:rPr>
                        <m:t>=</m:t>
                      </m:r>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i="1">
                                  <a:latin typeface="Cambria Math" panose="02040503050406030204" pitchFamily="18" charset="0"/>
                                  <a:ea typeface="Cambria Math" panose="02040503050406030204" pitchFamily="18" charset="0"/>
                                </a:rPr>
                                <m:t>1</m:t>
                              </m:r>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e>
                            <m:e>
                              <m:r>
                                <a:rPr lang="en-US" altLang="ko-KR" sz="2400" i="1">
                                  <a:latin typeface="Cambria Math" panose="02040503050406030204" pitchFamily="18" charset="0"/>
                                  <a:ea typeface="Cambria Math" panose="02040503050406030204" pitchFamily="18" charset="0"/>
                                </a:rPr>
                                <m:t>1</m:t>
                              </m:r>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e>
                          </m:eqArr>
                        </m:e>
                      </m:d>
                    </m:oMath>
                  </m:oMathPara>
                </a14:m>
                <a:endParaRPr lang="en-US" altLang="ko-KR" sz="2400" dirty="0" smtClean="0">
                  <a:ea typeface="Cambria Math" panose="02040503050406030204" pitchFamily="18" charset="0"/>
                </a:endParaRPr>
              </a:p>
              <a:p>
                <a:pPr marL="0" indent="0" algn="ctr">
                  <a:buNone/>
                </a:pPr>
                <a:endParaRPr lang="en-US" altLang="ko-KR" sz="2400" dirty="0" smtClean="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m:t>
                          </m:r>
                        </m:e>
                      </m:d>
                      <m:r>
                        <a:rPr lang="en-US" altLang="ko-KR" sz="2400" b="0" i="1" smtClean="0">
                          <a:latin typeface="Cambria Math" panose="02040503050406030204" pitchFamily="18" charset="0"/>
                          <a:ea typeface="Cambria Math" panose="02040503050406030204" pitchFamily="18" charset="0"/>
                        </a:rPr>
                        <m:t>=</m:t>
                      </m:r>
                      <m:f>
                        <m:fPr>
                          <m:ctrlPr>
                            <a:rPr lang="en-US" altLang="ko-KR" sz="2400" i="1">
                              <a:latin typeface="Cambria Math" panose="02040503050406030204" pitchFamily="18" charset="0"/>
                              <a:ea typeface="Cambria Math" panose="02040503050406030204" pitchFamily="18" charset="0"/>
                            </a:rPr>
                          </m:ctrlPr>
                        </m:fPr>
                        <m:num>
                          <m:r>
                            <a:rPr lang="en-US" altLang="ko-KR" sz="2400" i="1">
                              <a:latin typeface="Cambria Math" panose="02040503050406030204" pitchFamily="18" charset="0"/>
                              <a:ea typeface="Cambria Math" panose="02040503050406030204" pitchFamily="18" charset="0"/>
                            </a:rPr>
                            <m:t>1</m:t>
                          </m:r>
                        </m:num>
                        <m:den>
                          <m:rad>
                            <m:radPr>
                              <m:degHide m:val="on"/>
                              <m:ctrlPr>
                                <a:rPr lang="en-US" altLang="ko-KR" sz="2400" i="1">
                                  <a:latin typeface="Cambria Math" panose="02040503050406030204" pitchFamily="18" charset="0"/>
                                  <a:ea typeface="Cambria Math" panose="02040503050406030204" pitchFamily="18" charset="0"/>
                                </a:rPr>
                              </m:ctrlPr>
                            </m:radPr>
                            <m:deg/>
                            <m:e>
                              <m:r>
                                <a:rPr lang="en-US" altLang="ko-KR" sz="2400" i="1">
                                  <a:latin typeface="Cambria Math" panose="02040503050406030204" pitchFamily="18" charset="0"/>
                                  <a:ea typeface="Cambria Math" panose="02040503050406030204" pitchFamily="18" charset="0"/>
                                </a:rPr>
                                <m:t>2</m:t>
                              </m:r>
                            </m:e>
                          </m:rad>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f>
                        <m:fPr>
                          <m:ctrlPr>
                            <a:rPr lang="en-US" altLang="ko-KR" sz="2400" i="1">
                              <a:latin typeface="Cambria Math" panose="02040503050406030204" pitchFamily="18" charset="0"/>
                              <a:ea typeface="Cambria Math" panose="02040503050406030204" pitchFamily="18" charset="0"/>
                            </a:rPr>
                          </m:ctrlPr>
                        </m:fPr>
                        <m:num>
                          <m:r>
                            <a:rPr lang="en-US" altLang="ko-KR" sz="2400" i="1">
                              <a:latin typeface="Cambria Math" panose="02040503050406030204" pitchFamily="18" charset="0"/>
                              <a:ea typeface="Cambria Math" panose="02040503050406030204" pitchFamily="18" charset="0"/>
                            </a:rPr>
                            <m:t>1</m:t>
                          </m:r>
                        </m:num>
                        <m:den>
                          <m:rad>
                            <m:radPr>
                              <m:degHide m:val="on"/>
                              <m:ctrlPr>
                                <a:rPr lang="en-US" altLang="ko-KR" sz="2400" i="1">
                                  <a:latin typeface="Cambria Math" panose="02040503050406030204" pitchFamily="18" charset="0"/>
                                  <a:ea typeface="Cambria Math" panose="02040503050406030204" pitchFamily="18" charset="0"/>
                                </a:rPr>
                              </m:ctrlPr>
                            </m:radPr>
                            <m:deg/>
                            <m:e>
                              <m:r>
                                <a:rPr lang="en-US" altLang="ko-KR" sz="2400" i="1">
                                  <a:latin typeface="Cambria Math" panose="02040503050406030204" pitchFamily="18" charset="0"/>
                                  <a:ea typeface="Cambria Math" panose="02040503050406030204" pitchFamily="18" charset="0"/>
                                </a:rPr>
                                <m:t>2</m:t>
                              </m:r>
                            </m:e>
                          </m:rad>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1</m:t>
                          </m:r>
                        </m:e>
                      </m:d>
                      <m:r>
                        <a:rPr lang="en-US" altLang="ko-KR" sz="2400" i="1">
                          <a:latin typeface="Cambria Math" panose="02040503050406030204" pitchFamily="18" charset="0"/>
                          <a:ea typeface="Cambria Math" panose="02040503050406030204" pitchFamily="18" charset="0"/>
                        </a:rPr>
                        <m:t>=</m:t>
                      </m:r>
                      <m:f>
                        <m:fPr>
                          <m:ctrlPr>
                            <a:rPr lang="en-US" altLang="ko-KR" sz="2400" i="1">
                              <a:latin typeface="Cambria Math" panose="02040503050406030204" pitchFamily="18" charset="0"/>
                              <a:ea typeface="Cambria Math" panose="02040503050406030204" pitchFamily="18" charset="0"/>
                            </a:rPr>
                          </m:ctrlPr>
                        </m:fPr>
                        <m:num>
                          <m:r>
                            <a:rPr lang="en-US" altLang="ko-KR" sz="2400" i="1">
                              <a:latin typeface="Cambria Math" panose="02040503050406030204" pitchFamily="18" charset="0"/>
                              <a:ea typeface="Cambria Math" panose="02040503050406030204" pitchFamily="18" charset="0"/>
                            </a:rPr>
                            <m:t>1</m:t>
                          </m:r>
                        </m:num>
                        <m:den>
                          <m:rad>
                            <m:radPr>
                              <m:degHide m:val="on"/>
                              <m:ctrlPr>
                                <a:rPr lang="en-US" altLang="ko-KR" sz="2400" i="1">
                                  <a:latin typeface="Cambria Math" panose="02040503050406030204" pitchFamily="18" charset="0"/>
                                  <a:ea typeface="Cambria Math" panose="02040503050406030204" pitchFamily="18" charset="0"/>
                                </a:rPr>
                              </m:ctrlPr>
                            </m:radPr>
                            <m:deg/>
                            <m:e>
                              <m:r>
                                <a:rPr lang="en-US" altLang="ko-KR" sz="2400" i="1">
                                  <a:latin typeface="Cambria Math" panose="02040503050406030204" pitchFamily="18" charset="0"/>
                                  <a:ea typeface="Cambria Math" panose="02040503050406030204" pitchFamily="18" charset="0"/>
                                </a:rPr>
                                <m:t>2</m:t>
                              </m:r>
                            </m:e>
                          </m:rad>
                        </m:den>
                      </m:f>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i="1">
                                  <a:latin typeface="Cambria Math" panose="02040503050406030204" pitchFamily="18" charset="0"/>
                                  <a:ea typeface="Cambria Math" panose="02040503050406030204" pitchFamily="18" charset="0"/>
                                </a:rPr>
                                <m:t>1</m:t>
                              </m:r>
                            </m:e>
                            <m:e>
                              <m:r>
                                <a:rPr lang="en-US" altLang="ko-KR" sz="2400" b="0" i="1" smtClean="0">
                                  <a:latin typeface="Cambria Math" panose="02040503050406030204" pitchFamily="18" charset="0"/>
                                  <a:ea typeface="Cambria Math" panose="02040503050406030204" pitchFamily="18" charset="0"/>
                                </a:rPr>
                                <m:t>−</m:t>
                              </m:r>
                              <m:r>
                                <a:rPr lang="en-US" altLang="ko-KR" sz="2400" i="1">
                                  <a:latin typeface="Cambria Math" panose="02040503050406030204" pitchFamily="18" charset="0"/>
                                  <a:ea typeface="Cambria Math" panose="02040503050406030204" pitchFamily="18" charset="0"/>
                                </a:rPr>
                                <m:t>1</m:t>
                              </m:r>
                            </m:e>
                          </m:eqArr>
                        </m:e>
                      </m:d>
                      <m:r>
                        <a:rPr lang="en-US" altLang="ko-KR" sz="2400" b="0" i="1" smtClean="0">
                          <a:latin typeface="Cambria Math" panose="02040503050406030204" pitchFamily="18" charset="0"/>
                          <a:ea typeface="Cambria Math" panose="02040503050406030204" pitchFamily="18" charset="0"/>
                        </a:rPr>
                        <m:t>=</m:t>
                      </m:r>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i="1">
                                  <a:latin typeface="Cambria Math" panose="02040503050406030204" pitchFamily="18" charset="0"/>
                                  <a:ea typeface="Cambria Math" panose="02040503050406030204" pitchFamily="18" charset="0"/>
                                </a:rPr>
                                <m:t>1</m:t>
                              </m:r>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e>
                            <m:e>
                              <m:r>
                                <a:rPr lang="en-US" altLang="ko-KR" sz="2400" i="1">
                                  <a:latin typeface="Cambria Math" panose="02040503050406030204" pitchFamily="18" charset="0"/>
                                  <a:ea typeface="Cambria Math" panose="02040503050406030204" pitchFamily="18" charset="0"/>
                                </a:rPr>
                                <m:t>−1</m:t>
                              </m:r>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e>
                          </m:eqArr>
                        </m:e>
                      </m:d>
                    </m:oMath>
                  </m:oMathPara>
                </a14:m>
                <a:endParaRPr lang="en-US" altLang="ko-KR" sz="2400" dirty="0">
                  <a:ea typeface="Cambria Math" panose="02040503050406030204" pitchFamily="18" charset="0"/>
                </a:endParaRPr>
              </a:p>
              <a:p>
                <a:pPr marL="0" indent="0" algn="ctr">
                  <a:buNone/>
                </a:pPr>
                <a:endParaRPr lang="en-US" altLang="ko-KR" sz="24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t="-1961"/>
                </a:stretch>
              </a:blipFill>
            </p:spPr>
            <p:txBody>
              <a:bodyPr/>
              <a:lstStyle/>
              <a:p>
                <a:r>
                  <a:rPr lang="ko-KR" altLang="en-US">
                    <a:noFill/>
                  </a:rPr>
                  <a:t> </a:t>
                </a:r>
              </a:p>
            </p:txBody>
          </p:sp>
        </mc:Fallback>
      </mc:AlternateContent>
      <p:sp>
        <p:nvSpPr>
          <p:cNvPr id="16" name="모서리가 둥근 직사각형 15"/>
          <p:cNvSpPr/>
          <p:nvPr/>
        </p:nvSpPr>
        <p:spPr>
          <a:xfrm>
            <a:off x="8668871" y="1048871"/>
            <a:ext cx="2684929" cy="641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Check on board</a:t>
            </a:r>
            <a:endParaRPr lang="ko-KR" altLang="en-US" dirty="0"/>
          </a:p>
        </p:txBody>
      </p:sp>
    </p:spTree>
    <p:extLst>
      <p:ext uri="{BB962C8B-B14F-4D97-AF65-F5344CB8AC3E}">
        <p14:creationId xmlns:p14="http://schemas.microsoft.com/office/powerpoint/2010/main" val="8217881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altLang="ko-KR" dirty="0" smtClean="0"/>
              <a:t>Examples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altLang="ko-KR" sz="2400" dirty="0" smtClean="0"/>
                  <a:t>Another example</a:t>
                </a:r>
                <a:endParaRPr lang="en-US" altLang="ko-KR" sz="2400" dirty="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𝜙</m:t>
                          </m:r>
                        </m:e>
                      </m:d>
                      <m:r>
                        <a:rPr lang="en-US" altLang="ko-KR" sz="2400" b="0" i="1" smtClean="0">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𝑖</m:t>
                          </m:r>
                        </m:num>
                        <m:den>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3</m:t>
                              </m:r>
                            </m:e>
                          </m:rad>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2</m:t>
                              </m:r>
                            </m:num>
                            <m:den>
                              <m:r>
                                <a:rPr lang="en-US" altLang="ko-KR" sz="2400" b="0" i="1" smtClean="0">
                                  <a:latin typeface="Cambria Math" panose="02040503050406030204" pitchFamily="18" charset="0"/>
                                  <a:ea typeface="Cambria Math" panose="02040503050406030204" pitchFamily="18" charset="0"/>
                                </a:rPr>
                                <m:t>3</m:t>
                              </m:r>
                            </m:den>
                          </m:f>
                        </m:e>
                      </m:rad>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1</m:t>
                          </m:r>
                        </m:e>
                      </m:d>
                      <m:r>
                        <a:rPr lang="en-US" altLang="ko-KR" sz="2400" i="1">
                          <a:latin typeface="Cambria Math" panose="02040503050406030204" pitchFamily="18" charset="0"/>
                          <a:ea typeface="Cambria Math" panose="02040503050406030204" pitchFamily="18" charset="0"/>
                        </a:rPr>
                        <m:t>=</m:t>
                      </m:r>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b="0" i="1" smtClean="0">
                                  <a:latin typeface="Cambria Math" panose="02040503050406030204" pitchFamily="18" charset="0"/>
                                  <a:ea typeface="Cambria Math" panose="02040503050406030204" pitchFamily="18" charset="0"/>
                                </a:rPr>
                                <m:t>𝑖</m:t>
                              </m:r>
                              <m:r>
                                <a:rPr lang="en-US" altLang="ko-KR" sz="2400" b="0" i="1" smtClean="0">
                                  <a:latin typeface="Cambria Math" panose="02040503050406030204" pitchFamily="18" charset="0"/>
                                  <a:ea typeface="Cambria Math" panose="02040503050406030204" pitchFamily="18" charset="0"/>
                                </a:rPr>
                                <m:t>/√3</m:t>
                              </m:r>
                            </m:e>
                            <m:e>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3</m:t>
                                  </m:r>
                                </m:e>
                              </m:rad>
                            </m:e>
                          </m:eqArr>
                        </m:e>
                      </m:d>
                    </m:oMath>
                  </m:oMathPara>
                </a14:m>
                <a:endParaRPr lang="en-US" altLang="ko-KR" sz="2400" dirty="0" smtClean="0">
                  <a:ea typeface="Cambria Math" panose="02040503050406030204" pitchFamily="18" charset="0"/>
                </a:endParaRPr>
              </a:p>
              <a:p>
                <a:pPr marL="0" indent="0">
                  <a:buNone/>
                </a:pPr>
                <a:endParaRPr lang="en-US" altLang="ko-KR" sz="2400" dirty="0" smtClean="0"/>
              </a:p>
              <a:p>
                <a:pPr marL="0" indent="0">
                  <a:buNone/>
                </a:pPr>
                <a:endParaRPr lang="en-US" altLang="ko-KR" sz="2400" dirty="0" smtClean="0"/>
              </a:p>
              <a:p>
                <a:pPr marL="0" indent="0">
                  <a:buNone/>
                </a:pPr>
                <a:endParaRPr lang="en-US" altLang="ko-KR" sz="2400" dirty="0" smtClean="0"/>
              </a:p>
              <a:p>
                <a:pPr marL="0" indent="0">
                  <a:buNone/>
                </a:pPr>
                <a:r>
                  <a:rPr lang="en-US" altLang="ko-KR" sz="2400" dirty="0" smtClean="0"/>
                  <a:t>Non-valid example</a:t>
                </a:r>
                <a:endParaRPr lang="en-US" altLang="ko-KR" sz="2400" i="1" dirty="0" smtClean="0">
                  <a:latin typeface="Cambria Math" panose="02040503050406030204" pitchFamily="18" charset="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altLang="ko-KR" sz="2400" b="0" i="1" smtClean="0">
                          <a:latin typeface="Cambria Math" panose="02040503050406030204" pitchFamily="18" charset="0"/>
                          <a:ea typeface="Cambria Math" panose="02040503050406030204" pitchFamily="18" charset="0"/>
                        </a:rPr>
                        <m:t>𝑖</m:t>
                      </m:r>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1</m:t>
                          </m:r>
                        </m:num>
                        <m:den>
                          <m:r>
                            <a:rPr lang="en-US" altLang="ko-KR" sz="2400" b="0" i="1" smtClean="0">
                              <a:latin typeface="Cambria Math" panose="02040503050406030204" pitchFamily="18" charset="0"/>
                              <a:ea typeface="Cambria Math" panose="02040503050406030204" pitchFamily="18" charset="0"/>
                            </a:rPr>
                            <m:t>2</m:t>
                          </m:r>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1</m:t>
                          </m:r>
                        </m:e>
                      </m:d>
                    </m:oMath>
                  </m:oMathPara>
                </a14:m>
                <a:endParaRPr lang="en-US" altLang="ko-KR" sz="2400" dirty="0">
                  <a:ea typeface="Cambria Math" panose="02040503050406030204" pitchFamily="18" charset="0"/>
                </a:endParaRPr>
              </a:p>
              <a:p>
                <a:pPr marL="0" indent="0" algn="ctr">
                  <a:buNone/>
                </a:pPr>
                <a:endParaRPr lang="en-US" altLang="ko-KR" sz="24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t="-1961"/>
                </a:stretch>
              </a:blipFill>
            </p:spPr>
            <p:txBody>
              <a:bodyPr/>
              <a:lstStyle/>
              <a:p>
                <a:r>
                  <a:rPr lang="ko-KR" altLang="en-US">
                    <a:noFill/>
                  </a:rPr>
                  <a:t> </a:t>
                </a:r>
              </a:p>
            </p:txBody>
          </p:sp>
        </mc:Fallback>
      </mc:AlternateContent>
      <p:sp>
        <p:nvSpPr>
          <p:cNvPr id="7" name="모서리가 둥근 직사각형 6"/>
          <p:cNvSpPr/>
          <p:nvPr/>
        </p:nvSpPr>
        <p:spPr>
          <a:xfrm>
            <a:off x="8668871" y="1048871"/>
            <a:ext cx="2684929" cy="641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Check on board</a:t>
            </a:r>
            <a:endParaRPr lang="ko-KR" altLang="en-US" dirty="0"/>
          </a:p>
        </p:txBody>
      </p:sp>
    </p:spTree>
    <p:extLst>
      <p:ext uri="{BB962C8B-B14F-4D97-AF65-F5344CB8AC3E}">
        <p14:creationId xmlns:p14="http://schemas.microsoft.com/office/powerpoint/2010/main" val="27978721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dirty="0" smtClean="0"/>
              <a:t>The first operation: Observing qubits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sz="2400" dirty="0" smtClean="0"/>
                  <a:t>The classical state of a qubit cannot be directly observed.</a:t>
                </a:r>
                <a:endParaRPr lang="en-US" altLang="ko-KR" sz="2400" b="0" i="1" dirty="0" smtClean="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𝜓</m:t>
                          </m:r>
                        </m:e>
                      </m:d>
                      <m:r>
                        <a:rPr lang="en-US" altLang="ko-KR" sz="2400" b="0" i="1" smtClean="0">
                          <a:latin typeface="Cambria Math" panose="02040503050406030204" pitchFamily="18" charset="0"/>
                          <a:ea typeface="Cambria Math" panose="02040503050406030204" pitchFamily="18" charset="0"/>
                        </a:rPr>
                        <m:t>=</m:t>
                      </m:r>
                      <m:r>
                        <a:rPr lang="en-US" altLang="ko-KR" sz="2400" i="1">
                          <a:latin typeface="Cambria Math" panose="02040503050406030204" pitchFamily="18" charset="0"/>
                          <a:ea typeface="Cambria Math" panose="02040503050406030204" pitchFamily="18" charset="0"/>
                        </a:rPr>
                        <m:t>𝛼</m:t>
                      </m:r>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i="1">
                          <a:latin typeface="Cambria Math" panose="02040503050406030204" pitchFamily="18" charset="0"/>
                          <a:ea typeface="Cambria Math" panose="02040503050406030204" pitchFamily="18" charset="0"/>
                        </a:rPr>
                        <m:t>+</m:t>
                      </m:r>
                      <m:r>
                        <a:rPr lang="en-US" altLang="ko-KR" sz="2400" i="1">
                          <a:latin typeface="Cambria Math" panose="02040503050406030204" pitchFamily="18" charset="0"/>
                          <a:ea typeface="Cambria Math" panose="02040503050406030204" pitchFamily="18" charset="0"/>
                        </a:rPr>
                        <m:t>𝛽</m:t>
                      </m:r>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1</m:t>
                          </m:r>
                        </m:e>
                      </m:d>
                    </m:oMath>
                  </m:oMathPara>
                </a14:m>
                <a:endParaRPr lang="en-US" altLang="ko-KR" sz="2400" dirty="0" smtClean="0">
                  <a:ea typeface="Cambria Math" panose="02040503050406030204" pitchFamily="18" charset="0"/>
                </a:endParaRPr>
              </a:p>
              <a:p>
                <a:pPr marL="0" indent="0">
                  <a:buNone/>
                </a:pPr>
                <a:endParaRPr lang="en-US" sz="2400" dirty="0" smtClean="0"/>
              </a:p>
              <a:p>
                <a:pPr marL="0" indent="0">
                  <a:buNone/>
                </a:pPr>
                <a:r>
                  <a:rPr lang="en-US" sz="2400" dirty="0" smtClean="0"/>
                  <a:t>It must be </a:t>
                </a:r>
                <a:r>
                  <a:rPr lang="en-US" sz="2400" b="1" dirty="0" smtClean="0"/>
                  <a:t>measured</a:t>
                </a:r>
                <a:r>
                  <a:rPr lang="en-US" sz="2400" dirty="0" smtClean="0"/>
                  <a:t>, yielding a classical state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oMath>
                </a14:m>
                <a:r>
                  <a:rPr lang="en-US" altLang="ko-KR" sz="2400" dirty="0" smtClean="0">
                    <a:ea typeface="Cambria Math" panose="02040503050406030204" pitchFamily="18" charset="0"/>
                  </a:rPr>
                  <a:t> or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1</m:t>
                        </m:r>
                      </m:e>
                    </m:d>
                  </m:oMath>
                </a14:m>
                <a:r>
                  <a:rPr lang="en-US" altLang="ko-KR" sz="2400" dirty="0" smtClean="0">
                    <a:ea typeface="Cambria Math" panose="02040503050406030204" pitchFamily="18" charset="0"/>
                  </a:rPr>
                  <a:t> with probabilities</a:t>
                </a: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	</a:t>
                </a:r>
                <a:r>
                  <a:rPr lang="en-US" altLang="ko-KR" sz="2400" dirty="0" err="1" smtClean="0">
                    <a:ea typeface="Cambria Math" panose="02040503050406030204" pitchFamily="18" charset="0"/>
                  </a:rPr>
                  <a:t>Pr</a:t>
                </a:r>
                <a:r>
                  <a:rPr lang="en-US" altLang="ko-KR" sz="2400" dirty="0" smtClean="0">
                    <a:ea typeface="Cambria Math" panose="02040503050406030204" pitchFamily="18" charset="0"/>
                  </a:rPr>
                  <a:t>[observing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oMath>
                </a14:m>
                <a:r>
                  <a:rPr lang="en-US" altLang="ko-KR" sz="2400" dirty="0" smtClean="0">
                    <a:ea typeface="Cambria Math" panose="02040503050406030204" pitchFamily="18" charset="0"/>
                  </a:rPr>
                  <a:t>]=</a:t>
                </a:r>
                <a14:m>
                  <m:oMath xmlns:m="http://schemas.openxmlformats.org/officeDocument/2006/math">
                    <m:sSup>
                      <m:sSupPr>
                        <m:ctrlPr>
                          <a:rPr lang="en-US" altLang="ko-KR" sz="2400" b="0" i="1" smtClean="0">
                            <a:latin typeface="Cambria Math" panose="02040503050406030204" pitchFamily="18" charset="0"/>
                            <a:ea typeface="Cambria Math" panose="02040503050406030204" pitchFamily="18" charset="0"/>
                          </a:rPr>
                        </m:ctrlPr>
                      </m:sSupPr>
                      <m:e>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𝛼</m:t>
                            </m:r>
                          </m:e>
                        </m:d>
                      </m:e>
                      <m:sup>
                        <m:r>
                          <a:rPr lang="en-US" altLang="ko-KR" sz="2400" b="0" i="1" smtClean="0">
                            <a:latin typeface="Cambria Math" panose="02040503050406030204" pitchFamily="18" charset="0"/>
                            <a:ea typeface="Cambria Math" panose="02040503050406030204" pitchFamily="18" charset="0"/>
                          </a:rPr>
                          <m:t>2</m:t>
                        </m:r>
                      </m:sup>
                    </m:sSup>
                  </m:oMath>
                </a14:m>
                <a:r>
                  <a:rPr lang="en-US" altLang="ko-KR" sz="2400" dirty="0">
                    <a:ea typeface="Cambria Math" panose="02040503050406030204" pitchFamily="18" charset="0"/>
                  </a:rPr>
                  <a:t>	</a:t>
                </a:r>
                <a:r>
                  <a:rPr lang="en-US" altLang="ko-KR" sz="2400" dirty="0" smtClean="0">
                    <a:ea typeface="Cambria Math" panose="02040503050406030204" pitchFamily="18" charset="0"/>
                  </a:rPr>
                  <a:t>		</a:t>
                </a:r>
                <a:r>
                  <a:rPr lang="en-US" altLang="ko-KR" sz="2400" dirty="0" err="1" smtClean="0">
                    <a:ea typeface="Cambria Math" panose="02040503050406030204" pitchFamily="18" charset="0"/>
                  </a:rPr>
                  <a:t>Pr</a:t>
                </a:r>
                <a:r>
                  <a:rPr lang="en-US" altLang="ko-KR" sz="2400" dirty="0" smtClean="0">
                    <a:ea typeface="Cambria Math" panose="02040503050406030204" pitchFamily="18" charset="0"/>
                  </a:rPr>
                  <a:t>[observing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1</m:t>
                        </m:r>
                      </m:e>
                    </m:d>
                  </m:oMath>
                </a14:m>
                <a:r>
                  <a:rPr lang="en-US" altLang="ko-KR" sz="2400" dirty="0">
                    <a:ea typeface="Cambria Math" panose="02040503050406030204" pitchFamily="18" charset="0"/>
                  </a:rPr>
                  <a:t>]=</a:t>
                </a:r>
                <a14:m>
                  <m:oMath xmlns:m="http://schemas.openxmlformats.org/officeDocument/2006/math">
                    <m:sSup>
                      <m:sSupPr>
                        <m:ctrlPr>
                          <a:rPr lang="en-US" altLang="ko-KR" sz="2400" i="1">
                            <a:latin typeface="Cambria Math" panose="02040503050406030204" pitchFamily="18" charset="0"/>
                            <a:ea typeface="Cambria Math" panose="02040503050406030204" pitchFamily="18" charset="0"/>
                          </a:rPr>
                        </m:ctrlPr>
                      </m:sSupPr>
                      <m:e>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𝛽</m:t>
                            </m:r>
                          </m:e>
                        </m:d>
                      </m:e>
                      <m:sup>
                        <m:r>
                          <a:rPr lang="en-US" altLang="ko-KR" sz="2400" i="1">
                            <a:latin typeface="Cambria Math" panose="02040503050406030204" pitchFamily="18" charset="0"/>
                            <a:ea typeface="Cambria Math" panose="02040503050406030204" pitchFamily="18" charset="0"/>
                          </a:rPr>
                          <m:t>2</m:t>
                        </m:r>
                      </m:sup>
                    </m:sSup>
                  </m:oMath>
                </a14:m>
                <a:endParaRPr lang="en-US" altLang="ko-KR" sz="2400" dirty="0" smtClean="0">
                  <a:ea typeface="Cambria Math" panose="02040503050406030204" pitchFamily="18" charset="0"/>
                </a:endParaRP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Note that </a:t>
                </a:r>
                <a14:m>
                  <m:oMath xmlns:m="http://schemas.openxmlformats.org/officeDocument/2006/math">
                    <m:sSup>
                      <m:sSupPr>
                        <m:ctrlPr>
                          <a:rPr lang="en-US" altLang="ko-KR" sz="2400" i="1">
                            <a:latin typeface="Cambria Math" panose="02040503050406030204" pitchFamily="18" charset="0"/>
                            <a:ea typeface="Cambria Math" panose="02040503050406030204" pitchFamily="18" charset="0"/>
                          </a:rPr>
                        </m:ctrlPr>
                      </m:sSupPr>
                      <m:e>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𝛼</m:t>
                            </m:r>
                          </m:e>
                        </m:d>
                      </m:e>
                      <m:sup>
                        <m:r>
                          <a:rPr lang="en-US" altLang="ko-KR" sz="2400" i="1">
                            <a:latin typeface="Cambria Math" panose="02040503050406030204" pitchFamily="18" charset="0"/>
                            <a:ea typeface="Cambria Math" panose="02040503050406030204" pitchFamily="18" charset="0"/>
                          </a:rPr>
                          <m:t>2</m:t>
                        </m:r>
                      </m:sup>
                    </m:sSup>
                    <m:r>
                      <a:rPr lang="en-US" altLang="ko-KR" sz="2400" b="0" i="1" smtClean="0">
                        <a:latin typeface="Cambria Math" panose="02040503050406030204" pitchFamily="18" charset="0"/>
                        <a:ea typeface="Cambria Math" panose="02040503050406030204" pitchFamily="18" charset="0"/>
                      </a:rPr>
                      <m:t>+</m:t>
                    </m:r>
                    <m:sSup>
                      <m:sSupPr>
                        <m:ctrlPr>
                          <a:rPr lang="en-US" altLang="ko-KR" sz="2400" b="0" i="1" smtClean="0">
                            <a:latin typeface="Cambria Math" panose="02040503050406030204" pitchFamily="18" charset="0"/>
                            <a:ea typeface="Cambria Math" panose="02040503050406030204" pitchFamily="18" charset="0"/>
                          </a:rPr>
                        </m:ctrlPr>
                      </m:sSupPr>
                      <m:e>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𝛽</m:t>
                            </m:r>
                          </m:e>
                        </m:d>
                      </m:e>
                      <m:sup>
                        <m:r>
                          <a:rPr lang="en-US" altLang="ko-KR" sz="2400" b="0" i="1" smtClean="0">
                            <a:latin typeface="Cambria Math" panose="02040503050406030204" pitchFamily="18" charset="0"/>
                            <a:ea typeface="Cambria Math" panose="02040503050406030204" pitchFamily="18" charset="0"/>
                          </a:rPr>
                          <m:t>2</m:t>
                        </m:r>
                      </m:sup>
                    </m:sSup>
                    <m:r>
                      <a:rPr lang="en-US" altLang="ko-KR" sz="2400" b="0" i="1" smtClean="0">
                        <a:latin typeface="Cambria Math" panose="02040503050406030204" pitchFamily="18" charset="0"/>
                        <a:ea typeface="Cambria Math" panose="02040503050406030204" pitchFamily="18" charset="0"/>
                      </a:rPr>
                      <m:t>=1</m:t>
                    </m:r>
                  </m:oMath>
                </a14:m>
                <a:r>
                  <a:rPr lang="en-US" altLang="ko-KR" sz="2400" dirty="0" smtClean="0">
                    <a:ea typeface="Cambria Math" panose="02040503050406030204" pitchFamily="18" charset="0"/>
                  </a:rPr>
                  <a:t>, so these probabilities add up to 1.</a:t>
                </a:r>
                <a:endParaRPr lang="en-US" altLang="ko-KR" sz="2400" dirty="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r>
                  <a:rPr lang="en-US" altLang="ko-KR" sz="2400" dirty="0">
                    <a:ea typeface="Cambria Math" panose="02040503050406030204" pitchFamily="18" charset="0"/>
                  </a:rPr>
                  <a:t>The process is called the </a:t>
                </a:r>
                <a:r>
                  <a:rPr lang="en-US" altLang="ko-KR" sz="2400" b="1" dirty="0" smtClean="0">
                    <a:ea typeface="Cambria Math" panose="02040503050406030204" pitchFamily="18" charset="0"/>
                  </a:rPr>
                  <a:t>measurement</a:t>
                </a:r>
                <a:r>
                  <a:rPr lang="en-US" altLang="ko-KR" sz="2400" dirty="0" smtClean="0">
                    <a:ea typeface="Cambria Math" panose="02040503050406030204" pitchFamily="18" charset="0"/>
                  </a:rPr>
                  <a:t>.</a:t>
                </a:r>
                <a:r>
                  <a:rPr lang="en-US" altLang="ko-KR" sz="2400" dirty="0">
                    <a:ea typeface="Cambria Math" panose="02040503050406030204" pitchFamily="18" charset="0"/>
                  </a:rPr>
                  <a:t/>
                </a:r>
                <a:br>
                  <a:rPr lang="en-US" altLang="ko-KR" sz="2400" dirty="0">
                    <a:ea typeface="Cambria Math" panose="02040503050406030204" pitchFamily="18" charset="0"/>
                  </a:rPr>
                </a:br>
                <a:r>
                  <a:rPr lang="en-US" altLang="ko-KR" sz="2400" dirty="0" smtClean="0">
                    <a:ea typeface="Cambria Math" panose="02040503050406030204" pitchFamily="18" charset="0"/>
                  </a:rPr>
                  <a:t>This formula is called the </a:t>
                </a:r>
                <a:r>
                  <a:rPr lang="en-US" altLang="ko-KR" sz="2400" b="1" dirty="0">
                    <a:ea typeface="Cambria Math" panose="02040503050406030204" pitchFamily="18" charset="0"/>
                  </a:rPr>
                  <a:t>Born Rule</a:t>
                </a:r>
                <a:r>
                  <a:rPr lang="en-US" altLang="ko-KR" sz="2400" dirty="0" smtClean="0">
                    <a:ea typeface="Cambria Math" panose="02040503050406030204" pitchFamily="18" charset="0"/>
                  </a:rPr>
                  <a:t>. </a:t>
                </a:r>
                <a:endParaRPr lang="en-US" altLang="ko-KR" sz="24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t="-1961" r="-464" b="-140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80015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altLang="ko-KR" dirty="0"/>
              <a:t>The first operation: Observing qubits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sz="2400" dirty="0" smtClean="0"/>
                  <a:t>After measurement, the system becomes </a:t>
                </a:r>
                <a:r>
                  <a:rPr lang="en-US" sz="2400" b="1" dirty="0" smtClean="0"/>
                  <a:t>classical</a:t>
                </a:r>
                <a:r>
                  <a:rPr lang="en-US" sz="2400" dirty="0" smtClean="0"/>
                  <a:t>.</a:t>
                </a: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 The state of qubit </a:t>
                </a:r>
                <a:r>
                  <a:rPr lang="en-US" altLang="ko-KR" sz="2400" b="1" dirty="0" smtClean="0">
                    <a:ea typeface="Cambria Math" panose="02040503050406030204" pitchFamily="18" charset="0"/>
                  </a:rPr>
                  <a:t>collapses</a:t>
                </a:r>
                <a:r>
                  <a:rPr lang="en-US" altLang="ko-KR" sz="2400" dirty="0" smtClean="0">
                    <a:ea typeface="Cambria Math" panose="02040503050406030204" pitchFamily="18" charset="0"/>
                  </a:rPr>
                  <a:t> to either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oMath>
                </a14:m>
                <a:r>
                  <a:rPr lang="en-US" altLang="ko-KR" sz="2400" dirty="0">
                    <a:ea typeface="Cambria Math" panose="02040503050406030204" pitchFamily="18" charset="0"/>
                  </a:rPr>
                  <a:t> or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1</m:t>
                        </m:r>
                      </m:e>
                    </m:d>
                  </m:oMath>
                </a14:m>
                <a:r>
                  <a:rPr lang="en-US" altLang="ko-KR" sz="2400" dirty="0" smtClean="0">
                    <a:ea typeface="Cambria Math" panose="02040503050406030204" pitchFamily="18" charset="0"/>
                  </a:rPr>
                  <a:t/>
                </a:r>
                <a:br>
                  <a:rPr lang="en-US" altLang="ko-KR" sz="2400" dirty="0" smtClean="0">
                    <a:ea typeface="Cambria Math" panose="02040503050406030204" pitchFamily="18" charset="0"/>
                  </a:rPr>
                </a:br>
                <a:r>
                  <a:rPr lang="en-US" altLang="ko-KR" sz="2400" dirty="0" smtClean="0">
                    <a:ea typeface="Cambria Math" panose="02040503050406030204" pitchFamily="18" charset="0"/>
                  </a:rPr>
                  <a:t>	and the original state is </a:t>
                </a:r>
                <a:r>
                  <a:rPr lang="en-US" altLang="ko-KR" sz="2400" b="1" dirty="0" smtClean="0">
                    <a:ea typeface="Cambria Math" panose="02040503050406030204" pitchFamily="18" charset="0"/>
                  </a:rPr>
                  <a:t>lost</a:t>
                </a:r>
                <a:r>
                  <a:rPr lang="en-US" altLang="ko-KR" sz="2400" dirty="0" smtClean="0">
                    <a:ea typeface="Cambria Math" panose="02040503050406030204" pitchFamily="18" charset="0"/>
                  </a:rPr>
                  <a:t>.</a:t>
                </a:r>
              </a:p>
              <a:p>
                <a:pPr marL="0" indent="0">
                  <a:buNone/>
                </a:pPr>
                <a:r>
                  <a:rPr lang="en-US" altLang="ko-KR" sz="2400" dirty="0" smtClean="0">
                    <a:ea typeface="Cambria Math" panose="02040503050406030204" pitchFamily="18" charset="0"/>
                  </a:rPr>
                  <a:t>In quantum computing, measurement generally disturbs the system.</a:t>
                </a: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We represent qubit measurement using this diagram:</a:t>
                </a:r>
              </a:p>
              <a:p>
                <a:pPr marL="0" indent="0">
                  <a:buNone/>
                </a:pPr>
                <a:endParaRPr lang="en-US" altLang="ko-KR" sz="24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t="-1961"/>
                </a:stretch>
              </a:blipFill>
            </p:spPr>
            <p:txBody>
              <a:bodyPr/>
              <a:lstStyle/>
              <a:p>
                <a:r>
                  <a:rPr lang="ko-KR" altLang="en-US">
                    <a:noFill/>
                  </a:rPr>
                  <a:t> </a:t>
                </a:r>
              </a:p>
            </p:txBody>
          </p:sp>
        </mc:Fallback>
      </mc:AlternateContent>
      <p:cxnSp>
        <p:nvCxnSpPr>
          <p:cNvPr id="4" name="Straight Connector 3">
            <a:extLst>
              <a:ext uri="{FF2B5EF4-FFF2-40B4-BE49-F238E27FC236}">
                <a16:creationId xmlns:a16="http://schemas.microsoft.com/office/drawing/2014/main" id="{B91E78E4-542E-3BF9-60EB-0A75C5E77BF2}"/>
              </a:ext>
            </a:extLst>
          </p:cNvPr>
          <p:cNvCxnSpPr>
            <a:cxnSpLocks/>
          </p:cNvCxnSpPr>
          <p:nvPr/>
        </p:nvCxnSpPr>
        <p:spPr>
          <a:xfrm>
            <a:off x="5792635" y="5321750"/>
            <a:ext cx="995434"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Rectangle 8">
                <a:extLst>
                  <a:ext uri="{FF2B5EF4-FFF2-40B4-BE49-F238E27FC236}">
                    <a16:creationId xmlns:a16="http://schemas.microsoft.com/office/drawing/2014/main" id="{94EE92FC-DB34-FB95-BD1E-9664133A05EE}"/>
                  </a:ext>
                </a:extLst>
              </p:cNvPr>
              <p:cNvSpPr/>
              <p:nvPr/>
            </p:nvSpPr>
            <p:spPr>
              <a:xfrm>
                <a:off x="5156784" y="5056874"/>
                <a:ext cx="72256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𝜓</m:t>
                          </m:r>
                        </m:e>
                      </m:d>
                    </m:oMath>
                  </m:oMathPara>
                </a14:m>
                <a:endParaRPr lang="en-US" dirty="0"/>
              </a:p>
            </p:txBody>
          </p:sp>
        </mc:Choice>
        <mc:Fallback xmlns="">
          <p:sp>
            <p:nvSpPr>
              <p:cNvPr id="5"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5156784" y="5056874"/>
                <a:ext cx="722569" cy="461665"/>
              </a:xfrm>
              <a:prstGeom prst="rect">
                <a:avLst/>
              </a:prstGeom>
              <a:blipFill>
                <a:blip r:embed="rId4"/>
                <a:stretch>
                  <a:fillRect b="-20000"/>
                </a:stretch>
              </a:blipFill>
            </p:spPr>
            <p:txBody>
              <a:bodyPr/>
              <a:lstStyle/>
              <a:p>
                <a:r>
                  <a:rPr lang="ko-KR" altLang="en-US">
                    <a:noFill/>
                  </a:rPr>
                  <a:t> </a:t>
                </a:r>
              </a:p>
            </p:txBody>
          </p:sp>
        </mc:Fallback>
      </mc:AlternateContent>
      <p:pic>
        <p:nvPicPr>
          <p:cNvPr id="7" name="그림 6"/>
          <p:cNvPicPr>
            <a:picLocks noChangeAspect="1"/>
          </p:cNvPicPr>
          <p:nvPr/>
        </p:nvPicPr>
        <p:blipFill>
          <a:blip r:embed="rId5"/>
          <a:stretch>
            <a:fillRect/>
          </a:stretch>
        </p:blipFill>
        <p:spPr>
          <a:xfrm>
            <a:off x="6290352" y="5097881"/>
            <a:ext cx="571580" cy="447737"/>
          </a:xfrm>
          <a:prstGeom prst="rect">
            <a:avLst/>
          </a:prstGeom>
        </p:spPr>
      </p:pic>
    </p:spTree>
    <p:extLst>
      <p:ext uri="{BB962C8B-B14F-4D97-AF65-F5344CB8AC3E}">
        <p14:creationId xmlns:p14="http://schemas.microsoft.com/office/powerpoint/2010/main" val="4277119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altLang="ko-KR" dirty="0" smtClean="0"/>
              <a:t>Examples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altLang="ko-KR" sz="2400" dirty="0" smtClean="0"/>
                  <a:t>Classical states</a:t>
                </a:r>
                <a:endParaRPr lang="en-US" altLang="ko-KR" sz="2400" dirty="0" smtClean="0">
                  <a:ea typeface="Cambria Math" panose="02040503050406030204" pitchFamily="18" charset="0"/>
                </a:endParaRPr>
              </a:p>
              <a:p>
                <a:pPr marL="0" indent="0" algn="ctr">
                  <a:buNone/>
                </a:pP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i="1">
                                <a:latin typeface="Cambria Math" panose="02040503050406030204" pitchFamily="18" charset="0"/>
                                <a:ea typeface="Cambria Math" panose="02040503050406030204" pitchFamily="18" charset="0"/>
                              </a:rPr>
                              <m:t>1</m:t>
                            </m:r>
                          </m:e>
                          <m:e>
                            <m:r>
                              <a:rPr lang="en-US" altLang="ko-KR" sz="2400" i="1">
                                <a:latin typeface="Cambria Math" panose="02040503050406030204" pitchFamily="18" charset="0"/>
                                <a:ea typeface="Cambria Math" panose="02040503050406030204" pitchFamily="18" charset="0"/>
                              </a:rPr>
                              <m:t>0</m:t>
                            </m:r>
                          </m:e>
                        </m:eqArr>
                      </m:e>
                    </m:d>
                    <m:r>
                      <a:rPr lang="en-US" altLang="ko-KR" sz="2400" b="0" i="1" smtClean="0">
                        <a:latin typeface="Cambria Math" panose="02040503050406030204" pitchFamily="18" charset="0"/>
                        <a:ea typeface="Cambria Math" panose="02040503050406030204" pitchFamily="18" charset="0"/>
                      </a:rPr>
                      <m:t> </m:t>
                    </m:r>
                  </m:oMath>
                </a14:m>
                <a:r>
                  <a:rPr lang="en-US" altLang="ko-KR" sz="2400" dirty="0" smtClean="0">
                    <a:ea typeface="Cambria Math" panose="02040503050406030204" pitchFamily="18" charset="0"/>
                  </a:rPr>
                  <a:t> and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1</m:t>
                        </m:r>
                      </m:e>
                    </m:d>
                    <m:r>
                      <a:rPr lang="en-US" altLang="ko-KR" sz="2400" b="0" i="1" smtClean="0">
                        <a:latin typeface="Cambria Math" panose="02040503050406030204" pitchFamily="18" charset="0"/>
                        <a:ea typeface="Cambria Math" panose="02040503050406030204" pitchFamily="18" charset="0"/>
                      </a:rPr>
                      <m:t>=</m:t>
                    </m:r>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b="0" i="1" smtClean="0">
                                <a:latin typeface="Cambria Math" panose="02040503050406030204" pitchFamily="18" charset="0"/>
                                <a:ea typeface="Cambria Math" panose="02040503050406030204" pitchFamily="18" charset="0"/>
                              </a:rPr>
                              <m:t>0</m:t>
                            </m:r>
                          </m:e>
                          <m:e>
                            <m:r>
                              <a:rPr lang="en-US" altLang="ko-KR" sz="2400" b="0" i="1" smtClean="0">
                                <a:latin typeface="Cambria Math" panose="02040503050406030204" pitchFamily="18" charset="0"/>
                                <a:ea typeface="Cambria Math" panose="02040503050406030204" pitchFamily="18" charset="0"/>
                              </a:rPr>
                              <m:t>1</m:t>
                            </m:r>
                          </m:e>
                        </m:eqArr>
                      </m:e>
                    </m:d>
                  </m:oMath>
                </a14:m>
                <a:endParaRPr lang="en-US" altLang="ko-KR" sz="2400" dirty="0" smtClean="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t="-1961"/>
                </a:stretch>
              </a:blipFill>
            </p:spPr>
            <p:txBody>
              <a:bodyPr/>
              <a:lstStyle/>
              <a:p>
                <a:r>
                  <a:rPr lang="ko-KR" altLang="en-US">
                    <a:noFill/>
                  </a:rPr>
                  <a:t> </a:t>
                </a:r>
              </a:p>
            </p:txBody>
          </p:sp>
        </mc:Fallback>
      </mc:AlternateContent>
      <p:cxnSp>
        <p:nvCxnSpPr>
          <p:cNvPr id="4" name="Straight Connector 3">
            <a:extLst>
              <a:ext uri="{FF2B5EF4-FFF2-40B4-BE49-F238E27FC236}">
                <a16:creationId xmlns:a16="http://schemas.microsoft.com/office/drawing/2014/main" id="{B91E78E4-542E-3BF9-60EB-0A75C5E77BF2}"/>
              </a:ext>
            </a:extLst>
          </p:cNvPr>
          <p:cNvCxnSpPr>
            <a:cxnSpLocks/>
          </p:cNvCxnSpPr>
          <p:nvPr/>
        </p:nvCxnSpPr>
        <p:spPr>
          <a:xfrm>
            <a:off x="2905052" y="4070471"/>
            <a:ext cx="1682990"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Rectangle 8">
                <a:extLst>
                  <a:ext uri="{FF2B5EF4-FFF2-40B4-BE49-F238E27FC236}">
                    <a16:creationId xmlns:a16="http://schemas.microsoft.com/office/drawing/2014/main" id="{94EE92FC-DB34-FB95-BD1E-9664133A05EE}"/>
                  </a:ext>
                </a:extLst>
              </p:cNvPr>
              <p:cNvSpPr/>
              <p:nvPr/>
            </p:nvSpPr>
            <p:spPr>
              <a:xfrm>
                <a:off x="2301285" y="3821637"/>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5"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2301285" y="3821637"/>
                <a:ext cx="671594" cy="461665"/>
              </a:xfrm>
              <a:prstGeom prst="rect">
                <a:avLst/>
              </a:prstGeom>
              <a:blipFill>
                <a:blip r:embed="rId4"/>
                <a:stretch>
                  <a:fillRect/>
                </a:stretch>
              </a:blipFill>
            </p:spPr>
            <p:txBody>
              <a:bodyPr/>
              <a:lstStyle/>
              <a:p>
                <a:r>
                  <a:rPr lang="ko-KR" altLang="en-US">
                    <a:noFill/>
                  </a:rPr>
                  <a:t> </a:t>
                </a:r>
              </a:p>
            </p:txBody>
          </p:sp>
        </mc:Fallback>
      </mc:AlternateContent>
      <p:pic>
        <p:nvPicPr>
          <p:cNvPr id="6" name="그림 5"/>
          <p:cNvPicPr>
            <a:picLocks noChangeAspect="1"/>
          </p:cNvPicPr>
          <p:nvPr/>
        </p:nvPicPr>
        <p:blipFill>
          <a:blip r:embed="rId5"/>
          <a:stretch>
            <a:fillRect/>
          </a:stretch>
        </p:blipFill>
        <p:spPr>
          <a:xfrm>
            <a:off x="3402769" y="3846602"/>
            <a:ext cx="571580" cy="447737"/>
          </a:xfrm>
          <a:prstGeom prst="rect">
            <a:avLst/>
          </a:prstGeom>
        </p:spPr>
      </p:pic>
      <mc:AlternateContent xmlns:mc="http://schemas.openxmlformats.org/markup-compatibility/2006" xmlns:a14="http://schemas.microsoft.com/office/drawing/2010/main">
        <mc:Choice Requires="a14">
          <p:sp>
            <p:nvSpPr>
              <p:cNvPr id="11" name="Rectangle 8">
                <a:extLst>
                  <a:ext uri="{FF2B5EF4-FFF2-40B4-BE49-F238E27FC236}">
                    <a16:creationId xmlns:a16="http://schemas.microsoft.com/office/drawing/2014/main" id="{94EE92FC-DB34-FB95-BD1E-9664133A05EE}"/>
                  </a:ext>
                </a:extLst>
              </p:cNvPr>
              <p:cNvSpPr/>
              <p:nvPr/>
            </p:nvSpPr>
            <p:spPr>
              <a:xfrm>
                <a:off x="4520215" y="3821636"/>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11"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4520215" y="3821636"/>
                <a:ext cx="671594" cy="461665"/>
              </a:xfrm>
              <a:prstGeom prst="rect">
                <a:avLst/>
              </a:prstGeom>
              <a:blipFill>
                <a:blip r:embed="rId6"/>
                <a:stretch>
                  <a:fillRect/>
                </a:stretch>
              </a:blipFill>
            </p:spPr>
            <p:txBody>
              <a:bodyPr/>
              <a:lstStyle/>
              <a:p>
                <a:r>
                  <a:rPr lang="ko-KR" altLang="en-US">
                    <a:noFill/>
                  </a:rPr>
                  <a:t> </a:t>
                </a:r>
              </a:p>
            </p:txBody>
          </p:sp>
        </mc:Fallback>
      </mc:AlternateContent>
      <p:cxnSp>
        <p:nvCxnSpPr>
          <p:cNvPr id="12" name="Straight Connector 3">
            <a:extLst>
              <a:ext uri="{FF2B5EF4-FFF2-40B4-BE49-F238E27FC236}">
                <a16:creationId xmlns:a16="http://schemas.microsoft.com/office/drawing/2014/main" id="{B91E78E4-542E-3BF9-60EB-0A75C5E77BF2}"/>
              </a:ext>
            </a:extLst>
          </p:cNvPr>
          <p:cNvCxnSpPr>
            <a:cxnSpLocks/>
          </p:cNvCxnSpPr>
          <p:nvPr/>
        </p:nvCxnSpPr>
        <p:spPr>
          <a:xfrm>
            <a:off x="7486550" y="4070471"/>
            <a:ext cx="1682990"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Rectangle 8">
                <a:extLst>
                  <a:ext uri="{FF2B5EF4-FFF2-40B4-BE49-F238E27FC236}">
                    <a16:creationId xmlns:a16="http://schemas.microsoft.com/office/drawing/2014/main" id="{94EE92FC-DB34-FB95-BD1E-9664133A05EE}"/>
                  </a:ext>
                </a:extLst>
              </p:cNvPr>
              <p:cNvSpPr/>
              <p:nvPr/>
            </p:nvSpPr>
            <p:spPr>
              <a:xfrm>
                <a:off x="6882783" y="3821637"/>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1</m:t>
                          </m:r>
                        </m:e>
                      </m:d>
                    </m:oMath>
                  </m:oMathPara>
                </a14:m>
                <a:endParaRPr lang="en-US" sz="2400" dirty="0"/>
              </a:p>
            </p:txBody>
          </p:sp>
        </mc:Choice>
        <mc:Fallback xmlns="">
          <p:sp>
            <p:nvSpPr>
              <p:cNvPr id="13"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6882783" y="3821637"/>
                <a:ext cx="671594" cy="461665"/>
              </a:xfrm>
              <a:prstGeom prst="rect">
                <a:avLst/>
              </a:prstGeom>
              <a:blipFill>
                <a:blip r:embed="rId7"/>
                <a:stretch>
                  <a:fillRect/>
                </a:stretch>
              </a:blipFill>
            </p:spPr>
            <p:txBody>
              <a:bodyPr/>
              <a:lstStyle/>
              <a:p>
                <a:r>
                  <a:rPr lang="ko-KR" altLang="en-US">
                    <a:noFill/>
                  </a:rPr>
                  <a:t> </a:t>
                </a:r>
              </a:p>
            </p:txBody>
          </p:sp>
        </mc:Fallback>
      </mc:AlternateContent>
      <p:pic>
        <p:nvPicPr>
          <p:cNvPr id="14" name="그림 13"/>
          <p:cNvPicPr>
            <a:picLocks noChangeAspect="1"/>
          </p:cNvPicPr>
          <p:nvPr/>
        </p:nvPicPr>
        <p:blipFill>
          <a:blip r:embed="rId5"/>
          <a:stretch>
            <a:fillRect/>
          </a:stretch>
        </p:blipFill>
        <p:spPr>
          <a:xfrm>
            <a:off x="7984267" y="3846602"/>
            <a:ext cx="571580" cy="447737"/>
          </a:xfrm>
          <a:prstGeom prst="rect">
            <a:avLst/>
          </a:prstGeom>
        </p:spPr>
      </p:pic>
      <mc:AlternateContent xmlns:mc="http://schemas.openxmlformats.org/markup-compatibility/2006" xmlns:a14="http://schemas.microsoft.com/office/drawing/2010/main">
        <mc:Choice Requires="a14">
          <p:sp>
            <p:nvSpPr>
              <p:cNvPr id="15" name="Rectangle 8">
                <a:extLst>
                  <a:ext uri="{FF2B5EF4-FFF2-40B4-BE49-F238E27FC236}">
                    <a16:creationId xmlns:a16="http://schemas.microsoft.com/office/drawing/2014/main" id="{94EE92FC-DB34-FB95-BD1E-9664133A05EE}"/>
                  </a:ext>
                </a:extLst>
              </p:cNvPr>
              <p:cNvSpPr/>
              <p:nvPr/>
            </p:nvSpPr>
            <p:spPr>
              <a:xfrm>
                <a:off x="9101713" y="3821636"/>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1</m:t>
                          </m:r>
                        </m:e>
                      </m:d>
                    </m:oMath>
                  </m:oMathPara>
                </a14:m>
                <a:endParaRPr lang="en-US" sz="2400" dirty="0"/>
              </a:p>
            </p:txBody>
          </p:sp>
        </mc:Choice>
        <mc:Fallback xmlns="">
          <p:sp>
            <p:nvSpPr>
              <p:cNvPr id="15"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9101713" y="3821636"/>
                <a:ext cx="671594" cy="461665"/>
              </a:xfrm>
              <a:prstGeom prst="rect">
                <a:avLst/>
              </a:prstGeom>
              <a:blipFill>
                <a:blip r:embed="rId8"/>
                <a:stretch>
                  <a:fillRect/>
                </a:stretch>
              </a:blipFill>
            </p:spPr>
            <p:txBody>
              <a:bodyPr/>
              <a:lstStyle/>
              <a:p>
                <a:r>
                  <a:rPr lang="ko-KR" altLang="en-US">
                    <a:noFill/>
                  </a:rPr>
                  <a:t> </a:t>
                </a:r>
              </a:p>
            </p:txBody>
          </p:sp>
        </mc:Fallback>
      </mc:AlternateContent>
      <p:sp>
        <p:nvSpPr>
          <p:cNvPr id="16" name="모서리가 둥근 직사각형 15"/>
          <p:cNvSpPr/>
          <p:nvPr/>
        </p:nvSpPr>
        <p:spPr>
          <a:xfrm>
            <a:off x="8668871" y="1048871"/>
            <a:ext cx="2684929" cy="641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Check on board</a:t>
            </a:r>
            <a:endParaRPr lang="ko-KR" altLang="en-US" dirty="0"/>
          </a:p>
        </p:txBody>
      </p:sp>
    </p:spTree>
    <p:extLst>
      <p:ext uri="{BB962C8B-B14F-4D97-AF65-F5344CB8AC3E}">
        <p14:creationId xmlns:p14="http://schemas.microsoft.com/office/powerpoint/2010/main" val="36907588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altLang="ko-KR" dirty="0"/>
              <a:t>The first operation: Observing qubits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sz="2400" dirty="0" smtClean="0"/>
                  <a:t>For the classical state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oMath>
                </a14:m>
                <a:r>
                  <a:rPr lang="en-US" altLang="ko-KR" sz="2400" dirty="0" smtClean="0">
                    <a:ea typeface="Cambria Math" panose="02040503050406030204" pitchFamily="18" charset="0"/>
                  </a:rPr>
                  <a:t>, measurement gives it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oMath>
                </a14:m>
                <a:r>
                  <a:rPr lang="en-US" altLang="ko-KR" sz="2400" dirty="0" smtClean="0">
                    <a:ea typeface="Cambria Math" panose="02040503050406030204" pitchFamily="18" charset="0"/>
                  </a:rPr>
                  <a:t> with probability 1.</a:t>
                </a:r>
              </a:p>
              <a:p>
                <a:pPr marL="0" indent="0">
                  <a:buNone/>
                </a:pPr>
                <a:r>
                  <a:rPr lang="en-US" altLang="ko-KR" sz="2400" dirty="0" smtClean="0">
                    <a:ea typeface="Cambria Math" panose="02040503050406030204" pitchFamily="18" charset="0"/>
                  </a:rPr>
                  <a:t>Same for the state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1</m:t>
                        </m:r>
                      </m:e>
                    </m:d>
                  </m:oMath>
                </a14:m>
                <a:r>
                  <a:rPr lang="en-US" altLang="ko-KR" sz="2400" dirty="0" smtClean="0">
                    <a:ea typeface="Cambria Math" panose="02040503050406030204" pitchFamily="18" charset="0"/>
                  </a:rPr>
                  <a:t>.</a:t>
                </a:r>
              </a:p>
              <a:p>
                <a:pPr>
                  <a:buFont typeface="Symbol" panose="05050102010706020507" pitchFamily="18" charset="2"/>
                  <a:buChar char="Þ"/>
                </a:pPr>
                <a:endParaRPr lang="en-US" altLang="ko-KR" sz="2400" dirty="0" smtClean="0">
                  <a:ea typeface="Cambria Math" panose="02040503050406030204" pitchFamily="18" charset="0"/>
                </a:endParaRPr>
              </a:p>
              <a:p>
                <a:pPr>
                  <a:buFont typeface="Symbol" panose="05050102010706020507" pitchFamily="18" charset="2"/>
                  <a:buChar char="Þ"/>
                </a:pPr>
                <a:r>
                  <a:rPr lang="en-US" altLang="ko-KR" sz="2400" dirty="0" smtClean="0">
                    <a:ea typeface="Cambria Math" panose="02040503050406030204" pitchFamily="18" charset="0"/>
                  </a:rPr>
                  <a:t> If the quantum state collapses to either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oMath>
                </a14:m>
                <a:r>
                  <a:rPr lang="en-US" altLang="ko-KR" sz="2400" dirty="0" smtClean="0">
                    <a:ea typeface="Cambria Math" panose="02040503050406030204" pitchFamily="18" charset="0"/>
                  </a:rPr>
                  <a:t> or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1</m:t>
                        </m:r>
                      </m:e>
                    </m:d>
                  </m:oMath>
                </a14:m>
                <a:r>
                  <a:rPr lang="en-US" altLang="ko-KR" sz="2400" dirty="0" smtClean="0">
                    <a:ea typeface="Cambria Math" panose="02040503050406030204" pitchFamily="18" charset="0"/>
                  </a:rPr>
                  <a:t>, and if we measure it again, it stays in the same state.</a:t>
                </a:r>
              </a:p>
              <a:p>
                <a:pPr>
                  <a:buFont typeface="Symbol" panose="05050102010706020507" pitchFamily="18" charset="2"/>
                  <a:buChar char="Þ"/>
                </a:pPr>
                <a:r>
                  <a:rPr lang="en-US" altLang="ko-KR" sz="2400" dirty="0" smtClean="0">
                    <a:ea typeface="Cambria Math" panose="02040503050406030204" pitchFamily="18" charset="0"/>
                  </a:rPr>
                  <a:t> Measuring system twice is the same as measuring once.</a:t>
                </a: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t="-1961" r="-1507"/>
                </a:stretch>
              </a:blipFill>
            </p:spPr>
            <p:txBody>
              <a:bodyPr/>
              <a:lstStyle/>
              <a:p>
                <a:r>
                  <a:rPr lang="ko-KR" altLang="en-US">
                    <a:noFill/>
                  </a:rPr>
                  <a:t> </a:t>
                </a:r>
              </a:p>
            </p:txBody>
          </p:sp>
        </mc:Fallback>
      </mc:AlternateContent>
      <p:cxnSp>
        <p:nvCxnSpPr>
          <p:cNvPr id="4" name="Straight Connector 3">
            <a:extLst>
              <a:ext uri="{FF2B5EF4-FFF2-40B4-BE49-F238E27FC236}">
                <a16:creationId xmlns:a16="http://schemas.microsoft.com/office/drawing/2014/main" id="{B91E78E4-542E-3BF9-60EB-0A75C5E77BF2}"/>
              </a:ext>
            </a:extLst>
          </p:cNvPr>
          <p:cNvCxnSpPr>
            <a:cxnSpLocks/>
          </p:cNvCxnSpPr>
          <p:nvPr/>
        </p:nvCxnSpPr>
        <p:spPr>
          <a:xfrm>
            <a:off x="4124252" y="5321750"/>
            <a:ext cx="995434"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Rectangle 8">
                <a:extLst>
                  <a:ext uri="{FF2B5EF4-FFF2-40B4-BE49-F238E27FC236}">
                    <a16:creationId xmlns:a16="http://schemas.microsoft.com/office/drawing/2014/main" id="{94EE92FC-DB34-FB95-BD1E-9664133A05EE}"/>
                  </a:ext>
                </a:extLst>
              </p:cNvPr>
              <p:cNvSpPr/>
              <p:nvPr/>
            </p:nvSpPr>
            <p:spPr>
              <a:xfrm>
                <a:off x="3520485" y="5072916"/>
                <a:ext cx="72256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𝜓</m:t>
                          </m:r>
                        </m:e>
                      </m:d>
                    </m:oMath>
                  </m:oMathPara>
                </a14:m>
                <a:endParaRPr lang="en-US" sz="2400" dirty="0"/>
              </a:p>
            </p:txBody>
          </p:sp>
        </mc:Choice>
        <mc:Fallback xmlns="">
          <p:sp>
            <p:nvSpPr>
              <p:cNvPr id="5"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3520485" y="5072916"/>
                <a:ext cx="722569" cy="461665"/>
              </a:xfrm>
              <a:prstGeom prst="rect">
                <a:avLst/>
              </a:prstGeom>
              <a:blipFill>
                <a:blip r:embed="rId4"/>
                <a:stretch>
                  <a:fillRect b="-19737"/>
                </a:stretch>
              </a:blipFill>
            </p:spPr>
            <p:txBody>
              <a:bodyPr/>
              <a:lstStyle/>
              <a:p>
                <a:r>
                  <a:rPr lang="ko-KR" altLang="en-US">
                    <a:noFill/>
                  </a:rPr>
                  <a:t> </a:t>
                </a:r>
              </a:p>
            </p:txBody>
          </p:sp>
        </mc:Fallback>
      </mc:AlternateContent>
      <p:pic>
        <p:nvPicPr>
          <p:cNvPr id="8" name="그림 7"/>
          <p:cNvPicPr>
            <a:picLocks noChangeAspect="1"/>
          </p:cNvPicPr>
          <p:nvPr/>
        </p:nvPicPr>
        <p:blipFill>
          <a:blip r:embed="rId5"/>
          <a:stretch>
            <a:fillRect/>
          </a:stretch>
        </p:blipFill>
        <p:spPr>
          <a:xfrm>
            <a:off x="4621969" y="5097881"/>
            <a:ext cx="571580" cy="447737"/>
          </a:xfrm>
          <a:prstGeom prst="rect">
            <a:avLst/>
          </a:prstGeom>
        </p:spPr>
      </p:pic>
      <p:cxnSp>
        <p:nvCxnSpPr>
          <p:cNvPr id="9" name="Straight Connector 3">
            <a:extLst>
              <a:ext uri="{FF2B5EF4-FFF2-40B4-BE49-F238E27FC236}">
                <a16:creationId xmlns:a16="http://schemas.microsoft.com/office/drawing/2014/main" id="{B91E78E4-542E-3BF9-60EB-0A75C5E77BF2}"/>
              </a:ext>
            </a:extLst>
          </p:cNvPr>
          <p:cNvCxnSpPr>
            <a:cxnSpLocks/>
          </p:cNvCxnSpPr>
          <p:nvPr/>
        </p:nvCxnSpPr>
        <p:spPr>
          <a:xfrm>
            <a:off x="7597372" y="5326444"/>
            <a:ext cx="1915600"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Rectangle 8">
                <a:extLst>
                  <a:ext uri="{FF2B5EF4-FFF2-40B4-BE49-F238E27FC236}">
                    <a16:creationId xmlns:a16="http://schemas.microsoft.com/office/drawing/2014/main" id="{94EE92FC-DB34-FB95-BD1E-9664133A05EE}"/>
                  </a:ext>
                </a:extLst>
              </p:cNvPr>
              <p:cNvSpPr/>
              <p:nvPr/>
            </p:nvSpPr>
            <p:spPr>
              <a:xfrm>
                <a:off x="6993605" y="5077610"/>
                <a:ext cx="72256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𝜓</m:t>
                          </m:r>
                        </m:e>
                      </m:d>
                    </m:oMath>
                  </m:oMathPara>
                </a14:m>
                <a:endParaRPr lang="en-US" sz="2400" dirty="0"/>
              </a:p>
            </p:txBody>
          </p:sp>
        </mc:Choice>
        <mc:Fallback xmlns="">
          <p:sp>
            <p:nvSpPr>
              <p:cNvPr id="10"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6993605" y="5077610"/>
                <a:ext cx="722569" cy="461665"/>
              </a:xfrm>
              <a:prstGeom prst="rect">
                <a:avLst/>
              </a:prstGeom>
              <a:blipFill>
                <a:blip r:embed="rId6"/>
                <a:stretch>
                  <a:fillRect b="-18421"/>
                </a:stretch>
              </a:blipFill>
            </p:spPr>
            <p:txBody>
              <a:bodyPr/>
              <a:lstStyle/>
              <a:p>
                <a:r>
                  <a:rPr lang="ko-KR" altLang="en-US">
                    <a:noFill/>
                  </a:rPr>
                  <a:t> </a:t>
                </a:r>
              </a:p>
            </p:txBody>
          </p:sp>
        </mc:Fallback>
      </mc:AlternateContent>
      <p:pic>
        <p:nvPicPr>
          <p:cNvPr id="11" name="그림 10"/>
          <p:cNvPicPr>
            <a:picLocks noChangeAspect="1"/>
          </p:cNvPicPr>
          <p:nvPr/>
        </p:nvPicPr>
        <p:blipFill>
          <a:blip r:embed="rId5"/>
          <a:stretch>
            <a:fillRect/>
          </a:stretch>
        </p:blipFill>
        <p:spPr>
          <a:xfrm>
            <a:off x="8095089" y="5102575"/>
            <a:ext cx="571580" cy="447737"/>
          </a:xfrm>
          <a:prstGeom prst="rect">
            <a:avLst/>
          </a:prstGeom>
        </p:spPr>
      </p:pic>
      <p:pic>
        <p:nvPicPr>
          <p:cNvPr id="14" name="그림 13"/>
          <p:cNvPicPr>
            <a:picLocks noChangeAspect="1"/>
          </p:cNvPicPr>
          <p:nvPr/>
        </p:nvPicPr>
        <p:blipFill>
          <a:blip r:embed="rId5"/>
          <a:stretch>
            <a:fillRect/>
          </a:stretch>
        </p:blipFill>
        <p:spPr>
          <a:xfrm>
            <a:off x="9045584" y="5097881"/>
            <a:ext cx="571580" cy="447737"/>
          </a:xfrm>
          <a:prstGeom prst="rect">
            <a:avLst/>
          </a:prstGeom>
        </p:spPr>
      </p:pic>
      <mc:AlternateContent xmlns:mc="http://schemas.openxmlformats.org/markup-compatibility/2006" xmlns:a14="http://schemas.microsoft.com/office/drawing/2010/main">
        <mc:Choice Requires="a14">
          <p:sp>
            <p:nvSpPr>
              <p:cNvPr id="15" name="직사각형 14"/>
              <p:cNvSpPr/>
              <p:nvPr/>
            </p:nvSpPr>
            <p:spPr>
              <a:xfrm>
                <a:off x="5812060" y="5057093"/>
                <a:ext cx="5228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2400" i="1">
                          <a:latin typeface="Cambria Math" panose="02040503050406030204" pitchFamily="18" charset="0"/>
                          <a:ea typeface="Cambria Math" panose="02040503050406030204" pitchFamily="18" charset="0"/>
                        </a:rPr>
                        <m:t>=</m:t>
                      </m:r>
                    </m:oMath>
                  </m:oMathPara>
                </a14:m>
                <a:endParaRPr lang="en-US" altLang="ko-KR" sz="2400" dirty="0">
                  <a:ea typeface="Cambria Math" panose="02040503050406030204" pitchFamily="18" charset="0"/>
                </a:endParaRPr>
              </a:p>
            </p:txBody>
          </p:sp>
        </mc:Choice>
        <mc:Fallback xmlns="">
          <p:sp>
            <p:nvSpPr>
              <p:cNvPr id="15" name="직사각형 14"/>
              <p:cNvSpPr>
                <a:spLocks noRot="1" noChangeAspect="1" noMove="1" noResize="1" noEditPoints="1" noAdjustHandles="1" noChangeArrowheads="1" noChangeShapeType="1" noTextEdit="1"/>
              </p:cNvSpPr>
              <p:nvPr/>
            </p:nvSpPr>
            <p:spPr>
              <a:xfrm>
                <a:off x="5812060" y="5057093"/>
                <a:ext cx="522899" cy="461665"/>
              </a:xfrm>
              <a:prstGeom prst="rect">
                <a:avLst/>
              </a:prstGeom>
              <a:blipFill>
                <a:blip r:embed="rId7"/>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885998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altLang="ko-KR" dirty="0" smtClean="0"/>
              <a:t>Examples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altLang="ko-KR" sz="2400" dirty="0" smtClean="0"/>
                  <a:t>Uniform </a:t>
                </a:r>
                <a:r>
                  <a:rPr lang="en-US" altLang="ko-KR" sz="2400" dirty="0" err="1" smtClean="0"/>
                  <a:t>superpositions</a:t>
                </a:r>
                <a:endParaRPr lang="en-US" altLang="ko-KR" sz="2400" dirty="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m:t>
                          </m:r>
                        </m:e>
                      </m:d>
                      <m:r>
                        <a:rPr lang="en-US" altLang="ko-KR" sz="2400" b="0" i="1" smtClean="0">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1</m:t>
                          </m:r>
                        </m:num>
                        <m:den>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1</m:t>
                          </m:r>
                        </m:num>
                        <m:den>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1</m:t>
                          </m:r>
                        </m:e>
                      </m:d>
                      <m:r>
                        <a:rPr lang="en-US" altLang="ko-KR" sz="2400" i="1">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1</m:t>
                          </m:r>
                        </m:num>
                        <m:den>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den>
                      </m:f>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i="1">
                                  <a:latin typeface="Cambria Math" panose="02040503050406030204" pitchFamily="18" charset="0"/>
                                  <a:ea typeface="Cambria Math" panose="02040503050406030204" pitchFamily="18" charset="0"/>
                                </a:rPr>
                                <m:t>1</m:t>
                              </m:r>
                            </m:e>
                            <m:e>
                              <m:r>
                                <a:rPr lang="en-US" altLang="ko-KR" sz="2400" b="0" i="1" smtClean="0">
                                  <a:latin typeface="Cambria Math" panose="02040503050406030204" pitchFamily="18" charset="0"/>
                                  <a:ea typeface="Cambria Math" panose="02040503050406030204" pitchFamily="18" charset="0"/>
                                </a:rPr>
                                <m:t>1</m:t>
                              </m:r>
                            </m:e>
                          </m:eqArr>
                        </m:e>
                      </m:d>
                      <m:r>
                        <a:rPr lang="en-US" altLang="ko-KR" sz="2400" b="0" i="1" smtClean="0">
                          <a:latin typeface="Cambria Math" panose="02040503050406030204" pitchFamily="18" charset="0"/>
                          <a:ea typeface="Cambria Math" panose="02040503050406030204" pitchFamily="18" charset="0"/>
                        </a:rPr>
                        <m:t>=</m:t>
                      </m:r>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i="1">
                                  <a:latin typeface="Cambria Math" panose="02040503050406030204" pitchFamily="18" charset="0"/>
                                  <a:ea typeface="Cambria Math" panose="02040503050406030204" pitchFamily="18" charset="0"/>
                                </a:rPr>
                                <m:t>1</m:t>
                              </m:r>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e>
                            <m:e>
                              <m:r>
                                <a:rPr lang="en-US" altLang="ko-KR" sz="2400" i="1">
                                  <a:latin typeface="Cambria Math" panose="02040503050406030204" pitchFamily="18" charset="0"/>
                                  <a:ea typeface="Cambria Math" panose="02040503050406030204" pitchFamily="18" charset="0"/>
                                </a:rPr>
                                <m:t>1</m:t>
                              </m:r>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e>
                          </m:eqArr>
                        </m:e>
                      </m:d>
                    </m:oMath>
                  </m:oMathPara>
                </a14:m>
                <a:endParaRPr lang="en-US" altLang="ko-KR" sz="2400" dirty="0" smtClean="0">
                  <a:ea typeface="Cambria Math" panose="02040503050406030204" pitchFamily="18" charset="0"/>
                </a:endParaRPr>
              </a:p>
              <a:p>
                <a:pPr marL="0" indent="0" algn="ctr">
                  <a:buNone/>
                </a:pPr>
                <a:endParaRPr lang="en-US" altLang="ko-KR" sz="2400" dirty="0" smtClean="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m:t>
                          </m:r>
                        </m:e>
                      </m:d>
                      <m:r>
                        <a:rPr lang="en-US" altLang="ko-KR" sz="2400" b="0" i="1" smtClean="0">
                          <a:latin typeface="Cambria Math" panose="02040503050406030204" pitchFamily="18" charset="0"/>
                          <a:ea typeface="Cambria Math" panose="02040503050406030204" pitchFamily="18" charset="0"/>
                        </a:rPr>
                        <m:t>=</m:t>
                      </m:r>
                      <m:f>
                        <m:fPr>
                          <m:ctrlPr>
                            <a:rPr lang="en-US" altLang="ko-KR" sz="2400" i="1">
                              <a:latin typeface="Cambria Math" panose="02040503050406030204" pitchFamily="18" charset="0"/>
                              <a:ea typeface="Cambria Math" panose="02040503050406030204" pitchFamily="18" charset="0"/>
                            </a:rPr>
                          </m:ctrlPr>
                        </m:fPr>
                        <m:num>
                          <m:r>
                            <a:rPr lang="en-US" altLang="ko-KR" sz="2400" i="1">
                              <a:latin typeface="Cambria Math" panose="02040503050406030204" pitchFamily="18" charset="0"/>
                              <a:ea typeface="Cambria Math" panose="02040503050406030204" pitchFamily="18" charset="0"/>
                            </a:rPr>
                            <m:t>1</m:t>
                          </m:r>
                        </m:num>
                        <m:den>
                          <m:rad>
                            <m:radPr>
                              <m:degHide m:val="on"/>
                              <m:ctrlPr>
                                <a:rPr lang="en-US" altLang="ko-KR" sz="2400" i="1">
                                  <a:latin typeface="Cambria Math" panose="02040503050406030204" pitchFamily="18" charset="0"/>
                                  <a:ea typeface="Cambria Math" panose="02040503050406030204" pitchFamily="18" charset="0"/>
                                </a:rPr>
                              </m:ctrlPr>
                            </m:radPr>
                            <m:deg/>
                            <m:e>
                              <m:r>
                                <a:rPr lang="en-US" altLang="ko-KR" sz="2400" i="1">
                                  <a:latin typeface="Cambria Math" panose="02040503050406030204" pitchFamily="18" charset="0"/>
                                  <a:ea typeface="Cambria Math" panose="02040503050406030204" pitchFamily="18" charset="0"/>
                                </a:rPr>
                                <m:t>2</m:t>
                              </m:r>
                            </m:e>
                          </m:rad>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f>
                        <m:fPr>
                          <m:ctrlPr>
                            <a:rPr lang="en-US" altLang="ko-KR" sz="2400" i="1">
                              <a:latin typeface="Cambria Math" panose="02040503050406030204" pitchFamily="18" charset="0"/>
                              <a:ea typeface="Cambria Math" panose="02040503050406030204" pitchFamily="18" charset="0"/>
                            </a:rPr>
                          </m:ctrlPr>
                        </m:fPr>
                        <m:num>
                          <m:r>
                            <a:rPr lang="en-US" altLang="ko-KR" sz="2400" i="1">
                              <a:latin typeface="Cambria Math" panose="02040503050406030204" pitchFamily="18" charset="0"/>
                              <a:ea typeface="Cambria Math" panose="02040503050406030204" pitchFamily="18" charset="0"/>
                            </a:rPr>
                            <m:t>1</m:t>
                          </m:r>
                        </m:num>
                        <m:den>
                          <m:rad>
                            <m:radPr>
                              <m:degHide m:val="on"/>
                              <m:ctrlPr>
                                <a:rPr lang="en-US" altLang="ko-KR" sz="2400" i="1">
                                  <a:latin typeface="Cambria Math" panose="02040503050406030204" pitchFamily="18" charset="0"/>
                                  <a:ea typeface="Cambria Math" panose="02040503050406030204" pitchFamily="18" charset="0"/>
                                </a:rPr>
                              </m:ctrlPr>
                            </m:radPr>
                            <m:deg/>
                            <m:e>
                              <m:r>
                                <a:rPr lang="en-US" altLang="ko-KR" sz="2400" i="1">
                                  <a:latin typeface="Cambria Math" panose="02040503050406030204" pitchFamily="18" charset="0"/>
                                  <a:ea typeface="Cambria Math" panose="02040503050406030204" pitchFamily="18" charset="0"/>
                                </a:rPr>
                                <m:t>2</m:t>
                              </m:r>
                            </m:e>
                          </m:rad>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1</m:t>
                          </m:r>
                        </m:e>
                      </m:d>
                      <m:r>
                        <a:rPr lang="en-US" altLang="ko-KR" sz="2400" i="1">
                          <a:latin typeface="Cambria Math" panose="02040503050406030204" pitchFamily="18" charset="0"/>
                          <a:ea typeface="Cambria Math" panose="02040503050406030204" pitchFamily="18" charset="0"/>
                        </a:rPr>
                        <m:t>=</m:t>
                      </m:r>
                      <m:f>
                        <m:fPr>
                          <m:ctrlPr>
                            <a:rPr lang="en-US" altLang="ko-KR" sz="2400" i="1">
                              <a:latin typeface="Cambria Math" panose="02040503050406030204" pitchFamily="18" charset="0"/>
                              <a:ea typeface="Cambria Math" panose="02040503050406030204" pitchFamily="18" charset="0"/>
                            </a:rPr>
                          </m:ctrlPr>
                        </m:fPr>
                        <m:num>
                          <m:r>
                            <a:rPr lang="en-US" altLang="ko-KR" sz="2400" i="1">
                              <a:latin typeface="Cambria Math" panose="02040503050406030204" pitchFamily="18" charset="0"/>
                              <a:ea typeface="Cambria Math" panose="02040503050406030204" pitchFamily="18" charset="0"/>
                            </a:rPr>
                            <m:t>1</m:t>
                          </m:r>
                        </m:num>
                        <m:den>
                          <m:rad>
                            <m:radPr>
                              <m:degHide m:val="on"/>
                              <m:ctrlPr>
                                <a:rPr lang="en-US" altLang="ko-KR" sz="2400" i="1">
                                  <a:latin typeface="Cambria Math" panose="02040503050406030204" pitchFamily="18" charset="0"/>
                                  <a:ea typeface="Cambria Math" panose="02040503050406030204" pitchFamily="18" charset="0"/>
                                </a:rPr>
                              </m:ctrlPr>
                            </m:radPr>
                            <m:deg/>
                            <m:e>
                              <m:r>
                                <a:rPr lang="en-US" altLang="ko-KR" sz="2400" i="1">
                                  <a:latin typeface="Cambria Math" panose="02040503050406030204" pitchFamily="18" charset="0"/>
                                  <a:ea typeface="Cambria Math" panose="02040503050406030204" pitchFamily="18" charset="0"/>
                                </a:rPr>
                                <m:t>2</m:t>
                              </m:r>
                            </m:e>
                          </m:rad>
                        </m:den>
                      </m:f>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i="1">
                                  <a:latin typeface="Cambria Math" panose="02040503050406030204" pitchFamily="18" charset="0"/>
                                  <a:ea typeface="Cambria Math" panose="02040503050406030204" pitchFamily="18" charset="0"/>
                                </a:rPr>
                                <m:t>1</m:t>
                              </m:r>
                            </m:e>
                            <m:e>
                              <m:r>
                                <a:rPr lang="en-US" altLang="ko-KR" sz="2400" b="0" i="1" smtClean="0">
                                  <a:latin typeface="Cambria Math" panose="02040503050406030204" pitchFamily="18" charset="0"/>
                                  <a:ea typeface="Cambria Math" panose="02040503050406030204" pitchFamily="18" charset="0"/>
                                </a:rPr>
                                <m:t>−</m:t>
                              </m:r>
                              <m:r>
                                <a:rPr lang="en-US" altLang="ko-KR" sz="2400" i="1">
                                  <a:latin typeface="Cambria Math" panose="02040503050406030204" pitchFamily="18" charset="0"/>
                                  <a:ea typeface="Cambria Math" panose="02040503050406030204" pitchFamily="18" charset="0"/>
                                </a:rPr>
                                <m:t>1</m:t>
                              </m:r>
                            </m:e>
                          </m:eqArr>
                        </m:e>
                      </m:d>
                      <m:r>
                        <a:rPr lang="en-US" altLang="ko-KR" sz="2400" b="0" i="1" smtClean="0">
                          <a:latin typeface="Cambria Math" panose="02040503050406030204" pitchFamily="18" charset="0"/>
                          <a:ea typeface="Cambria Math" panose="02040503050406030204" pitchFamily="18" charset="0"/>
                        </a:rPr>
                        <m:t>=</m:t>
                      </m:r>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i="1">
                                  <a:latin typeface="Cambria Math" panose="02040503050406030204" pitchFamily="18" charset="0"/>
                                  <a:ea typeface="Cambria Math" panose="02040503050406030204" pitchFamily="18" charset="0"/>
                                </a:rPr>
                                <m:t>1</m:t>
                              </m:r>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e>
                            <m:e>
                              <m:r>
                                <a:rPr lang="en-US" altLang="ko-KR" sz="2400" i="1">
                                  <a:latin typeface="Cambria Math" panose="02040503050406030204" pitchFamily="18" charset="0"/>
                                  <a:ea typeface="Cambria Math" panose="02040503050406030204" pitchFamily="18" charset="0"/>
                                </a:rPr>
                                <m:t>−1</m:t>
                              </m:r>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e>
                          </m:eqArr>
                        </m:e>
                      </m:d>
                    </m:oMath>
                  </m:oMathPara>
                </a14:m>
                <a:endParaRPr lang="en-US" altLang="ko-KR" sz="2400" dirty="0">
                  <a:ea typeface="Cambria Math" panose="02040503050406030204" pitchFamily="18" charset="0"/>
                </a:endParaRPr>
              </a:p>
              <a:p>
                <a:pPr marL="0" indent="0" algn="ctr">
                  <a:buNone/>
                </a:pPr>
                <a:endParaRPr lang="en-US" altLang="ko-KR" sz="24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t="-1961"/>
                </a:stretch>
              </a:blipFill>
            </p:spPr>
            <p:txBody>
              <a:bodyPr/>
              <a:lstStyle/>
              <a:p>
                <a:r>
                  <a:rPr lang="ko-KR" altLang="en-US">
                    <a:noFill/>
                  </a:rPr>
                  <a:t> </a:t>
                </a:r>
              </a:p>
            </p:txBody>
          </p:sp>
        </mc:Fallback>
      </mc:AlternateContent>
      <p:cxnSp>
        <p:nvCxnSpPr>
          <p:cNvPr id="8" name="Straight Connector 3">
            <a:extLst>
              <a:ext uri="{FF2B5EF4-FFF2-40B4-BE49-F238E27FC236}">
                <a16:creationId xmlns:a16="http://schemas.microsoft.com/office/drawing/2014/main" id="{B91E78E4-542E-3BF9-60EB-0A75C5E77BF2}"/>
              </a:ext>
            </a:extLst>
          </p:cNvPr>
          <p:cNvCxnSpPr>
            <a:cxnSpLocks/>
          </p:cNvCxnSpPr>
          <p:nvPr/>
        </p:nvCxnSpPr>
        <p:spPr>
          <a:xfrm>
            <a:off x="2529539" y="5337797"/>
            <a:ext cx="1682990"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4EE92FC-DB34-FB95-BD1E-9664133A05EE}"/>
                  </a:ext>
                </a:extLst>
              </p:cNvPr>
              <p:cNvSpPr/>
              <p:nvPr/>
            </p:nvSpPr>
            <p:spPr>
              <a:xfrm>
                <a:off x="1925772" y="5088963"/>
                <a:ext cx="7309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m:t>
                          </m:r>
                        </m:e>
                      </m:d>
                    </m:oMath>
                  </m:oMathPara>
                </a14:m>
                <a:endParaRPr lang="en-US" sz="2400" dirty="0"/>
              </a:p>
            </p:txBody>
          </p:sp>
        </mc:Choice>
        <mc:Fallback xmlns="">
          <p:sp>
            <p:nvSpPr>
              <p:cNvPr id="9"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1925772" y="5088963"/>
                <a:ext cx="730905" cy="461665"/>
              </a:xfrm>
              <a:prstGeom prst="rect">
                <a:avLst/>
              </a:prstGeom>
              <a:blipFill>
                <a:blip r:embed="rId4"/>
                <a:stretch>
                  <a:fillRect/>
                </a:stretch>
              </a:blipFill>
            </p:spPr>
            <p:txBody>
              <a:bodyPr/>
              <a:lstStyle/>
              <a:p>
                <a:r>
                  <a:rPr lang="ko-KR" altLang="en-US">
                    <a:noFill/>
                  </a:rPr>
                  <a:t> </a:t>
                </a:r>
              </a:p>
            </p:txBody>
          </p:sp>
        </mc:Fallback>
      </mc:AlternateContent>
      <p:pic>
        <p:nvPicPr>
          <p:cNvPr id="10" name="그림 9"/>
          <p:cNvPicPr>
            <a:picLocks noChangeAspect="1"/>
          </p:cNvPicPr>
          <p:nvPr/>
        </p:nvPicPr>
        <p:blipFill>
          <a:blip r:embed="rId5"/>
          <a:stretch>
            <a:fillRect/>
          </a:stretch>
        </p:blipFill>
        <p:spPr>
          <a:xfrm>
            <a:off x="3027256" y="5113928"/>
            <a:ext cx="571580" cy="447737"/>
          </a:xfrm>
          <a:prstGeom prst="rect">
            <a:avLst/>
          </a:prstGeom>
        </p:spPr>
      </p:pic>
      <mc:AlternateContent xmlns:mc="http://schemas.openxmlformats.org/markup-compatibility/2006" xmlns:a14="http://schemas.microsoft.com/office/drawing/2010/main">
        <mc:Choice Requires="a14">
          <p:sp>
            <p:nvSpPr>
              <p:cNvPr id="11" name="Rectangle 8">
                <a:extLst>
                  <a:ext uri="{FF2B5EF4-FFF2-40B4-BE49-F238E27FC236}">
                    <a16:creationId xmlns:a16="http://schemas.microsoft.com/office/drawing/2014/main" id="{94EE92FC-DB34-FB95-BD1E-9664133A05EE}"/>
                  </a:ext>
                </a:extLst>
              </p:cNvPr>
              <p:cNvSpPr/>
              <p:nvPr/>
            </p:nvSpPr>
            <p:spPr>
              <a:xfrm>
                <a:off x="4144702" y="5088962"/>
                <a:ext cx="67512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𝑏</m:t>
                          </m:r>
                        </m:e>
                      </m:d>
                    </m:oMath>
                  </m:oMathPara>
                </a14:m>
                <a:endParaRPr lang="en-US" sz="2400" dirty="0"/>
              </a:p>
            </p:txBody>
          </p:sp>
        </mc:Choice>
        <mc:Fallback xmlns="">
          <p:sp>
            <p:nvSpPr>
              <p:cNvPr id="11"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4144702" y="5088962"/>
                <a:ext cx="675121" cy="461665"/>
              </a:xfrm>
              <a:prstGeom prst="rect">
                <a:avLst/>
              </a:prstGeom>
              <a:blipFill>
                <a:blip r:embed="rId6"/>
                <a:stretch>
                  <a:fillRect/>
                </a:stretch>
              </a:blipFill>
            </p:spPr>
            <p:txBody>
              <a:bodyPr/>
              <a:lstStyle/>
              <a:p>
                <a:r>
                  <a:rPr lang="ko-KR" altLang="en-US">
                    <a:noFill/>
                  </a:rPr>
                  <a:t> </a:t>
                </a:r>
              </a:p>
            </p:txBody>
          </p:sp>
        </mc:Fallback>
      </mc:AlternateContent>
      <p:cxnSp>
        <p:nvCxnSpPr>
          <p:cNvPr id="12" name="Straight Connector 3">
            <a:extLst>
              <a:ext uri="{FF2B5EF4-FFF2-40B4-BE49-F238E27FC236}">
                <a16:creationId xmlns:a16="http://schemas.microsoft.com/office/drawing/2014/main" id="{B91E78E4-542E-3BF9-60EB-0A75C5E77BF2}"/>
              </a:ext>
            </a:extLst>
          </p:cNvPr>
          <p:cNvCxnSpPr>
            <a:cxnSpLocks/>
          </p:cNvCxnSpPr>
          <p:nvPr/>
        </p:nvCxnSpPr>
        <p:spPr>
          <a:xfrm>
            <a:off x="7342818" y="5337797"/>
            <a:ext cx="1682990"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Rectangle 8">
                <a:extLst>
                  <a:ext uri="{FF2B5EF4-FFF2-40B4-BE49-F238E27FC236}">
                    <a16:creationId xmlns:a16="http://schemas.microsoft.com/office/drawing/2014/main" id="{94EE92FC-DB34-FB95-BD1E-9664133A05EE}"/>
                  </a:ext>
                </a:extLst>
              </p:cNvPr>
              <p:cNvSpPr/>
              <p:nvPr/>
            </p:nvSpPr>
            <p:spPr>
              <a:xfrm>
                <a:off x="6739051" y="5088963"/>
                <a:ext cx="7309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m:t>
                          </m:r>
                        </m:e>
                      </m:d>
                    </m:oMath>
                  </m:oMathPara>
                </a14:m>
                <a:endParaRPr lang="en-US" sz="2400" dirty="0"/>
              </a:p>
            </p:txBody>
          </p:sp>
        </mc:Choice>
        <mc:Fallback xmlns="">
          <p:sp>
            <p:nvSpPr>
              <p:cNvPr id="13"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6739051" y="5088963"/>
                <a:ext cx="730905" cy="461665"/>
              </a:xfrm>
              <a:prstGeom prst="rect">
                <a:avLst/>
              </a:prstGeom>
              <a:blipFill>
                <a:blip r:embed="rId7"/>
                <a:stretch>
                  <a:fillRect/>
                </a:stretch>
              </a:blipFill>
            </p:spPr>
            <p:txBody>
              <a:bodyPr/>
              <a:lstStyle/>
              <a:p>
                <a:r>
                  <a:rPr lang="ko-KR" altLang="en-US">
                    <a:noFill/>
                  </a:rPr>
                  <a:t> </a:t>
                </a:r>
              </a:p>
            </p:txBody>
          </p:sp>
        </mc:Fallback>
      </mc:AlternateContent>
      <p:pic>
        <p:nvPicPr>
          <p:cNvPr id="14" name="그림 13"/>
          <p:cNvPicPr>
            <a:picLocks noChangeAspect="1"/>
          </p:cNvPicPr>
          <p:nvPr/>
        </p:nvPicPr>
        <p:blipFill>
          <a:blip r:embed="rId5"/>
          <a:stretch>
            <a:fillRect/>
          </a:stretch>
        </p:blipFill>
        <p:spPr>
          <a:xfrm>
            <a:off x="7840535" y="5113928"/>
            <a:ext cx="571580" cy="447737"/>
          </a:xfrm>
          <a:prstGeom prst="rect">
            <a:avLst/>
          </a:prstGeom>
        </p:spPr>
      </p:pic>
      <mc:AlternateContent xmlns:mc="http://schemas.openxmlformats.org/markup-compatibility/2006" xmlns:a14="http://schemas.microsoft.com/office/drawing/2010/main">
        <mc:Choice Requires="a14">
          <p:sp>
            <p:nvSpPr>
              <p:cNvPr id="15" name="Rectangle 8">
                <a:extLst>
                  <a:ext uri="{FF2B5EF4-FFF2-40B4-BE49-F238E27FC236}">
                    <a16:creationId xmlns:a16="http://schemas.microsoft.com/office/drawing/2014/main" id="{94EE92FC-DB34-FB95-BD1E-9664133A05EE}"/>
                  </a:ext>
                </a:extLst>
              </p:cNvPr>
              <p:cNvSpPr/>
              <p:nvPr/>
            </p:nvSpPr>
            <p:spPr>
              <a:xfrm>
                <a:off x="8957981" y="5088962"/>
                <a:ext cx="74853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𝑏</m:t>
                          </m:r>
                          <m:r>
                            <a:rPr lang="en-US" sz="2400" b="0" i="1" smtClean="0">
                              <a:latin typeface="Cambria Math" panose="02040503050406030204" pitchFamily="18" charset="0"/>
                            </a:rPr>
                            <m:t>′</m:t>
                          </m:r>
                        </m:e>
                      </m:d>
                    </m:oMath>
                  </m:oMathPara>
                </a14:m>
                <a:endParaRPr lang="en-US" sz="2400" dirty="0"/>
              </a:p>
            </p:txBody>
          </p:sp>
        </mc:Choice>
        <mc:Fallback xmlns="">
          <p:sp>
            <p:nvSpPr>
              <p:cNvPr id="15"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957981" y="5088962"/>
                <a:ext cx="748538" cy="461665"/>
              </a:xfrm>
              <a:prstGeom prst="rect">
                <a:avLst/>
              </a:prstGeom>
              <a:blipFill>
                <a:blip r:embed="rId8"/>
                <a:stretch>
                  <a:fillRect/>
                </a:stretch>
              </a:blipFill>
            </p:spPr>
            <p:txBody>
              <a:bodyPr/>
              <a:lstStyle/>
              <a:p>
                <a:r>
                  <a:rPr lang="ko-KR" altLang="en-US">
                    <a:noFill/>
                  </a:rPr>
                  <a:t> </a:t>
                </a:r>
              </a:p>
            </p:txBody>
          </p:sp>
        </mc:Fallback>
      </mc:AlternateContent>
      <p:sp>
        <p:nvSpPr>
          <p:cNvPr id="16" name="모서리가 둥근 직사각형 15"/>
          <p:cNvSpPr/>
          <p:nvPr/>
        </p:nvSpPr>
        <p:spPr>
          <a:xfrm>
            <a:off x="8668871" y="1048871"/>
            <a:ext cx="2684929" cy="641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Check on board</a:t>
            </a:r>
            <a:endParaRPr lang="ko-KR" altLang="en-US" dirty="0"/>
          </a:p>
        </p:txBody>
      </p:sp>
    </p:spTree>
    <p:extLst>
      <p:ext uri="{BB962C8B-B14F-4D97-AF65-F5344CB8AC3E}">
        <p14:creationId xmlns:p14="http://schemas.microsoft.com/office/powerpoint/2010/main" val="24670599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altLang="ko-KR" dirty="0" smtClean="0"/>
              <a:t>Examples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altLang="ko-KR" sz="2400" dirty="0" smtClean="0"/>
                  <a:t>Another example</a:t>
                </a:r>
                <a:endParaRPr lang="en-US" altLang="ko-KR" sz="2400" dirty="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𝜙</m:t>
                          </m:r>
                        </m:e>
                      </m:d>
                      <m:r>
                        <a:rPr lang="en-US" altLang="ko-KR" sz="2400" b="0" i="1" smtClean="0">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𝑖</m:t>
                          </m:r>
                        </m:num>
                        <m:den>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3</m:t>
                              </m:r>
                            </m:e>
                          </m:rad>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2</m:t>
                              </m:r>
                            </m:num>
                            <m:den>
                              <m:r>
                                <a:rPr lang="en-US" altLang="ko-KR" sz="2400" b="0" i="1" smtClean="0">
                                  <a:latin typeface="Cambria Math" panose="02040503050406030204" pitchFamily="18" charset="0"/>
                                  <a:ea typeface="Cambria Math" panose="02040503050406030204" pitchFamily="18" charset="0"/>
                                </a:rPr>
                                <m:t>3</m:t>
                              </m:r>
                            </m:den>
                          </m:f>
                        </m:e>
                      </m:rad>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1</m:t>
                          </m:r>
                        </m:e>
                      </m:d>
                      <m:r>
                        <a:rPr lang="en-US" altLang="ko-KR" sz="2400" i="1">
                          <a:latin typeface="Cambria Math" panose="02040503050406030204" pitchFamily="18" charset="0"/>
                          <a:ea typeface="Cambria Math" panose="02040503050406030204" pitchFamily="18" charset="0"/>
                        </a:rPr>
                        <m:t>=</m:t>
                      </m:r>
                      <m:d>
                        <m:dPr>
                          <m:ctrlPr>
                            <a:rPr lang="en-US" altLang="ko-KR" sz="2400" i="1">
                              <a:latin typeface="Cambria Math" panose="02040503050406030204" pitchFamily="18" charset="0"/>
                              <a:ea typeface="Cambria Math" panose="02040503050406030204" pitchFamily="18" charset="0"/>
                            </a:rPr>
                          </m:ctrlPr>
                        </m:dPr>
                        <m:e>
                          <m:eqArr>
                            <m:eqArrPr>
                              <m:ctrlPr>
                                <a:rPr lang="en-US" altLang="ko-KR" sz="2400" i="1">
                                  <a:latin typeface="Cambria Math" panose="02040503050406030204" pitchFamily="18" charset="0"/>
                                  <a:ea typeface="Cambria Math" panose="02040503050406030204" pitchFamily="18" charset="0"/>
                                </a:rPr>
                              </m:ctrlPr>
                            </m:eqArrPr>
                            <m:e>
                              <m:r>
                                <a:rPr lang="en-US" altLang="ko-KR" sz="2400" b="0" i="1" smtClean="0">
                                  <a:latin typeface="Cambria Math" panose="02040503050406030204" pitchFamily="18" charset="0"/>
                                  <a:ea typeface="Cambria Math" panose="02040503050406030204" pitchFamily="18" charset="0"/>
                                </a:rPr>
                                <m:t>𝑖</m:t>
                              </m:r>
                              <m:r>
                                <a:rPr lang="en-US" altLang="ko-KR" sz="2400" b="0" i="1" smtClean="0">
                                  <a:latin typeface="Cambria Math" panose="02040503050406030204" pitchFamily="18" charset="0"/>
                                  <a:ea typeface="Cambria Math" panose="02040503050406030204" pitchFamily="18" charset="0"/>
                                </a:rPr>
                                <m:t>/√3</m:t>
                              </m:r>
                            </m:e>
                            <m:e>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r>
                                <a:rPr lang="en-US" altLang="ko-KR" sz="2400" b="0" i="1" smtClean="0">
                                  <a:latin typeface="Cambria Math" panose="02040503050406030204" pitchFamily="18" charset="0"/>
                                  <a:ea typeface="Cambria Math" panose="02040503050406030204" pitchFamily="18" charset="0"/>
                                </a:rPr>
                                <m:t>/</m:t>
                              </m:r>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3</m:t>
                                  </m:r>
                                </m:e>
                              </m:rad>
                            </m:e>
                          </m:eqArr>
                        </m:e>
                      </m:d>
                    </m:oMath>
                  </m:oMathPara>
                </a14:m>
                <a:endParaRPr lang="en-US" altLang="ko-KR" sz="2400" dirty="0" smtClean="0">
                  <a:ea typeface="Cambria Math" panose="02040503050406030204" pitchFamily="18" charset="0"/>
                </a:endParaRPr>
              </a:p>
              <a:p>
                <a:pPr marL="0" indent="0">
                  <a:buNone/>
                </a:pPr>
                <a:endParaRPr lang="en-US" altLang="ko-KR" sz="2400" dirty="0" smtClean="0"/>
              </a:p>
              <a:p>
                <a:pPr marL="0" indent="0">
                  <a:buNone/>
                </a:pPr>
                <a:endParaRPr lang="en-US" altLang="ko-KR" sz="2400" dirty="0" smtClean="0"/>
              </a:p>
              <a:p>
                <a:pPr marL="0" indent="0">
                  <a:buNone/>
                </a:pPr>
                <a:endParaRPr lang="en-US" altLang="ko-KR" sz="2400" dirty="0" smtClean="0"/>
              </a:p>
              <a:p>
                <a:pPr marL="0" indent="0">
                  <a:buNone/>
                </a:pPr>
                <a:r>
                  <a:rPr lang="en-US" altLang="ko-KR" sz="2400" dirty="0" smtClean="0"/>
                  <a:t>Non-valid example</a:t>
                </a:r>
                <a:endParaRPr lang="en-US" altLang="ko-KR" sz="2400" i="1" dirty="0" smtClean="0">
                  <a:latin typeface="Cambria Math" panose="02040503050406030204" pitchFamily="18" charset="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altLang="ko-KR" sz="2400" b="0" i="1" smtClean="0">
                          <a:latin typeface="Cambria Math" panose="02040503050406030204" pitchFamily="18" charset="0"/>
                          <a:ea typeface="Cambria Math" panose="02040503050406030204" pitchFamily="18" charset="0"/>
                        </a:rPr>
                        <m:t>𝑖</m:t>
                      </m:r>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1</m:t>
                          </m:r>
                        </m:num>
                        <m:den>
                          <m:r>
                            <a:rPr lang="en-US" altLang="ko-KR" sz="2400" b="0" i="1" smtClean="0">
                              <a:latin typeface="Cambria Math" panose="02040503050406030204" pitchFamily="18" charset="0"/>
                              <a:ea typeface="Cambria Math" panose="02040503050406030204" pitchFamily="18" charset="0"/>
                            </a:rPr>
                            <m:t>2</m:t>
                          </m:r>
                        </m:den>
                      </m:f>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1</m:t>
                          </m:r>
                        </m:e>
                      </m:d>
                    </m:oMath>
                  </m:oMathPara>
                </a14:m>
                <a:endParaRPr lang="en-US" altLang="ko-KR" sz="2400" dirty="0">
                  <a:ea typeface="Cambria Math" panose="02040503050406030204" pitchFamily="18" charset="0"/>
                </a:endParaRPr>
              </a:p>
              <a:p>
                <a:pPr marL="0" indent="0" algn="ctr">
                  <a:buNone/>
                </a:pPr>
                <a:endParaRPr lang="en-US" altLang="ko-KR" sz="24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t="-1961"/>
                </a:stretch>
              </a:blipFill>
            </p:spPr>
            <p:txBody>
              <a:bodyPr/>
              <a:lstStyle/>
              <a:p>
                <a:r>
                  <a:rPr lang="ko-KR" altLang="en-US">
                    <a:noFill/>
                  </a:rPr>
                  <a:t> </a:t>
                </a:r>
              </a:p>
            </p:txBody>
          </p:sp>
        </mc:Fallback>
      </mc:AlternateContent>
      <p:cxnSp>
        <p:nvCxnSpPr>
          <p:cNvPr id="8" name="Straight Connector 3">
            <a:extLst>
              <a:ext uri="{FF2B5EF4-FFF2-40B4-BE49-F238E27FC236}">
                <a16:creationId xmlns:a16="http://schemas.microsoft.com/office/drawing/2014/main" id="{B91E78E4-542E-3BF9-60EB-0A75C5E77BF2}"/>
              </a:ext>
            </a:extLst>
          </p:cNvPr>
          <p:cNvCxnSpPr>
            <a:cxnSpLocks/>
          </p:cNvCxnSpPr>
          <p:nvPr/>
        </p:nvCxnSpPr>
        <p:spPr>
          <a:xfrm>
            <a:off x="5312493" y="3894007"/>
            <a:ext cx="783507"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4EE92FC-DB34-FB95-BD1E-9664133A05EE}"/>
                  </a:ext>
                </a:extLst>
              </p:cNvPr>
              <p:cNvSpPr/>
              <p:nvPr/>
            </p:nvSpPr>
            <p:spPr>
              <a:xfrm>
                <a:off x="4708726" y="3645173"/>
                <a:ext cx="7182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𝜙</m:t>
                          </m:r>
                        </m:e>
                      </m:d>
                    </m:oMath>
                  </m:oMathPara>
                </a14:m>
                <a:endParaRPr lang="en-US" sz="2400" dirty="0"/>
              </a:p>
            </p:txBody>
          </p:sp>
        </mc:Choice>
        <mc:Fallback xmlns="">
          <p:sp>
            <p:nvSpPr>
              <p:cNvPr id="9"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4708726" y="3645173"/>
                <a:ext cx="718274" cy="461665"/>
              </a:xfrm>
              <a:prstGeom prst="rect">
                <a:avLst/>
              </a:prstGeom>
              <a:blipFill>
                <a:blip r:embed="rId4"/>
                <a:stretch>
                  <a:fillRect b="-18421"/>
                </a:stretch>
              </a:blipFill>
            </p:spPr>
            <p:txBody>
              <a:bodyPr/>
              <a:lstStyle/>
              <a:p>
                <a:r>
                  <a:rPr lang="ko-KR" altLang="en-US">
                    <a:noFill/>
                  </a:rPr>
                  <a:t> </a:t>
                </a:r>
              </a:p>
            </p:txBody>
          </p:sp>
        </mc:Fallback>
      </mc:AlternateContent>
      <p:pic>
        <p:nvPicPr>
          <p:cNvPr id="10" name="그림 9"/>
          <p:cNvPicPr>
            <a:picLocks noChangeAspect="1"/>
          </p:cNvPicPr>
          <p:nvPr/>
        </p:nvPicPr>
        <p:blipFill>
          <a:blip r:embed="rId5"/>
          <a:stretch>
            <a:fillRect/>
          </a:stretch>
        </p:blipFill>
        <p:spPr>
          <a:xfrm>
            <a:off x="5810210" y="3670138"/>
            <a:ext cx="571580" cy="447737"/>
          </a:xfrm>
          <a:prstGeom prst="rect">
            <a:avLst/>
          </a:prstGeom>
        </p:spPr>
      </p:pic>
      <p:sp>
        <p:nvSpPr>
          <p:cNvPr id="7" name="모서리가 둥근 직사각형 6"/>
          <p:cNvSpPr/>
          <p:nvPr/>
        </p:nvSpPr>
        <p:spPr>
          <a:xfrm>
            <a:off x="8668871" y="1048871"/>
            <a:ext cx="2684929" cy="641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Check on board</a:t>
            </a:r>
            <a:endParaRPr lang="ko-KR" altLang="en-US" dirty="0"/>
          </a:p>
        </p:txBody>
      </p:sp>
    </p:spTree>
    <p:extLst>
      <p:ext uri="{BB962C8B-B14F-4D97-AF65-F5344CB8AC3E}">
        <p14:creationId xmlns:p14="http://schemas.microsoft.com/office/powerpoint/2010/main" val="10964689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Today we will learn about a single-qubit</a:t>
            </a:r>
            <a:endParaRPr lang="ko-KR" altLang="en-US" dirty="0"/>
          </a:p>
        </p:txBody>
      </p:sp>
      <p:sp>
        <p:nvSpPr>
          <p:cNvPr id="3" name="내용 개체 틀 2"/>
          <p:cNvSpPr>
            <a:spLocks noGrp="1"/>
          </p:cNvSpPr>
          <p:nvPr>
            <p:ph idx="1"/>
          </p:nvPr>
        </p:nvSpPr>
        <p:spPr/>
        <p:txBody>
          <a:bodyPr>
            <a:normAutofit/>
          </a:bodyPr>
          <a:lstStyle/>
          <a:p>
            <a:pPr marL="0" indent="0">
              <a:buNone/>
            </a:pPr>
            <a:r>
              <a:rPr lang="en-US" altLang="ko-KR" dirty="0" smtClean="0"/>
              <a:t>Basic of quantum computing</a:t>
            </a:r>
          </a:p>
          <a:p>
            <a:r>
              <a:rPr lang="en-US" altLang="ko-KR" dirty="0" smtClean="0"/>
              <a:t>A single qubit</a:t>
            </a:r>
          </a:p>
          <a:p>
            <a:pPr lvl="1"/>
            <a:r>
              <a:rPr lang="en-US" altLang="ko-KR" dirty="0" smtClean="0"/>
              <a:t>Definition (superposition)</a:t>
            </a:r>
          </a:p>
          <a:p>
            <a:pPr lvl="1"/>
            <a:r>
              <a:rPr lang="en-US" altLang="ko-KR" dirty="0" smtClean="0"/>
              <a:t>Measurements</a:t>
            </a:r>
          </a:p>
          <a:p>
            <a:r>
              <a:rPr lang="en-US" altLang="ko-KR" b="1" dirty="0" smtClean="0"/>
              <a:t>Quantum operations</a:t>
            </a:r>
          </a:p>
          <a:p>
            <a:pPr lvl="1"/>
            <a:r>
              <a:rPr lang="en-US" altLang="ko-KR" b="1" dirty="0" smtClean="0"/>
              <a:t>Unitary operations</a:t>
            </a:r>
          </a:p>
          <a:p>
            <a:pPr lvl="1"/>
            <a:r>
              <a:rPr lang="en-US" altLang="ko-KR" b="1" dirty="0" smtClean="0"/>
              <a:t>Basic 1-qubit quantum gates</a:t>
            </a:r>
            <a:endParaRPr lang="en-US" altLang="ko-KR" b="1" dirty="0"/>
          </a:p>
          <a:p>
            <a:r>
              <a:rPr lang="en-US" altLang="ko-KR" dirty="0" smtClean="0"/>
              <a:t>Examples</a:t>
            </a:r>
          </a:p>
          <a:p>
            <a:pPr lvl="1"/>
            <a:r>
              <a:rPr lang="en-US" altLang="ko-KR" dirty="0"/>
              <a:t>Quantum random number generators and more</a:t>
            </a:r>
          </a:p>
        </p:txBody>
      </p:sp>
    </p:spTree>
    <p:extLst>
      <p:ext uri="{BB962C8B-B14F-4D97-AF65-F5344CB8AC3E}">
        <p14:creationId xmlns:p14="http://schemas.microsoft.com/office/powerpoint/2010/main" val="18593984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Second: “Reversible” Transformations</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CA" sz="2400" dirty="0" smtClean="0"/>
                  <a:t>In addition to measurement (which is irreversible), the state of a qubit can change via a “quantum reversible” transformations. Those “quantum reversible transformations” are described by unitary transforms.</a:t>
                </a:r>
              </a:p>
              <a:p>
                <a:pPr marL="0" indent="0">
                  <a:buNone/>
                </a:pPr>
                <a:endParaRPr lang="en-CA" sz="2400" dirty="0" smtClean="0"/>
              </a:p>
              <a:p>
                <a:pPr marL="0" indent="0" algn="ctr">
                  <a:buNone/>
                </a:pPr>
                <a:r>
                  <a:rPr lang="en-CA" sz="2400" dirty="0" smtClean="0"/>
                  <a:t>Quantum transformation</a:t>
                </a:r>
              </a:p>
              <a:p>
                <a:pPr marL="0" indent="0" algn="ctr">
                  <a:buNone/>
                </a:pPr>
                <a:r>
                  <a:rPr lang="en-CA" sz="2400" dirty="0" smtClean="0"/>
                  <a:t> = </a:t>
                </a:r>
              </a:p>
              <a:p>
                <a:pPr marL="0" indent="0" algn="ctr">
                  <a:buNone/>
                </a:pPr>
                <a:r>
                  <a:rPr lang="en-CA" sz="2400" dirty="0" smtClean="0"/>
                  <a:t>(Measurements) + (Quantum reversible transformation)</a:t>
                </a:r>
              </a:p>
              <a:p>
                <a:pPr marL="0" indent="0">
                  <a:buNone/>
                </a:pPr>
                <a:endParaRPr lang="en-CA" sz="2400" dirty="0" smtClean="0"/>
              </a:p>
              <a:p>
                <a:pPr marL="0" indent="0">
                  <a:buNone/>
                </a:pPr>
                <a:r>
                  <a:rPr lang="en-CA" sz="2400" dirty="0" smtClean="0"/>
                  <a:t>A unitary transform </a:t>
                </a:r>
                <a14:m>
                  <m:oMath xmlns:m="http://schemas.openxmlformats.org/officeDocument/2006/math">
                    <m:r>
                      <a:rPr lang="en-US" sz="2400" b="0" i="1" smtClean="0">
                        <a:latin typeface="Cambria Math" panose="02040503050406030204" pitchFamily="18" charset="0"/>
                      </a:rPr>
                      <m:t>𝑈</m:t>
                    </m:r>
                  </m:oMath>
                </a14:m>
                <a:r>
                  <a:rPr lang="en-CA" sz="2400" dirty="0" smtClean="0"/>
                  <a:t> acting on </a:t>
                </a:r>
                <a14:m>
                  <m:oMath xmlns:m="http://schemas.openxmlformats.org/officeDocument/2006/math">
                    <m:r>
                      <a:rPr lang="en-US" altLang="ko-KR" sz="2400" b="0" i="1" smtClean="0">
                        <a:latin typeface="Cambria Math" panose="02040503050406030204" pitchFamily="18" charset="0"/>
                      </a:rPr>
                      <m:t>|</m:t>
                    </m:r>
                    <m:r>
                      <a:rPr lang="en-US" altLang="ko-KR" sz="2400" b="0" i="1" smtClean="0">
                        <a:latin typeface="Cambria Math" panose="02040503050406030204" pitchFamily="18" charset="0"/>
                      </a:rPr>
                      <m:t>𝜓</m:t>
                    </m:r>
                    <m:r>
                      <a:rPr lang="en-US" altLang="ko-KR" sz="2400" b="0" i="1" smtClean="0">
                        <a:latin typeface="Cambria Math" panose="02040503050406030204" pitchFamily="18" charset="0"/>
                      </a:rPr>
                      <m:t>⟩</m:t>
                    </m:r>
                  </m:oMath>
                </a14:m>
                <a:r>
                  <a:rPr lang="en-CA" sz="2400" dirty="0" smtClean="0"/>
                  <a:t> is represented by the circuit</a:t>
                </a:r>
              </a:p>
              <a:p>
                <a:endParaRPr lang="en-CA"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928" t="-1765" r="-580"/>
                </a:stretch>
              </a:blipFill>
            </p:spPr>
            <p:txBody>
              <a:bodyPr/>
              <a:lstStyle/>
              <a:p>
                <a:r>
                  <a:rPr lang="ko-KR" altLang="en-US">
                    <a:noFill/>
                  </a:rPr>
                  <a:t> </a:t>
                </a:r>
              </a:p>
            </p:txBody>
          </p:sp>
        </mc:Fallback>
      </mc:AlternateContent>
      <p:cxnSp>
        <p:nvCxnSpPr>
          <p:cNvPr id="4" name="Straight Connector 3">
            <a:extLst>
              <a:ext uri="{FF2B5EF4-FFF2-40B4-BE49-F238E27FC236}">
                <a16:creationId xmlns:a16="http://schemas.microsoft.com/office/drawing/2014/main" id="{B91E78E4-542E-3BF9-60EB-0A75C5E77BF2}"/>
              </a:ext>
            </a:extLst>
          </p:cNvPr>
          <p:cNvCxnSpPr>
            <a:cxnSpLocks/>
          </p:cNvCxnSpPr>
          <p:nvPr/>
        </p:nvCxnSpPr>
        <p:spPr>
          <a:xfrm>
            <a:off x="5312493" y="6171986"/>
            <a:ext cx="1874373"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Rectangle 8">
                <a:extLst>
                  <a:ext uri="{FF2B5EF4-FFF2-40B4-BE49-F238E27FC236}">
                    <a16:creationId xmlns:a16="http://schemas.microsoft.com/office/drawing/2014/main" id="{94EE92FC-DB34-FB95-BD1E-9664133A05EE}"/>
                  </a:ext>
                </a:extLst>
              </p:cNvPr>
              <p:cNvSpPr/>
              <p:nvPr/>
            </p:nvSpPr>
            <p:spPr>
              <a:xfrm>
                <a:off x="4708726" y="5923152"/>
                <a:ext cx="7225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𝜓</m:t>
                          </m:r>
                        </m:e>
                      </m:d>
                    </m:oMath>
                  </m:oMathPara>
                </a14:m>
                <a:endParaRPr lang="en-US" sz="2400" dirty="0"/>
              </a:p>
            </p:txBody>
          </p:sp>
        </mc:Choice>
        <mc:Fallback xmlns="">
          <p:sp>
            <p:nvSpPr>
              <p:cNvPr id="5"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4708726" y="5923152"/>
                <a:ext cx="722570" cy="461665"/>
              </a:xfrm>
              <a:prstGeom prst="rect">
                <a:avLst/>
              </a:prstGeom>
              <a:blipFill>
                <a:blip r:embed="rId3"/>
                <a:stretch>
                  <a:fillRect b="-20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직사각형 6"/>
              <p:cNvSpPr/>
              <p:nvPr/>
            </p:nvSpPr>
            <p:spPr>
              <a:xfrm>
                <a:off x="6096000" y="5939194"/>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𝑈</m:t>
                      </m:r>
                    </m:oMath>
                  </m:oMathPara>
                </a14:m>
                <a:endParaRPr lang="ko-KR" altLang="en-US" sz="2400" dirty="0"/>
              </a:p>
            </p:txBody>
          </p:sp>
        </mc:Choice>
        <mc:Fallback xmlns="">
          <p:sp>
            <p:nvSpPr>
              <p:cNvPr id="7" name="직사각형 6"/>
              <p:cNvSpPr>
                <a:spLocks noRot="1" noChangeAspect="1" noMove="1" noResize="1" noEditPoints="1" noAdjustHandles="1" noChangeArrowheads="1" noChangeShapeType="1" noTextEdit="1"/>
              </p:cNvSpPr>
              <p:nvPr/>
            </p:nvSpPr>
            <p:spPr>
              <a:xfrm>
                <a:off x="6096000" y="5939194"/>
                <a:ext cx="461665" cy="461665"/>
              </a:xfrm>
              <a:prstGeom prst="rect">
                <a:avLst/>
              </a:prstGeom>
              <a:blipFill>
                <a:blip r:embed="rId4"/>
                <a:stretch>
                  <a:fillRect/>
                </a:stretch>
              </a:blipFill>
              <a:ln>
                <a:solidFill>
                  <a:schemeClr val="tx1"/>
                </a:solidFill>
              </a:ln>
            </p:spPr>
            <p:txBody>
              <a:bodyPr/>
              <a:lstStyle/>
              <a:p>
                <a:r>
                  <a:rPr lang="ko-KR" altLang="en-US">
                    <a:noFill/>
                  </a:rPr>
                  <a:t> </a:t>
                </a:r>
              </a:p>
            </p:txBody>
          </p:sp>
        </mc:Fallback>
      </mc:AlternateContent>
    </p:spTree>
    <p:extLst>
      <p:ext uri="{BB962C8B-B14F-4D97-AF65-F5344CB8AC3E}">
        <p14:creationId xmlns:p14="http://schemas.microsoft.com/office/powerpoint/2010/main" val="38130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Recall the slide from reversible computing</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r>
                  <a:rPr lang="en-CA" sz="2400" dirty="0"/>
                  <a:t>All transformations </a:t>
                </a:r>
                <a14:m>
                  <m:oMath xmlns:m="http://schemas.openxmlformats.org/officeDocument/2006/math">
                    <m:r>
                      <a:rPr lang="en-CA" sz="2400" b="0" i="1" smtClean="0">
                        <a:latin typeface="Cambria Math" panose="02040503050406030204" pitchFamily="18" charset="0"/>
                      </a:rPr>
                      <m:t>𝑅</m:t>
                    </m:r>
                    <m:r>
                      <a:rPr lang="en-CA" sz="2400" i="1" smtClean="0">
                        <a:latin typeface="Cambria Math" panose="02040503050406030204" pitchFamily="18" charset="0"/>
                      </a:rPr>
                      <m:t> </m:t>
                    </m:r>
                  </m:oMath>
                </a14:m>
                <a:r>
                  <a:rPr lang="en-CA" sz="2400" dirty="0"/>
                  <a:t>must be </a:t>
                </a:r>
                <a:r>
                  <a:rPr lang="en-CA" sz="2400" b="1" dirty="0"/>
                  <a:t>reversible</a:t>
                </a:r>
                <a:r>
                  <a:rPr lang="en-CA" sz="2400" dirty="0"/>
                  <a:t>. </a:t>
                </a:r>
              </a:p>
              <a:p>
                <a:r>
                  <a:rPr lang="en-CA" sz="2400" dirty="0"/>
                  <a:t>Equivalently: </a:t>
                </a:r>
                <a14:m>
                  <m:oMath xmlns:m="http://schemas.openxmlformats.org/officeDocument/2006/math">
                    <m:r>
                      <a:rPr lang="en-CA" sz="2400" b="0" i="1" smtClean="0">
                        <a:latin typeface="Cambria Math" panose="02040503050406030204" pitchFamily="18" charset="0"/>
                      </a:rPr>
                      <m:t>𝑅</m:t>
                    </m:r>
                  </m:oMath>
                </a14:m>
                <a:r>
                  <a:rPr lang="en-CA" sz="2400" dirty="0"/>
                  <a:t> is a bijection between </a:t>
                </a:r>
                <a14:m>
                  <m:oMath xmlns:m="http://schemas.openxmlformats.org/officeDocument/2006/math">
                    <m:r>
                      <a:rPr lang="en-CA" sz="2400" b="0" i="1" smtClean="0">
                        <a:latin typeface="Cambria Math" panose="02040503050406030204" pitchFamily="18" charset="0"/>
                      </a:rPr>
                      <m:t>{0,1,…,</m:t>
                    </m:r>
                    <m:r>
                      <a:rPr lang="en-CA" sz="2400" b="0" i="1" smtClean="0">
                        <a:latin typeface="Cambria Math" panose="02040503050406030204" pitchFamily="18" charset="0"/>
                      </a:rPr>
                      <m:t>𝑑</m:t>
                    </m:r>
                    <m:r>
                      <a:rPr lang="en-CA" sz="2400" b="0" i="1" smtClean="0">
                        <a:latin typeface="Cambria Math" panose="02040503050406030204" pitchFamily="18" charset="0"/>
                      </a:rPr>
                      <m:t>−1}</m:t>
                    </m:r>
                  </m:oMath>
                </a14:m>
                <a:endParaRPr lang="en-CA" b="0" i="1" dirty="0">
                  <a:latin typeface="Cambria Math" panose="02040503050406030204" pitchFamily="18" charset="0"/>
                </a:endParaRPr>
              </a:p>
              <a:p>
                <a:r>
                  <a:rPr lang="en-CA" sz="2400" dirty="0"/>
                  <a:t>Equivalently: </a:t>
                </a:r>
                <a14:m>
                  <m:oMath xmlns:m="http://schemas.openxmlformats.org/officeDocument/2006/math">
                    <m:r>
                      <a:rPr lang="en-CA" sz="2400" b="0" i="1" smtClean="0">
                        <a:latin typeface="Cambria Math" panose="02040503050406030204" pitchFamily="18" charset="0"/>
                      </a:rPr>
                      <m:t>𝑅</m:t>
                    </m:r>
                  </m:oMath>
                </a14:m>
                <a:r>
                  <a:rPr lang="en-CA" sz="2400" dirty="0"/>
                  <a:t> is a permutation</a:t>
                </a:r>
                <a:endParaRPr lang="en-CA" b="0" dirty="0"/>
              </a:p>
              <a:p>
                <a:r>
                  <a:rPr lang="en-CA" sz="2400" dirty="0"/>
                  <a:t>Equivalently: </a:t>
                </a:r>
                <a:r>
                  <a:rPr lang="en-CA" sz="2400" b="0" dirty="0"/>
                  <a:t>there exists </a:t>
                </a:r>
                <a:r>
                  <a:rPr lang="en-CA" sz="2400" b="1" dirty="0"/>
                  <a:t>inverse </a:t>
                </a:r>
                <a14:m>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oMath>
                </a14:m>
                <a:r>
                  <a:rPr lang="en-CA" sz="2400" dirty="0"/>
                  <a:t> so that </a:t>
                </a:r>
                <a14:m>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r>
                      <a:rPr lang="en-CA" sz="2400" b="0" i="1" smtClean="0">
                        <a:latin typeface="Cambria Math" panose="02040503050406030204" pitchFamily="18" charset="0"/>
                      </a:rPr>
                      <m:t>𝑅</m:t>
                    </m:r>
                    <m:r>
                      <a:rPr lang="en-CA" sz="2400" b="0" i="0" smtClean="0">
                        <a:latin typeface="Cambria Math" panose="02040503050406030204" pitchFamily="18" charset="0"/>
                      </a:rPr>
                      <m:t>=</m:t>
                    </m:r>
                    <m:r>
                      <a:rPr lang="en-CA" sz="2400" b="0" i="1" smtClean="0">
                        <a:latin typeface="Cambria Math" panose="02040503050406030204" pitchFamily="18" charset="0"/>
                      </a:rPr>
                      <m:t>𝑅</m:t>
                    </m:r>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r>
                      <a:rPr lang="en-CA" sz="2400" b="0" i="1" smtClean="0">
                        <a:latin typeface="Cambria Math" panose="02040503050406030204" pitchFamily="18" charset="0"/>
                      </a:rPr>
                      <m:t>=</m:t>
                    </m:r>
                    <m:r>
                      <a:rPr lang="en-CA" sz="2400" b="0" i="1" smtClean="0">
                        <a:latin typeface="Cambria Math" panose="02040503050406030204" pitchFamily="18" charset="0"/>
                      </a:rPr>
                      <m:t>𝐼</m:t>
                    </m:r>
                  </m:oMath>
                </a14:m>
                <a:r>
                  <a:rPr lang="en-CA" sz="2400" dirty="0"/>
                  <a:t>:</a:t>
                </a:r>
                <a:br>
                  <a:rPr lang="en-CA" sz="2400" dirty="0"/>
                </a:br>
                <a:r>
                  <a:rPr lang="en-CA" sz="2400" dirty="0"/>
                  <a:t/>
                </a:r>
                <a:br>
                  <a:rPr lang="en-CA" sz="2400" dirty="0"/>
                </a:br>
                <a14:m>
                  <m:oMath xmlns:m="http://schemas.openxmlformats.org/officeDocument/2006/math">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𝑥</m:t>
                        </m:r>
                      </m:e>
                    </m:d>
                    <m:r>
                      <a:rPr lang="en-CA" sz="2400" b="0" i="1" smtClean="0">
                        <a:latin typeface="Cambria Math" panose="02040503050406030204" pitchFamily="18" charset="0"/>
                      </a:rPr>
                      <m:t>=</m:t>
                    </m:r>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r>
                      <a:rPr lang="en-CA" sz="2400" b="0" i="1" smtClean="0">
                        <a:latin typeface="Cambria Math" panose="02040503050406030204" pitchFamily="18" charset="0"/>
                      </a:rPr>
                      <m:t>𝑅</m:t>
                    </m:r>
                    <m:d>
                      <m:dPr>
                        <m:begChr m:val="|"/>
                        <m:endChr m:val="⟩"/>
                        <m:ctrlPr>
                          <a:rPr lang="en-CA" sz="2400" b="0" i="1" smtClean="0">
                            <a:latin typeface="Cambria Math" panose="02040503050406030204" pitchFamily="18" charset="0"/>
                          </a:rPr>
                        </m:ctrlPr>
                      </m:dPr>
                      <m:e>
                        <m:r>
                          <a:rPr lang="en-CA" sz="2400" b="0" i="1" smtClean="0">
                            <a:latin typeface="Cambria Math" panose="02040503050406030204" pitchFamily="18" charset="0"/>
                          </a:rPr>
                          <m:t>𝑥</m:t>
                        </m:r>
                      </m:e>
                    </m:d>
                    <m:r>
                      <a:rPr lang="en-CA" sz="2400" b="0" i="1" smtClean="0">
                        <a:latin typeface="Cambria Math" panose="02040503050406030204" pitchFamily="18" charset="0"/>
                      </a:rPr>
                      <m:t>=</m:t>
                    </m:r>
                    <m:r>
                      <a:rPr lang="en-CA" sz="2400" b="0" i="1" smtClean="0">
                        <a:latin typeface="Cambria Math" panose="02040503050406030204" pitchFamily="18" charset="0"/>
                      </a:rPr>
                      <m:t>𝑅</m:t>
                    </m:r>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𝑅</m:t>
                        </m:r>
                      </m:e>
                      <m:sup>
                        <m:r>
                          <a:rPr lang="en-CA" sz="2400" b="0" i="1" smtClean="0">
                            <a:latin typeface="Cambria Math" panose="02040503050406030204" pitchFamily="18" charset="0"/>
                          </a:rPr>
                          <m:t>−1</m:t>
                        </m:r>
                      </m:sup>
                    </m:sSup>
                    <m:r>
                      <a:rPr lang="en-CA" sz="2400" b="0" i="1" smtClean="0">
                        <a:latin typeface="Cambria Math" panose="02040503050406030204" pitchFamily="18" charset="0"/>
                      </a:rPr>
                      <m:t>|</m:t>
                    </m:r>
                    <m:r>
                      <a:rPr lang="en-CA" sz="2400" b="0" i="1" smtClean="0">
                        <a:latin typeface="Cambria Math" panose="02040503050406030204" pitchFamily="18" charset="0"/>
                      </a:rPr>
                      <m:t>𝑥</m:t>
                    </m:r>
                    <m:r>
                      <a:rPr lang="en-CA" sz="2400" b="0" i="1" smtClean="0">
                        <a:latin typeface="Cambria Math" panose="02040503050406030204" pitchFamily="18" charset="0"/>
                      </a:rPr>
                      <m:t>⟩</m:t>
                    </m:r>
                  </m:oMath>
                </a14:m>
                <a:r>
                  <a:rPr lang="en-CA" sz="2400" dirty="0"/>
                  <a:t/>
                </a:r>
                <a:br>
                  <a:rPr lang="en-CA" sz="2400" dirty="0"/>
                </a:br>
                <a:endParaRPr lang="en-CA" sz="2400" dirty="0"/>
              </a:p>
              <a:p>
                <a:endParaRPr lang="en-CA"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844" t="-1571"/>
                </a:stretch>
              </a:blipFill>
            </p:spPr>
            <p:txBody>
              <a:bodyPr/>
              <a:lstStyle/>
              <a:p>
                <a:r>
                  <a:rPr lang="en-US">
                    <a:noFill/>
                  </a:rPr>
                  <a:t> </a:t>
                </a:r>
              </a:p>
            </p:txBody>
          </p:sp>
        </mc:Fallback>
      </mc:AlternateContent>
    </p:spTree>
    <p:extLst>
      <p:ext uri="{BB962C8B-B14F-4D97-AF65-F5344CB8AC3E}">
        <p14:creationId xmlns:p14="http://schemas.microsoft.com/office/powerpoint/2010/main" val="16667192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Equivalent definitions of unitary transform</a:t>
            </a:r>
            <a:br>
              <a:rPr lang="en-US" sz="4000" dirty="0" smtClean="0"/>
            </a:br>
            <a:r>
              <a:rPr lang="en-US" altLang="ko-KR" sz="4000" dirty="0"/>
              <a:t>(proving equivalence is       </a:t>
            </a:r>
            <a:r>
              <a:rPr lang="en-US" altLang="ko-KR" sz="4000" dirty="0" smtClean="0"/>
              <a:t> </a:t>
            </a:r>
            <a:r>
              <a:rPr lang="en-US" altLang="ko-KR" sz="4000" dirty="0"/>
              <a:t>)</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US" altLang="ko-KR" sz="2400" dirty="0"/>
                  <a:t>Applying </a:t>
                </a:r>
                <a14:m>
                  <m:oMath xmlns:m="http://schemas.openxmlformats.org/officeDocument/2006/math">
                    <m:r>
                      <a:rPr lang="en-US" altLang="ko-KR" sz="2400" i="1">
                        <a:latin typeface="Cambria Math" panose="02040503050406030204" pitchFamily="18" charset="0"/>
                      </a:rPr>
                      <m:t>𝑈</m:t>
                    </m:r>
                  </m:oMath>
                </a14:m>
                <a:r>
                  <a:rPr lang="en-CA" altLang="ko-KR" sz="2400" dirty="0"/>
                  <a:t> on </a:t>
                </a:r>
                <a14:m>
                  <m:oMath xmlns:m="http://schemas.openxmlformats.org/officeDocument/2006/math">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𝜙</m:t>
                        </m:r>
                      </m:e>
                    </m:d>
                    <m:r>
                      <a:rPr lang="en-US" altLang="ko-KR" sz="2400" i="1">
                        <a:latin typeface="Cambria Math" panose="02040503050406030204" pitchFamily="18" charset="0"/>
                      </a:rPr>
                      <m:t>=</m:t>
                    </m:r>
                    <m:r>
                      <a:rPr lang="en-US" altLang="ko-KR" sz="2400" i="1">
                        <a:latin typeface="Cambria Math" panose="02040503050406030204" pitchFamily="18" charset="0"/>
                      </a:rPr>
                      <m:t>𝛼</m:t>
                    </m:r>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0</m:t>
                        </m:r>
                      </m:e>
                    </m:d>
                    <m:r>
                      <a:rPr lang="en-US" altLang="ko-KR" sz="2400" i="1">
                        <a:latin typeface="Cambria Math" panose="02040503050406030204" pitchFamily="18" charset="0"/>
                      </a:rPr>
                      <m:t>+</m:t>
                    </m:r>
                    <m:r>
                      <a:rPr lang="en-US" altLang="ko-KR" sz="2400" i="1">
                        <a:latin typeface="Cambria Math" panose="02040503050406030204" pitchFamily="18" charset="0"/>
                      </a:rPr>
                      <m:t>𝛽</m:t>
                    </m:r>
                    <m:r>
                      <a:rPr lang="en-US" altLang="ko-KR" sz="2400" i="1">
                        <a:latin typeface="Cambria Math" panose="02040503050406030204" pitchFamily="18" charset="0"/>
                      </a:rPr>
                      <m:t>|1⟩</m:t>
                    </m:r>
                  </m:oMath>
                </a14:m>
                <a:r>
                  <a:rPr lang="en-CA" altLang="ko-KR" sz="2400" dirty="0"/>
                  <a:t> gives </a:t>
                </a:r>
                <a14:m>
                  <m:oMath xmlns:m="http://schemas.openxmlformats.org/officeDocument/2006/math">
                    <m:r>
                      <a:rPr lang="en-US" altLang="ko-KR" sz="2400" i="1">
                        <a:latin typeface="Cambria Math" panose="02040503050406030204" pitchFamily="18" charset="0"/>
                      </a:rPr>
                      <m:t>𝑈</m:t>
                    </m:r>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𝜙</m:t>
                        </m:r>
                      </m:e>
                    </m:d>
                    <m:r>
                      <a:rPr lang="en-US" altLang="ko-KR" sz="2400" i="1">
                        <a:latin typeface="Cambria Math" panose="02040503050406030204" pitchFamily="18" charset="0"/>
                      </a:rPr>
                      <m:t>=</m:t>
                    </m:r>
                    <m:r>
                      <a:rPr lang="en-US" altLang="ko-KR" sz="2400" i="1">
                        <a:latin typeface="Cambria Math" panose="02040503050406030204" pitchFamily="18" charset="0"/>
                      </a:rPr>
                      <m:t>𝛼</m:t>
                    </m:r>
                    <m:r>
                      <a:rPr lang="en-US" altLang="ko-KR" sz="2400" i="1">
                        <a:latin typeface="Cambria Math" panose="02040503050406030204" pitchFamily="18" charset="0"/>
                      </a:rPr>
                      <m:t>𝑈</m:t>
                    </m:r>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0</m:t>
                        </m:r>
                      </m:e>
                    </m:d>
                    <m:r>
                      <a:rPr lang="en-US" altLang="ko-KR" sz="2400" i="1">
                        <a:latin typeface="Cambria Math" panose="02040503050406030204" pitchFamily="18" charset="0"/>
                      </a:rPr>
                      <m:t>+</m:t>
                    </m:r>
                    <m:r>
                      <a:rPr lang="en-US" altLang="ko-KR" sz="2400" i="1">
                        <a:latin typeface="Cambria Math" panose="02040503050406030204" pitchFamily="18" charset="0"/>
                      </a:rPr>
                      <m:t>𝛽</m:t>
                    </m:r>
                    <m:r>
                      <a:rPr lang="en-US" altLang="ko-KR" sz="2400" i="1">
                        <a:latin typeface="Cambria Math" panose="02040503050406030204" pitchFamily="18" charset="0"/>
                      </a:rPr>
                      <m:t>𝑈</m:t>
                    </m:r>
                    <m:r>
                      <a:rPr lang="en-US" altLang="ko-KR" sz="2400" i="1">
                        <a:latin typeface="Cambria Math" panose="02040503050406030204" pitchFamily="18" charset="0"/>
                      </a:rPr>
                      <m:t>|1⟩</m:t>
                    </m:r>
                  </m:oMath>
                </a14:m>
                <a:endParaRPr lang="en-US" sz="2400" dirty="0" smtClean="0"/>
              </a:p>
              <a:p>
                <a:pPr marL="0" indent="0">
                  <a:buNone/>
                </a:pPr>
                <a:endParaRPr lang="en-US" sz="2400" dirty="0"/>
              </a:p>
              <a:p>
                <a:pPr marL="0" indent="0">
                  <a:buNone/>
                </a:pPr>
                <a:r>
                  <a:rPr lang="en-US" sz="2400" dirty="0" smtClean="0"/>
                  <a:t>Recall a transform </a:t>
                </a:r>
                <a14:m>
                  <m:oMath xmlns:m="http://schemas.openxmlformats.org/officeDocument/2006/math">
                    <m:r>
                      <a:rPr lang="en-US" altLang="ko-KR" sz="2400" i="1">
                        <a:latin typeface="Cambria Math" panose="02040503050406030204" pitchFamily="18" charset="0"/>
                      </a:rPr>
                      <m:t>𝑈</m:t>
                    </m:r>
                  </m:oMath>
                </a14:m>
                <a:r>
                  <a:rPr lang="en-US" sz="2400" b="0" dirty="0" smtClean="0"/>
                  <a:t> is represented by a matrix.</a:t>
                </a:r>
              </a:p>
              <a:p>
                <a:pPr marL="457200" indent="-457200">
                  <a:buAutoNum type="arabicPeriod"/>
                </a:pPr>
                <a:r>
                  <a:rPr lang="en-US" sz="2400" b="0" dirty="0" smtClean="0"/>
                  <a:t>The transform </a:t>
                </a:r>
                <a14:m>
                  <m:oMath xmlns:m="http://schemas.openxmlformats.org/officeDocument/2006/math">
                    <m:r>
                      <a:rPr lang="en-US" sz="2400" b="0" i="1" smtClean="0">
                        <a:latin typeface="Cambria Math" panose="02040503050406030204" pitchFamily="18" charset="0"/>
                      </a:rPr>
                      <m:t>𝑈</m:t>
                    </m:r>
                  </m:oMath>
                </a14:m>
                <a:r>
                  <a:rPr lang="en-CA" sz="2400" dirty="0" smtClean="0"/>
                  <a:t> maps unit vectors to unit vectors (i.e. quantum states to quantum states)</a:t>
                </a:r>
              </a:p>
              <a:p>
                <a:pPr marL="457200" indent="-457200">
                  <a:buAutoNum type="arabicPeriod"/>
                </a:pPr>
                <a:r>
                  <a:rPr lang="en-CA" sz="2400" dirty="0" smtClean="0"/>
                  <a:t>The rows of </a:t>
                </a:r>
                <a14:m>
                  <m:oMath xmlns:m="http://schemas.openxmlformats.org/officeDocument/2006/math">
                    <m:r>
                      <a:rPr lang="en-US" altLang="ko-KR" sz="2400" i="1">
                        <a:latin typeface="Cambria Math" panose="02040503050406030204" pitchFamily="18" charset="0"/>
                      </a:rPr>
                      <m:t>𝑈</m:t>
                    </m:r>
                  </m:oMath>
                </a14:m>
                <a:r>
                  <a:rPr lang="en-CA" sz="2400" dirty="0" smtClean="0"/>
                  <a:t> form an orthonormal basis for </a:t>
                </a:r>
                <a14:m>
                  <m:oMath xmlns:m="http://schemas.openxmlformats.org/officeDocument/2006/math">
                    <m:sSup>
                      <m:sSupPr>
                        <m:ctrlPr>
                          <a:rPr lang="en-US" sz="2400" b="0" i="1" smtClean="0">
                            <a:latin typeface="Cambria Math" panose="02040503050406030204" pitchFamily="18" charset="0"/>
                            <a:ea typeface="Cambria Math" panose="02040503050406030204" pitchFamily="18" charset="0"/>
                          </a:rPr>
                        </m:ctrlPr>
                      </m:sSupPr>
                      <m:e>
                        <m:r>
                          <a:rPr lang="en-CA" sz="2400" i="1" smtClean="0">
                            <a:latin typeface="Cambria Math" panose="02040503050406030204" pitchFamily="18" charset="0"/>
                            <a:ea typeface="Cambria Math" panose="02040503050406030204" pitchFamily="18" charset="0"/>
                          </a:rPr>
                          <m:t>ℂ</m:t>
                        </m:r>
                      </m:e>
                      <m:sup>
                        <m:r>
                          <a:rPr lang="en-US" sz="2400" b="0" i="1" smtClean="0">
                            <a:latin typeface="Cambria Math" panose="02040503050406030204" pitchFamily="18" charset="0"/>
                            <a:ea typeface="Cambria Math" panose="02040503050406030204" pitchFamily="18" charset="0"/>
                          </a:rPr>
                          <m:t>𝑑</m:t>
                        </m:r>
                      </m:sup>
                    </m:sSup>
                  </m:oMath>
                </a14:m>
                <a:r>
                  <a:rPr lang="en-CA" sz="2400" dirty="0" smtClean="0"/>
                  <a:t>, and the columns for</a:t>
                </a:r>
                <a:r>
                  <a:rPr lang="en-US" altLang="ko-KR" sz="2400" dirty="0"/>
                  <a:t> </a:t>
                </a:r>
                <a14:m>
                  <m:oMath xmlns:m="http://schemas.openxmlformats.org/officeDocument/2006/math">
                    <m:r>
                      <a:rPr lang="en-US" altLang="ko-KR" sz="2400" i="1">
                        <a:latin typeface="Cambria Math" panose="02040503050406030204" pitchFamily="18" charset="0"/>
                      </a:rPr>
                      <m:t>𝑈</m:t>
                    </m:r>
                  </m:oMath>
                </a14:m>
                <a:r>
                  <a:rPr lang="en-CA" sz="2400" dirty="0" smtClean="0"/>
                  <a:t> an orthonormal basis for </a:t>
                </a:r>
                <a14:m>
                  <m:oMath xmlns:m="http://schemas.openxmlformats.org/officeDocument/2006/math">
                    <m:sSup>
                      <m:sSupPr>
                        <m:ctrlPr>
                          <a:rPr lang="en-US" altLang="ko-KR" sz="2400" i="1">
                            <a:latin typeface="Cambria Math" panose="02040503050406030204" pitchFamily="18" charset="0"/>
                            <a:ea typeface="Cambria Math" panose="02040503050406030204" pitchFamily="18" charset="0"/>
                          </a:rPr>
                        </m:ctrlPr>
                      </m:sSupPr>
                      <m:e>
                        <m:r>
                          <a:rPr lang="en-CA" altLang="ko-KR" sz="2400" i="1">
                            <a:latin typeface="Cambria Math" panose="02040503050406030204" pitchFamily="18" charset="0"/>
                            <a:ea typeface="Cambria Math" panose="02040503050406030204" pitchFamily="18" charset="0"/>
                          </a:rPr>
                          <m:t>ℂ</m:t>
                        </m:r>
                      </m:e>
                      <m:sup>
                        <m:r>
                          <a:rPr lang="en-US" altLang="ko-KR" sz="2400" i="1">
                            <a:latin typeface="Cambria Math" panose="02040503050406030204" pitchFamily="18" charset="0"/>
                            <a:ea typeface="Cambria Math" panose="02040503050406030204" pitchFamily="18" charset="0"/>
                          </a:rPr>
                          <m:t>𝑑</m:t>
                        </m:r>
                      </m:sup>
                    </m:sSup>
                  </m:oMath>
                </a14:m>
                <a:endParaRPr lang="en-CA" sz="2400" dirty="0" smtClean="0"/>
              </a:p>
              <a:p>
                <a:pPr marL="457200" indent="-457200">
                  <a:buAutoNum type="arabicPeriod"/>
                </a:pPr>
                <a:r>
                  <a:rPr lang="en-US" altLang="ko-KR" sz="2400" dirty="0" smtClean="0"/>
                  <a:t>The inverse of </a:t>
                </a:r>
                <a14:m>
                  <m:oMath xmlns:m="http://schemas.openxmlformats.org/officeDocument/2006/math">
                    <m:r>
                      <a:rPr lang="en-US" altLang="ko-KR" sz="2400" i="1">
                        <a:latin typeface="Cambria Math" panose="02040503050406030204" pitchFamily="18" charset="0"/>
                      </a:rPr>
                      <m:t>𝑈</m:t>
                    </m:r>
                  </m:oMath>
                </a14:m>
                <a:r>
                  <a:rPr lang="en-CA" sz="2400" dirty="0" smtClean="0"/>
                  <a:t> is its Hermitian conjugate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𝑈</m:t>
                        </m:r>
                      </m:e>
                      <m:sup>
                        <m:r>
                          <a:rPr lang="en-US" sz="2400" b="0" i="1" smtClean="0">
                            <a:latin typeface="Cambria Math" panose="02040503050406030204" pitchFamily="18" charset="0"/>
                          </a:rPr>
                          <m:t>∗</m:t>
                        </m:r>
                      </m:sup>
                    </m:sSup>
                  </m:oMath>
                </a14:m>
                <a:r>
                  <a:rPr lang="en-CA" sz="2400" dirty="0" smtClean="0"/>
                  <a:t> whose (</a:t>
                </a:r>
                <a:r>
                  <a:rPr lang="en-CA" sz="2400" dirty="0" err="1"/>
                  <a:t>i</a:t>
                </a:r>
                <a:r>
                  <a:rPr lang="en-CA" sz="2400" dirty="0" err="1" smtClean="0"/>
                  <a:t>,j</a:t>
                </a:r>
                <a:r>
                  <a:rPr lang="en-CA" sz="2400" dirty="0" smtClean="0"/>
                  <a:t>)-</a:t>
                </a:r>
                <a:r>
                  <a:rPr lang="en-CA" sz="2400" dirty="0" err="1" smtClean="0"/>
                  <a:t>th</a:t>
                </a:r>
                <a:r>
                  <a:rPr lang="en-CA" sz="2400" dirty="0" smtClean="0"/>
                  <a:t> entry is the complex conjugate of the (</a:t>
                </a:r>
                <a:r>
                  <a:rPr lang="en-CA" sz="2400" dirty="0" err="1" smtClean="0"/>
                  <a:t>j,i</a:t>
                </a:r>
                <a:r>
                  <a:rPr lang="en-CA" sz="2400" dirty="0" smtClean="0"/>
                  <a:t>)-</a:t>
                </a:r>
                <a:r>
                  <a:rPr lang="en-CA" sz="2400" dirty="0" err="1" smtClean="0"/>
                  <a:t>th</a:t>
                </a:r>
                <a:r>
                  <a:rPr lang="en-CA" sz="2400" dirty="0" smtClean="0"/>
                  <a:t> entry of </a:t>
                </a:r>
                <a14:m>
                  <m:oMath xmlns:m="http://schemas.openxmlformats.org/officeDocument/2006/math">
                    <m:r>
                      <a:rPr lang="en-US" altLang="ko-KR" sz="2400" i="1">
                        <a:latin typeface="Cambria Math" panose="02040503050406030204" pitchFamily="18" charset="0"/>
                      </a:rPr>
                      <m:t>𝑈</m:t>
                    </m:r>
                  </m:oMath>
                </a14:m>
                <a:r>
                  <a:rPr lang="en-CA" sz="2400" dirty="0" smtClean="0"/>
                  <a:t>:</a:t>
                </a:r>
              </a:p>
              <a:p>
                <a:pPr marL="457200" lvl="1" indent="0">
                  <a:buNone/>
                </a:pPr>
                <a:endParaRPr lang="en-US" altLang="ko-KR" b="0" i="1" dirty="0" smtClean="0">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sSubSup>
                        <m:sSubSupPr>
                          <m:ctrlPr>
                            <a:rPr lang="en-US" altLang="ko-KR" b="0" i="1" smtClean="0">
                              <a:latin typeface="Cambria Math" panose="02040503050406030204" pitchFamily="18" charset="0"/>
                            </a:rPr>
                          </m:ctrlPr>
                        </m:sSubSupPr>
                        <m:e>
                          <m:r>
                            <a:rPr lang="en-US" altLang="ko-KR" i="1">
                              <a:latin typeface="Cambria Math" panose="02040503050406030204" pitchFamily="18" charset="0"/>
                            </a:rPr>
                            <m:t>𝑈</m:t>
                          </m:r>
                        </m:e>
                        <m:sub>
                          <m:r>
                            <a:rPr lang="en-US" altLang="ko-KR" b="0" i="1" smtClean="0">
                              <a:latin typeface="Cambria Math" panose="02040503050406030204" pitchFamily="18" charset="0"/>
                            </a:rPr>
                            <m:t>𝑖</m:t>
                          </m:r>
                          <m:r>
                            <a:rPr lang="en-US" altLang="ko-KR" b="0" i="1" smtClean="0">
                              <a:latin typeface="Cambria Math" panose="02040503050406030204" pitchFamily="18" charset="0"/>
                            </a:rPr>
                            <m:t>,</m:t>
                          </m:r>
                          <m:r>
                            <a:rPr lang="en-US" altLang="ko-KR" b="0" i="1" smtClean="0">
                              <a:latin typeface="Cambria Math" panose="02040503050406030204" pitchFamily="18" charset="0"/>
                            </a:rPr>
                            <m:t>𝑗</m:t>
                          </m:r>
                        </m:sub>
                        <m:sup>
                          <m:r>
                            <a:rPr lang="en-US" altLang="ko-KR" b="0" i="1" smtClean="0">
                              <a:latin typeface="Cambria Math" panose="02040503050406030204" pitchFamily="18" charset="0"/>
                            </a:rPr>
                            <m:t>∗</m:t>
                          </m:r>
                        </m:sup>
                      </m:sSubSup>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acc>
                            <m:accPr>
                              <m:chr m:val="̅"/>
                              <m:ctrlPr>
                                <a:rPr lang="en-US" altLang="ko-KR" b="0" i="1" smtClean="0">
                                  <a:latin typeface="Cambria Math" panose="02040503050406030204" pitchFamily="18" charset="0"/>
                                </a:rPr>
                              </m:ctrlPr>
                            </m:accPr>
                            <m:e>
                              <m:r>
                                <a:rPr lang="en-US" altLang="ko-KR" b="0" i="1" smtClean="0">
                                  <a:latin typeface="Cambria Math" panose="02040503050406030204" pitchFamily="18" charset="0"/>
                                </a:rPr>
                                <m:t>𝑈</m:t>
                              </m:r>
                            </m:e>
                          </m:acc>
                        </m:e>
                        <m:sub>
                          <m:r>
                            <a:rPr lang="en-US" altLang="ko-KR" b="0" i="1" smtClean="0">
                              <a:latin typeface="Cambria Math" panose="02040503050406030204" pitchFamily="18" charset="0"/>
                            </a:rPr>
                            <m:t>𝑗</m:t>
                          </m:r>
                          <m:r>
                            <a:rPr lang="en-US" altLang="ko-KR" b="0" i="1" smtClean="0">
                              <a:latin typeface="Cambria Math" panose="02040503050406030204" pitchFamily="18" charset="0"/>
                            </a:rPr>
                            <m:t>,</m:t>
                          </m:r>
                          <m:r>
                            <a:rPr lang="en-US" altLang="ko-KR" b="0" i="1" smtClean="0">
                              <a:latin typeface="Cambria Math" panose="02040503050406030204" pitchFamily="18" charset="0"/>
                            </a:rPr>
                            <m:t>𝑖</m:t>
                          </m:r>
                        </m:sub>
                      </m:sSub>
                    </m:oMath>
                  </m:oMathPara>
                </a14:m>
                <a:endParaRPr lang="en-CA" sz="2000" dirty="0" smtClean="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1101" t="-1765" r="-1101"/>
                </a:stretch>
              </a:blipFill>
            </p:spPr>
            <p:txBody>
              <a:bodyPr/>
              <a:lstStyle/>
              <a:p>
                <a:r>
                  <a:rPr lang="ko-KR" altLang="en-US">
                    <a:noFill/>
                  </a:rPr>
                  <a:t> </a:t>
                </a:r>
              </a:p>
            </p:txBody>
          </p:sp>
        </mc:Fallback>
      </mc:AlternateContent>
      <p:sp>
        <p:nvSpPr>
          <p:cNvPr id="4" name="직사각형 3"/>
          <p:cNvSpPr/>
          <p:nvPr/>
        </p:nvSpPr>
        <p:spPr>
          <a:xfrm>
            <a:off x="6408232" y="1027906"/>
            <a:ext cx="1023456" cy="42993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Slightly advanced</a:t>
            </a:r>
            <a:endParaRPr lang="ko-KR" altLang="en-US" sz="1400" dirty="0"/>
          </a:p>
        </p:txBody>
      </p:sp>
      <p:sp>
        <p:nvSpPr>
          <p:cNvPr id="5" name="모서리가 둥근 직사각형 4"/>
          <p:cNvSpPr/>
          <p:nvPr/>
        </p:nvSpPr>
        <p:spPr>
          <a:xfrm>
            <a:off x="8516471" y="1116339"/>
            <a:ext cx="2684929" cy="6418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Will see the examples</a:t>
            </a:r>
            <a:endParaRPr lang="ko-KR" altLang="en-US" dirty="0"/>
          </a:p>
        </p:txBody>
      </p:sp>
      <p:sp>
        <p:nvSpPr>
          <p:cNvPr id="6" name="모서리가 둥근 사각형 설명선 5"/>
          <p:cNvSpPr/>
          <p:nvPr/>
        </p:nvSpPr>
        <p:spPr>
          <a:xfrm>
            <a:off x="8029579" y="5468717"/>
            <a:ext cx="2711824" cy="806824"/>
          </a:xfrm>
          <a:prstGeom prst="wedgeRoundRectCallout">
            <a:avLst>
              <a:gd name="adj1" fmla="val -35826"/>
              <a:gd name="adj2" fmla="val -7638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This is the definitions of “unitary matrices”</a:t>
            </a:r>
            <a:endParaRPr lang="ko-KR" altLang="en-US" dirty="0"/>
          </a:p>
        </p:txBody>
      </p:sp>
    </p:spTree>
    <p:extLst>
      <p:ext uri="{BB962C8B-B14F-4D97-AF65-F5344CB8AC3E}">
        <p14:creationId xmlns:p14="http://schemas.microsoft.com/office/powerpoint/2010/main" val="2598068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Examples of qubit unitary transforms</a:t>
            </a:r>
            <a:br>
              <a:rPr lang="en-US" sz="4000" dirty="0" smtClean="0"/>
            </a:br>
            <a:r>
              <a:rPr lang="en-US" sz="4000" dirty="0" smtClean="0"/>
              <a:t>(=quantum gates)</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CA" sz="2400" dirty="0" smtClean="0"/>
                  <a:t>We will use small unitary matrices in the circuit synthesis.</a:t>
                </a:r>
              </a:p>
              <a:p>
                <a:pPr marL="0" indent="0">
                  <a:buNone/>
                </a:pPr>
                <a:endParaRPr lang="en-CA" sz="2400" dirty="0"/>
              </a:p>
              <a:p>
                <a:pPr marL="0" indent="0">
                  <a:buNone/>
                </a:pPr>
                <a:r>
                  <a:rPr lang="en-CA" sz="2400" dirty="0" smtClean="0"/>
                  <a:t>Identity matrix </a:t>
                </a:r>
                <a14:m>
                  <m:oMath xmlns:m="http://schemas.openxmlformats.org/officeDocument/2006/math">
                    <m:r>
                      <a:rPr lang="en-US" altLang="ko-KR" sz="2400" i="1" smtClean="0">
                        <a:solidFill>
                          <a:schemeClr val="tx1"/>
                        </a:solidFill>
                        <a:latin typeface="Cambria Math" panose="02040503050406030204" pitchFamily="18" charset="0"/>
                        <a:ea typeface="Cambria Math" panose="02040503050406030204" pitchFamily="18" charset="0"/>
                      </a:rPr>
                      <m:t>𝐼</m:t>
                    </m:r>
                    <m:r>
                      <a:rPr lang="en-US" altLang="ko-KR" sz="2400" i="1" smtClean="0">
                        <a:solidFill>
                          <a:schemeClr val="tx1"/>
                        </a:solidFill>
                        <a:latin typeface="Cambria Math" panose="02040503050406030204" pitchFamily="18" charset="0"/>
                        <a:ea typeface="Cambria Math" panose="02040503050406030204" pitchFamily="18" charset="0"/>
                      </a:rPr>
                      <m:t>=</m:t>
                    </m:r>
                    <m:d>
                      <m:dPr>
                        <m:ctrlPr>
                          <a:rPr lang="en-US" altLang="ko-KR" sz="2400"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ko-KR" sz="2400" i="1">
                                <a:solidFill>
                                  <a:schemeClr val="tx1"/>
                                </a:solidFill>
                                <a:latin typeface="Cambria Math" panose="02040503050406030204" pitchFamily="18" charset="0"/>
                                <a:ea typeface="Cambria Math" panose="02040503050406030204" pitchFamily="18" charset="0"/>
                              </a:rPr>
                            </m:ctrlPr>
                          </m:mPr>
                          <m:mr>
                            <m:e>
                              <m:r>
                                <a:rPr lang="en-US" altLang="ko-KR" sz="2400" i="1">
                                  <a:solidFill>
                                    <a:schemeClr val="tx1"/>
                                  </a:solidFill>
                                  <a:latin typeface="Cambria Math" panose="02040503050406030204" pitchFamily="18" charset="0"/>
                                  <a:ea typeface="Cambria Math" panose="02040503050406030204" pitchFamily="18" charset="0"/>
                                </a:rPr>
                                <m:t>1</m:t>
                              </m:r>
                            </m:e>
                            <m:e>
                              <m:r>
                                <a:rPr lang="en-US" altLang="ko-KR" sz="2400" i="1">
                                  <a:solidFill>
                                    <a:schemeClr val="tx1"/>
                                  </a:solidFill>
                                  <a:latin typeface="Cambria Math" panose="02040503050406030204" pitchFamily="18" charset="0"/>
                                  <a:ea typeface="Cambria Math" panose="02040503050406030204" pitchFamily="18" charset="0"/>
                                </a:rPr>
                                <m:t>0</m:t>
                              </m:r>
                            </m:e>
                          </m:mr>
                          <m:mr>
                            <m:e>
                              <m:r>
                                <a:rPr lang="en-US" altLang="ko-KR" sz="2400" i="1">
                                  <a:solidFill>
                                    <a:schemeClr val="tx1"/>
                                  </a:solidFill>
                                  <a:latin typeface="Cambria Math" panose="02040503050406030204" pitchFamily="18" charset="0"/>
                                  <a:ea typeface="Cambria Math" panose="02040503050406030204" pitchFamily="18" charset="0"/>
                                </a:rPr>
                                <m:t>0</m:t>
                              </m:r>
                            </m:e>
                            <m:e>
                              <m:r>
                                <a:rPr lang="en-US" altLang="ko-KR" sz="2400" i="1">
                                  <a:solidFill>
                                    <a:schemeClr val="tx1"/>
                                  </a:solidFill>
                                  <a:latin typeface="Cambria Math" panose="02040503050406030204" pitchFamily="18" charset="0"/>
                                  <a:ea typeface="Cambria Math" panose="02040503050406030204" pitchFamily="18" charset="0"/>
                                </a:rPr>
                                <m:t>1</m:t>
                              </m:r>
                            </m:e>
                          </m:mr>
                        </m:m>
                      </m:e>
                    </m:d>
                  </m:oMath>
                </a14:m>
                <a:endParaRPr lang="en-CA" sz="2400" dirty="0" smtClean="0"/>
              </a:p>
              <a:p>
                <a:pPr marL="0" indent="0">
                  <a:buNone/>
                </a:pPr>
                <a:r>
                  <a:rPr lang="en-CA" sz="2400" dirty="0" smtClean="0"/>
                  <a:t>For all qubit states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𝜓</m:t>
                    </m:r>
                    <m:r>
                      <a:rPr lang="en-US" sz="2400" b="0" i="1" smtClean="0">
                        <a:latin typeface="Cambria Math" panose="02040503050406030204" pitchFamily="18" charset="0"/>
                      </a:rPr>
                      <m:t>⟩</m:t>
                    </m:r>
                  </m:oMath>
                </a14:m>
                <a:r>
                  <a:rPr lang="en-CA" sz="2400" dirty="0" smtClean="0"/>
                  <a:t>, </a:t>
                </a:r>
                <a14:m>
                  <m:oMath xmlns:m="http://schemas.openxmlformats.org/officeDocument/2006/math">
                    <m:r>
                      <a:rPr lang="en-US" altLang="ko-KR" sz="2400" b="0" i="1" smtClean="0">
                        <a:latin typeface="Cambria Math" panose="02040503050406030204" pitchFamily="18" charset="0"/>
                      </a:rPr>
                      <m:t>𝐼</m:t>
                    </m:r>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𝜓</m:t>
                        </m:r>
                      </m:e>
                    </m:d>
                    <m:r>
                      <a:rPr lang="en-US" altLang="ko-KR" sz="2400" b="0" i="1" smtClean="0">
                        <a:latin typeface="Cambria Math" panose="02040503050406030204" pitchFamily="18" charset="0"/>
                      </a:rPr>
                      <m:t>=</m:t>
                    </m:r>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𝜓</m:t>
                        </m:r>
                      </m:e>
                    </m:d>
                  </m:oMath>
                </a14:m>
                <a:r>
                  <a:rPr lang="en-CA" sz="2400" dirty="0" smtClean="0"/>
                  <a:t>.</a:t>
                </a:r>
              </a:p>
              <a:p>
                <a:pPr marL="0" indent="0">
                  <a:buNone/>
                </a:pPr>
                <a:endParaRPr lang="en-CA" sz="2400" dirty="0"/>
              </a:p>
              <a:p>
                <a:pPr marL="0" indent="0">
                  <a:buNone/>
                </a:pPr>
                <a:endParaRPr lang="en-CA" sz="2400" dirty="0" smtClean="0"/>
              </a:p>
              <a:p>
                <a:pPr marL="0" indent="0">
                  <a:buNone/>
                </a:pPr>
                <a:endParaRPr lang="en-CA"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928" t="-1765"/>
                </a:stretch>
              </a:blipFill>
            </p:spPr>
            <p:txBody>
              <a:bodyPr/>
              <a:lstStyle/>
              <a:p>
                <a:r>
                  <a:rPr lang="ko-KR" altLang="en-US">
                    <a:noFill/>
                  </a:rPr>
                  <a:t> </a:t>
                </a:r>
              </a:p>
            </p:txBody>
          </p:sp>
        </mc:Fallback>
      </mc:AlternateContent>
      <p:cxnSp>
        <p:nvCxnSpPr>
          <p:cNvPr id="10" name="Straight Connector 3">
            <a:extLst>
              <a:ext uri="{FF2B5EF4-FFF2-40B4-BE49-F238E27FC236}">
                <a16:creationId xmlns:a16="http://schemas.microsoft.com/office/drawing/2014/main" id="{B91E78E4-542E-3BF9-60EB-0A75C5E77BF2}"/>
              </a:ext>
            </a:extLst>
          </p:cNvPr>
          <p:cNvCxnSpPr>
            <a:cxnSpLocks/>
          </p:cNvCxnSpPr>
          <p:nvPr/>
        </p:nvCxnSpPr>
        <p:spPr>
          <a:xfrm>
            <a:off x="5039782" y="4455482"/>
            <a:ext cx="1874373"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Rectangle 8">
                <a:extLst>
                  <a:ext uri="{FF2B5EF4-FFF2-40B4-BE49-F238E27FC236}">
                    <a16:creationId xmlns:a16="http://schemas.microsoft.com/office/drawing/2014/main" id="{94EE92FC-DB34-FB95-BD1E-9664133A05EE}"/>
                  </a:ext>
                </a:extLst>
              </p:cNvPr>
              <p:cNvSpPr/>
              <p:nvPr/>
            </p:nvSpPr>
            <p:spPr>
              <a:xfrm>
                <a:off x="4436015" y="4206648"/>
                <a:ext cx="7225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𝜓</m:t>
                          </m:r>
                        </m:e>
                      </m:d>
                    </m:oMath>
                  </m:oMathPara>
                </a14:m>
                <a:endParaRPr lang="en-US" sz="2400" dirty="0"/>
              </a:p>
            </p:txBody>
          </p:sp>
        </mc:Choice>
        <mc:Fallback xmlns="">
          <p:sp>
            <p:nvSpPr>
              <p:cNvPr id="11"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4436015" y="4206648"/>
                <a:ext cx="722570" cy="461665"/>
              </a:xfrm>
              <a:prstGeom prst="rect">
                <a:avLst/>
              </a:prstGeom>
              <a:blipFill>
                <a:blip r:embed="rId3"/>
                <a:stretch>
                  <a:fillRect b="-1973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직사각형 11"/>
              <p:cNvSpPr/>
              <p:nvPr/>
            </p:nvSpPr>
            <p:spPr>
              <a:xfrm>
                <a:off x="5823289" y="4222690"/>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𝐼</m:t>
                      </m:r>
                    </m:oMath>
                  </m:oMathPara>
                </a14:m>
                <a:endParaRPr lang="ko-KR" altLang="en-US" sz="2400" dirty="0"/>
              </a:p>
            </p:txBody>
          </p:sp>
        </mc:Choice>
        <mc:Fallback xmlns="">
          <p:sp>
            <p:nvSpPr>
              <p:cNvPr id="12" name="직사각형 11"/>
              <p:cNvSpPr>
                <a:spLocks noRot="1" noChangeAspect="1" noMove="1" noResize="1" noEditPoints="1" noAdjustHandles="1" noChangeArrowheads="1" noChangeShapeType="1" noTextEdit="1"/>
              </p:cNvSpPr>
              <p:nvPr/>
            </p:nvSpPr>
            <p:spPr>
              <a:xfrm>
                <a:off x="5823289" y="4222690"/>
                <a:ext cx="461665" cy="461665"/>
              </a:xfrm>
              <a:prstGeom prst="rect">
                <a:avLst/>
              </a:prstGeom>
              <a:blipFill>
                <a:blip r:embed="rId4"/>
                <a:stretch>
                  <a:fillRect/>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Rectangle 8">
                <a:extLst>
                  <a:ext uri="{FF2B5EF4-FFF2-40B4-BE49-F238E27FC236}">
                    <a16:creationId xmlns:a16="http://schemas.microsoft.com/office/drawing/2014/main" id="{94EE92FC-DB34-FB95-BD1E-9664133A05EE}"/>
                  </a:ext>
                </a:extLst>
              </p:cNvPr>
              <p:cNvSpPr/>
              <p:nvPr/>
            </p:nvSpPr>
            <p:spPr>
              <a:xfrm>
                <a:off x="6879955" y="4206647"/>
                <a:ext cx="7225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𝜓</m:t>
                          </m:r>
                        </m:e>
                      </m:d>
                    </m:oMath>
                  </m:oMathPara>
                </a14:m>
                <a:endParaRPr lang="en-US" sz="2400" dirty="0"/>
              </a:p>
            </p:txBody>
          </p:sp>
        </mc:Choice>
        <mc:Fallback xmlns="">
          <p:sp>
            <p:nvSpPr>
              <p:cNvPr id="13"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6879955" y="4206647"/>
                <a:ext cx="722570" cy="461665"/>
              </a:xfrm>
              <a:prstGeom prst="rect">
                <a:avLst/>
              </a:prstGeom>
              <a:blipFill>
                <a:blip r:embed="rId5"/>
                <a:stretch>
                  <a:fillRect b="-19737"/>
                </a:stretch>
              </a:blipFill>
            </p:spPr>
            <p:txBody>
              <a:bodyPr/>
              <a:lstStyle/>
              <a:p>
                <a:r>
                  <a:rPr lang="ko-KR" altLang="en-US">
                    <a:noFill/>
                  </a:rPr>
                  <a:t> </a:t>
                </a:r>
              </a:p>
            </p:txBody>
          </p:sp>
        </mc:Fallback>
      </mc:AlternateContent>
      <p:cxnSp>
        <p:nvCxnSpPr>
          <p:cNvPr id="14" name="Straight Connector 3">
            <a:extLst>
              <a:ext uri="{FF2B5EF4-FFF2-40B4-BE49-F238E27FC236}">
                <a16:creationId xmlns:a16="http://schemas.microsoft.com/office/drawing/2014/main" id="{B91E78E4-542E-3BF9-60EB-0A75C5E77BF2}"/>
              </a:ext>
            </a:extLst>
          </p:cNvPr>
          <p:cNvCxnSpPr>
            <a:cxnSpLocks/>
          </p:cNvCxnSpPr>
          <p:nvPr/>
        </p:nvCxnSpPr>
        <p:spPr>
          <a:xfrm>
            <a:off x="3652508" y="5657082"/>
            <a:ext cx="1874373"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Rectangle 8">
                <a:extLst>
                  <a:ext uri="{FF2B5EF4-FFF2-40B4-BE49-F238E27FC236}">
                    <a16:creationId xmlns:a16="http://schemas.microsoft.com/office/drawing/2014/main" id="{94EE92FC-DB34-FB95-BD1E-9664133A05EE}"/>
                  </a:ext>
                </a:extLst>
              </p:cNvPr>
              <p:cNvSpPr/>
              <p:nvPr/>
            </p:nvSpPr>
            <p:spPr>
              <a:xfrm>
                <a:off x="3048741" y="5408248"/>
                <a:ext cx="7225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𝜓</m:t>
                          </m:r>
                        </m:e>
                      </m:d>
                    </m:oMath>
                  </m:oMathPara>
                </a14:m>
                <a:endParaRPr lang="en-US" sz="2400" dirty="0"/>
              </a:p>
            </p:txBody>
          </p:sp>
        </mc:Choice>
        <mc:Fallback xmlns="">
          <p:sp>
            <p:nvSpPr>
              <p:cNvPr id="15"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3048741" y="5408248"/>
                <a:ext cx="722570" cy="461665"/>
              </a:xfrm>
              <a:prstGeom prst="rect">
                <a:avLst/>
              </a:prstGeom>
              <a:blipFill>
                <a:blip r:embed="rId6"/>
                <a:stretch>
                  <a:fillRect b="-1973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직사각형 15"/>
              <p:cNvSpPr/>
              <p:nvPr/>
            </p:nvSpPr>
            <p:spPr>
              <a:xfrm>
                <a:off x="4436015" y="5424290"/>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𝐼</m:t>
                      </m:r>
                    </m:oMath>
                  </m:oMathPara>
                </a14:m>
                <a:endParaRPr lang="ko-KR" altLang="en-US" sz="2400" dirty="0"/>
              </a:p>
            </p:txBody>
          </p:sp>
        </mc:Choice>
        <mc:Fallback xmlns="">
          <p:sp>
            <p:nvSpPr>
              <p:cNvPr id="16" name="직사각형 15"/>
              <p:cNvSpPr>
                <a:spLocks noRot="1" noChangeAspect="1" noMove="1" noResize="1" noEditPoints="1" noAdjustHandles="1" noChangeArrowheads="1" noChangeShapeType="1" noTextEdit="1"/>
              </p:cNvSpPr>
              <p:nvPr/>
            </p:nvSpPr>
            <p:spPr>
              <a:xfrm>
                <a:off x="4436015" y="5424290"/>
                <a:ext cx="461665" cy="461665"/>
              </a:xfrm>
              <a:prstGeom prst="rect">
                <a:avLst/>
              </a:prstGeom>
              <a:blipFill>
                <a:blip r:embed="rId7"/>
                <a:stretch>
                  <a:fillRect/>
                </a:stretch>
              </a:blipFill>
              <a:ln>
                <a:solidFill>
                  <a:schemeClr val="tx1"/>
                </a:solidFill>
              </a:ln>
            </p:spPr>
            <p:txBody>
              <a:bodyPr/>
              <a:lstStyle/>
              <a:p>
                <a:r>
                  <a:rPr lang="ko-KR" altLang="en-US">
                    <a:noFill/>
                  </a:rPr>
                  <a:t> </a:t>
                </a:r>
              </a:p>
            </p:txBody>
          </p:sp>
        </mc:Fallback>
      </mc:AlternateContent>
      <p:cxnSp>
        <p:nvCxnSpPr>
          <p:cNvPr id="17" name="Straight Connector 3">
            <a:extLst>
              <a:ext uri="{FF2B5EF4-FFF2-40B4-BE49-F238E27FC236}">
                <a16:creationId xmlns:a16="http://schemas.microsoft.com/office/drawing/2014/main" id="{B91E78E4-542E-3BF9-60EB-0A75C5E77BF2}"/>
              </a:ext>
            </a:extLst>
          </p:cNvPr>
          <p:cNvCxnSpPr>
            <a:cxnSpLocks/>
          </p:cNvCxnSpPr>
          <p:nvPr/>
        </p:nvCxnSpPr>
        <p:spPr>
          <a:xfrm>
            <a:off x="7250323" y="5641040"/>
            <a:ext cx="1874373"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Rectangle 8">
                <a:extLst>
                  <a:ext uri="{FF2B5EF4-FFF2-40B4-BE49-F238E27FC236}">
                    <a16:creationId xmlns:a16="http://schemas.microsoft.com/office/drawing/2014/main" id="{94EE92FC-DB34-FB95-BD1E-9664133A05EE}"/>
                  </a:ext>
                </a:extLst>
              </p:cNvPr>
              <p:cNvSpPr/>
              <p:nvPr/>
            </p:nvSpPr>
            <p:spPr>
              <a:xfrm>
                <a:off x="6646556" y="5392206"/>
                <a:ext cx="7225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𝜓</m:t>
                          </m:r>
                        </m:e>
                      </m:d>
                    </m:oMath>
                  </m:oMathPara>
                </a14:m>
                <a:endParaRPr lang="en-US" sz="2400" dirty="0"/>
              </a:p>
            </p:txBody>
          </p:sp>
        </mc:Choice>
        <mc:Fallback xmlns="">
          <p:sp>
            <p:nvSpPr>
              <p:cNvPr id="18"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6646556" y="5392206"/>
                <a:ext cx="722570" cy="461665"/>
              </a:xfrm>
              <a:prstGeom prst="rect">
                <a:avLst/>
              </a:prstGeom>
              <a:blipFill>
                <a:blip r:embed="rId8"/>
                <a:stretch>
                  <a:fillRect b="-20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0" name="직사각형 19"/>
              <p:cNvSpPr/>
              <p:nvPr/>
            </p:nvSpPr>
            <p:spPr>
              <a:xfrm>
                <a:off x="5844144" y="5410017"/>
                <a:ext cx="5228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sz="2400" i="1">
                          <a:latin typeface="Cambria Math" panose="02040503050406030204" pitchFamily="18" charset="0"/>
                          <a:ea typeface="Cambria Math" panose="02040503050406030204" pitchFamily="18" charset="0"/>
                        </a:rPr>
                        <m:t>=</m:t>
                      </m:r>
                    </m:oMath>
                  </m:oMathPara>
                </a14:m>
                <a:endParaRPr lang="en-US" altLang="ko-KR" sz="2400" dirty="0">
                  <a:ea typeface="Cambria Math" panose="02040503050406030204" pitchFamily="18" charset="0"/>
                </a:endParaRPr>
              </a:p>
            </p:txBody>
          </p:sp>
        </mc:Choice>
        <mc:Fallback xmlns="">
          <p:sp>
            <p:nvSpPr>
              <p:cNvPr id="20" name="직사각형 19"/>
              <p:cNvSpPr>
                <a:spLocks noRot="1" noChangeAspect="1" noMove="1" noResize="1" noEditPoints="1" noAdjustHandles="1" noChangeArrowheads="1" noChangeShapeType="1" noTextEdit="1"/>
              </p:cNvSpPr>
              <p:nvPr/>
            </p:nvSpPr>
            <p:spPr>
              <a:xfrm>
                <a:off x="5844144" y="5410017"/>
                <a:ext cx="522899" cy="461665"/>
              </a:xfrm>
              <a:prstGeom prst="rect">
                <a:avLst/>
              </a:prstGeom>
              <a:blipFill>
                <a:blip r:embed="rId9"/>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6092590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altLang="ko-KR" sz="4000" dirty="0"/>
              <a:t>Examples of qubit unitary transforms</a:t>
            </a:r>
            <a:br>
              <a:rPr lang="en-US" altLang="ko-KR" sz="4000" dirty="0"/>
            </a:br>
            <a:r>
              <a:rPr lang="en-US" altLang="ko-KR" sz="4000" dirty="0"/>
              <a:t>(=quantum gates)</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CA" sz="2400" dirty="0" smtClean="0"/>
                  <a:t>Bit flit matrix </a:t>
                </a:r>
                <a14:m>
                  <m:oMath xmlns:m="http://schemas.openxmlformats.org/officeDocument/2006/math">
                    <m:r>
                      <a:rPr lang="en-US" altLang="ko-KR" sz="2400" b="0" i="1" smtClean="0">
                        <a:solidFill>
                          <a:schemeClr val="tx1"/>
                        </a:solidFill>
                        <a:latin typeface="Cambria Math" panose="02040503050406030204" pitchFamily="18" charset="0"/>
                        <a:ea typeface="Cambria Math" panose="02040503050406030204" pitchFamily="18" charset="0"/>
                      </a:rPr>
                      <m:t>𝑋</m:t>
                    </m:r>
                    <m:r>
                      <a:rPr lang="en-US" altLang="ko-KR" sz="2400" i="1" smtClean="0">
                        <a:solidFill>
                          <a:schemeClr val="tx1"/>
                        </a:solidFill>
                        <a:latin typeface="Cambria Math" panose="02040503050406030204" pitchFamily="18" charset="0"/>
                        <a:ea typeface="Cambria Math" panose="02040503050406030204" pitchFamily="18" charset="0"/>
                      </a:rPr>
                      <m:t>=</m:t>
                    </m:r>
                    <m:d>
                      <m:dPr>
                        <m:ctrlPr>
                          <a:rPr lang="en-US" altLang="ko-KR" sz="2400"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ko-KR" sz="2400" i="1">
                                <a:solidFill>
                                  <a:schemeClr val="tx1"/>
                                </a:solidFill>
                                <a:latin typeface="Cambria Math" panose="02040503050406030204" pitchFamily="18" charset="0"/>
                                <a:ea typeface="Cambria Math" panose="02040503050406030204" pitchFamily="18" charset="0"/>
                              </a:rPr>
                            </m:ctrlPr>
                          </m:mPr>
                          <m:mr>
                            <m:e>
                              <m:r>
                                <m:rPr>
                                  <m:brk m:alnAt="7"/>
                                </m:rPr>
                                <a:rPr lang="en-US" altLang="ko-KR" sz="2400" b="0" i="1" smtClean="0">
                                  <a:solidFill>
                                    <a:schemeClr val="tx1"/>
                                  </a:solidFill>
                                  <a:latin typeface="Cambria Math" panose="02040503050406030204" pitchFamily="18" charset="0"/>
                                  <a:ea typeface="Cambria Math" panose="02040503050406030204" pitchFamily="18" charset="0"/>
                                </a:rPr>
                                <m:t>0</m:t>
                              </m:r>
                            </m:e>
                            <m:e>
                              <m:r>
                                <a:rPr lang="en-US" altLang="ko-KR" sz="2400" b="0" i="1" smtClean="0">
                                  <a:solidFill>
                                    <a:schemeClr val="tx1"/>
                                  </a:solidFill>
                                  <a:latin typeface="Cambria Math" panose="02040503050406030204" pitchFamily="18" charset="0"/>
                                  <a:ea typeface="Cambria Math" panose="02040503050406030204" pitchFamily="18" charset="0"/>
                                </a:rPr>
                                <m:t>1</m:t>
                              </m:r>
                            </m:e>
                          </m:mr>
                          <m:mr>
                            <m:e>
                              <m:r>
                                <a:rPr lang="en-US" altLang="ko-KR" sz="2400" b="0" i="1" smtClean="0">
                                  <a:solidFill>
                                    <a:schemeClr val="tx1"/>
                                  </a:solidFill>
                                  <a:latin typeface="Cambria Math" panose="02040503050406030204" pitchFamily="18" charset="0"/>
                                  <a:ea typeface="Cambria Math" panose="02040503050406030204" pitchFamily="18" charset="0"/>
                                </a:rPr>
                                <m:t>1</m:t>
                              </m:r>
                            </m:e>
                            <m:e>
                              <m:r>
                                <a:rPr lang="en-US" altLang="ko-KR" sz="2400" b="0" i="1" smtClean="0">
                                  <a:solidFill>
                                    <a:schemeClr val="tx1"/>
                                  </a:solidFill>
                                  <a:latin typeface="Cambria Math" panose="02040503050406030204" pitchFamily="18" charset="0"/>
                                  <a:ea typeface="Cambria Math" panose="02040503050406030204" pitchFamily="18" charset="0"/>
                                </a:rPr>
                                <m:t>0</m:t>
                              </m:r>
                            </m:e>
                          </m:mr>
                        </m:m>
                      </m:e>
                    </m:d>
                  </m:oMath>
                </a14:m>
                <a:endParaRPr lang="en-US" altLang="ko-KR" sz="2400" dirty="0" smtClean="0">
                  <a:solidFill>
                    <a:schemeClr val="tx1"/>
                  </a:solidFill>
                  <a:ea typeface="Cambria Math" panose="02040503050406030204" pitchFamily="18" charset="0"/>
                </a:endParaRPr>
              </a:p>
              <a:p>
                <a:pPr marL="0" indent="0" algn="ctr">
                  <a:buNone/>
                </a:pPr>
                <a14:m>
                  <m:oMath xmlns:m="http://schemas.openxmlformats.org/officeDocument/2006/math">
                    <m:r>
                      <a:rPr lang="en-US" sz="2400" b="0" i="1" smtClean="0">
                        <a:latin typeface="Cambria Math" panose="02040503050406030204" pitchFamily="18" charset="0"/>
                      </a:rPr>
                      <m:t>𝑋</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m:t>
                        </m:r>
                      </m:e>
                    </m:d>
                    <m:r>
                      <a:rPr lang="en-US" sz="2400" b="0" i="1" smtClean="0">
                        <a:latin typeface="Cambria Math" panose="02040503050406030204" pitchFamily="18" charset="0"/>
                      </a:rPr>
                      <m:t>=|1⟩</m:t>
                    </m:r>
                  </m:oMath>
                </a14:m>
                <a:r>
                  <a:rPr lang="en-CA" sz="2400" dirty="0" smtClean="0"/>
                  <a:t>	</a:t>
                </a:r>
                <a14:m>
                  <m:oMath xmlns:m="http://schemas.openxmlformats.org/officeDocument/2006/math">
                    <m:r>
                      <a:rPr lang="en-US" altLang="ko-KR" sz="2400" i="1">
                        <a:latin typeface="Cambria Math" panose="02040503050406030204" pitchFamily="18" charset="0"/>
                      </a:rPr>
                      <m:t>𝑋</m:t>
                    </m:r>
                    <m:d>
                      <m:dPr>
                        <m:begChr m:val="|"/>
                        <m:endChr m:val="⟩"/>
                        <m:ctrlPr>
                          <a:rPr lang="en-US" altLang="ko-KR" sz="2400" i="1">
                            <a:latin typeface="Cambria Math" panose="02040503050406030204" pitchFamily="18" charset="0"/>
                          </a:rPr>
                        </m:ctrlPr>
                      </m:dPr>
                      <m:e>
                        <m:r>
                          <a:rPr lang="en-US" altLang="ko-KR" sz="2400" b="0" i="1" smtClean="0">
                            <a:latin typeface="Cambria Math" panose="02040503050406030204" pitchFamily="18" charset="0"/>
                          </a:rPr>
                          <m:t>1</m:t>
                        </m:r>
                      </m:e>
                    </m:d>
                    <m:r>
                      <a:rPr lang="en-US" altLang="ko-KR" sz="2400" i="1">
                        <a:latin typeface="Cambria Math" panose="02040503050406030204" pitchFamily="18" charset="0"/>
                      </a:rPr>
                      <m:t>=|</m:t>
                    </m:r>
                    <m:r>
                      <a:rPr lang="en-US" altLang="ko-KR" sz="2400" b="0" i="1" smtClean="0">
                        <a:latin typeface="Cambria Math" panose="02040503050406030204" pitchFamily="18" charset="0"/>
                      </a:rPr>
                      <m:t>0</m:t>
                    </m:r>
                    <m:r>
                      <a:rPr lang="en-US" altLang="ko-KR" sz="2400" i="1">
                        <a:latin typeface="Cambria Math" panose="02040503050406030204" pitchFamily="18" charset="0"/>
                      </a:rPr>
                      <m:t>⟩</m:t>
                    </m:r>
                  </m:oMath>
                </a14:m>
                <a:endParaRPr lang="en-CA" altLang="ko-KR" sz="2400" dirty="0" smtClean="0"/>
              </a:p>
              <a:p>
                <a:pPr marL="0" indent="0">
                  <a:buNone/>
                </a:pPr>
                <a:endParaRPr lang="en-CA" sz="2400" dirty="0"/>
              </a:p>
              <a:p>
                <a:pPr marL="0" indent="0">
                  <a:buNone/>
                </a:pPr>
                <a14:m>
                  <m:oMathPara xmlns:m="http://schemas.openxmlformats.org/officeDocument/2006/math">
                    <m:oMathParaPr>
                      <m:jc m:val="centerGroup"/>
                    </m:oMathParaPr>
                    <m:oMath xmlns:m="http://schemas.openxmlformats.org/officeDocument/2006/math">
                      <m:r>
                        <a:rPr lang="en-US" altLang="ko-KR" sz="2400" i="1">
                          <a:latin typeface="Cambria Math" panose="02040503050406030204" pitchFamily="18" charset="0"/>
                        </a:rPr>
                        <m:t>𝑋</m:t>
                      </m:r>
                      <m:r>
                        <a:rPr lang="en-US" altLang="ko-KR" sz="2400" b="0" i="1" smtClean="0">
                          <a:latin typeface="Cambria Math" panose="02040503050406030204" pitchFamily="18" charset="0"/>
                        </a:rPr>
                        <m:t>(</m:t>
                      </m:r>
                      <m:r>
                        <a:rPr lang="en-US" altLang="ko-KR" sz="2400" b="0" i="1" smtClean="0">
                          <a:latin typeface="Cambria Math" panose="02040503050406030204" pitchFamily="18" charset="0"/>
                        </a:rPr>
                        <m:t>𝛼</m:t>
                      </m:r>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0</m:t>
                          </m:r>
                        </m:e>
                      </m:d>
                      <m:r>
                        <a:rPr lang="en-US" altLang="ko-KR" sz="2400" b="0" i="1" smtClean="0">
                          <a:latin typeface="Cambria Math" panose="02040503050406030204" pitchFamily="18" charset="0"/>
                        </a:rPr>
                        <m:t>+</m:t>
                      </m:r>
                      <m:r>
                        <a:rPr lang="en-US" altLang="ko-KR" sz="2400" b="0" i="1" smtClean="0">
                          <a:latin typeface="Cambria Math" panose="02040503050406030204" pitchFamily="18" charset="0"/>
                        </a:rPr>
                        <m:t>𝛽</m:t>
                      </m:r>
                      <m:r>
                        <a:rPr lang="en-US" altLang="ko-KR" sz="2400" b="0" i="1" smtClean="0">
                          <a:latin typeface="Cambria Math" panose="02040503050406030204" pitchFamily="18" charset="0"/>
                        </a:rPr>
                        <m:t>|1⟩)=</m:t>
                      </m:r>
                      <m:r>
                        <a:rPr lang="en-US" altLang="ko-KR" sz="2400" b="0" i="1" smtClean="0">
                          <a:latin typeface="Cambria Math" panose="02040503050406030204" pitchFamily="18" charset="0"/>
                        </a:rPr>
                        <m:t>𝛼</m:t>
                      </m:r>
                      <m:r>
                        <a:rPr lang="en-US" altLang="ko-KR" sz="2400" b="0" i="1" smtClean="0">
                          <a:latin typeface="Cambria Math" panose="02040503050406030204" pitchFamily="18" charset="0"/>
                        </a:rPr>
                        <m:t>𝑋</m:t>
                      </m:r>
                      <m:r>
                        <a:rPr lang="en-US" altLang="ko-KR" sz="2400" i="1">
                          <a:latin typeface="Cambria Math" panose="02040503050406030204" pitchFamily="18" charset="0"/>
                        </a:rPr>
                        <m:t>|</m:t>
                      </m:r>
                      <m:r>
                        <a:rPr lang="en-US" altLang="ko-KR" sz="2400" b="0" i="1" smtClean="0">
                          <a:latin typeface="Cambria Math" panose="02040503050406030204" pitchFamily="18" charset="0"/>
                        </a:rPr>
                        <m:t>0</m:t>
                      </m:r>
                      <m:r>
                        <a:rPr lang="en-US" altLang="ko-KR" sz="2400" i="1">
                          <a:latin typeface="Cambria Math" panose="02040503050406030204" pitchFamily="18" charset="0"/>
                        </a:rPr>
                        <m:t>⟩</m:t>
                      </m:r>
                      <m:r>
                        <a:rPr lang="en-US" altLang="ko-KR" sz="2400" b="0" i="1" smtClean="0">
                          <a:latin typeface="Cambria Math" panose="02040503050406030204" pitchFamily="18" charset="0"/>
                        </a:rPr>
                        <m:t>+</m:t>
                      </m:r>
                      <m:r>
                        <a:rPr lang="en-US" altLang="ko-KR" sz="2400" b="0" i="1" smtClean="0">
                          <a:latin typeface="Cambria Math" panose="02040503050406030204" pitchFamily="18" charset="0"/>
                        </a:rPr>
                        <m:t>𝛽</m:t>
                      </m:r>
                      <m:r>
                        <a:rPr lang="en-US" altLang="ko-KR" sz="2400" b="0" i="1" smtClean="0">
                          <a:latin typeface="Cambria Math" panose="02040503050406030204" pitchFamily="18" charset="0"/>
                        </a:rPr>
                        <m:t>𝑋</m:t>
                      </m:r>
                      <m:r>
                        <a:rPr lang="en-US" altLang="ko-KR" sz="2400" b="0" i="1" smtClean="0">
                          <a:latin typeface="Cambria Math" panose="02040503050406030204" pitchFamily="18" charset="0"/>
                        </a:rPr>
                        <m:t>|1⟩=</m:t>
                      </m:r>
                      <m:r>
                        <a:rPr lang="en-US" altLang="ko-KR" sz="2400" b="0" i="1" smtClean="0">
                          <a:latin typeface="Cambria Math" panose="02040503050406030204" pitchFamily="18" charset="0"/>
                        </a:rPr>
                        <m:t>𝛼</m:t>
                      </m:r>
                      <m:r>
                        <a:rPr lang="en-US" altLang="ko-KR" sz="2400" b="0" i="1" smtClean="0">
                          <a:latin typeface="Cambria Math" panose="02040503050406030204" pitchFamily="18" charset="0"/>
                        </a:rPr>
                        <m:t>|1⟩+</m:t>
                      </m:r>
                      <m:r>
                        <a:rPr lang="en-US" altLang="ko-KR" sz="2400" b="0" i="1" smtClean="0">
                          <a:latin typeface="Cambria Math" panose="02040503050406030204" pitchFamily="18" charset="0"/>
                        </a:rPr>
                        <m:t>𝛽</m:t>
                      </m:r>
                      <m:r>
                        <a:rPr lang="en-US" altLang="ko-KR" sz="2400" b="0" i="1" smtClean="0">
                          <a:latin typeface="Cambria Math" panose="02040503050406030204" pitchFamily="18" charset="0"/>
                        </a:rPr>
                        <m:t>|0⟩</m:t>
                      </m:r>
                    </m:oMath>
                  </m:oMathPara>
                </a14:m>
                <a:endParaRPr lang="en-CA" altLang="ko-KR" sz="2400" dirty="0"/>
              </a:p>
              <a:p>
                <a:pPr marL="0" indent="0">
                  <a:buNone/>
                </a:pPr>
                <a:endParaRPr lang="en-CA" sz="2400" dirty="0"/>
              </a:p>
              <a:p>
                <a:pPr marL="0" indent="0">
                  <a:buNone/>
                </a:pPr>
                <a:endParaRPr lang="en-CA" sz="2400" dirty="0" smtClean="0"/>
              </a:p>
              <a:p>
                <a:pPr marL="0" indent="0">
                  <a:buNone/>
                </a:pPr>
                <a:r>
                  <a:rPr lang="en-CA" sz="2400" dirty="0" smtClean="0"/>
                  <a:t>These are a “qubit” extension of classical transformations.</a:t>
                </a:r>
                <a:endParaRPr lang="en-CA"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92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5022221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altLang="ko-KR" sz="4000" dirty="0"/>
              <a:t>Examples of qubit unitary transforms</a:t>
            </a:r>
            <a:br>
              <a:rPr lang="en-US" altLang="ko-KR" sz="4000" dirty="0"/>
            </a:br>
            <a:r>
              <a:rPr lang="en-US" altLang="ko-KR" sz="4000" dirty="0"/>
              <a:t>(=quantum gates)</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CA" sz="2400" dirty="0" smtClean="0"/>
                  <a:t>Phase flip matrix </a:t>
                </a:r>
                <a14:m>
                  <m:oMath xmlns:m="http://schemas.openxmlformats.org/officeDocument/2006/math">
                    <m:r>
                      <a:rPr lang="en-US" altLang="ko-KR" sz="2400" b="0" i="1" smtClean="0">
                        <a:solidFill>
                          <a:schemeClr val="tx1"/>
                        </a:solidFill>
                        <a:latin typeface="Cambria Math" panose="02040503050406030204" pitchFamily="18" charset="0"/>
                        <a:ea typeface="Cambria Math" panose="02040503050406030204" pitchFamily="18" charset="0"/>
                      </a:rPr>
                      <m:t>𝑍</m:t>
                    </m:r>
                    <m:r>
                      <a:rPr lang="en-US" altLang="ko-KR" sz="2400" i="1" smtClean="0">
                        <a:solidFill>
                          <a:schemeClr val="tx1"/>
                        </a:solidFill>
                        <a:latin typeface="Cambria Math" panose="02040503050406030204" pitchFamily="18" charset="0"/>
                        <a:ea typeface="Cambria Math" panose="02040503050406030204" pitchFamily="18" charset="0"/>
                      </a:rPr>
                      <m:t>=</m:t>
                    </m:r>
                    <m:d>
                      <m:dPr>
                        <m:ctrlPr>
                          <a:rPr lang="en-US" altLang="ko-KR" sz="2400"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ko-KR" sz="2400" i="1">
                                <a:solidFill>
                                  <a:schemeClr val="tx1"/>
                                </a:solidFill>
                                <a:latin typeface="Cambria Math" panose="02040503050406030204" pitchFamily="18" charset="0"/>
                                <a:ea typeface="Cambria Math" panose="02040503050406030204" pitchFamily="18" charset="0"/>
                              </a:rPr>
                            </m:ctrlPr>
                          </m:mPr>
                          <m:mr>
                            <m:e>
                              <m:r>
                                <m:rPr>
                                  <m:brk m:alnAt="7"/>
                                </m:rPr>
                                <a:rPr lang="en-US" altLang="ko-KR" sz="2400" b="0" i="1" smtClean="0">
                                  <a:solidFill>
                                    <a:schemeClr val="tx1"/>
                                  </a:solidFill>
                                  <a:latin typeface="Cambria Math" panose="02040503050406030204" pitchFamily="18" charset="0"/>
                                  <a:ea typeface="Cambria Math" panose="02040503050406030204" pitchFamily="18" charset="0"/>
                                </a:rPr>
                                <m:t>1</m:t>
                              </m:r>
                            </m:e>
                            <m:e>
                              <m:r>
                                <a:rPr lang="en-US" altLang="ko-KR" sz="2400" b="0" i="1" smtClean="0">
                                  <a:solidFill>
                                    <a:schemeClr val="tx1"/>
                                  </a:solidFill>
                                  <a:latin typeface="Cambria Math" panose="02040503050406030204" pitchFamily="18" charset="0"/>
                                  <a:ea typeface="Cambria Math" panose="02040503050406030204" pitchFamily="18" charset="0"/>
                                </a:rPr>
                                <m:t>0</m:t>
                              </m:r>
                            </m:e>
                          </m:mr>
                          <m:mr>
                            <m:e>
                              <m:r>
                                <a:rPr lang="en-US" altLang="ko-KR" sz="2400" b="0" i="1" smtClean="0">
                                  <a:solidFill>
                                    <a:schemeClr val="tx1"/>
                                  </a:solidFill>
                                  <a:latin typeface="Cambria Math" panose="02040503050406030204" pitchFamily="18" charset="0"/>
                                  <a:ea typeface="Cambria Math" panose="02040503050406030204" pitchFamily="18" charset="0"/>
                                </a:rPr>
                                <m:t>0</m:t>
                              </m:r>
                            </m:e>
                            <m:e>
                              <m:r>
                                <a:rPr lang="en-US" altLang="ko-KR" sz="2400" b="1" i="1" smtClean="0">
                                  <a:solidFill>
                                    <a:schemeClr val="tx1"/>
                                  </a:solidFill>
                                  <a:latin typeface="Cambria Math" panose="02040503050406030204" pitchFamily="18" charset="0"/>
                                  <a:ea typeface="Cambria Math" panose="02040503050406030204" pitchFamily="18" charset="0"/>
                                </a:rPr>
                                <m:t>−</m:t>
                              </m:r>
                              <m:r>
                                <a:rPr lang="en-US" altLang="ko-KR" sz="2400" b="1" i="1" smtClean="0">
                                  <a:solidFill>
                                    <a:schemeClr val="tx1"/>
                                  </a:solidFill>
                                  <a:latin typeface="Cambria Math" panose="02040503050406030204" pitchFamily="18" charset="0"/>
                                  <a:ea typeface="Cambria Math" panose="02040503050406030204" pitchFamily="18" charset="0"/>
                                </a:rPr>
                                <m:t>𝟏</m:t>
                              </m:r>
                            </m:e>
                          </m:mr>
                        </m:m>
                      </m:e>
                    </m:d>
                  </m:oMath>
                </a14:m>
                <a:endParaRPr lang="en-US" altLang="ko-KR" sz="2400" dirty="0" smtClean="0">
                  <a:solidFill>
                    <a:schemeClr val="tx1"/>
                  </a:solidFill>
                  <a:ea typeface="Cambria Math" panose="02040503050406030204" pitchFamily="18" charset="0"/>
                </a:endParaRPr>
              </a:p>
              <a:p>
                <a:pPr marL="0" indent="0" algn="ctr">
                  <a:buNone/>
                </a:pPr>
                <a:endParaRPr lang="en-US" sz="2400" b="0" i="1" dirty="0" smtClean="0">
                  <a:latin typeface="Cambria Math" panose="02040503050406030204" pitchFamily="18" charset="0"/>
                </a:endParaRPr>
              </a:p>
              <a:p>
                <a:pPr marL="0" indent="0" algn="ctr">
                  <a:buNone/>
                </a:pPr>
                <a14:m>
                  <m:oMath xmlns:m="http://schemas.openxmlformats.org/officeDocument/2006/math">
                    <m:r>
                      <a:rPr lang="en-US" sz="2400" b="0" i="1" smtClean="0">
                        <a:latin typeface="Cambria Math" panose="02040503050406030204" pitchFamily="18" charset="0"/>
                      </a:rPr>
                      <m:t>𝑍</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m:t>
                        </m:r>
                      </m:e>
                    </m:d>
                    <m:r>
                      <a:rPr lang="en-US" sz="2400" b="0" i="1" smtClean="0">
                        <a:latin typeface="Cambria Math" panose="02040503050406030204" pitchFamily="18" charset="0"/>
                      </a:rPr>
                      <m:t>=|0⟩</m:t>
                    </m:r>
                  </m:oMath>
                </a14:m>
                <a:r>
                  <a:rPr lang="en-CA" sz="2400" dirty="0" smtClean="0"/>
                  <a:t>	</a:t>
                </a:r>
                <a14:m>
                  <m:oMath xmlns:m="http://schemas.openxmlformats.org/officeDocument/2006/math">
                    <m:r>
                      <a:rPr lang="en-US" altLang="ko-KR" sz="2400" b="0" i="1" smtClean="0">
                        <a:latin typeface="Cambria Math" panose="02040503050406030204" pitchFamily="18" charset="0"/>
                      </a:rPr>
                      <m:t>𝑍</m:t>
                    </m:r>
                    <m:d>
                      <m:dPr>
                        <m:begChr m:val="|"/>
                        <m:endChr m:val="⟩"/>
                        <m:ctrlPr>
                          <a:rPr lang="en-US" altLang="ko-KR" sz="2400" i="1">
                            <a:latin typeface="Cambria Math" panose="02040503050406030204" pitchFamily="18" charset="0"/>
                          </a:rPr>
                        </m:ctrlPr>
                      </m:dPr>
                      <m:e>
                        <m:r>
                          <a:rPr lang="en-US" altLang="ko-KR" sz="2400" b="0" i="1" smtClean="0">
                            <a:latin typeface="Cambria Math" panose="02040503050406030204" pitchFamily="18" charset="0"/>
                          </a:rPr>
                          <m:t>1</m:t>
                        </m:r>
                      </m:e>
                    </m:d>
                    <m:r>
                      <a:rPr lang="en-US" altLang="ko-KR" sz="2400" i="1">
                        <a:latin typeface="Cambria Math" panose="02040503050406030204" pitchFamily="18" charset="0"/>
                      </a:rPr>
                      <m:t>=</m:t>
                    </m:r>
                    <m:r>
                      <a:rPr lang="en-US" altLang="ko-KR" sz="2400" b="1" i="1" smtClean="0">
                        <a:latin typeface="Cambria Math" panose="02040503050406030204" pitchFamily="18" charset="0"/>
                      </a:rPr>
                      <m:t>−</m:t>
                    </m:r>
                    <m:r>
                      <a:rPr lang="en-US" altLang="ko-KR" sz="2400" i="1">
                        <a:latin typeface="Cambria Math" panose="02040503050406030204" pitchFamily="18" charset="0"/>
                      </a:rPr>
                      <m:t>|</m:t>
                    </m:r>
                    <m:r>
                      <a:rPr lang="en-US" altLang="ko-KR" sz="2400" b="0" i="1" smtClean="0">
                        <a:latin typeface="Cambria Math" panose="02040503050406030204" pitchFamily="18" charset="0"/>
                      </a:rPr>
                      <m:t>1</m:t>
                    </m:r>
                    <m:r>
                      <a:rPr lang="en-US" altLang="ko-KR" sz="2400" i="1">
                        <a:latin typeface="Cambria Math" panose="02040503050406030204" pitchFamily="18" charset="0"/>
                      </a:rPr>
                      <m:t>⟩</m:t>
                    </m:r>
                  </m:oMath>
                </a14:m>
                <a:endParaRPr lang="en-CA" altLang="ko-KR" sz="2400" dirty="0" smtClean="0"/>
              </a:p>
              <a:p>
                <a:pPr marL="0" indent="0">
                  <a:buNone/>
                </a:pPr>
                <a:endParaRPr lang="en-US" altLang="ko-KR" sz="2400" b="0" i="1" dirty="0" smtClean="0">
                  <a:latin typeface="Cambria Math" panose="02040503050406030204" pitchFamily="18" charset="0"/>
                </a:endParaRPr>
              </a:p>
              <a:p>
                <a:pPr marL="0" indent="0">
                  <a:buNone/>
                </a:pPr>
                <a:endParaRPr lang="en-US" altLang="ko-KR" sz="2400" b="0" i="1" dirty="0" smtClean="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ko-KR" sz="2400" b="0" i="1" smtClean="0">
                          <a:latin typeface="Cambria Math" panose="02040503050406030204" pitchFamily="18" charset="0"/>
                        </a:rPr>
                        <m:t>𝑍</m:t>
                      </m:r>
                      <m:r>
                        <a:rPr lang="en-US" altLang="ko-KR" sz="2400" b="0" i="1" smtClean="0">
                          <a:latin typeface="Cambria Math" panose="02040503050406030204" pitchFamily="18" charset="0"/>
                        </a:rPr>
                        <m:t>(</m:t>
                      </m:r>
                      <m:r>
                        <a:rPr lang="en-US" altLang="ko-KR" sz="2400" b="0" i="1" smtClean="0">
                          <a:latin typeface="Cambria Math" panose="02040503050406030204" pitchFamily="18" charset="0"/>
                        </a:rPr>
                        <m:t>𝛼</m:t>
                      </m:r>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0</m:t>
                          </m:r>
                        </m:e>
                      </m:d>
                      <m:r>
                        <a:rPr lang="en-US" altLang="ko-KR" sz="2400" b="0" i="1" smtClean="0">
                          <a:latin typeface="Cambria Math" panose="02040503050406030204" pitchFamily="18" charset="0"/>
                        </a:rPr>
                        <m:t>+</m:t>
                      </m:r>
                      <m:r>
                        <a:rPr lang="en-US" altLang="ko-KR" sz="2400" b="0" i="1" smtClean="0">
                          <a:latin typeface="Cambria Math" panose="02040503050406030204" pitchFamily="18" charset="0"/>
                        </a:rPr>
                        <m:t>𝛽</m:t>
                      </m:r>
                      <m:r>
                        <a:rPr lang="en-US" altLang="ko-KR" sz="2400" b="0" i="1" smtClean="0">
                          <a:latin typeface="Cambria Math" panose="02040503050406030204" pitchFamily="18" charset="0"/>
                        </a:rPr>
                        <m:t>|1⟩)=</m:t>
                      </m:r>
                      <m:r>
                        <a:rPr lang="en-US" altLang="ko-KR" sz="2400" b="0" i="1" smtClean="0">
                          <a:latin typeface="Cambria Math" panose="02040503050406030204" pitchFamily="18" charset="0"/>
                        </a:rPr>
                        <m:t>𝛼</m:t>
                      </m:r>
                      <m:r>
                        <a:rPr lang="en-US" altLang="ko-KR" sz="2400" b="0" i="1" smtClean="0">
                          <a:latin typeface="Cambria Math" panose="02040503050406030204" pitchFamily="18" charset="0"/>
                        </a:rPr>
                        <m:t>|0⟩−</m:t>
                      </m:r>
                      <m:r>
                        <a:rPr lang="en-US" altLang="ko-KR" sz="2400" b="0" i="1" smtClean="0">
                          <a:latin typeface="Cambria Math" panose="02040503050406030204" pitchFamily="18" charset="0"/>
                        </a:rPr>
                        <m:t>𝛽</m:t>
                      </m:r>
                      <m:r>
                        <a:rPr lang="en-US" altLang="ko-KR" sz="2400" b="0" i="1" smtClean="0">
                          <a:latin typeface="Cambria Math" panose="02040503050406030204" pitchFamily="18" charset="0"/>
                        </a:rPr>
                        <m:t>|1⟩</m:t>
                      </m:r>
                    </m:oMath>
                  </m:oMathPara>
                </a14:m>
                <a:endParaRPr lang="en-CA" altLang="ko-KR" sz="2400" dirty="0"/>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92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8136445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altLang="ko-KR" sz="4000" dirty="0"/>
              <a:t>Examples of qubit unitary transforms</a:t>
            </a:r>
            <a:br>
              <a:rPr lang="en-US" altLang="ko-KR" sz="4000" dirty="0"/>
            </a:br>
            <a:r>
              <a:rPr lang="en-US" altLang="ko-KR" sz="4000" dirty="0"/>
              <a:t>(=quantum gates)</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CA" sz="2400" dirty="0" smtClean="0"/>
                  <a:t>Hadamard matrix </a:t>
                </a:r>
                <a14:m>
                  <m:oMath xmlns:m="http://schemas.openxmlformats.org/officeDocument/2006/math">
                    <m:r>
                      <a:rPr lang="en-US" altLang="ko-KR" sz="2400" b="0" i="1" smtClean="0">
                        <a:solidFill>
                          <a:schemeClr val="tx1"/>
                        </a:solidFill>
                        <a:latin typeface="Cambria Math" panose="02040503050406030204" pitchFamily="18" charset="0"/>
                        <a:ea typeface="Cambria Math" panose="02040503050406030204" pitchFamily="18" charset="0"/>
                      </a:rPr>
                      <m:t>𝐻</m:t>
                    </m:r>
                    <m:r>
                      <a:rPr lang="en-US" altLang="ko-KR" sz="2400" i="1" smtClean="0">
                        <a:solidFill>
                          <a:schemeClr val="tx1"/>
                        </a:solidFill>
                        <a:latin typeface="Cambria Math" panose="02040503050406030204" pitchFamily="18" charset="0"/>
                        <a:ea typeface="Cambria Math" panose="02040503050406030204" pitchFamily="18" charset="0"/>
                      </a:rPr>
                      <m:t>=</m:t>
                    </m:r>
                    <m:f>
                      <m:fPr>
                        <m:ctrlPr>
                          <a:rPr lang="en-US" altLang="ko-KR" sz="2400" b="0" i="1" smtClean="0">
                            <a:solidFill>
                              <a:schemeClr val="tx1"/>
                            </a:solidFill>
                            <a:latin typeface="Cambria Math" panose="02040503050406030204" pitchFamily="18" charset="0"/>
                            <a:ea typeface="Cambria Math" panose="02040503050406030204" pitchFamily="18" charset="0"/>
                          </a:rPr>
                        </m:ctrlPr>
                      </m:fPr>
                      <m:num>
                        <m:r>
                          <a:rPr lang="en-US" altLang="ko-KR" sz="2400" b="0" i="1" smtClean="0">
                            <a:solidFill>
                              <a:schemeClr val="tx1"/>
                            </a:solidFill>
                            <a:latin typeface="Cambria Math" panose="02040503050406030204" pitchFamily="18" charset="0"/>
                            <a:ea typeface="Cambria Math" panose="02040503050406030204" pitchFamily="18" charset="0"/>
                          </a:rPr>
                          <m:t>1</m:t>
                        </m:r>
                      </m:num>
                      <m:den>
                        <m:rad>
                          <m:radPr>
                            <m:degHide m:val="on"/>
                            <m:ctrlPr>
                              <a:rPr lang="en-US" altLang="ko-KR" sz="2400" b="0" i="1" smtClean="0">
                                <a:solidFill>
                                  <a:schemeClr val="tx1"/>
                                </a:solidFill>
                                <a:latin typeface="Cambria Math" panose="02040503050406030204" pitchFamily="18" charset="0"/>
                                <a:ea typeface="Cambria Math" panose="02040503050406030204" pitchFamily="18" charset="0"/>
                              </a:rPr>
                            </m:ctrlPr>
                          </m:radPr>
                          <m:deg/>
                          <m:e>
                            <m:r>
                              <a:rPr lang="en-US" altLang="ko-KR" sz="2400" b="0" i="1" smtClean="0">
                                <a:solidFill>
                                  <a:schemeClr val="tx1"/>
                                </a:solidFill>
                                <a:latin typeface="Cambria Math" panose="02040503050406030204" pitchFamily="18" charset="0"/>
                                <a:ea typeface="Cambria Math" panose="02040503050406030204" pitchFamily="18" charset="0"/>
                              </a:rPr>
                              <m:t>2</m:t>
                            </m:r>
                          </m:e>
                        </m:rad>
                      </m:den>
                    </m:f>
                    <m:d>
                      <m:dPr>
                        <m:ctrlPr>
                          <a:rPr lang="en-US" altLang="ko-KR" sz="2400"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ko-KR" sz="2400" i="1">
                                <a:solidFill>
                                  <a:schemeClr val="tx1"/>
                                </a:solidFill>
                                <a:latin typeface="Cambria Math" panose="02040503050406030204" pitchFamily="18" charset="0"/>
                                <a:ea typeface="Cambria Math" panose="02040503050406030204" pitchFamily="18" charset="0"/>
                              </a:rPr>
                            </m:ctrlPr>
                          </m:mPr>
                          <m:mr>
                            <m:e>
                              <m:r>
                                <m:rPr>
                                  <m:brk m:alnAt="7"/>
                                </m:rPr>
                                <a:rPr lang="en-US" altLang="ko-KR" sz="2400" b="0" i="1" smtClean="0">
                                  <a:solidFill>
                                    <a:schemeClr val="tx1"/>
                                  </a:solidFill>
                                  <a:latin typeface="Cambria Math" panose="02040503050406030204" pitchFamily="18" charset="0"/>
                                  <a:ea typeface="Cambria Math" panose="02040503050406030204" pitchFamily="18" charset="0"/>
                                </a:rPr>
                                <m:t>1</m:t>
                              </m:r>
                            </m:e>
                            <m:e>
                              <m:r>
                                <a:rPr lang="en-US" altLang="ko-KR" sz="2400" b="0" i="1" smtClean="0">
                                  <a:solidFill>
                                    <a:schemeClr val="tx1"/>
                                  </a:solidFill>
                                  <a:latin typeface="Cambria Math" panose="02040503050406030204" pitchFamily="18" charset="0"/>
                                  <a:ea typeface="Cambria Math" panose="02040503050406030204" pitchFamily="18" charset="0"/>
                                </a:rPr>
                                <m:t>1</m:t>
                              </m:r>
                            </m:e>
                          </m:mr>
                          <m:mr>
                            <m:e>
                              <m:r>
                                <a:rPr lang="en-US" altLang="ko-KR" sz="2400" b="0" i="1" smtClean="0">
                                  <a:solidFill>
                                    <a:schemeClr val="tx1"/>
                                  </a:solidFill>
                                  <a:latin typeface="Cambria Math" panose="02040503050406030204" pitchFamily="18" charset="0"/>
                                  <a:ea typeface="Cambria Math" panose="02040503050406030204" pitchFamily="18" charset="0"/>
                                </a:rPr>
                                <m:t>1</m:t>
                              </m:r>
                            </m:e>
                            <m:e>
                              <m:r>
                                <a:rPr lang="en-US" altLang="ko-KR" sz="2400" b="0" i="1" smtClean="0">
                                  <a:solidFill>
                                    <a:schemeClr val="tx1"/>
                                  </a:solidFill>
                                  <a:latin typeface="Cambria Math" panose="02040503050406030204" pitchFamily="18" charset="0"/>
                                  <a:ea typeface="Cambria Math" panose="02040503050406030204" pitchFamily="18" charset="0"/>
                                </a:rPr>
                                <m:t>−1</m:t>
                              </m:r>
                            </m:e>
                          </m:mr>
                        </m:m>
                      </m:e>
                    </m:d>
                  </m:oMath>
                </a14:m>
                <a:r>
                  <a:rPr lang="en-US" altLang="ko-KR" sz="2400" dirty="0" smtClean="0">
                    <a:solidFill>
                      <a:schemeClr val="tx1"/>
                    </a:solidFill>
                    <a:ea typeface="Cambria Math" panose="02040503050406030204" pitchFamily="18" charset="0"/>
                  </a:rPr>
                  <a:t> </a:t>
                </a:r>
              </a:p>
              <a:p>
                <a:pPr marL="0" indent="0">
                  <a:buNone/>
                </a:pPr>
                <a:endParaRPr lang="en-US" altLang="ko-KR" sz="2400" dirty="0" smtClean="0">
                  <a:ea typeface="Cambria Math" panose="02040503050406030204" pitchFamily="18" charset="0"/>
                </a:endParaRPr>
              </a:p>
              <a:p>
                <a:pPr marL="0" indent="0">
                  <a:buNone/>
                </a:pPr>
                <a14:m>
                  <m:oMath xmlns:m="http://schemas.openxmlformats.org/officeDocument/2006/math">
                    <m:r>
                      <a:rPr lang="en-US" altLang="ko-KR" sz="2400" b="0" i="1" smtClean="0">
                        <a:latin typeface="Cambria Math" panose="02040503050406030204" pitchFamily="18" charset="0"/>
                      </a:rPr>
                      <m:t>𝐻</m:t>
                    </m:r>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0</m:t>
                        </m:r>
                      </m:e>
                    </m:d>
                    <m:r>
                      <a:rPr lang="en-US" altLang="ko-KR" sz="2400" i="1">
                        <a:latin typeface="Cambria Math" panose="02040503050406030204" pitchFamily="18" charset="0"/>
                      </a:rPr>
                      <m:t>=</m:t>
                    </m:r>
                  </m:oMath>
                </a14:m>
                <a:r>
                  <a:rPr lang="en-CA" altLang="ko-KR" sz="2400" dirty="0" smtClean="0"/>
                  <a:t> ( do on board )</a:t>
                </a:r>
                <a:r>
                  <a:rPr lang="en-CA" altLang="ko-KR" sz="2400" dirty="0"/>
                  <a:t>	</a:t>
                </a:r>
                <a:endParaRPr lang="en-CA" altLang="ko-KR" sz="2400" dirty="0" smtClean="0"/>
              </a:p>
              <a:p>
                <a:pPr marL="0" indent="0">
                  <a:buNone/>
                </a:pPr>
                <a14:m>
                  <m:oMath xmlns:m="http://schemas.openxmlformats.org/officeDocument/2006/math">
                    <m:r>
                      <a:rPr lang="en-US" altLang="ko-KR" sz="2400" b="0" i="1" smtClean="0">
                        <a:latin typeface="Cambria Math" panose="02040503050406030204" pitchFamily="18" charset="0"/>
                      </a:rPr>
                      <m:t>𝐻</m:t>
                    </m:r>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1</m:t>
                        </m:r>
                      </m:e>
                    </m:d>
                    <m:r>
                      <a:rPr lang="en-US" altLang="ko-KR" sz="2400" b="0" i="1" smtClean="0">
                        <a:latin typeface="Cambria Math" panose="02040503050406030204" pitchFamily="18" charset="0"/>
                      </a:rPr>
                      <m:t>=</m:t>
                    </m:r>
                  </m:oMath>
                </a14:m>
                <a:r>
                  <a:rPr lang="en-CA" altLang="ko-KR" sz="2400" dirty="0" smtClean="0"/>
                  <a:t> ( do on board )</a:t>
                </a:r>
                <a:endParaRPr lang="en-US" altLang="ko-KR" sz="2400" dirty="0">
                  <a:ea typeface="Cambria Math" panose="02040503050406030204" pitchFamily="18" charset="0"/>
                </a:endParaRPr>
              </a:p>
              <a:p>
                <a:pPr marL="0" indent="0">
                  <a:buNone/>
                </a:pPr>
                <a:endParaRPr lang="en-US" altLang="ko-KR" sz="2400" dirty="0">
                  <a:ea typeface="Cambria Math" panose="02040503050406030204" pitchFamily="18" charset="0"/>
                </a:endParaRPr>
              </a:p>
              <a:p>
                <a:pPr marL="0" indent="0">
                  <a:buNone/>
                </a:pPr>
                <a14:m>
                  <m:oMath xmlns:m="http://schemas.openxmlformats.org/officeDocument/2006/math">
                    <m:r>
                      <a:rPr lang="en-US" altLang="ko-KR" sz="2400" i="1">
                        <a:latin typeface="Cambria Math" panose="02040503050406030204" pitchFamily="18" charset="0"/>
                        <a:ea typeface="Cambria Math" panose="02040503050406030204" pitchFamily="18" charset="0"/>
                      </a:rPr>
                      <m:t>𝐻</m:t>
                    </m:r>
                  </m:oMath>
                </a14:m>
                <a:r>
                  <a:rPr lang="en-US" altLang="ko-KR" sz="2400" dirty="0" smtClean="0">
                    <a:solidFill>
                      <a:schemeClr val="tx1"/>
                    </a:solidFill>
                    <a:ea typeface="Cambria Math" panose="02040503050406030204" pitchFamily="18" charset="0"/>
                  </a:rPr>
                  <a:t> maps classical states </a:t>
                </a:r>
                <a14:m>
                  <m:oMath xmlns:m="http://schemas.openxmlformats.org/officeDocument/2006/math">
                    <m:r>
                      <a:rPr lang="en-US" altLang="ko-KR" sz="2400" i="1">
                        <a:latin typeface="Cambria Math" panose="02040503050406030204" pitchFamily="18" charset="0"/>
                      </a:rPr>
                      <m:t>|0⟩</m:t>
                    </m:r>
                  </m:oMath>
                </a14:m>
                <a:r>
                  <a:rPr lang="en-US" altLang="ko-KR" sz="2400" dirty="0" smtClean="0">
                    <a:solidFill>
                      <a:schemeClr val="tx1"/>
                    </a:solidFill>
                    <a:ea typeface="Cambria Math" panose="02040503050406030204" pitchFamily="18" charset="0"/>
                  </a:rPr>
                  <a:t> and </a:t>
                </a:r>
                <a14:m>
                  <m:oMath xmlns:m="http://schemas.openxmlformats.org/officeDocument/2006/math">
                    <m:r>
                      <a:rPr lang="en-US" altLang="ko-KR" sz="2400" i="1">
                        <a:latin typeface="Cambria Math" panose="02040503050406030204" pitchFamily="18" charset="0"/>
                      </a:rPr>
                      <m:t>|</m:t>
                    </m:r>
                    <m:r>
                      <a:rPr lang="en-US" altLang="ko-KR" sz="2400" b="0" i="1" smtClean="0">
                        <a:latin typeface="Cambria Math" panose="02040503050406030204" pitchFamily="18" charset="0"/>
                      </a:rPr>
                      <m:t>1</m:t>
                    </m:r>
                    <m:r>
                      <a:rPr lang="en-US" altLang="ko-KR" sz="2400" i="1">
                        <a:latin typeface="Cambria Math" panose="02040503050406030204" pitchFamily="18" charset="0"/>
                      </a:rPr>
                      <m:t>⟩</m:t>
                    </m:r>
                  </m:oMath>
                </a14:m>
                <a:r>
                  <a:rPr lang="en-US" altLang="ko-KR" sz="2400" dirty="0" smtClean="0">
                    <a:solidFill>
                      <a:schemeClr val="tx1"/>
                    </a:solidFill>
                    <a:ea typeface="Cambria Math" panose="02040503050406030204" pitchFamily="18" charset="0"/>
                  </a:rPr>
                  <a:t> into quantum </a:t>
                </a:r>
                <a:r>
                  <a:rPr lang="en-US" altLang="ko-KR" sz="2400" dirty="0" err="1" smtClean="0">
                    <a:solidFill>
                      <a:schemeClr val="tx1"/>
                    </a:solidFill>
                    <a:ea typeface="Cambria Math" panose="02040503050406030204" pitchFamily="18" charset="0"/>
                  </a:rPr>
                  <a:t>superpositions</a:t>
                </a:r>
                <a:r>
                  <a:rPr lang="en-US" altLang="ko-KR" sz="2400" dirty="0" smtClean="0">
                    <a:solidFill>
                      <a:schemeClr val="tx1"/>
                    </a:solidFill>
                    <a:ea typeface="Cambria Math" panose="02040503050406030204" pitchFamily="18" charset="0"/>
                  </a:rPr>
                  <a:t>.</a:t>
                </a: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928"/>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100111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Today we will learn about a single-qubit</a:t>
            </a:r>
            <a:endParaRPr lang="ko-KR" altLang="en-US" dirty="0"/>
          </a:p>
        </p:txBody>
      </p:sp>
      <p:sp>
        <p:nvSpPr>
          <p:cNvPr id="3" name="내용 개체 틀 2"/>
          <p:cNvSpPr>
            <a:spLocks noGrp="1"/>
          </p:cNvSpPr>
          <p:nvPr>
            <p:ph idx="1"/>
          </p:nvPr>
        </p:nvSpPr>
        <p:spPr/>
        <p:txBody>
          <a:bodyPr>
            <a:normAutofit/>
          </a:bodyPr>
          <a:lstStyle/>
          <a:p>
            <a:pPr marL="0" indent="0">
              <a:buNone/>
            </a:pPr>
            <a:r>
              <a:rPr lang="en-US" altLang="ko-KR" dirty="0" smtClean="0"/>
              <a:t>Basic of quantum computing</a:t>
            </a:r>
          </a:p>
          <a:p>
            <a:r>
              <a:rPr lang="en-US" altLang="ko-KR" dirty="0" smtClean="0"/>
              <a:t>A single qubit</a:t>
            </a:r>
          </a:p>
          <a:p>
            <a:pPr lvl="1"/>
            <a:r>
              <a:rPr lang="en-US" altLang="ko-KR" dirty="0" smtClean="0"/>
              <a:t>Definition (superposition)</a:t>
            </a:r>
          </a:p>
          <a:p>
            <a:pPr lvl="1"/>
            <a:r>
              <a:rPr lang="en-US" altLang="ko-KR" dirty="0" smtClean="0"/>
              <a:t>Measurements</a:t>
            </a:r>
          </a:p>
          <a:p>
            <a:r>
              <a:rPr lang="en-US" altLang="ko-KR" dirty="0" smtClean="0"/>
              <a:t>Quantum operations</a:t>
            </a:r>
          </a:p>
          <a:p>
            <a:pPr lvl="1"/>
            <a:r>
              <a:rPr lang="en-US" altLang="ko-KR" dirty="0" smtClean="0"/>
              <a:t>Unitary operations</a:t>
            </a:r>
          </a:p>
          <a:p>
            <a:pPr lvl="1"/>
            <a:r>
              <a:rPr lang="en-US" altLang="ko-KR" dirty="0" smtClean="0"/>
              <a:t>Basic 1-qubit quantum gates</a:t>
            </a:r>
            <a:endParaRPr lang="en-US" altLang="ko-KR" dirty="0"/>
          </a:p>
          <a:p>
            <a:r>
              <a:rPr lang="en-US" altLang="ko-KR" b="1" dirty="0" smtClean="0"/>
              <a:t>Examples</a:t>
            </a:r>
          </a:p>
          <a:p>
            <a:pPr lvl="1"/>
            <a:r>
              <a:rPr lang="en-US" altLang="ko-KR" b="1" dirty="0" smtClean="0"/>
              <a:t>Quantum random number generators and more</a:t>
            </a:r>
          </a:p>
        </p:txBody>
      </p:sp>
    </p:spTree>
    <p:extLst>
      <p:ext uri="{BB962C8B-B14F-4D97-AF65-F5344CB8AC3E}">
        <p14:creationId xmlns:p14="http://schemas.microsoft.com/office/powerpoint/2010/main" val="27557007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Examples</a:t>
            </a:r>
            <a:endParaRPr lang="ko-KR" altLang="en-US" dirty="0"/>
          </a:p>
        </p:txBody>
      </p:sp>
      <p:sp>
        <p:nvSpPr>
          <p:cNvPr id="3" name="내용 개체 틀 2"/>
          <p:cNvSpPr>
            <a:spLocks noGrp="1"/>
          </p:cNvSpPr>
          <p:nvPr>
            <p:ph idx="1"/>
          </p:nvPr>
        </p:nvSpPr>
        <p:spPr/>
        <p:txBody>
          <a:bodyPr>
            <a:normAutofit/>
          </a:bodyPr>
          <a:lstStyle/>
          <a:p>
            <a:r>
              <a:rPr lang="en-US" altLang="ko-KR" b="1" dirty="0" smtClean="0"/>
              <a:t>Quantum random number generators</a:t>
            </a:r>
          </a:p>
          <a:p>
            <a:endParaRPr lang="en-US" altLang="ko-KR" b="1" dirty="0" smtClean="0"/>
          </a:p>
          <a:p>
            <a:r>
              <a:rPr lang="en-US" altLang="ko-KR" dirty="0" smtClean="0"/>
              <a:t>Example about phases</a:t>
            </a:r>
          </a:p>
          <a:p>
            <a:endParaRPr lang="en-US" altLang="ko-KR" dirty="0"/>
          </a:p>
          <a:p>
            <a:r>
              <a:rPr lang="en-US" altLang="ko-KR" dirty="0" smtClean="0"/>
              <a:t>Example about a single intermediate measurement</a:t>
            </a:r>
          </a:p>
          <a:p>
            <a:endParaRPr lang="en-US" altLang="ko-KR" dirty="0"/>
          </a:p>
          <a:p>
            <a:r>
              <a:rPr lang="en-US" altLang="ko-KR" dirty="0" smtClean="0"/>
              <a:t>Example about many measurements</a:t>
            </a:r>
          </a:p>
        </p:txBody>
      </p:sp>
    </p:spTree>
    <p:extLst>
      <p:ext uri="{BB962C8B-B14F-4D97-AF65-F5344CB8AC3E}">
        <p14:creationId xmlns:p14="http://schemas.microsoft.com/office/powerpoint/2010/main" val="307966997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dirty="0" smtClean="0"/>
              <a:t>Quantum random number generations</a:t>
            </a:r>
            <a:endParaRPr lang="en-US" dirty="0"/>
          </a:p>
        </p:txBody>
      </p:sp>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altLang="ko-KR" sz="2400" dirty="0" smtClean="0"/>
              <a:t>Classically, randomness is hard to get</a:t>
            </a:r>
            <a:endParaRPr lang="en-US" altLang="ko-KR" sz="2400" dirty="0" smtClean="0">
              <a:ea typeface="Cambria Math" panose="02040503050406030204" pitchFamily="18" charset="0"/>
            </a:endParaRPr>
          </a:p>
          <a:p>
            <a:r>
              <a:rPr lang="en-US" altLang="ko-KR" sz="2400" dirty="0" smtClean="0">
                <a:ea typeface="Cambria Math" panose="02040503050406030204" pitchFamily="18" charset="0"/>
              </a:rPr>
              <a:t>Use temperature, price of stock, time, rand(), …</a:t>
            </a:r>
          </a:p>
          <a:p>
            <a:r>
              <a:rPr lang="en-US" altLang="ko-KR" sz="2400" dirty="0" smtClean="0">
                <a:ea typeface="Cambria Math" panose="02040503050406030204" pitchFamily="18" charset="0"/>
              </a:rPr>
              <a:t>Use cryptographic </a:t>
            </a:r>
            <a:r>
              <a:rPr lang="en-US" altLang="ko-KR" sz="2400" dirty="0" err="1" smtClean="0">
                <a:ea typeface="Cambria Math" panose="02040503050406030204" pitchFamily="18" charset="0"/>
              </a:rPr>
              <a:t>pseudorandomness</a:t>
            </a:r>
            <a:r>
              <a:rPr lang="en-US" altLang="ko-KR" sz="2400" dirty="0" smtClean="0">
                <a:ea typeface="Cambria Math" panose="02040503050406030204" pitchFamily="18" charset="0"/>
              </a:rPr>
              <a:t>, …</a:t>
            </a:r>
          </a:p>
          <a:p>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They are not (at least hard to prove) perfect randomness.</a:t>
            </a: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On the other hand, quantum physics is random by definition.</a:t>
            </a:r>
            <a:endParaRPr lang="en-US" altLang="ko-KR" sz="2400" dirty="0" smtClean="0"/>
          </a:p>
        </p:txBody>
      </p:sp>
      <p:sp>
        <p:nvSpPr>
          <p:cNvPr id="7" name="직사각형 6"/>
          <p:cNvSpPr/>
          <p:nvPr/>
        </p:nvSpPr>
        <p:spPr>
          <a:xfrm>
            <a:off x="9585367" y="2874450"/>
            <a:ext cx="1023456" cy="360727"/>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advanced</a:t>
            </a:r>
          </a:p>
        </p:txBody>
      </p:sp>
    </p:spTree>
    <p:extLst>
      <p:ext uri="{BB962C8B-B14F-4D97-AF65-F5344CB8AC3E}">
        <p14:creationId xmlns:p14="http://schemas.microsoft.com/office/powerpoint/2010/main" val="320435472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dirty="0" smtClean="0"/>
              <a:t>Quantum random number generations</a:t>
            </a:r>
            <a:endParaRPr lang="en-US" dirty="0"/>
          </a:p>
        </p:txBody>
      </p:sp>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altLang="ko-KR" sz="2400" dirty="0" smtClean="0"/>
              <a:t>Apply </a:t>
            </a:r>
            <a:r>
              <a:rPr lang="en-US" altLang="ko-KR" sz="2400" dirty="0" err="1" smtClean="0"/>
              <a:t>Hadamard</a:t>
            </a:r>
            <a:r>
              <a:rPr lang="en-US" altLang="ko-KR" sz="2400" dirty="0" smtClean="0"/>
              <a:t> transform on a classical state.</a:t>
            </a:r>
          </a:p>
          <a:p>
            <a:pPr marL="0" indent="0">
              <a:buNone/>
            </a:pPr>
            <a:endParaRPr lang="en-US" altLang="ko-KR" sz="2400" dirty="0"/>
          </a:p>
          <a:p>
            <a:pPr marL="0" indent="0">
              <a:buNone/>
            </a:pPr>
            <a:endParaRPr lang="en-US" altLang="ko-KR" sz="2400" dirty="0" smtClean="0"/>
          </a:p>
          <a:p>
            <a:pPr marL="0" indent="0">
              <a:buNone/>
            </a:pPr>
            <a:endParaRPr lang="en-US" altLang="ko-KR" sz="2400" dirty="0" smtClean="0"/>
          </a:p>
          <a:p>
            <a:pPr marL="0" indent="0">
              <a:buNone/>
            </a:pPr>
            <a:endParaRPr lang="en-US" altLang="ko-KR" sz="2400" dirty="0"/>
          </a:p>
          <a:p>
            <a:pPr marL="0" indent="0">
              <a:buNone/>
            </a:pPr>
            <a:r>
              <a:rPr lang="en-US" altLang="ko-KR" sz="2400" dirty="0" smtClean="0"/>
              <a:t>It is easy to implement (beam splitter)!</a:t>
            </a:r>
          </a:p>
          <a:p>
            <a:pPr marL="0" indent="0">
              <a:buNone/>
            </a:pPr>
            <a:r>
              <a:rPr lang="en-US" altLang="ko-KR" sz="2400" dirty="0" smtClean="0"/>
              <a:t>… the ONLY easy-to-implement application.</a:t>
            </a:r>
          </a:p>
        </p:txBody>
      </p:sp>
      <p:cxnSp>
        <p:nvCxnSpPr>
          <p:cNvPr id="9" name="Straight Connector 3">
            <a:extLst>
              <a:ext uri="{FF2B5EF4-FFF2-40B4-BE49-F238E27FC236}">
                <a16:creationId xmlns:a16="http://schemas.microsoft.com/office/drawing/2014/main" id="{B91E78E4-542E-3BF9-60EB-0A75C5E77BF2}"/>
              </a:ext>
            </a:extLst>
          </p:cNvPr>
          <p:cNvCxnSpPr>
            <a:cxnSpLocks/>
          </p:cNvCxnSpPr>
          <p:nvPr/>
        </p:nvCxnSpPr>
        <p:spPr>
          <a:xfrm>
            <a:off x="5200203" y="2851272"/>
            <a:ext cx="1874373"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Rectangle 8">
                <a:extLst>
                  <a:ext uri="{FF2B5EF4-FFF2-40B4-BE49-F238E27FC236}">
                    <a16:creationId xmlns:a16="http://schemas.microsoft.com/office/drawing/2014/main" id="{94EE92FC-DB34-FB95-BD1E-9664133A05EE}"/>
                  </a:ext>
                </a:extLst>
              </p:cNvPr>
              <p:cNvSpPr/>
              <p:nvPr/>
            </p:nvSpPr>
            <p:spPr>
              <a:xfrm>
                <a:off x="4596436" y="2602438"/>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10"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4596436" y="2602438"/>
                <a:ext cx="671594" cy="461665"/>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직사각형 10"/>
              <p:cNvSpPr/>
              <p:nvPr/>
            </p:nvSpPr>
            <p:spPr>
              <a:xfrm>
                <a:off x="5855374" y="2618480"/>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1" name="직사각형 10"/>
              <p:cNvSpPr>
                <a:spLocks noRot="1" noChangeAspect="1" noMove="1" noResize="1" noEditPoints="1" noAdjustHandles="1" noChangeArrowheads="1" noChangeShapeType="1" noTextEdit="1"/>
              </p:cNvSpPr>
              <p:nvPr/>
            </p:nvSpPr>
            <p:spPr>
              <a:xfrm>
                <a:off x="5855374" y="2618480"/>
                <a:ext cx="461665" cy="461665"/>
              </a:xfrm>
              <a:prstGeom prst="rect">
                <a:avLst/>
              </a:prstGeom>
              <a:blipFill>
                <a:blip r:embed="rId4"/>
                <a:stretch>
                  <a:fillRect l="-1299"/>
                </a:stretch>
              </a:blipFill>
              <a:ln>
                <a:solidFill>
                  <a:schemeClr val="tx1"/>
                </a:solidFill>
              </a:ln>
            </p:spPr>
            <p:txBody>
              <a:bodyPr/>
              <a:lstStyle/>
              <a:p>
                <a:r>
                  <a:rPr lang="ko-KR" altLang="en-US">
                    <a:noFill/>
                  </a:rPr>
                  <a:t> </a:t>
                </a:r>
              </a:p>
            </p:txBody>
          </p:sp>
        </mc:Fallback>
      </mc:AlternateContent>
      <p:pic>
        <p:nvPicPr>
          <p:cNvPr id="12" name="그림 11"/>
          <p:cNvPicPr>
            <a:picLocks noChangeAspect="1"/>
          </p:cNvPicPr>
          <p:nvPr/>
        </p:nvPicPr>
        <p:blipFill>
          <a:blip r:embed="rId5"/>
          <a:stretch>
            <a:fillRect/>
          </a:stretch>
        </p:blipFill>
        <p:spPr>
          <a:xfrm>
            <a:off x="6996059" y="2630298"/>
            <a:ext cx="571580" cy="447737"/>
          </a:xfrm>
          <a:prstGeom prst="rect">
            <a:avLst/>
          </a:prstGeom>
        </p:spPr>
      </p:pic>
      <p:pic>
        <p:nvPicPr>
          <p:cNvPr id="13" name="Picture 2" descr="QNR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6358" y="3386682"/>
            <a:ext cx="4714612" cy="2708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9974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Examples</a:t>
            </a:r>
            <a:endParaRPr lang="ko-KR" altLang="en-US" dirty="0"/>
          </a:p>
        </p:txBody>
      </p:sp>
      <p:sp>
        <p:nvSpPr>
          <p:cNvPr id="3" name="내용 개체 틀 2"/>
          <p:cNvSpPr>
            <a:spLocks noGrp="1"/>
          </p:cNvSpPr>
          <p:nvPr>
            <p:ph idx="1"/>
          </p:nvPr>
        </p:nvSpPr>
        <p:spPr/>
        <p:txBody>
          <a:bodyPr>
            <a:normAutofit/>
          </a:bodyPr>
          <a:lstStyle/>
          <a:p>
            <a:r>
              <a:rPr lang="en-US" altLang="ko-KR" dirty="0" smtClean="0"/>
              <a:t>Quantum random number generators</a:t>
            </a:r>
          </a:p>
          <a:p>
            <a:endParaRPr lang="en-US" altLang="ko-KR" b="1" dirty="0" smtClean="0"/>
          </a:p>
          <a:p>
            <a:r>
              <a:rPr lang="en-US" altLang="ko-KR" b="1" dirty="0" smtClean="0"/>
              <a:t>Example about phases</a:t>
            </a:r>
          </a:p>
          <a:p>
            <a:endParaRPr lang="en-US" altLang="ko-KR" dirty="0"/>
          </a:p>
          <a:p>
            <a:r>
              <a:rPr lang="en-US" altLang="ko-KR" dirty="0" smtClean="0"/>
              <a:t>Example about a single intermediate measurement</a:t>
            </a:r>
          </a:p>
          <a:p>
            <a:endParaRPr lang="en-US" altLang="ko-KR" dirty="0"/>
          </a:p>
          <a:p>
            <a:r>
              <a:rPr lang="en-US" altLang="ko-KR" dirty="0" smtClean="0"/>
              <a:t>Example about many measurements</a:t>
            </a:r>
          </a:p>
        </p:txBody>
      </p:sp>
    </p:spTree>
    <p:extLst>
      <p:ext uri="{BB962C8B-B14F-4D97-AF65-F5344CB8AC3E}">
        <p14:creationId xmlns:p14="http://schemas.microsoft.com/office/powerpoint/2010/main" val="204366254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altLang="ko-KR" dirty="0" smtClean="0"/>
              <a:t>Uniform </a:t>
            </a:r>
            <a:r>
              <a:rPr lang="en-US" altLang="ko-KR" dirty="0" err="1" smtClean="0"/>
              <a:t>superpositions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r>
                  <a:rPr lang="en-US" altLang="ko-KR" sz="2400" dirty="0" smtClean="0"/>
                  <a:t>Uniform </a:t>
                </a:r>
                <a:r>
                  <a:rPr lang="en-US" altLang="ko-KR" sz="2400" dirty="0" err="1" smtClean="0"/>
                  <a:t>superpositions</a:t>
                </a:r>
                <a:r>
                  <a:rPr lang="en-US" altLang="ko-KR" sz="2400" dirty="0" smtClean="0"/>
                  <a:t>:</a:t>
                </a:r>
                <a:endParaRPr lang="en-US" altLang="ko-KR" sz="2400" dirty="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m:t>
                          </m:r>
                        </m:e>
                      </m:d>
                      <m:r>
                        <a:rPr lang="en-US" altLang="ko-KR" sz="2400" b="0" i="1" smtClean="0">
                          <a:latin typeface="Cambria Math" panose="02040503050406030204" pitchFamily="18" charset="0"/>
                          <a:ea typeface="Cambria Math" panose="02040503050406030204" pitchFamily="18" charset="0"/>
                        </a:rPr>
                        <m:t>=</m:t>
                      </m:r>
                      <m:r>
                        <a:rPr lang="en-US" altLang="ko-KR" sz="2400" b="0" i="1" smtClean="0">
                          <a:latin typeface="Cambria Math" panose="02040503050406030204" pitchFamily="18" charset="0"/>
                          <a:ea typeface="Cambria Math" panose="02040503050406030204" pitchFamily="18" charset="0"/>
                        </a:rPr>
                        <m:t>𝐻</m:t>
                      </m:r>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1</m:t>
                          </m:r>
                        </m:num>
                        <m:den>
                          <m:rad>
                            <m:radPr>
                              <m:degHide m:val="on"/>
                              <m:ctrlPr>
                                <a:rPr lang="en-US" altLang="ko-KR" sz="2400" b="0" i="1" smtClean="0">
                                  <a:latin typeface="Cambria Math" panose="02040503050406030204" pitchFamily="18" charset="0"/>
                                  <a:ea typeface="Cambria Math" panose="02040503050406030204" pitchFamily="18" charset="0"/>
                                </a:rPr>
                              </m:ctrlPr>
                            </m:radPr>
                            <m:deg/>
                            <m:e>
                              <m:r>
                                <a:rPr lang="en-US" altLang="ko-KR" sz="2400" b="0" i="1" smtClean="0">
                                  <a:latin typeface="Cambria Math" panose="02040503050406030204" pitchFamily="18" charset="0"/>
                                  <a:ea typeface="Cambria Math" panose="02040503050406030204" pitchFamily="18" charset="0"/>
                                </a:rPr>
                                <m:t>2</m:t>
                              </m:r>
                            </m:e>
                          </m:rad>
                        </m:den>
                      </m:f>
                      <m:d>
                        <m:dPr>
                          <m:ctrlPr>
                            <a:rPr lang="en-US" altLang="ko-KR" sz="2400" b="0" i="1" smtClean="0">
                              <a:latin typeface="Cambria Math" panose="02040503050406030204" pitchFamily="18" charset="0"/>
                              <a:ea typeface="Cambria Math" panose="02040503050406030204" pitchFamily="18" charset="0"/>
                            </a:rPr>
                          </m:ctrlPr>
                        </m:dPr>
                        <m:e>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+|1⟩</m:t>
                          </m:r>
                        </m:e>
                      </m:d>
                    </m:oMath>
                  </m:oMathPara>
                </a14:m>
                <a:endParaRPr lang="en-US" altLang="ko-KR" sz="2400" dirty="0" smtClean="0">
                  <a:ea typeface="Cambria Math" panose="02040503050406030204" pitchFamily="18" charset="0"/>
                </a:endParaRPr>
              </a:p>
              <a:p>
                <a:pPr marL="0" indent="0" algn="ctr">
                  <a:buNone/>
                </a:pPr>
                <a:endParaRPr lang="en-US" altLang="ko-KR" sz="2400" b="0" i="1" dirty="0" smtClean="0">
                  <a:latin typeface="Cambria Math" panose="02040503050406030204" pitchFamily="18" charset="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m:t>
                          </m:r>
                        </m:e>
                      </m:d>
                      <m:r>
                        <a:rPr lang="en-US" altLang="ko-KR" sz="2400" b="0" i="1" smtClean="0">
                          <a:latin typeface="Cambria Math" panose="02040503050406030204" pitchFamily="18" charset="0"/>
                          <a:ea typeface="Cambria Math" panose="02040503050406030204" pitchFamily="18" charset="0"/>
                        </a:rPr>
                        <m:t>=</m:t>
                      </m:r>
                      <m:r>
                        <a:rPr lang="en-US" altLang="ko-KR" sz="2400" i="1" smtClean="0">
                          <a:latin typeface="Cambria Math" panose="02040503050406030204" pitchFamily="18" charset="0"/>
                          <a:ea typeface="Cambria Math" panose="02040503050406030204" pitchFamily="18" charset="0"/>
                        </a:rPr>
                        <m:t>𝐻</m:t>
                      </m:r>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1</m:t>
                          </m:r>
                        </m:e>
                      </m:d>
                      <m:r>
                        <a:rPr lang="en-US" altLang="ko-KR" sz="2400" b="0" i="1" smtClean="0">
                          <a:latin typeface="Cambria Math" panose="02040503050406030204" pitchFamily="18" charset="0"/>
                          <a:ea typeface="Cambria Math" panose="02040503050406030204" pitchFamily="18" charset="0"/>
                        </a:rPr>
                        <m:t>=</m:t>
                      </m:r>
                      <m:f>
                        <m:fPr>
                          <m:ctrlPr>
                            <a:rPr lang="en-US" altLang="ko-KR" sz="2400" i="1">
                              <a:latin typeface="Cambria Math" panose="02040503050406030204" pitchFamily="18" charset="0"/>
                              <a:ea typeface="Cambria Math" panose="02040503050406030204" pitchFamily="18" charset="0"/>
                            </a:rPr>
                          </m:ctrlPr>
                        </m:fPr>
                        <m:num>
                          <m:r>
                            <a:rPr lang="en-US" altLang="ko-KR" sz="2400" i="1">
                              <a:latin typeface="Cambria Math" panose="02040503050406030204" pitchFamily="18" charset="0"/>
                              <a:ea typeface="Cambria Math" panose="02040503050406030204" pitchFamily="18" charset="0"/>
                            </a:rPr>
                            <m:t>1</m:t>
                          </m:r>
                        </m:num>
                        <m:den>
                          <m:rad>
                            <m:radPr>
                              <m:degHide m:val="on"/>
                              <m:ctrlPr>
                                <a:rPr lang="en-US" altLang="ko-KR" sz="2400" i="1">
                                  <a:latin typeface="Cambria Math" panose="02040503050406030204" pitchFamily="18" charset="0"/>
                                  <a:ea typeface="Cambria Math" panose="02040503050406030204" pitchFamily="18" charset="0"/>
                                </a:rPr>
                              </m:ctrlPr>
                            </m:radPr>
                            <m:deg/>
                            <m:e>
                              <m:r>
                                <a:rPr lang="en-US" altLang="ko-KR" sz="2400" i="1">
                                  <a:latin typeface="Cambria Math" panose="02040503050406030204" pitchFamily="18" charset="0"/>
                                  <a:ea typeface="Cambria Math" panose="02040503050406030204" pitchFamily="18" charset="0"/>
                                </a:rPr>
                                <m:t>2</m:t>
                              </m:r>
                            </m:e>
                          </m:rad>
                        </m:den>
                      </m:f>
                      <m:d>
                        <m:dPr>
                          <m:ctrlPr>
                            <a:rPr lang="en-US" altLang="ko-KR" sz="2400" i="1">
                              <a:latin typeface="Cambria Math" panose="02040503050406030204" pitchFamily="18" charset="0"/>
                              <a:ea typeface="Cambria Math" panose="02040503050406030204" pitchFamily="18" charset="0"/>
                            </a:rPr>
                          </m:ctrlPr>
                        </m:dPr>
                        <m:e>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r>
                            <a:rPr lang="en-US" altLang="ko-KR" sz="2400" i="1">
                              <a:latin typeface="Cambria Math" panose="02040503050406030204" pitchFamily="18" charset="0"/>
                              <a:ea typeface="Cambria Math" panose="02040503050406030204" pitchFamily="18" charset="0"/>
                            </a:rPr>
                            <m:t>|1⟩</m:t>
                          </m:r>
                        </m:e>
                      </m:d>
                    </m:oMath>
                  </m:oMathPara>
                </a14:m>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Can we see the difference between them? 	(</a:t>
                </a:r>
                <a14:m>
                  <m:oMath xmlns:m="http://schemas.openxmlformats.org/officeDocument/2006/math">
                    <m:d>
                      <m:dPr>
                        <m:begChr m:val="|"/>
                        <m:endChr m:val="⟩"/>
                        <m:ctrlPr>
                          <a:rPr lang="en-CA" altLang="ko-KR" sz="2400" i="1">
                            <a:latin typeface="Cambria Math" panose="02040503050406030204" pitchFamily="18" charset="0"/>
                          </a:rPr>
                        </m:ctrlPr>
                      </m:dPr>
                      <m:e>
                        <m:r>
                          <a:rPr lang="en-US" altLang="ko-KR" sz="2400" i="1">
                            <a:latin typeface="Cambria Math" panose="02040503050406030204" pitchFamily="18" charset="0"/>
                          </a:rPr>
                          <m:t>𝜓</m:t>
                        </m:r>
                      </m:e>
                    </m:d>
                    <m:r>
                      <a:rPr lang="en-US" altLang="ko-KR" sz="2400" b="0" i="1" smtClean="0">
                        <a:latin typeface="Cambria Math" panose="02040503050406030204" pitchFamily="18" charset="0"/>
                      </a:rPr>
                      <m:t>=|+⟩</m:t>
                    </m:r>
                  </m:oMath>
                </a14:m>
                <a:r>
                  <a:rPr lang="en-US" altLang="ko-KR" sz="2400" dirty="0" smtClean="0">
                    <a:ea typeface="Cambria Math" panose="02040503050406030204" pitchFamily="18" charset="0"/>
                  </a:rPr>
                  <a:t> or </a:t>
                </a:r>
                <a14:m>
                  <m:oMath xmlns:m="http://schemas.openxmlformats.org/officeDocument/2006/math">
                    <m:d>
                      <m:dPr>
                        <m:begChr m:val="|"/>
                        <m:endChr m:val="⟩"/>
                        <m:ctrlPr>
                          <a:rPr lang="en-CA" altLang="ko-KR" sz="2400" i="1">
                            <a:latin typeface="Cambria Math" panose="02040503050406030204" pitchFamily="18" charset="0"/>
                          </a:rPr>
                        </m:ctrlPr>
                      </m:dPr>
                      <m:e>
                        <m:r>
                          <a:rPr lang="en-US" altLang="ko-KR" sz="2400" i="1">
                            <a:latin typeface="Cambria Math" panose="02040503050406030204" pitchFamily="18" charset="0"/>
                          </a:rPr>
                          <m:t>𝜓</m:t>
                        </m:r>
                      </m:e>
                    </m:d>
                    <m:r>
                      <a:rPr lang="en-US" altLang="ko-KR" sz="2400" i="1">
                        <a:latin typeface="Cambria Math" panose="02040503050406030204" pitchFamily="18" charset="0"/>
                      </a:rPr>
                      <m:t>=|</m:t>
                    </m:r>
                    <m:r>
                      <a:rPr lang="en-US" altLang="ko-KR" sz="2400" b="0" i="1" smtClean="0">
                        <a:latin typeface="Cambria Math" panose="02040503050406030204" pitchFamily="18" charset="0"/>
                      </a:rPr>
                      <m:t>−</m:t>
                    </m:r>
                    <m:r>
                      <a:rPr lang="en-US" altLang="ko-KR" sz="2400" i="1">
                        <a:latin typeface="Cambria Math" panose="02040503050406030204" pitchFamily="18" charset="0"/>
                      </a:rPr>
                      <m:t>⟩</m:t>
                    </m:r>
                  </m:oMath>
                </a14:m>
                <a:r>
                  <a:rPr lang="en-US" altLang="ko-KR" sz="2400" dirty="0" smtClean="0">
                    <a:ea typeface="Cambria Math" panose="02040503050406030204" pitchFamily="18" charset="0"/>
                  </a:rPr>
                  <a:t>)</a:t>
                </a:r>
              </a:p>
              <a:p>
                <a:pPr marL="0" indent="0">
                  <a:buNone/>
                </a:pPr>
                <a:r>
                  <a:rPr lang="en-US" altLang="ko-KR" sz="2400" dirty="0" smtClean="0">
                    <a:ea typeface="Cambria Math" panose="02040503050406030204" pitchFamily="18" charset="0"/>
                  </a:rPr>
                  <a:t>They are indistinguishable by measurements!</a:t>
                </a:r>
                <a:endParaRPr lang="en-US" altLang="ko-KR" sz="24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t="-1961"/>
                </a:stretch>
              </a:blipFill>
            </p:spPr>
            <p:txBody>
              <a:bodyPr/>
              <a:lstStyle/>
              <a:p>
                <a:r>
                  <a:rPr lang="ko-KR" altLang="en-US">
                    <a:noFill/>
                  </a:rPr>
                  <a:t> </a:t>
                </a:r>
              </a:p>
            </p:txBody>
          </p:sp>
        </mc:Fallback>
      </mc:AlternateContent>
      <p:cxnSp>
        <p:nvCxnSpPr>
          <p:cNvPr id="16" name="Straight Connector 3">
            <a:extLst>
              <a:ext uri="{FF2B5EF4-FFF2-40B4-BE49-F238E27FC236}">
                <a16:creationId xmlns:a16="http://schemas.microsoft.com/office/drawing/2014/main" id="{B91E78E4-542E-3BF9-60EB-0A75C5E77BF2}"/>
              </a:ext>
            </a:extLst>
          </p:cNvPr>
          <p:cNvCxnSpPr>
            <a:cxnSpLocks/>
          </p:cNvCxnSpPr>
          <p:nvPr/>
        </p:nvCxnSpPr>
        <p:spPr>
          <a:xfrm flipV="1">
            <a:off x="5818171" y="5582653"/>
            <a:ext cx="750712" cy="11818"/>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Rectangle 8">
                <a:extLst>
                  <a:ext uri="{FF2B5EF4-FFF2-40B4-BE49-F238E27FC236}">
                    <a16:creationId xmlns:a16="http://schemas.microsoft.com/office/drawing/2014/main" id="{94EE92FC-DB34-FB95-BD1E-9664133A05EE}"/>
                  </a:ext>
                </a:extLst>
              </p:cNvPr>
              <p:cNvSpPr/>
              <p:nvPr/>
            </p:nvSpPr>
            <p:spPr>
              <a:xfrm>
                <a:off x="5214404" y="5345637"/>
                <a:ext cx="730905"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𝜓</m:t>
                          </m:r>
                        </m:e>
                      </m:d>
                    </m:oMath>
                  </m:oMathPara>
                </a14:m>
                <a:endParaRPr lang="en-US" sz="2400" dirty="0"/>
              </a:p>
            </p:txBody>
          </p:sp>
        </mc:Choice>
        <mc:Fallback xmlns="">
          <p:sp>
            <p:nvSpPr>
              <p:cNvPr id="17"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5214404" y="5345637"/>
                <a:ext cx="730905" cy="461665"/>
              </a:xfrm>
              <a:prstGeom prst="rect">
                <a:avLst/>
              </a:prstGeom>
              <a:blipFill>
                <a:blip r:embed="rId4"/>
                <a:stretch>
                  <a:fillRect b="-18421"/>
                </a:stretch>
              </a:blipFill>
            </p:spPr>
            <p:txBody>
              <a:bodyPr/>
              <a:lstStyle/>
              <a:p>
                <a:r>
                  <a:rPr lang="ko-KR" altLang="en-US">
                    <a:noFill/>
                  </a:rPr>
                  <a:t> </a:t>
                </a:r>
              </a:p>
            </p:txBody>
          </p:sp>
        </mc:Fallback>
      </mc:AlternateContent>
      <p:pic>
        <p:nvPicPr>
          <p:cNvPr id="18" name="그림 17"/>
          <p:cNvPicPr>
            <a:picLocks noChangeAspect="1"/>
          </p:cNvPicPr>
          <p:nvPr/>
        </p:nvPicPr>
        <p:blipFill>
          <a:blip r:embed="rId5"/>
          <a:stretch>
            <a:fillRect/>
          </a:stretch>
        </p:blipFill>
        <p:spPr>
          <a:xfrm>
            <a:off x="6315888" y="5370602"/>
            <a:ext cx="571580" cy="447737"/>
          </a:xfrm>
          <a:prstGeom prst="rect">
            <a:avLst/>
          </a:prstGeom>
        </p:spPr>
      </p:pic>
      <p:cxnSp>
        <p:nvCxnSpPr>
          <p:cNvPr id="7" name="Straight Connector 3">
            <a:extLst>
              <a:ext uri="{FF2B5EF4-FFF2-40B4-BE49-F238E27FC236}">
                <a16:creationId xmlns:a16="http://schemas.microsoft.com/office/drawing/2014/main" id="{B91E78E4-542E-3BF9-60EB-0A75C5E77BF2}"/>
              </a:ext>
            </a:extLst>
          </p:cNvPr>
          <p:cNvCxnSpPr>
            <a:cxnSpLocks/>
          </p:cNvCxnSpPr>
          <p:nvPr/>
        </p:nvCxnSpPr>
        <p:spPr>
          <a:xfrm>
            <a:off x="8857803" y="870072"/>
            <a:ext cx="1874373"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Rectangle 8">
                <a:extLst>
                  <a:ext uri="{FF2B5EF4-FFF2-40B4-BE49-F238E27FC236}">
                    <a16:creationId xmlns:a16="http://schemas.microsoft.com/office/drawing/2014/main" id="{94EE92FC-DB34-FB95-BD1E-9664133A05EE}"/>
                  </a:ext>
                </a:extLst>
              </p:cNvPr>
              <p:cNvSpPr/>
              <p:nvPr/>
            </p:nvSpPr>
            <p:spPr>
              <a:xfrm>
                <a:off x="8254036" y="621238"/>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8"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254036" y="621238"/>
                <a:ext cx="671594" cy="461665"/>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직사각형 8"/>
              <p:cNvSpPr/>
              <p:nvPr/>
            </p:nvSpPr>
            <p:spPr>
              <a:xfrm>
                <a:off x="9512974" y="637280"/>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9" name="직사각형 8"/>
              <p:cNvSpPr>
                <a:spLocks noRot="1" noChangeAspect="1" noMove="1" noResize="1" noEditPoints="1" noAdjustHandles="1" noChangeArrowheads="1" noChangeShapeType="1" noTextEdit="1"/>
              </p:cNvSpPr>
              <p:nvPr/>
            </p:nvSpPr>
            <p:spPr>
              <a:xfrm>
                <a:off x="9512974" y="637280"/>
                <a:ext cx="461665" cy="461665"/>
              </a:xfrm>
              <a:prstGeom prst="rect">
                <a:avLst/>
              </a:prstGeom>
              <a:blipFill>
                <a:blip r:embed="rId7"/>
                <a:stretch>
                  <a:fillRect l="-1299"/>
                </a:stretch>
              </a:blipFill>
              <a:ln>
                <a:solidFill>
                  <a:schemeClr val="tx1"/>
                </a:solidFill>
              </a:ln>
            </p:spPr>
            <p:txBody>
              <a:bodyPr/>
              <a:lstStyle/>
              <a:p>
                <a:r>
                  <a:rPr lang="ko-KR" altLang="en-US">
                    <a:noFill/>
                  </a:rPr>
                  <a:t> </a:t>
                </a:r>
              </a:p>
            </p:txBody>
          </p:sp>
        </mc:Fallback>
      </mc:AlternateContent>
      <p:pic>
        <p:nvPicPr>
          <p:cNvPr id="10" name="그림 9"/>
          <p:cNvPicPr>
            <a:picLocks noChangeAspect="1"/>
          </p:cNvPicPr>
          <p:nvPr/>
        </p:nvPicPr>
        <p:blipFill>
          <a:blip r:embed="rId5"/>
          <a:stretch>
            <a:fillRect/>
          </a:stretch>
        </p:blipFill>
        <p:spPr>
          <a:xfrm>
            <a:off x="10653659" y="649098"/>
            <a:ext cx="571580" cy="447737"/>
          </a:xfrm>
          <a:prstGeom prst="rect">
            <a:avLst/>
          </a:prstGeom>
        </p:spPr>
      </p:pic>
      <p:cxnSp>
        <p:nvCxnSpPr>
          <p:cNvPr id="11" name="Straight Connector 3">
            <a:extLst>
              <a:ext uri="{FF2B5EF4-FFF2-40B4-BE49-F238E27FC236}">
                <a16:creationId xmlns:a16="http://schemas.microsoft.com/office/drawing/2014/main" id="{B91E78E4-542E-3BF9-60EB-0A75C5E77BF2}"/>
              </a:ext>
            </a:extLst>
          </p:cNvPr>
          <p:cNvCxnSpPr>
            <a:cxnSpLocks/>
          </p:cNvCxnSpPr>
          <p:nvPr/>
        </p:nvCxnSpPr>
        <p:spPr>
          <a:xfrm>
            <a:off x="8857803" y="1516408"/>
            <a:ext cx="1874373"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Rectangle 8">
                <a:extLst>
                  <a:ext uri="{FF2B5EF4-FFF2-40B4-BE49-F238E27FC236}">
                    <a16:creationId xmlns:a16="http://schemas.microsoft.com/office/drawing/2014/main" id="{94EE92FC-DB34-FB95-BD1E-9664133A05EE}"/>
                  </a:ext>
                </a:extLst>
              </p:cNvPr>
              <p:cNvSpPr/>
              <p:nvPr/>
            </p:nvSpPr>
            <p:spPr>
              <a:xfrm>
                <a:off x="8254036" y="1267574"/>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1</m:t>
                          </m:r>
                        </m:e>
                      </m:d>
                    </m:oMath>
                  </m:oMathPara>
                </a14:m>
                <a:endParaRPr lang="en-US" sz="2400" dirty="0"/>
              </a:p>
            </p:txBody>
          </p:sp>
        </mc:Choice>
        <mc:Fallback xmlns="">
          <p:sp>
            <p:nvSpPr>
              <p:cNvPr id="12"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254036" y="1267574"/>
                <a:ext cx="671594" cy="461665"/>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직사각형 12"/>
              <p:cNvSpPr/>
              <p:nvPr/>
            </p:nvSpPr>
            <p:spPr>
              <a:xfrm>
                <a:off x="9512974" y="1283616"/>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3" name="직사각형 12"/>
              <p:cNvSpPr>
                <a:spLocks noRot="1" noChangeAspect="1" noMove="1" noResize="1" noEditPoints="1" noAdjustHandles="1" noChangeArrowheads="1" noChangeShapeType="1" noTextEdit="1"/>
              </p:cNvSpPr>
              <p:nvPr/>
            </p:nvSpPr>
            <p:spPr>
              <a:xfrm>
                <a:off x="9512974" y="1283616"/>
                <a:ext cx="461665" cy="461665"/>
              </a:xfrm>
              <a:prstGeom prst="rect">
                <a:avLst/>
              </a:prstGeom>
              <a:blipFill>
                <a:blip r:embed="rId9"/>
                <a:stretch>
                  <a:fillRect l="-1299"/>
                </a:stretch>
              </a:blipFill>
              <a:ln>
                <a:solidFill>
                  <a:schemeClr val="tx1"/>
                </a:solidFill>
              </a:ln>
            </p:spPr>
            <p:txBody>
              <a:bodyPr/>
              <a:lstStyle/>
              <a:p>
                <a:r>
                  <a:rPr lang="ko-KR" altLang="en-US">
                    <a:noFill/>
                  </a:rPr>
                  <a:t> </a:t>
                </a:r>
              </a:p>
            </p:txBody>
          </p:sp>
        </mc:Fallback>
      </mc:AlternateContent>
      <p:pic>
        <p:nvPicPr>
          <p:cNvPr id="14" name="그림 13"/>
          <p:cNvPicPr>
            <a:picLocks noChangeAspect="1"/>
          </p:cNvPicPr>
          <p:nvPr/>
        </p:nvPicPr>
        <p:blipFill>
          <a:blip r:embed="rId5"/>
          <a:stretch>
            <a:fillRect/>
          </a:stretch>
        </p:blipFill>
        <p:spPr>
          <a:xfrm>
            <a:off x="10653659" y="1295434"/>
            <a:ext cx="571580" cy="447737"/>
          </a:xfrm>
          <a:prstGeom prst="rect">
            <a:avLst/>
          </a:prstGeom>
        </p:spPr>
      </p:pic>
    </p:spTree>
    <p:extLst>
      <p:ext uri="{BB962C8B-B14F-4D97-AF65-F5344CB8AC3E}">
        <p14:creationId xmlns:p14="http://schemas.microsoft.com/office/powerpoint/2010/main" val="291914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ACF45-D9D6-7EEC-F68B-0ED541CDAB3A}"/>
              </a:ext>
            </a:extLst>
          </p:cNvPr>
          <p:cNvSpPr>
            <a:spLocks noGrp="1"/>
          </p:cNvSpPr>
          <p:nvPr>
            <p:ph type="title"/>
          </p:nvPr>
        </p:nvSpPr>
        <p:spPr/>
        <p:txBody>
          <a:bodyPr/>
          <a:lstStyle/>
          <a:p>
            <a:r>
              <a:rPr lang="en-US" altLang="ko-KR" dirty="0" smtClean="0"/>
              <a:t>Uniform </a:t>
            </a:r>
            <a:r>
              <a:rPr lang="en-US" altLang="ko-KR" dirty="0" err="1" smtClean="0"/>
              <a:t>superpositions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B5776-B85A-A93B-A4D8-05FF79DD7B17}"/>
                  </a:ext>
                </a:extLst>
              </p:cNvPr>
              <p:cNvSpPr>
                <a:spLocks noGrp="1"/>
              </p:cNvSpPr>
              <p:nvPr>
                <p:ph idx="1"/>
              </p:nvPr>
            </p:nvSpPr>
            <p:spPr/>
            <p:txBody>
              <a:bodyPr>
                <a:normAutofit/>
              </a:bodyPr>
              <a:lstStyle/>
              <a:p>
                <a:pPr marL="0" indent="0">
                  <a:buNone/>
                </a:pPr>
                <a:endParaRPr lang="en-US" altLang="ko-KR" sz="2400" dirty="0" smtClean="0">
                  <a:ea typeface="Cambria Math" panose="02040503050406030204" pitchFamily="18" charset="0"/>
                </a:endParaRPr>
              </a:p>
              <a:p>
                <a:pPr marL="0" indent="0">
                  <a:buNone/>
                </a:pPr>
                <a:endParaRPr lang="en-US" altLang="ko-KR" sz="2400" dirty="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r>
                  <a:rPr lang="en-US" altLang="ko-KR" sz="2400" dirty="0" smtClean="0">
                    <a:ea typeface="Cambria Math" panose="02040503050406030204" pitchFamily="18" charset="0"/>
                  </a:rPr>
                  <a:t>Solution: Apply </a:t>
                </a:r>
                <a14:m>
                  <m:oMath xmlns:m="http://schemas.openxmlformats.org/officeDocument/2006/math">
                    <m:r>
                      <a:rPr lang="en-US" altLang="ko-KR" sz="2400" i="1">
                        <a:latin typeface="Cambria Math" panose="02040503050406030204" pitchFamily="18" charset="0"/>
                      </a:rPr>
                      <m:t>𝐻</m:t>
                    </m:r>
                  </m:oMath>
                </a14:m>
                <a:r>
                  <a:rPr lang="en-US" altLang="ko-KR" sz="2400" dirty="0" smtClean="0">
                    <a:ea typeface="Cambria Math" panose="02040503050406030204" pitchFamily="18" charset="0"/>
                  </a:rPr>
                  <a:t> before measuring!</a:t>
                </a:r>
              </a:p>
              <a:p>
                <a:pPr marL="0" indent="0">
                  <a:buNone/>
                </a:pPr>
                <a:endParaRPr lang="en-US" altLang="ko-KR" sz="2400" dirty="0">
                  <a:ea typeface="Cambria Math" panose="02040503050406030204" pitchFamily="18" charset="0"/>
                </a:endParaRPr>
              </a:p>
              <a:p>
                <a:pPr marL="0" indent="0" algn="ctr">
                  <a:buNone/>
                </a:pPr>
                <a14:m>
                  <m:oMath xmlns:m="http://schemas.openxmlformats.org/officeDocument/2006/math">
                    <m:r>
                      <a:rPr lang="en-US" altLang="ko-KR" sz="2400" i="1">
                        <a:latin typeface="Cambria Math" panose="02040503050406030204" pitchFamily="18" charset="0"/>
                      </a:rPr>
                      <m:t>𝐻</m:t>
                    </m:r>
                    <m:d>
                      <m:dPr>
                        <m:begChr m:val="|"/>
                        <m:endChr m:val="⟩"/>
                        <m:ctrlPr>
                          <a:rPr lang="en-US" altLang="ko-KR" sz="2400" i="1">
                            <a:latin typeface="Cambria Math" panose="02040503050406030204" pitchFamily="18" charset="0"/>
                          </a:rPr>
                        </m:ctrlPr>
                      </m:dPr>
                      <m:e>
                        <m:r>
                          <a:rPr lang="en-US" altLang="ko-KR" sz="2400" b="0" i="1" smtClean="0">
                            <a:latin typeface="Cambria Math" panose="02040503050406030204" pitchFamily="18" charset="0"/>
                          </a:rPr>
                          <m:t>+</m:t>
                        </m:r>
                      </m:e>
                    </m:d>
                    <m:r>
                      <a:rPr lang="en-US" altLang="ko-KR" sz="2400" i="1">
                        <a:latin typeface="Cambria Math" panose="02040503050406030204" pitchFamily="18" charset="0"/>
                      </a:rPr>
                      <m:t>=</m:t>
                    </m:r>
                  </m:oMath>
                </a14:m>
                <a:r>
                  <a:rPr lang="en-CA" altLang="ko-KR" sz="2400" dirty="0"/>
                  <a:t> ( do on board </a:t>
                </a:r>
                <a:r>
                  <a:rPr lang="en-CA" altLang="ko-KR" sz="2400" dirty="0" smtClean="0"/>
                  <a:t>)</a:t>
                </a:r>
                <a:r>
                  <a:rPr lang="en-CA" altLang="ko-KR" sz="2400" dirty="0"/>
                  <a:t> </a:t>
                </a:r>
                <a14:m>
                  <m:oMath xmlns:m="http://schemas.openxmlformats.org/officeDocument/2006/math">
                    <m:r>
                      <a:rPr lang="en-US" altLang="ko-KR" sz="2400" i="1">
                        <a:latin typeface="Cambria Math" panose="02040503050406030204" pitchFamily="18" charset="0"/>
                      </a:rPr>
                      <m:t>=</m:t>
                    </m:r>
                    <m:r>
                      <a:rPr lang="en-US" altLang="ko-KR" sz="2400" b="0" i="1" smtClean="0">
                        <a:latin typeface="Cambria Math" panose="02040503050406030204" pitchFamily="18" charset="0"/>
                      </a:rPr>
                      <m:t>|0⟩</m:t>
                    </m:r>
                  </m:oMath>
                </a14:m>
                <a:endParaRPr lang="en-CA" altLang="ko-KR" sz="2400" dirty="0"/>
              </a:p>
              <a:p>
                <a:pPr marL="0" indent="0" algn="ctr">
                  <a:buNone/>
                </a:pPr>
                <a14:m>
                  <m:oMath xmlns:m="http://schemas.openxmlformats.org/officeDocument/2006/math">
                    <m:r>
                      <a:rPr lang="en-US" altLang="ko-KR" sz="2400" i="1">
                        <a:latin typeface="Cambria Math" panose="02040503050406030204" pitchFamily="18" charset="0"/>
                      </a:rPr>
                      <m:t>𝐻</m:t>
                    </m:r>
                    <m:d>
                      <m:dPr>
                        <m:begChr m:val="|"/>
                        <m:endChr m:val="⟩"/>
                        <m:ctrlPr>
                          <a:rPr lang="en-US" altLang="ko-KR" sz="2400" i="1">
                            <a:latin typeface="Cambria Math" panose="02040503050406030204" pitchFamily="18" charset="0"/>
                          </a:rPr>
                        </m:ctrlPr>
                      </m:dPr>
                      <m:e>
                        <m:r>
                          <a:rPr lang="en-US" altLang="ko-KR" sz="2400" b="0" i="1" smtClean="0">
                            <a:latin typeface="Cambria Math" panose="02040503050406030204" pitchFamily="18" charset="0"/>
                          </a:rPr>
                          <m:t>−</m:t>
                        </m:r>
                      </m:e>
                    </m:d>
                    <m:r>
                      <a:rPr lang="en-US" altLang="ko-KR" sz="2400" i="1">
                        <a:latin typeface="Cambria Math" panose="02040503050406030204" pitchFamily="18" charset="0"/>
                      </a:rPr>
                      <m:t>=</m:t>
                    </m:r>
                  </m:oMath>
                </a14:m>
                <a:r>
                  <a:rPr lang="en-CA" altLang="ko-KR" sz="2400" dirty="0"/>
                  <a:t> ( do on board </a:t>
                </a:r>
                <a:r>
                  <a:rPr lang="en-CA" altLang="ko-KR" sz="2400" dirty="0" smtClean="0"/>
                  <a:t>) </a:t>
                </a:r>
                <a14:m>
                  <m:oMath xmlns:m="http://schemas.openxmlformats.org/officeDocument/2006/math">
                    <m:r>
                      <a:rPr lang="en-US" altLang="ko-KR" sz="2400" b="0" i="1" smtClean="0">
                        <a:latin typeface="Cambria Math" panose="02040503050406030204" pitchFamily="18" charset="0"/>
                      </a:rPr>
                      <m:t>=|1⟩</m:t>
                    </m:r>
                  </m:oMath>
                </a14:m>
                <a:endParaRPr lang="en-US" altLang="ko-KR" sz="2400" dirty="0">
                  <a:ea typeface="Cambria Math" panose="02040503050406030204" pitchFamily="18" charset="0"/>
                </a:endParaRPr>
              </a:p>
              <a:p>
                <a:pPr marL="0" indent="0">
                  <a:buNone/>
                </a:pPr>
                <a:endParaRPr lang="en-US" altLang="ko-KR" sz="24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E90B5776-B85A-A93B-A4D8-05FF79DD7B17}"/>
                  </a:ext>
                </a:extLst>
              </p:cNvPr>
              <p:cNvSpPr>
                <a:spLocks noGrp="1" noRot="1" noChangeAspect="1" noMove="1" noResize="1" noEditPoints="1" noAdjustHandles="1" noChangeArrowheads="1" noChangeShapeType="1" noTextEdit="1"/>
              </p:cNvSpPr>
              <p:nvPr>
                <p:ph idx="1"/>
              </p:nvPr>
            </p:nvSpPr>
            <p:spPr>
              <a:blipFill>
                <a:blip r:embed="rId3"/>
                <a:stretch>
                  <a:fillRect l="-928"/>
                </a:stretch>
              </a:blipFill>
            </p:spPr>
            <p:txBody>
              <a:bodyPr/>
              <a:lstStyle/>
              <a:p>
                <a:r>
                  <a:rPr lang="ko-KR" altLang="en-US">
                    <a:noFill/>
                  </a:rPr>
                  <a:t> </a:t>
                </a:r>
              </a:p>
            </p:txBody>
          </p:sp>
        </mc:Fallback>
      </mc:AlternateContent>
      <p:cxnSp>
        <p:nvCxnSpPr>
          <p:cNvPr id="7" name="Straight Connector 3">
            <a:extLst>
              <a:ext uri="{FF2B5EF4-FFF2-40B4-BE49-F238E27FC236}">
                <a16:creationId xmlns:a16="http://schemas.microsoft.com/office/drawing/2014/main" id="{B91E78E4-542E-3BF9-60EB-0A75C5E77BF2}"/>
              </a:ext>
            </a:extLst>
          </p:cNvPr>
          <p:cNvCxnSpPr>
            <a:cxnSpLocks/>
          </p:cNvCxnSpPr>
          <p:nvPr/>
        </p:nvCxnSpPr>
        <p:spPr>
          <a:xfrm>
            <a:off x="5039782" y="2081250"/>
            <a:ext cx="1874373"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Rectangle 8">
                <a:extLst>
                  <a:ext uri="{FF2B5EF4-FFF2-40B4-BE49-F238E27FC236}">
                    <a16:creationId xmlns:a16="http://schemas.microsoft.com/office/drawing/2014/main" id="{94EE92FC-DB34-FB95-BD1E-9664133A05EE}"/>
                  </a:ext>
                </a:extLst>
              </p:cNvPr>
              <p:cNvSpPr/>
              <p:nvPr/>
            </p:nvSpPr>
            <p:spPr>
              <a:xfrm>
                <a:off x="4436015" y="1832416"/>
                <a:ext cx="72257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𝜓</m:t>
                          </m:r>
                        </m:e>
                      </m:d>
                    </m:oMath>
                  </m:oMathPara>
                </a14:m>
                <a:endParaRPr lang="en-US" sz="2400" dirty="0"/>
              </a:p>
            </p:txBody>
          </p:sp>
        </mc:Choice>
        <mc:Fallback xmlns="">
          <p:sp>
            <p:nvSpPr>
              <p:cNvPr id="8"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4436015" y="1832416"/>
                <a:ext cx="722570" cy="461665"/>
              </a:xfrm>
              <a:prstGeom prst="rect">
                <a:avLst/>
              </a:prstGeom>
              <a:blipFill>
                <a:blip r:embed="rId4"/>
                <a:stretch>
                  <a:fillRect b="-20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직사각형 8"/>
              <p:cNvSpPr/>
              <p:nvPr/>
            </p:nvSpPr>
            <p:spPr>
              <a:xfrm>
                <a:off x="5694953" y="1848458"/>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9" name="직사각형 8"/>
              <p:cNvSpPr>
                <a:spLocks noRot="1" noChangeAspect="1" noMove="1" noResize="1" noEditPoints="1" noAdjustHandles="1" noChangeArrowheads="1" noChangeShapeType="1" noTextEdit="1"/>
              </p:cNvSpPr>
              <p:nvPr/>
            </p:nvSpPr>
            <p:spPr>
              <a:xfrm>
                <a:off x="5694953" y="1848458"/>
                <a:ext cx="461665" cy="461665"/>
              </a:xfrm>
              <a:prstGeom prst="rect">
                <a:avLst/>
              </a:prstGeom>
              <a:blipFill>
                <a:blip r:embed="rId5"/>
                <a:stretch>
                  <a:fillRect l="-1282"/>
                </a:stretch>
              </a:blipFill>
              <a:ln>
                <a:solidFill>
                  <a:schemeClr val="tx1"/>
                </a:solidFill>
              </a:ln>
            </p:spPr>
            <p:txBody>
              <a:bodyPr/>
              <a:lstStyle/>
              <a:p>
                <a:r>
                  <a:rPr lang="ko-KR" altLang="en-US">
                    <a:noFill/>
                  </a:rPr>
                  <a:t> </a:t>
                </a:r>
              </a:p>
            </p:txBody>
          </p:sp>
        </mc:Fallback>
      </mc:AlternateContent>
      <p:pic>
        <p:nvPicPr>
          <p:cNvPr id="18" name="그림 17"/>
          <p:cNvPicPr>
            <a:picLocks noChangeAspect="1"/>
          </p:cNvPicPr>
          <p:nvPr/>
        </p:nvPicPr>
        <p:blipFill>
          <a:blip r:embed="rId6"/>
          <a:stretch>
            <a:fillRect/>
          </a:stretch>
        </p:blipFill>
        <p:spPr>
          <a:xfrm>
            <a:off x="6835638" y="1860276"/>
            <a:ext cx="571580" cy="447737"/>
          </a:xfrm>
          <a:prstGeom prst="rect">
            <a:avLst/>
          </a:prstGeom>
        </p:spPr>
      </p:pic>
    </p:spTree>
    <p:extLst>
      <p:ext uri="{BB962C8B-B14F-4D97-AF65-F5344CB8AC3E}">
        <p14:creationId xmlns:p14="http://schemas.microsoft.com/office/powerpoint/2010/main" val="1885456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Computation example</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CA" sz="2400" dirty="0" smtClean="0"/>
                  <a:t>Hadamard matrix </a:t>
                </a:r>
                <a14:m>
                  <m:oMath xmlns:m="http://schemas.openxmlformats.org/officeDocument/2006/math">
                    <m:r>
                      <a:rPr lang="en-US" altLang="ko-KR" sz="2400" b="0" i="1" smtClean="0">
                        <a:solidFill>
                          <a:schemeClr val="tx1"/>
                        </a:solidFill>
                        <a:latin typeface="Cambria Math" panose="02040503050406030204" pitchFamily="18" charset="0"/>
                        <a:ea typeface="Cambria Math" panose="02040503050406030204" pitchFamily="18" charset="0"/>
                      </a:rPr>
                      <m:t>𝐻</m:t>
                    </m:r>
                    <m:r>
                      <a:rPr lang="en-US" altLang="ko-KR" sz="2400" i="1" smtClean="0">
                        <a:solidFill>
                          <a:schemeClr val="tx1"/>
                        </a:solidFill>
                        <a:latin typeface="Cambria Math" panose="02040503050406030204" pitchFamily="18" charset="0"/>
                        <a:ea typeface="Cambria Math" panose="02040503050406030204" pitchFamily="18" charset="0"/>
                      </a:rPr>
                      <m:t>=</m:t>
                    </m:r>
                    <m:f>
                      <m:fPr>
                        <m:ctrlPr>
                          <a:rPr lang="en-US" altLang="ko-KR" sz="2400" b="0" i="1" smtClean="0">
                            <a:solidFill>
                              <a:schemeClr val="tx1"/>
                            </a:solidFill>
                            <a:latin typeface="Cambria Math" panose="02040503050406030204" pitchFamily="18" charset="0"/>
                            <a:ea typeface="Cambria Math" panose="02040503050406030204" pitchFamily="18" charset="0"/>
                          </a:rPr>
                        </m:ctrlPr>
                      </m:fPr>
                      <m:num>
                        <m:r>
                          <a:rPr lang="en-US" altLang="ko-KR" sz="2400" b="0" i="1" smtClean="0">
                            <a:solidFill>
                              <a:schemeClr val="tx1"/>
                            </a:solidFill>
                            <a:latin typeface="Cambria Math" panose="02040503050406030204" pitchFamily="18" charset="0"/>
                            <a:ea typeface="Cambria Math" panose="02040503050406030204" pitchFamily="18" charset="0"/>
                          </a:rPr>
                          <m:t>1</m:t>
                        </m:r>
                      </m:num>
                      <m:den>
                        <m:rad>
                          <m:radPr>
                            <m:degHide m:val="on"/>
                            <m:ctrlPr>
                              <a:rPr lang="en-US" altLang="ko-KR" sz="2400" b="0" i="1" smtClean="0">
                                <a:solidFill>
                                  <a:schemeClr val="tx1"/>
                                </a:solidFill>
                                <a:latin typeface="Cambria Math" panose="02040503050406030204" pitchFamily="18" charset="0"/>
                                <a:ea typeface="Cambria Math" panose="02040503050406030204" pitchFamily="18" charset="0"/>
                              </a:rPr>
                            </m:ctrlPr>
                          </m:radPr>
                          <m:deg/>
                          <m:e>
                            <m:r>
                              <a:rPr lang="en-US" altLang="ko-KR" sz="2400" b="0" i="1" smtClean="0">
                                <a:solidFill>
                                  <a:schemeClr val="tx1"/>
                                </a:solidFill>
                                <a:latin typeface="Cambria Math" panose="02040503050406030204" pitchFamily="18" charset="0"/>
                                <a:ea typeface="Cambria Math" panose="02040503050406030204" pitchFamily="18" charset="0"/>
                              </a:rPr>
                              <m:t>2</m:t>
                            </m:r>
                          </m:e>
                        </m:rad>
                      </m:den>
                    </m:f>
                    <m:d>
                      <m:dPr>
                        <m:ctrlPr>
                          <a:rPr lang="en-US" altLang="ko-KR" sz="2400"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ko-KR" sz="2400" i="1">
                                <a:solidFill>
                                  <a:schemeClr val="tx1"/>
                                </a:solidFill>
                                <a:latin typeface="Cambria Math" panose="02040503050406030204" pitchFamily="18" charset="0"/>
                                <a:ea typeface="Cambria Math" panose="02040503050406030204" pitchFamily="18" charset="0"/>
                              </a:rPr>
                            </m:ctrlPr>
                          </m:mPr>
                          <m:mr>
                            <m:e>
                              <m:r>
                                <m:rPr>
                                  <m:brk m:alnAt="7"/>
                                </m:rPr>
                                <a:rPr lang="en-US" altLang="ko-KR" sz="2400" b="0" i="1" smtClean="0">
                                  <a:solidFill>
                                    <a:schemeClr val="tx1"/>
                                  </a:solidFill>
                                  <a:latin typeface="Cambria Math" panose="02040503050406030204" pitchFamily="18" charset="0"/>
                                  <a:ea typeface="Cambria Math" panose="02040503050406030204" pitchFamily="18" charset="0"/>
                                </a:rPr>
                                <m:t>1</m:t>
                              </m:r>
                            </m:e>
                            <m:e>
                              <m:r>
                                <a:rPr lang="en-US" altLang="ko-KR" sz="2400" b="0" i="1" smtClean="0">
                                  <a:solidFill>
                                    <a:schemeClr val="tx1"/>
                                  </a:solidFill>
                                  <a:latin typeface="Cambria Math" panose="02040503050406030204" pitchFamily="18" charset="0"/>
                                  <a:ea typeface="Cambria Math" panose="02040503050406030204" pitchFamily="18" charset="0"/>
                                </a:rPr>
                                <m:t>1</m:t>
                              </m:r>
                            </m:e>
                          </m:mr>
                          <m:mr>
                            <m:e>
                              <m:r>
                                <a:rPr lang="en-US" altLang="ko-KR" sz="2400" b="0" i="1" smtClean="0">
                                  <a:solidFill>
                                    <a:schemeClr val="tx1"/>
                                  </a:solidFill>
                                  <a:latin typeface="Cambria Math" panose="02040503050406030204" pitchFamily="18" charset="0"/>
                                  <a:ea typeface="Cambria Math" panose="02040503050406030204" pitchFamily="18" charset="0"/>
                                </a:rPr>
                                <m:t>1</m:t>
                              </m:r>
                            </m:e>
                            <m:e>
                              <m:r>
                                <a:rPr lang="en-US" altLang="ko-KR" sz="2400" b="0" i="1" smtClean="0">
                                  <a:solidFill>
                                    <a:schemeClr val="tx1"/>
                                  </a:solidFill>
                                  <a:latin typeface="Cambria Math" panose="02040503050406030204" pitchFamily="18" charset="0"/>
                                  <a:ea typeface="Cambria Math" panose="02040503050406030204" pitchFamily="18" charset="0"/>
                                </a:rPr>
                                <m:t>−1</m:t>
                              </m:r>
                            </m:e>
                          </m:mr>
                        </m:m>
                      </m:e>
                    </m:d>
                  </m:oMath>
                </a14:m>
                <a:r>
                  <a:rPr lang="en-US" altLang="ko-KR" sz="2400" dirty="0" smtClean="0">
                    <a:solidFill>
                      <a:schemeClr val="tx1"/>
                    </a:solidFill>
                    <a:ea typeface="Cambria Math" panose="02040503050406030204" pitchFamily="18" charset="0"/>
                  </a:rPr>
                  <a:t> </a:t>
                </a:r>
              </a:p>
              <a:p>
                <a:pPr marL="0" indent="0">
                  <a:buNone/>
                </a:pPr>
                <a:endParaRPr lang="en-US" altLang="ko-KR" sz="2400" dirty="0" smtClean="0">
                  <a:ea typeface="Cambria Math" panose="02040503050406030204" pitchFamily="18" charset="0"/>
                </a:endParaRPr>
              </a:p>
              <a:p>
                <a:pPr marL="0" indent="0">
                  <a:buNone/>
                </a:pPr>
                <a14:m>
                  <m:oMath xmlns:m="http://schemas.openxmlformats.org/officeDocument/2006/math">
                    <m:r>
                      <a:rPr lang="en-US" altLang="ko-KR" sz="2400" b="0" i="1" smtClean="0">
                        <a:latin typeface="Cambria Math" panose="02040503050406030204" pitchFamily="18" charset="0"/>
                      </a:rPr>
                      <m:t>𝐻</m:t>
                    </m:r>
                    <m:r>
                      <a:rPr lang="en-US" altLang="ko-KR" sz="2400" i="1">
                        <a:latin typeface="Cambria Math" panose="02040503050406030204" pitchFamily="18" charset="0"/>
                      </a:rPr>
                      <m:t>(</m:t>
                    </m:r>
                    <m:r>
                      <a:rPr lang="en-US" altLang="ko-KR" sz="2400" i="1">
                        <a:latin typeface="Cambria Math" panose="02040503050406030204" pitchFamily="18" charset="0"/>
                      </a:rPr>
                      <m:t>𝛼</m:t>
                    </m:r>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0</m:t>
                        </m:r>
                      </m:e>
                    </m:d>
                    <m:r>
                      <a:rPr lang="en-US" altLang="ko-KR" sz="2400" i="1">
                        <a:latin typeface="Cambria Math" panose="02040503050406030204" pitchFamily="18" charset="0"/>
                      </a:rPr>
                      <m:t>+</m:t>
                    </m:r>
                    <m:r>
                      <a:rPr lang="en-US" altLang="ko-KR" sz="2400" i="1">
                        <a:latin typeface="Cambria Math" panose="02040503050406030204" pitchFamily="18" charset="0"/>
                      </a:rPr>
                      <m:t>𝛽</m:t>
                    </m:r>
                    <m:r>
                      <a:rPr lang="en-US" altLang="ko-KR" sz="2400" i="1">
                        <a:latin typeface="Cambria Math" panose="02040503050406030204" pitchFamily="18" charset="0"/>
                      </a:rPr>
                      <m:t>|1⟩)=</m:t>
                    </m:r>
                  </m:oMath>
                </a14:m>
                <a:r>
                  <a:rPr lang="en-CA" altLang="ko-KR" sz="2400" dirty="0" smtClean="0"/>
                  <a:t> ( do on board )</a:t>
                </a:r>
                <a:r>
                  <a:rPr lang="en-CA" altLang="ko-KR" sz="2400" dirty="0"/>
                  <a:t>	</a:t>
                </a:r>
                <a:endParaRPr lang="en-CA" altLang="ko-KR" sz="2400" dirty="0" smtClean="0"/>
              </a:p>
              <a:p>
                <a:pPr marL="0" indent="0">
                  <a:buNone/>
                </a:pPr>
                <a:endParaRPr lang="en-US" altLang="ko-KR" sz="2400" dirty="0" smtClean="0">
                  <a:ea typeface="Cambria Math" panose="02040503050406030204" pitchFamily="18" charset="0"/>
                </a:endParaRPr>
              </a:p>
              <a:p>
                <a:pPr marL="0" indent="0">
                  <a:buNone/>
                </a:pPr>
                <a:endParaRPr lang="en-US" altLang="ko-KR" sz="2400" dirty="0">
                  <a:ea typeface="Cambria Math" panose="02040503050406030204" pitchFamily="18" charset="0"/>
                </a:endParaRPr>
              </a:p>
              <a:p>
                <a:pPr marL="0" indent="0">
                  <a:buNone/>
                </a:pPr>
                <a14:m>
                  <m:oMath xmlns:m="http://schemas.openxmlformats.org/officeDocument/2006/math">
                    <m:r>
                      <a:rPr lang="en-US" altLang="ko-KR" sz="2400" b="0" i="1" smtClean="0">
                        <a:latin typeface="Cambria Math" panose="02040503050406030204" pitchFamily="18" charset="0"/>
                      </a:rPr>
                      <m:t>𝐻</m:t>
                    </m:r>
                    <m:d>
                      <m:dPr>
                        <m:endChr m:val="⟩"/>
                        <m:ctrlPr>
                          <a:rPr lang="en-US" altLang="ko-KR" sz="2400" b="0" i="1" smtClean="0">
                            <a:latin typeface="Cambria Math" panose="02040503050406030204" pitchFamily="18" charset="0"/>
                          </a:rPr>
                        </m:ctrlPr>
                      </m:dPr>
                      <m:e>
                        <m:func>
                          <m:funcPr>
                            <m:ctrlPr>
                              <a:rPr lang="en-US" altLang="ko-KR" sz="2400" b="0" i="1" smtClean="0">
                                <a:latin typeface="Cambria Math" panose="02040503050406030204" pitchFamily="18" charset="0"/>
                              </a:rPr>
                            </m:ctrlPr>
                          </m:funcPr>
                          <m:fName>
                            <m:r>
                              <m:rPr>
                                <m:sty m:val="p"/>
                              </m:rPr>
                              <a:rPr lang="en-US" altLang="ko-KR" sz="2400" b="0" i="0" smtClean="0">
                                <a:latin typeface="Cambria Math" panose="02040503050406030204" pitchFamily="18" charset="0"/>
                              </a:rPr>
                              <m:t>cos</m:t>
                            </m:r>
                          </m:fName>
                          <m:e>
                            <m:r>
                              <a:rPr lang="en-US" altLang="ko-KR" sz="2400" b="0" i="1" smtClean="0">
                                <a:latin typeface="Cambria Math" panose="02040503050406030204" pitchFamily="18" charset="0"/>
                              </a:rPr>
                              <m:t>𝜃</m:t>
                            </m:r>
                          </m:e>
                        </m:func>
                      </m:e>
                      <m:e>
                        <m:r>
                          <a:rPr lang="en-US" altLang="ko-KR" sz="2400" b="0" i="1" smtClean="0">
                            <a:latin typeface="Cambria Math" panose="02040503050406030204" pitchFamily="18" charset="0"/>
                          </a:rPr>
                          <m:t>0</m:t>
                        </m:r>
                      </m:e>
                    </m:d>
                    <m:r>
                      <a:rPr lang="en-US" altLang="ko-KR" sz="2400" b="0" i="1" smtClean="0">
                        <a:latin typeface="Cambria Math" panose="02040503050406030204" pitchFamily="18" charset="0"/>
                      </a:rPr>
                      <m:t>+</m:t>
                    </m:r>
                    <m:func>
                      <m:funcPr>
                        <m:ctrlPr>
                          <a:rPr lang="en-US" altLang="ko-KR" sz="2400" b="0" i="1" smtClean="0">
                            <a:latin typeface="Cambria Math" panose="02040503050406030204" pitchFamily="18" charset="0"/>
                          </a:rPr>
                        </m:ctrlPr>
                      </m:funcPr>
                      <m:fName>
                        <m:r>
                          <m:rPr>
                            <m:sty m:val="p"/>
                          </m:rPr>
                          <a:rPr lang="en-US" altLang="ko-KR" sz="2400" b="0" i="0" smtClean="0">
                            <a:latin typeface="Cambria Math" panose="02040503050406030204" pitchFamily="18" charset="0"/>
                          </a:rPr>
                          <m:t>sin</m:t>
                        </m:r>
                      </m:fName>
                      <m:e>
                        <m:r>
                          <a:rPr lang="en-US" altLang="ko-KR" sz="2400" b="0" i="1" smtClean="0">
                            <a:latin typeface="Cambria Math" panose="02040503050406030204" pitchFamily="18" charset="0"/>
                          </a:rPr>
                          <m:t>𝜃</m:t>
                        </m:r>
                      </m:e>
                    </m:func>
                    <m:r>
                      <a:rPr lang="en-US" altLang="ko-KR" sz="2400" b="0" i="1" smtClean="0">
                        <a:latin typeface="Cambria Math" panose="02040503050406030204" pitchFamily="18" charset="0"/>
                      </a:rPr>
                      <m:t>|1⟩)=</m:t>
                    </m:r>
                  </m:oMath>
                </a14:m>
                <a:r>
                  <a:rPr lang="en-US" altLang="ko-KR" sz="2400" dirty="0" smtClean="0">
                    <a:ea typeface="Cambria Math" panose="02040503050406030204" pitchFamily="18" charset="0"/>
                  </a:rPr>
                  <a:t> ( do on board )</a:t>
                </a:r>
              </a:p>
              <a:p>
                <a:pPr marL="0" indent="0">
                  <a:buNone/>
                </a:pPr>
                <a:endParaRPr lang="en-US" altLang="ko-KR" sz="2400" dirty="0">
                  <a:ea typeface="Cambria Math" panose="02040503050406030204" pitchFamily="18" charset="0"/>
                </a:endParaRPr>
              </a:p>
              <a:p>
                <a:pPr marL="0" indent="0">
                  <a:buNone/>
                </a:pPr>
                <a:r>
                  <a:rPr lang="en-US" altLang="ko-KR" sz="2400" dirty="0">
                    <a:ea typeface="Cambria Math" panose="02040503050406030204" pitchFamily="18" charset="0"/>
                  </a:rPr>
                  <a:t>( </a:t>
                </a:r>
                <a:r>
                  <a:rPr lang="en-US" altLang="ko-KR" sz="2400" dirty="0" smtClean="0">
                    <a:ea typeface="Cambria Math" panose="02040503050406030204" pitchFamily="18" charset="0"/>
                  </a:rPr>
                  <a:t>Geometry of </a:t>
                </a:r>
                <a14:m>
                  <m:oMath xmlns:m="http://schemas.openxmlformats.org/officeDocument/2006/math">
                    <m:r>
                      <a:rPr lang="en-US" altLang="ko-KR" sz="2400" b="0" i="1" smtClean="0">
                        <a:latin typeface="Cambria Math" panose="02040503050406030204" pitchFamily="18" charset="0"/>
                        <a:ea typeface="Cambria Math" panose="02040503050406030204" pitchFamily="18" charset="0"/>
                      </a:rPr>
                      <m:t>𝑋</m:t>
                    </m:r>
                  </m:oMath>
                </a14:m>
                <a:r>
                  <a:rPr lang="en-US" altLang="ko-KR" sz="2400" dirty="0" smtClean="0">
                    <a:ea typeface="Cambria Math" panose="02040503050406030204" pitchFamily="18" charset="0"/>
                  </a:rPr>
                  <a:t> and </a:t>
                </a:r>
                <a14:m>
                  <m:oMath xmlns:m="http://schemas.openxmlformats.org/officeDocument/2006/math">
                    <m:r>
                      <a:rPr lang="en-US" altLang="ko-KR" sz="2400" b="0" i="1" smtClean="0">
                        <a:latin typeface="Cambria Math" panose="02040503050406030204" pitchFamily="18" charset="0"/>
                        <a:ea typeface="Cambria Math" panose="02040503050406030204" pitchFamily="18" charset="0"/>
                      </a:rPr>
                      <m:t>𝑍</m:t>
                    </m:r>
                  </m:oMath>
                </a14:m>
                <a:r>
                  <a:rPr lang="en-US" altLang="ko-KR" sz="2400" dirty="0" smtClean="0">
                    <a:ea typeface="Cambria Math" panose="02040503050406030204" pitchFamily="18" charset="0"/>
                  </a:rPr>
                  <a:t> and </a:t>
                </a:r>
                <a14:m>
                  <m:oMath xmlns:m="http://schemas.openxmlformats.org/officeDocument/2006/math">
                    <m:r>
                      <a:rPr lang="en-US" altLang="ko-KR" sz="2400" i="1">
                        <a:latin typeface="Cambria Math" panose="02040503050406030204" pitchFamily="18" charset="0"/>
                        <a:ea typeface="Cambria Math" panose="02040503050406030204" pitchFamily="18" charset="0"/>
                      </a:rPr>
                      <m:t>𝑋</m:t>
                    </m:r>
                    <m:r>
                      <a:rPr lang="en-US" altLang="ko-KR" sz="2400" b="0" i="1" smtClean="0">
                        <a:latin typeface="Cambria Math" panose="02040503050406030204" pitchFamily="18" charset="0"/>
                        <a:ea typeface="Cambria Math" panose="02040503050406030204" pitchFamily="18" charset="0"/>
                      </a:rPr>
                      <m:t>=</m:t>
                    </m:r>
                    <m:r>
                      <a:rPr lang="en-US" altLang="ko-KR" sz="2400" b="0" i="1" smtClean="0">
                        <a:latin typeface="Cambria Math" panose="02040503050406030204" pitchFamily="18" charset="0"/>
                        <a:ea typeface="Cambria Math" panose="02040503050406030204" pitchFamily="18" charset="0"/>
                      </a:rPr>
                      <m:t>𝐻𝑍𝐻</m:t>
                    </m:r>
                  </m:oMath>
                </a14:m>
                <a:r>
                  <a:rPr lang="en-US" altLang="ko-KR" sz="2400" dirty="0" smtClean="0">
                    <a:ea typeface="Cambria Math" panose="02040503050406030204" pitchFamily="18" charset="0"/>
                  </a:rPr>
                  <a:t> do </a:t>
                </a:r>
                <a:r>
                  <a:rPr lang="en-US" altLang="ko-KR" sz="2400" dirty="0">
                    <a:ea typeface="Cambria Math" panose="02040503050406030204" pitchFamily="18" charset="0"/>
                  </a:rPr>
                  <a:t>on board )</a:t>
                </a: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928"/>
                </a:stretch>
              </a:blipFill>
            </p:spPr>
            <p:txBody>
              <a:bodyPr/>
              <a:lstStyle/>
              <a:p>
                <a:r>
                  <a:rPr lang="ko-KR" altLang="en-US">
                    <a:noFill/>
                  </a:rPr>
                  <a:t> </a:t>
                </a:r>
              </a:p>
            </p:txBody>
          </p:sp>
        </mc:Fallback>
      </mc:AlternateContent>
      <p:pic>
        <p:nvPicPr>
          <p:cNvPr id="4" name="그림 3"/>
          <p:cNvPicPr>
            <a:picLocks noChangeAspect="1"/>
          </p:cNvPicPr>
          <p:nvPr/>
        </p:nvPicPr>
        <p:blipFill>
          <a:blip r:embed="rId3"/>
          <a:stretch>
            <a:fillRect/>
          </a:stretch>
        </p:blipFill>
        <p:spPr>
          <a:xfrm>
            <a:off x="8408592" y="446808"/>
            <a:ext cx="3267531" cy="6211167"/>
          </a:xfrm>
          <a:prstGeom prst="rect">
            <a:avLst/>
          </a:prstGeom>
        </p:spPr>
      </p:pic>
      <mc:AlternateContent xmlns:mc="http://schemas.openxmlformats.org/markup-compatibility/2006" xmlns:a14="http://schemas.microsoft.com/office/drawing/2010/main">
        <mc:Choice Requires="a14">
          <p:sp>
            <p:nvSpPr>
              <p:cNvPr id="6" name="직사각형 5"/>
              <p:cNvSpPr/>
              <p:nvPr/>
            </p:nvSpPr>
            <p:spPr>
              <a:xfrm>
                <a:off x="1184412" y="4745964"/>
                <a:ext cx="289386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𝜓</m:t>
                              </m:r>
                            </m:e>
                            <m:sub>
                              <m:r>
                                <a:rPr lang="en-US" altLang="ko-KR" i="1">
                                  <a:latin typeface="Cambria Math" panose="02040503050406030204" pitchFamily="18" charset="0"/>
                                </a:rPr>
                                <m:t>𝜃</m:t>
                              </m:r>
                            </m:sub>
                          </m:sSub>
                        </m:e>
                      </m:d>
                      <m:r>
                        <a:rPr lang="en-US" altLang="ko-KR" i="1">
                          <a:latin typeface="Cambria Math" panose="02040503050406030204" pitchFamily="18" charset="0"/>
                        </a:rPr>
                        <m:t>=</m:t>
                      </m:r>
                      <m:func>
                        <m:funcPr>
                          <m:ctrlPr>
                            <a:rPr lang="en-US" altLang="ko-KR" i="1">
                              <a:latin typeface="Cambria Math" panose="02040503050406030204" pitchFamily="18" charset="0"/>
                            </a:rPr>
                          </m:ctrlPr>
                        </m:funcPr>
                        <m:fName>
                          <m:r>
                            <m:rPr>
                              <m:sty m:val="p"/>
                            </m:rPr>
                            <a:rPr lang="en-US" altLang="ko-KR">
                              <a:latin typeface="Cambria Math" panose="02040503050406030204" pitchFamily="18" charset="0"/>
                            </a:rPr>
                            <m:t>cos</m:t>
                          </m:r>
                        </m:fName>
                        <m:e>
                          <m:r>
                            <a:rPr lang="en-US" altLang="ko-KR" i="1">
                              <a:latin typeface="Cambria Math" panose="02040503050406030204" pitchFamily="18" charset="0"/>
                            </a:rPr>
                            <m:t>𝜃</m:t>
                          </m:r>
                        </m:e>
                      </m:func>
                      <m:d>
                        <m:dPr>
                          <m:begChr m:val="|"/>
                          <m:endChr m:val="⟩"/>
                          <m:ctrlPr>
                            <a:rPr lang="en-US" altLang="ko-KR" i="1">
                              <a:latin typeface="Cambria Math" panose="02040503050406030204" pitchFamily="18" charset="0"/>
                            </a:rPr>
                          </m:ctrlPr>
                        </m:dPr>
                        <m:e>
                          <m:r>
                            <a:rPr lang="en-US" altLang="ko-KR" i="1">
                              <a:latin typeface="Cambria Math" panose="02040503050406030204" pitchFamily="18" charset="0"/>
                            </a:rPr>
                            <m:t>0</m:t>
                          </m:r>
                        </m:e>
                      </m:d>
                      <m:r>
                        <a:rPr lang="en-US" altLang="ko-KR" i="1">
                          <a:latin typeface="Cambria Math" panose="02040503050406030204" pitchFamily="18" charset="0"/>
                        </a:rPr>
                        <m:t>+</m:t>
                      </m:r>
                      <m:func>
                        <m:funcPr>
                          <m:ctrlPr>
                            <a:rPr lang="en-US" altLang="ko-KR" i="1">
                              <a:latin typeface="Cambria Math" panose="02040503050406030204" pitchFamily="18" charset="0"/>
                            </a:rPr>
                          </m:ctrlPr>
                        </m:funcPr>
                        <m:fName>
                          <m:r>
                            <m:rPr>
                              <m:sty m:val="p"/>
                            </m:rPr>
                            <a:rPr lang="en-US" altLang="ko-KR">
                              <a:latin typeface="Cambria Math" panose="02040503050406030204" pitchFamily="18" charset="0"/>
                            </a:rPr>
                            <m:t>sin</m:t>
                          </m:r>
                        </m:fName>
                        <m:e>
                          <m:r>
                            <a:rPr lang="en-US" altLang="ko-KR" i="1">
                              <a:latin typeface="Cambria Math" panose="02040503050406030204" pitchFamily="18" charset="0"/>
                            </a:rPr>
                            <m:t>𝜃</m:t>
                          </m:r>
                        </m:e>
                      </m:func>
                      <m:r>
                        <a:rPr lang="en-US" altLang="ko-KR" i="1">
                          <a:latin typeface="Cambria Math" panose="02040503050406030204" pitchFamily="18" charset="0"/>
                        </a:rPr>
                        <m:t>|1⟩</m:t>
                      </m:r>
                    </m:oMath>
                  </m:oMathPara>
                </a14:m>
                <a:endParaRPr lang="ko-KR" altLang="en-US" dirty="0"/>
              </a:p>
            </p:txBody>
          </p:sp>
        </mc:Choice>
        <mc:Fallback xmlns="">
          <p:sp>
            <p:nvSpPr>
              <p:cNvPr id="6" name="직사각형 5"/>
              <p:cNvSpPr>
                <a:spLocks noRot="1" noChangeAspect="1" noMove="1" noResize="1" noEditPoints="1" noAdjustHandles="1" noChangeArrowheads="1" noChangeShapeType="1" noTextEdit="1"/>
              </p:cNvSpPr>
              <p:nvPr/>
            </p:nvSpPr>
            <p:spPr>
              <a:xfrm>
                <a:off x="1184412" y="4745964"/>
                <a:ext cx="2893869" cy="369332"/>
              </a:xfrm>
              <a:prstGeom prst="rect">
                <a:avLst/>
              </a:prstGeom>
              <a:blipFill>
                <a:blip r:embed="rId4"/>
                <a:stretch>
                  <a:fillRect b="-16667"/>
                </a:stretch>
              </a:blipFill>
            </p:spPr>
            <p:txBody>
              <a:bodyPr/>
              <a:lstStyle/>
              <a:p>
                <a:r>
                  <a:rPr lang="ko-KR" altLang="en-US">
                    <a:noFill/>
                  </a:rPr>
                  <a:t> </a:t>
                </a:r>
              </a:p>
            </p:txBody>
          </p:sp>
        </mc:Fallback>
      </mc:AlternateContent>
      <p:sp>
        <p:nvSpPr>
          <p:cNvPr id="18" name="위쪽/아래쪽 화살표 17"/>
          <p:cNvSpPr/>
          <p:nvPr/>
        </p:nvSpPr>
        <p:spPr>
          <a:xfrm rot="20031593">
            <a:off x="10289453" y="1659900"/>
            <a:ext cx="313764" cy="64478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9" name="직선 연결선 18"/>
          <p:cNvCxnSpPr/>
          <p:nvPr/>
        </p:nvCxnSpPr>
        <p:spPr>
          <a:xfrm flipV="1">
            <a:off x="8184776" y="1586754"/>
            <a:ext cx="3325906" cy="120127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950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Phase matters!</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US" sz="2400" dirty="0" smtClean="0"/>
                  <a:t>Takeaway: Minus signs in the amplitudes matter!</a:t>
                </a: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More precisely, relative phases </a:t>
                </a:r>
                <a14:m>
                  <m:oMath xmlns:m="http://schemas.openxmlformats.org/officeDocument/2006/math">
                    <m:sSup>
                      <m:sSupPr>
                        <m:ctrlPr>
                          <a:rPr lang="en-US" altLang="ko-KR" sz="2400" i="1">
                            <a:latin typeface="Cambria Math" panose="02040503050406030204" pitchFamily="18" charset="0"/>
                            <a:ea typeface="Cambria Math" panose="02040503050406030204" pitchFamily="18" charset="0"/>
                          </a:rPr>
                        </m:ctrlPr>
                      </m:sSupPr>
                      <m:e>
                        <m:r>
                          <a:rPr lang="en-US" altLang="ko-KR" sz="2400" i="1">
                            <a:latin typeface="Cambria Math" panose="02040503050406030204" pitchFamily="18" charset="0"/>
                            <a:ea typeface="Cambria Math" panose="02040503050406030204" pitchFamily="18" charset="0"/>
                          </a:rPr>
                          <m:t>𝑒</m:t>
                        </m:r>
                      </m:e>
                      <m:sup>
                        <m:r>
                          <a:rPr lang="en-US" altLang="ko-KR" sz="2400" i="1">
                            <a:latin typeface="Cambria Math" panose="02040503050406030204" pitchFamily="18" charset="0"/>
                            <a:ea typeface="Cambria Math" panose="02040503050406030204" pitchFamily="18" charset="0"/>
                          </a:rPr>
                          <m:t>𝑖</m:t>
                        </m:r>
                        <m:r>
                          <a:rPr lang="en-US" altLang="ko-KR" sz="2400" i="1">
                            <a:latin typeface="Cambria Math" panose="02040503050406030204" pitchFamily="18" charset="0"/>
                            <a:ea typeface="Cambria Math" panose="02040503050406030204" pitchFamily="18" charset="0"/>
                          </a:rPr>
                          <m:t>𝜃</m:t>
                        </m:r>
                      </m:sup>
                    </m:sSup>
                  </m:oMath>
                </a14:m>
                <a:r>
                  <a:rPr lang="en-US" altLang="ko-KR" sz="2400" dirty="0" smtClean="0">
                    <a:ea typeface="Cambria Math" panose="02040503050406030204" pitchFamily="18" charset="0"/>
                  </a:rPr>
                  <a:t> in </a:t>
                </a:r>
                <a14:m>
                  <m:oMath xmlns:m="http://schemas.openxmlformats.org/officeDocument/2006/math">
                    <m:r>
                      <a:rPr lang="en-US" altLang="ko-KR" sz="2400" b="0" i="1" smtClean="0">
                        <a:latin typeface="Cambria Math" panose="02040503050406030204" pitchFamily="18" charset="0"/>
                        <a:ea typeface="Cambria Math" panose="02040503050406030204" pitchFamily="18" charset="0"/>
                      </a:rPr>
                      <m:t>𝛼</m:t>
                    </m:r>
                    <m:d>
                      <m:dPr>
                        <m:begChr m:val="|"/>
                        <m:endChr m:val="⟩"/>
                        <m:ctrlPr>
                          <a:rPr lang="en-US" altLang="ko-KR" sz="2400" b="0" i="1" smtClean="0">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0</m:t>
                        </m:r>
                      </m:e>
                    </m:d>
                    <m:r>
                      <a:rPr lang="en-US" altLang="ko-KR" sz="2400" b="0" i="1" smtClean="0">
                        <a:latin typeface="Cambria Math" panose="02040503050406030204" pitchFamily="18" charset="0"/>
                        <a:ea typeface="Cambria Math" panose="02040503050406030204" pitchFamily="18" charset="0"/>
                      </a:rPr>
                      <m:t>+</m:t>
                    </m:r>
                    <m:sSup>
                      <m:sSupPr>
                        <m:ctrlPr>
                          <a:rPr lang="en-US" altLang="ko-KR" sz="2400" b="0" i="1" smtClean="0">
                            <a:latin typeface="Cambria Math" panose="02040503050406030204" pitchFamily="18" charset="0"/>
                            <a:ea typeface="Cambria Math" panose="02040503050406030204" pitchFamily="18" charset="0"/>
                          </a:rPr>
                        </m:ctrlPr>
                      </m:sSupPr>
                      <m:e>
                        <m:r>
                          <a:rPr lang="en-US" altLang="ko-KR" sz="2400" b="0" i="1" smtClean="0">
                            <a:latin typeface="Cambria Math" panose="02040503050406030204" pitchFamily="18" charset="0"/>
                            <a:ea typeface="Cambria Math" panose="02040503050406030204" pitchFamily="18" charset="0"/>
                          </a:rPr>
                          <m:t>𝑒</m:t>
                        </m:r>
                      </m:e>
                      <m:sup>
                        <m:r>
                          <a:rPr lang="en-US" altLang="ko-KR" sz="2400" b="0" i="1" smtClean="0">
                            <a:latin typeface="Cambria Math" panose="02040503050406030204" pitchFamily="18" charset="0"/>
                            <a:ea typeface="Cambria Math" panose="02040503050406030204" pitchFamily="18" charset="0"/>
                          </a:rPr>
                          <m:t>𝑖</m:t>
                        </m:r>
                        <m:r>
                          <a:rPr lang="en-US" altLang="ko-KR" sz="2400" b="0" i="1" smtClean="0">
                            <a:latin typeface="Cambria Math" panose="02040503050406030204" pitchFamily="18" charset="0"/>
                            <a:ea typeface="Cambria Math" panose="02040503050406030204" pitchFamily="18" charset="0"/>
                          </a:rPr>
                          <m:t>𝜃</m:t>
                        </m:r>
                      </m:sup>
                    </m:sSup>
                    <m:r>
                      <a:rPr lang="en-US" altLang="ko-KR" sz="2400" b="0" i="1" smtClean="0">
                        <a:latin typeface="Cambria Math" panose="02040503050406030204" pitchFamily="18" charset="0"/>
                        <a:ea typeface="Cambria Math" panose="02040503050406030204" pitchFamily="18" charset="0"/>
                      </a:rPr>
                      <m:t>𝛽</m:t>
                    </m:r>
                    <m:r>
                      <a:rPr lang="en-US" altLang="ko-KR" sz="2400" b="0" i="1" smtClean="0">
                        <a:latin typeface="Cambria Math" panose="02040503050406030204" pitchFamily="18" charset="0"/>
                        <a:ea typeface="Cambria Math" panose="02040503050406030204" pitchFamily="18" charset="0"/>
                      </a:rPr>
                      <m:t>|1⟩</m:t>
                    </m:r>
                  </m:oMath>
                </a14:m>
                <a:r>
                  <a:rPr lang="en-US" altLang="ko-KR" sz="2400" dirty="0" smtClean="0">
                    <a:ea typeface="Cambria Math" panose="02040503050406030204" pitchFamily="18" charset="0"/>
                  </a:rPr>
                  <a:t> matter.</a:t>
                </a:r>
              </a:p>
              <a:p>
                <a:pPr marL="0" indent="0">
                  <a:buNone/>
                </a:pPr>
                <a:endParaRPr lang="en-US" altLang="ko-KR" sz="2400" dirty="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On the other hand, the global phases </a:t>
                </a:r>
                <a14:m>
                  <m:oMath xmlns:m="http://schemas.openxmlformats.org/officeDocument/2006/math">
                    <m:sSup>
                      <m:sSupPr>
                        <m:ctrlPr>
                          <a:rPr lang="en-US" altLang="ko-KR" sz="2400" i="1">
                            <a:latin typeface="Cambria Math" panose="02040503050406030204" pitchFamily="18" charset="0"/>
                            <a:ea typeface="Cambria Math" panose="02040503050406030204" pitchFamily="18" charset="0"/>
                          </a:rPr>
                        </m:ctrlPr>
                      </m:sSupPr>
                      <m:e>
                        <m:r>
                          <a:rPr lang="en-US" altLang="ko-KR" sz="2400" i="1">
                            <a:latin typeface="Cambria Math" panose="02040503050406030204" pitchFamily="18" charset="0"/>
                            <a:ea typeface="Cambria Math" panose="02040503050406030204" pitchFamily="18" charset="0"/>
                          </a:rPr>
                          <m:t>𝑒</m:t>
                        </m:r>
                      </m:e>
                      <m:sup>
                        <m:r>
                          <a:rPr lang="en-US" altLang="ko-KR" sz="2400" i="1">
                            <a:latin typeface="Cambria Math" panose="02040503050406030204" pitchFamily="18" charset="0"/>
                            <a:ea typeface="Cambria Math" panose="02040503050406030204" pitchFamily="18" charset="0"/>
                          </a:rPr>
                          <m:t>𝑖</m:t>
                        </m:r>
                        <m:r>
                          <a:rPr lang="en-US" altLang="ko-KR" sz="2400" i="1">
                            <a:latin typeface="Cambria Math" panose="02040503050406030204" pitchFamily="18" charset="0"/>
                            <a:ea typeface="Cambria Math" panose="02040503050406030204" pitchFamily="18" charset="0"/>
                          </a:rPr>
                          <m:t>𝜃</m:t>
                        </m:r>
                      </m:sup>
                    </m:sSup>
                    <m:r>
                      <a:rPr lang="en-US" altLang="ko-KR" sz="2400" b="0" i="1" smtClean="0">
                        <a:latin typeface="Cambria Math" panose="02040503050406030204" pitchFamily="18" charset="0"/>
                        <a:ea typeface="Cambria Math" panose="02040503050406030204" pitchFamily="18" charset="0"/>
                      </a:rPr>
                      <m:t>(</m:t>
                    </m:r>
                    <m:r>
                      <a:rPr lang="en-US" altLang="ko-KR" sz="2400" i="1">
                        <a:latin typeface="Cambria Math" panose="02040503050406030204" pitchFamily="18" charset="0"/>
                        <a:ea typeface="Cambria Math" panose="02040503050406030204" pitchFamily="18" charset="0"/>
                      </a:rPr>
                      <m:t>𝛼</m:t>
                    </m:r>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r>
                      <a:rPr lang="en-US" altLang="ko-KR" sz="2400" i="1">
                        <a:latin typeface="Cambria Math" panose="02040503050406030204" pitchFamily="18" charset="0"/>
                        <a:ea typeface="Cambria Math" panose="02040503050406030204" pitchFamily="18" charset="0"/>
                      </a:rPr>
                      <m:t>+</m:t>
                    </m:r>
                    <m:r>
                      <a:rPr lang="en-US" altLang="ko-KR" sz="2400" i="1">
                        <a:latin typeface="Cambria Math" panose="02040503050406030204" pitchFamily="18" charset="0"/>
                        <a:ea typeface="Cambria Math" panose="02040503050406030204" pitchFamily="18" charset="0"/>
                      </a:rPr>
                      <m:t>𝛽</m:t>
                    </m:r>
                    <m:r>
                      <a:rPr lang="en-US" altLang="ko-KR" sz="2400" i="1">
                        <a:latin typeface="Cambria Math" panose="02040503050406030204" pitchFamily="18" charset="0"/>
                        <a:ea typeface="Cambria Math" panose="02040503050406030204" pitchFamily="18" charset="0"/>
                      </a:rPr>
                      <m:t>|1⟩)</m:t>
                    </m:r>
                  </m:oMath>
                </a14:m>
                <a:r>
                  <a:rPr lang="en-US" altLang="ko-KR" sz="2400" dirty="0" smtClean="0">
                    <a:ea typeface="Cambria Math" panose="02040503050406030204" pitchFamily="18" charset="0"/>
                  </a:rPr>
                  <a:t> don’t matter.</a:t>
                </a:r>
              </a:p>
              <a:p>
                <a:pPr marL="0" indent="0">
                  <a:buNone/>
                </a:pPr>
                <a:r>
                  <a:rPr lang="en-US" altLang="ko-KR" sz="2400" dirty="0" smtClean="0">
                    <a:ea typeface="Cambria Math" panose="02040503050406030204" pitchFamily="18" charset="0"/>
                  </a:rPr>
                  <a:t>We can prove this formally.</a:t>
                </a:r>
                <a:endParaRPr lang="en-US" altLang="ko-KR" sz="24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928" t="-1765"/>
                </a:stretch>
              </a:blipFill>
            </p:spPr>
            <p:txBody>
              <a:bodyPr/>
              <a:lstStyle/>
              <a:p>
                <a:r>
                  <a:rPr lang="ko-KR" altLang="en-US">
                    <a:noFill/>
                  </a:rPr>
                  <a:t> </a:t>
                </a:r>
              </a:p>
            </p:txBody>
          </p:sp>
        </mc:Fallback>
      </mc:AlternateContent>
      <p:sp>
        <p:nvSpPr>
          <p:cNvPr id="4" name="직사각형 3"/>
          <p:cNvSpPr/>
          <p:nvPr/>
        </p:nvSpPr>
        <p:spPr>
          <a:xfrm>
            <a:off x="4900274" y="5006348"/>
            <a:ext cx="1023456" cy="42993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Slightly advanced</a:t>
            </a:r>
            <a:endParaRPr lang="ko-KR" altLang="en-US" sz="1400" dirty="0"/>
          </a:p>
        </p:txBody>
      </p:sp>
    </p:spTree>
    <p:extLst>
      <p:ext uri="{BB962C8B-B14F-4D97-AF65-F5344CB8AC3E}">
        <p14:creationId xmlns:p14="http://schemas.microsoft.com/office/powerpoint/2010/main" val="2049488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Examples</a:t>
            </a:r>
            <a:endParaRPr lang="ko-KR" altLang="en-US" dirty="0"/>
          </a:p>
        </p:txBody>
      </p:sp>
      <p:sp>
        <p:nvSpPr>
          <p:cNvPr id="3" name="내용 개체 틀 2"/>
          <p:cNvSpPr>
            <a:spLocks noGrp="1"/>
          </p:cNvSpPr>
          <p:nvPr>
            <p:ph idx="1"/>
          </p:nvPr>
        </p:nvSpPr>
        <p:spPr/>
        <p:txBody>
          <a:bodyPr>
            <a:normAutofit/>
          </a:bodyPr>
          <a:lstStyle/>
          <a:p>
            <a:r>
              <a:rPr lang="en-US" altLang="ko-KR" dirty="0" smtClean="0"/>
              <a:t>Quantum random number generators</a:t>
            </a:r>
          </a:p>
          <a:p>
            <a:endParaRPr lang="en-US" altLang="ko-KR" b="1" dirty="0" smtClean="0"/>
          </a:p>
          <a:p>
            <a:r>
              <a:rPr lang="en-US" altLang="ko-KR" dirty="0" smtClean="0"/>
              <a:t>Example about phases</a:t>
            </a:r>
          </a:p>
          <a:p>
            <a:endParaRPr lang="en-US" altLang="ko-KR" dirty="0"/>
          </a:p>
          <a:p>
            <a:r>
              <a:rPr lang="en-US" altLang="ko-KR" b="1" dirty="0" smtClean="0"/>
              <a:t>Example about a single intermediate measurement</a:t>
            </a:r>
          </a:p>
          <a:p>
            <a:endParaRPr lang="en-US" altLang="ko-KR" dirty="0"/>
          </a:p>
          <a:p>
            <a:r>
              <a:rPr lang="en-US" altLang="ko-KR" dirty="0" smtClean="0"/>
              <a:t>Example about many measurements</a:t>
            </a:r>
          </a:p>
        </p:txBody>
      </p:sp>
    </p:spTree>
    <p:extLst>
      <p:ext uri="{BB962C8B-B14F-4D97-AF65-F5344CB8AC3E}">
        <p14:creationId xmlns:p14="http://schemas.microsoft.com/office/powerpoint/2010/main" val="204591021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Example: Measurement matters</a:t>
            </a:r>
            <a:endParaRPr lang="en-US" sz="4000" dirty="0"/>
          </a:p>
        </p:txBody>
      </p:sp>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US" altLang="ko-KR" sz="2400" dirty="0" smtClean="0">
                <a:ea typeface="Cambria Math" panose="02040503050406030204" pitchFamily="18" charset="0"/>
              </a:rPr>
              <a:t>Consider the following two circuits:</a:t>
            </a:r>
          </a:p>
          <a:p>
            <a:pPr marL="0" indent="0">
              <a:buNone/>
            </a:pPr>
            <a:endParaRPr lang="en-US" altLang="ko-KR" sz="2400" dirty="0">
              <a:ea typeface="Cambria Math" panose="02040503050406030204" pitchFamily="18" charset="0"/>
            </a:endParaRPr>
          </a:p>
          <a:p>
            <a:r>
              <a:rPr lang="en-US" altLang="ko-KR" sz="2400" dirty="0" smtClean="0">
                <a:ea typeface="Cambria Math" panose="02040503050406030204" pitchFamily="18" charset="0"/>
              </a:rPr>
              <a:t>Experiment A:</a:t>
            </a:r>
          </a:p>
          <a:p>
            <a:endParaRPr lang="en-US" altLang="ko-KR" sz="2400" dirty="0">
              <a:ea typeface="Cambria Math" panose="02040503050406030204" pitchFamily="18" charset="0"/>
            </a:endParaRPr>
          </a:p>
          <a:p>
            <a:endParaRPr lang="en-US" altLang="ko-KR" sz="2400" dirty="0" smtClean="0">
              <a:ea typeface="Cambria Math" panose="02040503050406030204" pitchFamily="18" charset="0"/>
            </a:endParaRPr>
          </a:p>
          <a:p>
            <a:endParaRPr lang="en-US" altLang="ko-KR" sz="2400" dirty="0">
              <a:ea typeface="Cambria Math" panose="02040503050406030204" pitchFamily="18" charset="0"/>
            </a:endParaRPr>
          </a:p>
          <a:p>
            <a:endParaRPr lang="en-US" altLang="ko-KR" sz="2400" dirty="0" smtClean="0">
              <a:ea typeface="Cambria Math" panose="02040503050406030204" pitchFamily="18" charset="0"/>
            </a:endParaRPr>
          </a:p>
          <a:p>
            <a:r>
              <a:rPr lang="en-US" altLang="ko-KR" sz="2400" dirty="0" smtClean="0">
                <a:ea typeface="Cambria Math" panose="02040503050406030204" pitchFamily="18" charset="0"/>
              </a:rPr>
              <a:t>Experiment B:</a:t>
            </a:r>
          </a:p>
        </p:txBody>
      </p:sp>
      <p:cxnSp>
        <p:nvCxnSpPr>
          <p:cNvPr id="5" name="Straight Connector 3">
            <a:extLst>
              <a:ext uri="{FF2B5EF4-FFF2-40B4-BE49-F238E27FC236}">
                <a16:creationId xmlns:a16="http://schemas.microsoft.com/office/drawing/2014/main" id="{B91E78E4-542E-3BF9-60EB-0A75C5E77BF2}"/>
              </a:ext>
            </a:extLst>
          </p:cNvPr>
          <p:cNvCxnSpPr>
            <a:cxnSpLocks/>
          </p:cNvCxnSpPr>
          <p:nvPr/>
        </p:nvCxnSpPr>
        <p:spPr>
          <a:xfrm>
            <a:off x="4029126" y="3861924"/>
            <a:ext cx="4713818"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Rectangle 8">
                <a:extLst>
                  <a:ext uri="{FF2B5EF4-FFF2-40B4-BE49-F238E27FC236}">
                    <a16:creationId xmlns:a16="http://schemas.microsoft.com/office/drawing/2014/main" id="{94EE92FC-DB34-FB95-BD1E-9664133A05EE}"/>
                  </a:ext>
                </a:extLst>
              </p:cNvPr>
              <p:cNvSpPr/>
              <p:nvPr/>
            </p:nvSpPr>
            <p:spPr>
              <a:xfrm>
                <a:off x="3425359" y="3613090"/>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6"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3425359" y="3613090"/>
                <a:ext cx="671594" cy="461665"/>
              </a:xfrm>
              <a:prstGeom prst="rect">
                <a:avLst/>
              </a:prstGeom>
              <a:blipFill>
                <a:blip r:embed="rId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직사각형 6"/>
              <p:cNvSpPr/>
              <p:nvPr/>
            </p:nvSpPr>
            <p:spPr>
              <a:xfrm>
                <a:off x="4684297" y="3629132"/>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7" name="직사각형 6"/>
              <p:cNvSpPr>
                <a:spLocks noRot="1" noChangeAspect="1" noMove="1" noResize="1" noEditPoints="1" noAdjustHandles="1" noChangeArrowheads="1" noChangeShapeType="1" noTextEdit="1"/>
              </p:cNvSpPr>
              <p:nvPr/>
            </p:nvSpPr>
            <p:spPr>
              <a:xfrm>
                <a:off x="4684297" y="3629132"/>
                <a:ext cx="461665" cy="461665"/>
              </a:xfrm>
              <a:prstGeom prst="rect">
                <a:avLst/>
              </a:prstGeom>
              <a:blipFill>
                <a:blip r:embed="rId3"/>
                <a:stretch>
                  <a:fillRect/>
                </a:stretch>
              </a:blipFill>
              <a:ln>
                <a:solidFill>
                  <a:schemeClr val="tx1"/>
                </a:solidFill>
              </a:ln>
            </p:spPr>
            <p:txBody>
              <a:bodyPr/>
              <a:lstStyle/>
              <a:p>
                <a:r>
                  <a:rPr lang="ko-KR" altLang="en-US">
                    <a:noFill/>
                  </a:rPr>
                  <a:t> </a:t>
                </a:r>
              </a:p>
            </p:txBody>
          </p:sp>
        </mc:Fallback>
      </mc:AlternateContent>
      <p:pic>
        <p:nvPicPr>
          <p:cNvPr id="8" name="그림 7"/>
          <p:cNvPicPr>
            <a:picLocks noChangeAspect="1"/>
          </p:cNvPicPr>
          <p:nvPr/>
        </p:nvPicPr>
        <p:blipFill>
          <a:blip r:embed="rId4"/>
          <a:stretch>
            <a:fillRect/>
          </a:stretch>
        </p:blipFill>
        <p:spPr>
          <a:xfrm>
            <a:off x="5824982" y="3640950"/>
            <a:ext cx="571580" cy="447737"/>
          </a:xfrm>
          <a:prstGeom prst="rect">
            <a:avLst/>
          </a:prstGeom>
        </p:spPr>
      </p:pic>
      <mc:AlternateContent xmlns:mc="http://schemas.openxmlformats.org/markup-compatibility/2006" xmlns:a14="http://schemas.microsoft.com/office/drawing/2010/main">
        <mc:Choice Requires="a14">
          <p:sp>
            <p:nvSpPr>
              <p:cNvPr id="10" name="직사각형 9"/>
              <p:cNvSpPr/>
              <p:nvPr/>
            </p:nvSpPr>
            <p:spPr>
              <a:xfrm>
                <a:off x="7127014" y="3601272"/>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0" name="직사각형 9"/>
              <p:cNvSpPr>
                <a:spLocks noRot="1" noChangeAspect="1" noMove="1" noResize="1" noEditPoints="1" noAdjustHandles="1" noChangeArrowheads="1" noChangeShapeType="1" noTextEdit="1"/>
              </p:cNvSpPr>
              <p:nvPr/>
            </p:nvSpPr>
            <p:spPr>
              <a:xfrm>
                <a:off x="7127014" y="3601272"/>
                <a:ext cx="461665" cy="461665"/>
              </a:xfrm>
              <a:prstGeom prst="rect">
                <a:avLst/>
              </a:prstGeom>
              <a:blipFill>
                <a:blip r:embed="rId5"/>
                <a:stretch>
                  <a:fillRect l="-1282"/>
                </a:stretch>
              </a:blipFill>
              <a:ln>
                <a:solidFill>
                  <a:schemeClr val="tx1"/>
                </a:solidFill>
              </a:ln>
            </p:spPr>
            <p:txBody>
              <a:bodyPr/>
              <a:lstStyle/>
              <a:p>
                <a:r>
                  <a:rPr lang="ko-KR" altLang="en-US">
                    <a:noFill/>
                  </a:rPr>
                  <a:t> </a:t>
                </a:r>
              </a:p>
            </p:txBody>
          </p:sp>
        </mc:Fallback>
      </mc:AlternateContent>
      <p:pic>
        <p:nvPicPr>
          <p:cNvPr id="11" name="그림 10"/>
          <p:cNvPicPr>
            <a:picLocks noChangeAspect="1"/>
          </p:cNvPicPr>
          <p:nvPr/>
        </p:nvPicPr>
        <p:blipFill>
          <a:blip r:embed="rId4"/>
          <a:stretch>
            <a:fillRect/>
          </a:stretch>
        </p:blipFill>
        <p:spPr>
          <a:xfrm>
            <a:off x="8267699" y="3613090"/>
            <a:ext cx="571580" cy="447737"/>
          </a:xfrm>
          <a:prstGeom prst="rect">
            <a:avLst/>
          </a:prstGeom>
        </p:spPr>
      </p:pic>
      <p:cxnSp>
        <p:nvCxnSpPr>
          <p:cNvPr id="12" name="Straight Connector 3">
            <a:extLst>
              <a:ext uri="{FF2B5EF4-FFF2-40B4-BE49-F238E27FC236}">
                <a16:creationId xmlns:a16="http://schemas.microsoft.com/office/drawing/2014/main" id="{B91E78E4-542E-3BF9-60EB-0A75C5E77BF2}"/>
              </a:ext>
            </a:extLst>
          </p:cNvPr>
          <p:cNvCxnSpPr>
            <a:cxnSpLocks/>
          </p:cNvCxnSpPr>
          <p:nvPr/>
        </p:nvCxnSpPr>
        <p:spPr>
          <a:xfrm>
            <a:off x="4029126" y="5835689"/>
            <a:ext cx="4713818"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Rectangle 8">
                <a:extLst>
                  <a:ext uri="{FF2B5EF4-FFF2-40B4-BE49-F238E27FC236}">
                    <a16:creationId xmlns:a16="http://schemas.microsoft.com/office/drawing/2014/main" id="{94EE92FC-DB34-FB95-BD1E-9664133A05EE}"/>
                  </a:ext>
                </a:extLst>
              </p:cNvPr>
              <p:cNvSpPr/>
              <p:nvPr/>
            </p:nvSpPr>
            <p:spPr>
              <a:xfrm>
                <a:off x="3425359" y="5586855"/>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13"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3425359" y="5586855"/>
                <a:ext cx="671594" cy="461665"/>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직사각형 13"/>
              <p:cNvSpPr/>
              <p:nvPr/>
            </p:nvSpPr>
            <p:spPr>
              <a:xfrm>
                <a:off x="4684297" y="5602897"/>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4" name="직사각형 13"/>
              <p:cNvSpPr>
                <a:spLocks noRot="1" noChangeAspect="1" noMove="1" noResize="1" noEditPoints="1" noAdjustHandles="1" noChangeArrowheads="1" noChangeShapeType="1" noTextEdit="1"/>
              </p:cNvSpPr>
              <p:nvPr/>
            </p:nvSpPr>
            <p:spPr>
              <a:xfrm>
                <a:off x="4684297" y="5602897"/>
                <a:ext cx="461665" cy="461665"/>
              </a:xfrm>
              <a:prstGeom prst="rect">
                <a:avLst/>
              </a:prstGeom>
              <a:blipFill>
                <a:blip r:embed="rId7"/>
                <a:stretch>
                  <a:fillRect/>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직사각형 15"/>
              <p:cNvSpPr/>
              <p:nvPr/>
            </p:nvSpPr>
            <p:spPr>
              <a:xfrm>
                <a:off x="7127014" y="5575037"/>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6" name="직사각형 15"/>
              <p:cNvSpPr>
                <a:spLocks noRot="1" noChangeAspect="1" noMove="1" noResize="1" noEditPoints="1" noAdjustHandles="1" noChangeArrowheads="1" noChangeShapeType="1" noTextEdit="1"/>
              </p:cNvSpPr>
              <p:nvPr/>
            </p:nvSpPr>
            <p:spPr>
              <a:xfrm>
                <a:off x="7127014" y="5575037"/>
                <a:ext cx="461665" cy="461665"/>
              </a:xfrm>
              <a:prstGeom prst="rect">
                <a:avLst/>
              </a:prstGeom>
              <a:blipFill>
                <a:blip r:embed="rId8"/>
                <a:stretch>
                  <a:fillRect l="-1282"/>
                </a:stretch>
              </a:blipFill>
              <a:ln>
                <a:solidFill>
                  <a:schemeClr val="tx1"/>
                </a:solidFill>
              </a:ln>
            </p:spPr>
            <p:txBody>
              <a:bodyPr/>
              <a:lstStyle/>
              <a:p>
                <a:r>
                  <a:rPr lang="ko-KR" altLang="en-US">
                    <a:noFill/>
                  </a:rPr>
                  <a:t> </a:t>
                </a:r>
              </a:p>
            </p:txBody>
          </p:sp>
        </mc:Fallback>
      </mc:AlternateContent>
      <p:pic>
        <p:nvPicPr>
          <p:cNvPr id="17" name="그림 16"/>
          <p:cNvPicPr>
            <a:picLocks noChangeAspect="1"/>
          </p:cNvPicPr>
          <p:nvPr/>
        </p:nvPicPr>
        <p:blipFill>
          <a:blip r:embed="rId4"/>
          <a:stretch>
            <a:fillRect/>
          </a:stretch>
        </p:blipFill>
        <p:spPr>
          <a:xfrm>
            <a:off x="8267699" y="5586855"/>
            <a:ext cx="571580" cy="447737"/>
          </a:xfrm>
          <a:prstGeom prst="rect">
            <a:avLst/>
          </a:prstGeom>
        </p:spPr>
      </p:pic>
    </p:spTree>
    <p:extLst>
      <p:ext uri="{BB962C8B-B14F-4D97-AF65-F5344CB8AC3E}">
        <p14:creationId xmlns:p14="http://schemas.microsoft.com/office/powerpoint/2010/main" val="4078803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0" grpId="0" animBg="1"/>
      <p:bldP spid="13" grpId="0"/>
      <p:bldP spid="14" grpId="0" animBg="1"/>
      <p:bldP spid="1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Example: Measurement matters</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r>
                  <a:rPr lang="en-US" altLang="ko-KR" sz="2400" dirty="0" smtClean="0">
                    <a:ea typeface="Cambria Math" panose="02040503050406030204" pitchFamily="18" charset="0"/>
                  </a:rPr>
                  <a:t>Experiment A:</a:t>
                </a:r>
              </a:p>
              <a:p>
                <a:endParaRPr lang="en-US" altLang="ko-KR" sz="2400" dirty="0">
                  <a:ea typeface="Cambria Math" panose="02040503050406030204" pitchFamily="18" charset="0"/>
                </a:endParaRPr>
              </a:p>
              <a:p>
                <a:endParaRPr lang="en-US" altLang="ko-KR" sz="2400" dirty="0" smtClean="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r>
                  <a:rPr lang="en-US" altLang="ko-KR" sz="2400" dirty="0" smtClean="0">
                    <a:ea typeface="Cambria Math" panose="02040503050406030204" pitchFamily="18" charset="0"/>
                  </a:rPr>
                  <a:t>Circuit analysis (on board)</a:t>
                </a:r>
              </a:p>
              <a:p>
                <a:pPr marL="0" indent="0">
                  <a:buNone/>
                </a:pPr>
                <a:r>
                  <a:rPr lang="en-US" altLang="ko-KR" sz="2400" dirty="0" smtClean="0">
                    <a:ea typeface="Cambria Math" panose="02040503050406030204" pitchFamily="18" charset="0"/>
                  </a:rPr>
                  <a:t>Final distribution of outcomes: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oMath>
                </a14:m>
                <a:r>
                  <a:rPr lang="en-US" altLang="ko-KR" sz="2400" dirty="0" smtClean="0">
                    <a:ea typeface="Cambria Math" panose="02040503050406030204" pitchFamily="18" charset="0"/>
                  </a:rPr>
                  <a:t> and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b="0" i="1" smtClean="0">
                            <a:latin typeface="Cambria Math" panose="02040503050406030204" pitchFamily="18" charset="0"/>
                            <a:ea typeface="Cambria Math" panose="02040503050406030204" pitchFamily="18" charset="0"/>
                          </a:rPr>
                          <m:t>1</m:t>
                        </m:r>
                      </m:e>
                    </m:d>
                  </m:oMath>
                </a14:m>
                <a:r>
                  <a:rPr lang="en-US" altLang="ko-KR" sz="2400" dirty="0" smtClean="0">
                    <a:ea typeface="Cambria Math" panose="02040503050406030204" pitchFamily="18" charset="0"/>
                  </a:rPr>
                  <a:t> with equal probability</a:t>
                </a:r>
                <a:endParaRPr lang="en-US" altLang="ko-KR" sz="2400" dirty="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r>
                  <a:rPr lang="en-US" altLang="ko-KR" sz="2000" dirty="0" smtClean="0">
                    <a:ea typeface="Cambria Math" panose="02040503050406030204" pitchFamily="18" charset="0"/>
                  </a:rPr>
                  <a:t>Quick (wrong) conclusion: “</a:t>
                </a:r>
                <a:r>
                  <a:rPr lang="en-US" altLang="ko-KR" sz="2000" dirty="0" err="1" smtClean="0">
                    <a:ea typeface="Cambria Math" panose="02040503050406030204" pitchFamily="18" charset="0"/>
                  </a:rPr>
                  <a:t>Hardmard</a:t>
                </a:r>
                <a:r>
                  <a:rPr lang="en-US" altLang="ko-KR" sz="2000" dirty="0" smtClean="0">
                    <a:ea typeface="Cambria Math" panose="02040503050406030204" pitchFamily="18" charset="0"/>
                  </a:rPr>
                  <a:t> gate just creates a random classical bit”</a:t>
                </a:r>
                <a:endParaRPr lang="en-US" altLang="ko-KR" sz="20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928" t="-1765"/>
                </a:stretch>
              </a:blipFill>
            </p:spPr>
            <p:txBody>
              <a:bodyPr/>
              <a:lstStyle/>
              <a:p>
                <a:r>
                  <a:rPr lang="ko-KR" altLang="en-US">
                    <a:noFill/>
                  </a:rPr>
                  <a:t> </a:t>
                </a:r>
              </a:p>
            </p:txBody>
          </p:sp>
        </mc:Fallback>
      </mc:AlternateContent>
      <p:cxnSp>
        <p:nvCxnSpPr>
          <p:cNvPr id="5" name="Straight Connector 3">
            <a:extLst>
              <a:ext uri="{FF2B5EF4-FFF2-40B4-BE49-F238E27FC236}">
                <a16:creationId xmlns:a16="http://schemas.microsoft.com/office/drawing/2014/main" id="{B91E78E4-542E-3BF9-60EB-0A75C5E77BF2}"/>
              </a:ext>
            </a:extLst>
          </p:cNvPr>
          <p:cNvCxnSpPr>
            <a:cxnSpLocks/>
          </p:cNvCxnSpPr>
          <p:nvPr/>
        </p:nvCxnSpPr>
        <p:spPr>
          <a:xfrm>
            <a:off x="4029126" y="2498344"/>
            <a:ext cx="4713818"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Rectangle 8">
                <a:extLst>
                  <a:ext uri="{FF2B5EF4-FFF2-40B4-BE49-F238E27FC236}">
                    <a16:creationId xmlns:a16="http://schemas.microsoft.com/office/drawing/2014/main" id="{94EE92FC-DB34-FB95-BD1E-9664133A05EE}"/>
                  </a:ext>
                </a:extLst>
              </p:cNvPr>
              <p:cNvSpPr/>
              <p:nvPr/>
            </p:nvSpPr>
            <p:spPr>
              <a:xfrm>
                <a:off x="3425359" y="2249510"/>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6"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3425359" y="2249510"/>
                <a:ext cx="671594" cy="461665"/>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직사각형 6"/>
              <p:cNvSpPr/>
              <p:nvPr/>
            </p:nvSpPr>
            <p:spPr>
              <a:xfrm>
                <a:off x="4684297" y="2265552"/>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7" name="직사각형 6"/>
              <p:cNvSpPr>
                <a:spLocks noRot="1" noChangeAspect="1" noMove="1" noResize="1" noEditPoints="1" noAdjustHandles="1" noChangeArrowheads="1" noChangeShapeType="1" noTextEdit="1"/>
              </p:cNvSpPr>
              <p:nvPr/>
            </p:nvSpPr>
            <p:spPr>
              <a:xfrm>
                <a:off x="4684297" y="2265552"/>
                <a:ext cx="461665" cy="461665"/>
              </a:xfrm>
              <a:prstGeom prst="rect">
                <a:avLst/>
              </a:prstGeom>
              <a:blipFill>
                <a:blip r:embed="rId4"/>
                <a:stretch>
                  <a:fillRect/>
                </a:stretch>
              </a:blipFill>
              <a:ln>
                <a:solidFill>
                  <a:schemeClr val="tx1"/>
                </a:solidFill>
              </a:ln>
            </p:spPr>
            <p:txBody>
              <a:bodyPr/>
              <a:lstStyle/>
              <a:p>
                <a:r>
                  <a:rPr lang="ko-KR" altLang="en-US">
                    <a:noFill/>
                  </a:rPr>
                  <a:t> </a:t>
                </a:r>
              </a:p>
            </p:txBody>
          </p:sp>
        </mc:Fallback>
      </mc:AlternateContent>
      <p:pic>
        <p:nvPicPr>
          <p:cNvPr id="8" name="그림 7"/>
          <p:cNvPicPr>
            <a:picLocks noChangeAspect="1"/>
          </p:cNvPicPr>
          <p:nvPr/>
        </p:nvPicPr>
        <p:blipFill>
          <a:blip r:embed="rId5"/>
          <a:stretch>
            <a:fillRect/>
          </a:stretch>
        </p:blipFill>
        <p:spPr>
          <a:xfrm>
            <a:off x="5810210" y="2279480"/>
            <a:ext cx="571580" cy="447737"/>
          </a:xfrm>
          <a:prstGeom prst="rect">
            <a:avLst/>
          </a:prstGeom>
        </p:spPr>
      </p:pic>
      <mc:AlternateContent xmlns:mc="http://schemas.openxmlformats.org/markup-compatibility/2006" xmlns:a14="http://schemas.microsoft.com/office/drawing/2010/main">
        <mc:Choice Requires="a14">
          <p:sp>
            <p:nvSpPr>
              <p:cNvPr id="10" name="직사각형 9"/>
              <p:cNvSpPr/>
              <p:nvPr/>
            </p:nvSpPr>
            <p:spPr>
              <a:xfrm>
                <a:off x="7127014" y="2237692"/>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0" name="직사각형 9"/>
              <p:cNvSpPr>
                <a:spLocks noRot="1" noChangeAspect="1" noMove="1" noResize="1" noEditPoints="1" noAdjustHandles="1" noChangeArrowheads="1" noChangeShapeType="1" noTextEdit="1"/>
              </p:cNvSpPr>
              <p:nvPr/>
            </p:nvSpPr>
            <p:spPr>
              <a:xfrm>
                <a:off x="7127014" y="2237692"/>
                <a:ext cx="461665" cy="461665"/>
              </a:xfrm>
              <a:prstGeom prst="rect">
                <a:avLst/>
              </a:prstGeom>
              <a:blipFill>
                <a:blip r:embed="rId6"/>
                <a:stretch>
                  <a:fillRect l="-1282"/>
                </a:stretch>
              </a:blipFill>
              <a:ln>
                <a:solidFill>
                  <a:schemeClr val="tx1"/>
                </a:solidFill>
              </a:ln>
            </p:spPr>
            <p:txBody>
              <a:bodyPr/>
              <a:lstStyle/>
              <a:p>
                <a:r>
                  <a:rPr lang="ko-KR" altLang="en-US">
                    <a:noFill/>
                  </a:rPr>
                  <a:t> </a:t>
                </a:r>
              </a:p>
            </p:txBody>
          </p:sp>
        </mc:Fallback>
      </mc:AlternateContent>
      <p:pic>
        <p:nvPicPr>
          <p:cNvPr id="11" name="그림 10"/>
          <p:cNvPicPr>
            <a:picLocks noChangeAspect="1"/>
          </p:cNvPicPr>
          <p:nvPr/>
        </p:nvPicPr>
        <p:blipFill>
          <a:blip r:embed="rId5"/>
          <a:stretch>
            <a:fillRect/>
          </a:stretch>
        </p:blipFill>
        <p:spPr>
          <a:xfrm>
            <a:off x="8267699" y="2249510"/>
            <a:ext cx="571580" cy="447737"/>
          </a:xfrm>
          <a:prstGeom prst="rect">
            <a:avLst/>
          </a:prstGeom>
        </p:spPr>
      </p:pic>
    </p:spTree>
    <p:extLst>
      <p:ext uri="{BB962C8B-B14F-4D97-AF65-F5344CB8AC3E}">
        <p14:creationId xmlns:p14="http://schemas.microsoft.com/office/powerpoint/2010/main" val="161140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3">
            <a:extLst>
              <a:ext uri="{FF2B5EF4-FFF2-40B4-BE49-F238E27FC236}">
                <a16:creationId xmlns:a16="http://schemas.microsoft.com/office/drawing/2014/main" id="{B91E78E4-542E-3BF9-60EB-0A75C5E77BF2}"/>
              </a:ext>
            </a:extLst>
          </p:cNvPr>
          <p:cNvCxnSpPr>
            <a:cxnSpLocks/>
          </p:cNvCxnSpPr>
          <p:nvPr/>
        </p:nvCxnSpPr>
        <p:spPr>
          <a:xfrm>
            <a:off x="4088867" y="2498930"/>
            <a:ext cx="4713818" cy="0"/>
          </a:xfrm>
          <a:prstGeom prst="line">
            <a:avLst/>
          </a:prstGeom>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Example: Measurement matters</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r>
                  <a:rPr lang="en-US" altLang="ko-KR" sz="2400" dirty="0" smtClean="0">
                    <a:ea typeface="Cambria Math" panose="02040503050406030204" pitchFamily="18" charset="0"/>
                  </a:rPr>
                  <a:t>Experiment B:</a:t>
                </a:r>
              </a:p>
              <a:p>
                <a:endParaRPr lang="en-US" altLang="ko-KR" sz="2400" dirty="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r>
                  <a:rPr lang="en-US" altLang="ko-KR" sz="2400" dirty="0">
                    <a:ea typeface="Cambria Math" panose="02040503050406030204" pitchFamily="18" charset="0"/>
                  </a:rPr>
                  <a:t>Circuit analysis (on board)</a:t>
                </a:r>
              </a:p>
              <a:p>
                <a:pPr marL="0" indent="0">
                  <a:buNone/>
                </a:pPr>
                <a:r>
                  <a:rPr lang="en-US" altLang="ko-KR" sz="2400" dirty="0" smtClean="0">
                    <a:ea typeface="Cambria Math" panose="02040503050406030204" pitchFamily="18" charset="0"/>
                  </a:rPr>
                  <a:t>Final </a:t>
                </a:r>
                <a:r>
                  <a:rPr lang="en-US" altLang="ko-KR" sz="2400" dirty="0">
                    <a:ea typeface="Cambria Math" panose="02040503050406030204" pitchFamily="18" charset="0"/>
                  </a:rPr>
                  <a:t>distribution of outcomes: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0</m:t>
                        </m:r>
                      </m:e>
                    </m:d>
                  </m:oMath>
                </a14:m>
                <a:r>
                  <a:rPr lang="en-US" altLang="ko-KR" sz="2400" dirty="0">
                    <a:ea typeface="Cambria Math" panose="02040503050406030204" pitchFamily="18" charset="0"/>
                  </a:rPr>
                  <a:t> </a:t>
                </a:r>
                <a:r>
                  <a:rPr lang="en-US" altLang="ko-KR" sz="2400" dirty="0" smtClean="0">
                    <a:ea typeface="Cambria Math" panose="02040503050406030204" pitchFamily="18" charset="0"/>
                  </a:rPr>
                  <a:t>always.</a:t>
                </a:r>
              </a:p>
              <a:p>
                <a:pPr marL="0" indent="0">
                  <a:buNone/>
                </a:pPr>
                <a:endParaRPr lang="en-US" altLang="ko-KR" sz="2400" dirty="0">
                  <a:ea typeface="Cambria Math" panose="02040503050406030204" pitchFamily="18" charset="0"/>
                </a:endParaRPr>
              </a:p>
              <a:p>
                <a:r>
                  <a:rPr lang="en-US" altLang="ko-KR" sz="2400" dirty="0" smtClean="0">
                    <a:ea typeface="Cambria Math" panose="02040503050406030204" pitchFamily="18" charset="0"/>
                  </a:rPr>
                  <a:t>Inserting or removing intermediate measurement can change the behavior of quantum system drastically!</a:t>
                </a:r>
              </a:p>
              <a:p>
                <a:r>
                  <a:rPr lang="en-US" altLang="ko-KR" sz="2400" dirty="0" err="1" smtClean="0">
                    <a:ea typeface="Cambria Math" panose="02040503050406030204" pitchFamily="18" charset="0"/>
                  </a:rPr>
                  <a:t>Hadamard</a:t>
                </a:r>
                <a:r>
                  <a:rPr lang="en-US" altLang="ko-KR" sz="2400" dirty="0" smtClean="0">
                    <a:ea typeface="Cambria Math" panose="02040503050406030204" pitchFamily="18" charset="0"/>
                  </a:rPr>
                  <a:t> gate may do more than creating random bits!</a:t>
                </a: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928" t="-1765"/>
                </a:stretch>
              </a:blipFill>
            </p:spPr>
            <p:txBody>
              <a:bodyPr/>
              <a:lstStyle/>
              <a:p>
                <a:r>
                  <a:rPr lang="ko-KR" altLang="en-US">
                    <a:noFill/>
                  </a:rPr>
                  <a:t> </a:t>
                </a:r>
              </a:p>
            </p:txBody>
          </p:sp>
        </mc:Fallback>
      </mc:AlternateContent>
      <p:cxnSp>
        <p:nvCxnSpPr>
          <p:cNvPr id="12" name="Straight Connector 3">
            <a:extLst>
              <a:ext uri="{FF2B5EF4-FFF2-40B4-BE49-F238E27FC236}">
                <a16:creationId xmlns:a16="http://schemas.microsoft.com/office/drawing/2014/main" id="{B91E78E4-542E-3BF9-60EB-0A75C5E77BF2}"/>
              </a:ext>
            </a:extLst>
          </p:cNvPr>
          <p:cNvCxnSpPr>
            <a:cxnSpLocks/>
          </p:cNvCxnSpPr>
          <p:nvPr/>
        </p:nvCxnSpPr>
        <p:spPr>
          <a:xfrm>
            <a:off x="4029126" y="2498930"/>
            <a:ext cx="4713818"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Rectangle 8">
                <a:extLst>
                  <a:ext uri="{FF2B5EF4-FFF2-40B4-BE49-F238E27FC236}">
                    <a16:creationId xmlns:a16="http://schemas.microsoft.com/office/drawing/2014/main" id="{94EE92FC-DB34-FB95-BD1E-9664133A05EE}"/>
                  </a:ext>
                </a:extLst>
              </p:cNvPr>
              <p:cNvSpPr/>
              <p:nvPr/>
            </p:nvSpPr>
            <p:spPr>
              <a:xfrm>
                <a:off x="3425359" y="2250096"/>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13"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3425359" y="2250096"/>
                <a:ext cx="671594" cy="461665"/>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직사각형 13"/>
              <p:cNvSpPr/>
              <p:nvPr/>
            </p:nvSpPr>
            <p:spPr>
              <a:xfrm>
                <a:off x="4684297" y="2266138"/>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4" name="직사각형 13"/>
              <p:cNvSpPr>
                <a:spLocks noRot="1" noChangeAspect="1" noMove="1" noResize="1" noEditPoints="1" noAdjustHandles="1" noChangeArrowheads="1" noChangeShapeType="1" noTextEdit="1"/>
              </p:cNvSpPr>
              <p:nvPr/>
            </p:nvSpPr>
            <p:spPr>
              <a:xfrm>
                <a:off x="4684297" y="2266138"/>
                <a:ext cx="461665" cy="461665"/>
              </a:xfrm>
              <a:prstGeom prst="rect">
                <a:avLst/>
              </a:prstGeom>
              <a:blipFill>
                <a:blip r:embed="rId4"/>
                <a:stretch>
                  <a:fillRect/>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직사각형 15"/>
              <p:cNvSpPr/>
              <p:nvPr/>
            </p:nvSpPr>
            <p:spPr>
              <a:xfrm>
                <a:off x="7127014" y="2238278"/>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6" name="직사각형 15"/>
              <p:cNvSpPr>
                <a:spLocks noRot="1" noChangeAspect="1" noMove="1" noResize="1" noEditPoints="1" noAdjustHandles="1" noChangeArrowheads="1" noChangeShapeType="1" noTextEdit="1"/>
              </p:cNvSpPr>
              <p:nvPr/>
            </p:nvSpPr>
            <p:spPr>
              <a:xfrm>
                <a:off x="7127014" y="2238278"/>
                <a:ext cx="461665" cy="461665"/>
              </a:xfrm>
              <a:prstGeom prst="rect">
                <a:avLst/>
              </a:prstGeom>
              <a:blipFill>
                <a:blip r:embed="rId5"/>
                <a:stretch>
                  <a:fillRect l="-1282"/>
                </a:stretch>
              </a:blipFill>
              <a:ln>
                <a:solidFill>
                  <a:schemeClr val="tx1"/>
                </a:solidFill>
              </a:ln>
            </p:spPr>
            <p:txBody>
              <a:bodyPr/>
              <a:lstStyle/>
              <a:p>
                <a:r>
                  <a:rPr lang="ko-KR" altLang="en-US">
                    <a:noFill/>
                  </a:rPr>
                  <a:t> </a:t>
                </a:r>
              </a:p>
            </p:txBody>
          </p:sp>
        </mc:Fallback>
      </mc:AlternateContent>
      <p:pic>
        <p:nvPicPr>
          <p:cNvPr id="17" name="그림 16"/>
          <p:cNvPicPr>
            <a:picLocks noChangeAspect="1"/>
          </p:cNvPicPr>
          <p:nvPr/>
        </p:nvPicPr>
        <p:blipFill>
          <a:blip r:embed="rId6"/>
          <a:stretch>
            <a:fillRect/>
          </a:stretch>
        </p:blipFill>
        <p:spPr>
          <a:xfrm>
            <a:off x="8267699" y="2250096"/>
            <a:ext cx="571580" cy="447737"/>
          </a:xfrm>
          <a:prstGeom prst="rect">
            <a:avLst/>
          </a:prstGeom>
        </p:spPr>
      </p:pic>
    </p:spTree>
    <p:extLst>
      <p:ext uri="{BB962C8B-B14F-4D97-AF65-F5344CB8AC3E}">
        <p14:creationId xmlns:p14="http://schemas.microsoft.com/office/powerpoint/2010/main" val="349491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Quantum interference (Experiment B)</a:t>
            </a:r>
            <a:endParaRPr lang="en-US" sz="4000" dirty="0"/>
          </a:p>
        </p:txBody>
      </p:sp>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endParaRPr lang="en-US" altLang="ko-KR" sz="2400" dirty="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endParaRPr lang="en-US" altLang="ko-KR" sz="2400" dirty="0" smtClean="0">
              <a:ea typeface="Cambria Math" panose="02040503050406030204" pitchFamily="18" charset="0"/>
            </a:endParaRPr>
          </a:p>
        </p:txBody>
      </p:sp>
      <mc:AlternateContent xmlns:mc="http://schemas.openxmlformats.org/markup-compatibility/2006" xmlns:a14="http://schemas.microsoft.com/office/drawing/2010/main">
        <mc:Choice Requires="a14">
          <p:sp>
            <p:nvSpPr>
              <p:cNvPr id="10" name="Rectangle 8">
                <a:extLst>
                  <a:ext uri="{FF2B5EF4-FFF2-40B4-BE49-F238E27FC236}">
                    <a16:creationId xmlns:a16="http://schemas.microsoft.com/office/drawing/2014/main" id="{94EE92FC-DB34-FB95-BD1E-9664133A05EE}"/>
                  </a:ext>
                </a:extLst>
              </p:cNvPr>
              <p:cNvSpPr/>
              <p:nvPr/>
            </p:nvSpPr>
            <p:spPr>
              <a:xfrm>
                <a:off x="3425359" y="2249510"/>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10"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3425359" y="2249510"/>
                <a:ext cx="671594" cy="461665"/>
              </a:xfrm>
              <a:prstGeom prst="rect">
                <a:avLst/>
              </a:prstGeom>
              <a:blipFill>
                <a:blip r:embed="rId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0" name="Rectangle 8">
                <a:extLst>
                  <a:ext uri="{FF2B5EF4-FFF2-40B4-BE49-F238E27FC236}">
                    <a16:creationId xmlns:a16="http://schemas.microsoft.com/office/drawing/2014/main" id="{94EE92FC-DB34-FB95-BD1E-9664133A05EE}"/>
                  </a:ext>
                </a:extLst>
              </p:cNvPr>
              <p:cNvSpPr/>
              <p:nvPr/>
            </p:nvSpPr>
            <p:spPr>
              <a:xfrm>
                <a:off x="3553695" y="4133059"/>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20"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3553695" y="4133059"/>
                <a:ext cx="671594" cy="461665"/>
              </a:xfrm>
              <a:prstGeom prst="rect">
                <a:avLst/>
              </a:prstGeom>
              <a:blipFill>
                <a:blip r:embed="rId3"/>
                <a:stretch>
                  <a:fillRect/>
                </a:stretch>
              </a:blipFill>
            </p:spPr>
            <p:txBody>
              <a:bodyPr/>
              <a:lstStyle/>
              <a:p>
                <a:r>
                  <a:rPr lang="ko-KR" altLang="en-US">
                    <a:noFill/>
                  </a:rPr>
                  <a:t> </a:t>
                </a:r>
              </a:p>
            </p:txBody>
          </p:sp>
        </mc:Fallback>
      </mc:AlternateContent>
      <p:cxnSp>
        <p:nvCxnSpPr>
          <p:cNvPr id="5" name="직선 화살표 연결선 4"/>
          <p:cNvCxnSpPr>
            <a:endCxn id="23" idx="1"/>
          </p:cNvCxnSpPr>
          <p:nvPr/>
        </p:nvCxnSpPr>
        <p:spPr>
          <a:xfrm flipV="1">
            <a:off x="4225289" y="3615713"/>
            <a:ext cx="1457865" cy="60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p:cNvCxnSpPr>
            <a:endCxn id="24" idx="1"/>
          </p:cNvCxnSpPr>
          <p:nvPr/>
        </p:nvCxnSpPr>
        <p:spPr>
          <a:xfrm>
            <a:off x="4225289" y="4504674"/>
            <a:ext cx="1436405" cy="564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ectangle 8">
                <a:extLst>
                  <a:ext uri="{FF2B5EF4-FFF2-40B4-BE49-F238E27FC236}">
                    <a16:creationId xmlns:a16="http://schemas.microsoft.com/office/drawing/2014/main" id="{94EE92FC-DB34-FB95-BD1E-9664133A05EE}"/>
                  </a:ext>
                </a:extLst>
              </p:cNvPr>
              <p:cNvSpPr/>
              <p:nvPr/>
            </p:nvSpPr>
            <p:spPr>
              <a:xfrm>
                <a:off x="5683154" y="3384880"/>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23"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5683154" y="3384880"/>
                <a:ext cx="671594" cy="461665"/>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4" name="Rectangle 8">
                <a:extLst>
                  <a:ext uri="{FF2B5EF4-FFF2-40B4-BE49-F238E27FC236}">
                    <a16:creationId xmlns:a16="http://schemas.microsoft.com/office/drawing/2014/main" id="{94EE92FC-DB34-FB95-BD1E-9664133A05EE}"/>
                  </a:ext>
                </a:extLst>
              </p:cNvPr>
              <p:cNvSpPr/>
              <p:nvPr/>
            </p:nvSpPr>
            <p:spPr>
              <a:xfrm>
                <a:off x="5661694" y="4838721"/>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1</m:t>
                          </m:r>
                        </m:e>
                      </m:d>
                    </m:oMath>
                  </m:oMathPara>
                </a14:m>
                <a:endParaRPr lang="en-US" sz="2400" dirty="0"/>
              </a:p>
            </p:txBody>
          </p:sp>
        </mc:Choice>
        <mc:Fallback xmlns="">
          <p:sp>
            <p:nvSpPr>
              <p:cNvPr id="24"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5661694" y="4838721"/>
                <a:ext cx="671594" cy="461665"/>
              </a:xfrm>
              <a:prstGeom prst="rect">
                <a:avLst/>
              </a:prstGeom>
              <a:blipFill>
                <a:blip r:embed="rId5"/>
                <a:stretch>
                  <a:fillRect/>
                </a:stretch>
              </a:blipFill>
            </p:spPr>
            <p:txBody>
              <a:bodyPr/>
              <a:lstStyle/>
              <a:p>
                <a:r>
                  <a:rPr lang="ko-KR" altLang="en-US">
                    <a:noFill/>
                  </a:rPr>
                  <a:t> </a:t>
                </a:r>
              </a:p>
            </p:txBody>
          </p:sp>
        </mc:Fallback>
      </mc:AlternateContent>
      <p:cxnSp>
        <p:nvCxnSpPr>
          <p:cNvPr id="25" name="직선 화살표 연결선 24"/>
          <p:cNvCxnSpPr/>
          <p:nvPr/>
        </p:nvCxnSpPr>
        <p:spPr>
          <a:xfrm flipV="1">
            <a:off x="6371588" y="3243820"/>
            <a:ext cx="1710291" cy="206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직선 화살표 연결선 25"/>
          <p:cNvCxnSpPr/>
          <p:nvPr/>
        </p:nvCxnSpPr>
        <p:spPr>
          <a:xfrm>
            <a:off x="6371588" y="3722649"/>
            <a:ext cx="1600338" cy="2502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Rectangle 8">
                <a:extLst>
                  <a:ext uri="{FF2B5EF4-FFF2-40B4-BE49-F238E27FC236}">
                    <a16:creationId xmlns:a16="http://schemas.microsoft.com/office/drawing/2014/main" id="{94EE92FC-DB34-FB95-BD1E-9664133A05EE}"/>
                  </a:ext>
                </a:extLst>
              </p:cNvPr>
              <p:cNvSpPr/>
              <p:nvPr/>
            </p:nvSpPr>
            <p:spPr>
              <a:xfrm>
                <a:off x="8081879" y="2903647"/>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27"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081879" y="2903647"/>
                <a:ext cx="671594" cy="461665"/>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8" name="Rectangle 8">
                <a:extLst>
                  <a:ext uri="{FF2B5EF4-FFF2-40B4-BE49-F238E27FC236}">
                    <a16:creationId xmlns:a16="http://schemas.microsoft.com/office/drawing/2014/main" id="{94EE92FC-DB34-FB95-BD1E-9664133A05EE}"/>
                  </a:ext>
                </a:extLst>
              </p:cNvPr>
              <p:cNvSpPr/>
              <p:nvPr/>
            </p:nvSpPr>
            <p:spPr>
              <a:xfrm>
                <a:off x="8095747" y="3742098"/>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1</m:t>
                          </m:r>
                        </m:e>
                      </m:d>
                    </m:oMath>
                  </m:oMathPara>
                </a14:m>
                <a:endParaRPr lang="en-US" sz="2400" dirty="0"/>
              </a:p>
            </p:txBody>
          </p:sp>
        </mc:Choice>
        <mc:Fallback xmlns="">
          <p:sp>
            <p:nvSpPr>
              <p:cNvPr id="28"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095747" y="3742098"/>
                <a:ext cx="671594" cy="461665"/>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1" name="Rectangle 8">
                <a:extLst>
                  <a:ext uri="{FF2B5EF4-FFF2-40B4-BE49-F238E27FC236}">
                    <a16:creationId xmlns:a16="http://schemas.microsoft.com/office/drawing/2014/main" id="{94EE92FC-DB34-FB95-BD1E-9664133A05EE}"/>
                  </a:ext>
                </a:extLst>
              </p:cNvPr>
              <p:cNvSpPr/>
              <p:nvPr/>
            </p:nvSpPr>
            <p:spPr>
              <a:xfrm>
                <a:off x="8081879" y="4632407"/>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31"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081879" y="4632407"/>
                <a:ext cx="671594" cy="461665"/>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2" name="Rectangle 8">
                <a:extLst>
                  <a:ext uri="{FF2B5EF4-FFF2-40B4-BE49-F238E27FC236}">
                    <a16:creationId xmlns:a16="http://schemas.microsoft.com/office/drawing/2014/main" id="{94EE92FC-DB34-FB95-BD1E-9664133A05EE}"/>
                  </a:ext>
                </a:extLst>
              </p:cNvPr>
              <p:cNvSpPr/>
              <p:nvPr/>
            </p:nvSpPr>
            <p:spPr>
              <a:xfrm>
                <a:off x="8095747" y="5470858"/>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1</m:t>
                          </m:r>
                        </m:e>
                      </m:d>
                    </m:oMath>
                  </m:oMathPara>
                </a14:m>
                <a:endParaRPr lang="en-US" sz="2400" dirty="0"/>
              </a:p>
            </p:txBody>
          </p:sp>
        </mc:Choice>
        <mc:Fallback xmlns="">
          <p:sp>
            <p:nvSpPr>
              <p:cNvPr id="32"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095747" y="5470858"/>
                <a:ext cx="671594" cy="461665"/>
              </a:xfrm>
              <a:prstGeom prst="rect">
                <a:avLst/>
              </a:prstGeom>
              <a:blipFill>
                <a:blip r:embed="rId9"/>
                <a:stretch>
                  <a:fillRect/>
                </a:stretch>
              </a:blipFill>
            </p:spPr>
            <p:txBody>
              <a:bodyPr/>
              <a:lstStyle/>
              <a:p>
                <a:r>
                  <a:rPr lang="ko-KR" altLang="en-US">
                    <a:noFill/>
                  </a:rPr>
                  <a:t> </a:t>
                </a:r>
              </a:p>
            </p:txBody>
          </p:sp>
        </mc:Fallback>
      </mc:AlternateContent>
      <p:cxnSp>
        <p:nvCxnSpPr>
          <p:cNvPr id="37" name="직선 화살표 연결선 36"/>
          <p:cNvCxnSpPr/>
          <p:nvPr/>
        </p:nvCxnSpPr>
        <p:spPr>
          <a:xfrm flipV="1">
            <a:off x="6300990" y="4833864"/>
            <a:ext cx="1710291" cy="206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직선 화살표 연결선 37"/>
          <p:cNvCxnSpPr/>
          <p:nvPr/>
        </p:nvCxnSpPr>
        <p:spPr>
          <a:xfrm>
            <a:off x="6300990" y="5312693"/>
            <a:ext cx="1670936" cy="321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Connector 3">
            <a:extLst>
              <a:ext uri="{FF2B5EF4-FFF2-40B4-BE49-F238E27FC236}">
                <a16:creationId xmlns:a16="http://schemas.microsoft.com/office/drawing/2014/main" id="{B91E78E4-542E-3BF9-60EB-0A75C5E77BF2}"/>
              </a:ext>
            </a:extLst>
          </p:cNvPr>
          <p:cNvCxnSpPr>
            <a:cxnSpLocks/>
          </p:cNvCxnSpPr>
          <p:nvPr/>
        </p:nvCxnSpPr>
        <p:spPr>
          <a:xfrm>
            <a:off x="4088867" y="2498930"/>
            <a:ext cx="4713818" cy="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직사각형 10"/>
              <p:cNvSpPr/>
              <p:nvPr/>
            </p:nvSpPr>
            <p:spPr>
              <a:xfrm>
                <a:off x="4700339" y="2265552"/>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1" name="직사각형 10"/>
              <p:cNvSpPr>
                <a:spLocks noRot="1" noChangeAspect="1" noMove="1" noResize="1" noEditPoints="1" noAdjustHandles="1" noChangeArrowheads="1" noChangeShapeType="1" noTextEdit="1"/>
              </p:cNvSpPr>
              <p:nvPr/>
            </p:nvSpPr>
            <p:spPr>
              <a:xfrm>
                <a:off x="4700339" y="2265552"/>
                <a:ext cx="461665" cy="461665"/>
              </a:xfrm>
              <a:prstGeom prst="rect">
                <a:avLst/>
              </a:prstGeom>
              <a:blipFill>
                <a:blip r:embed="rId10"/>
                <a:stretch>
                  <a:fillRect l="-1282"/>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직사각형 17"/>
              <p:cNvSpPr/>
              <p:nvPr/>
            </p:nvSpPr>
            <p:spPr>
              <a:xfrm>
                <a:off x="7143056" y="2237692"/>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8" name="직사각형 17"/>
              <p:cNvSpPr>
                <a:spLocks noRot="1" noChangeAspect="1" noMove="1" noResize="1" noEditPoints="1" noAdjustHandles="1" noChangeArrowheads="1" noChangeShapeType="1" noTextEdit="1"/>
              </p:cNvSpPr>
              <p:nvPr/>
            </p:nvSpPr>
            <p:spPr>
              <a:xfrm>
                <a:off x="7143056" y="2237692"/>
                <a:ext cx="461665" cy="461665"/>
              </a:xfrm>
              <a:prstGeom prst="rect">
                <a:avLst/>
              </a:prstGeom>
              <a:blipFill>
                <a:blip r:embed="rId11"/>
                <a:stretch>
                  <a:fillRect l="-1299"/>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4" name="직사각형 43"/>
              <p:cNvSpPr/>
              <p:nvPr/>
            </p:nvSpPr>
            <p:spPr>
              <a:xfrm>
                <a:off x="4322795" y="4802494"/>
                <a:ext cx="788293"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4" name="직사각형 43"/>
              <p:cNvSpPr>
                <a:spLocks noRot="1" noChangeAspect="1" noMove="1" noResize="1" noEditPoints="1" noAdjustHandles="1" noChangeArrowheads="1" noChangeShapeType="1" noTextEdit="1"/>
              </p:cNvSpPr>
              <p:nvPr/>
            </p:nvSpPr>
            <p:spPr>
              <a:xfrm>
                <a:off x="4322795" y="4802494"/>
                <a:ext cx="788293" cy="401970"/>
              </a:xfrm>
              <a:prstGeom prst="rect">
                <a:avLst/>
              </a:prstGeom>
              <a:blipFill>
                <a:blip r:embed="rId12"/>
                <a:stretch>
                  <a:fillRect b="-1363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5" name="직사각형 44"/>
              <p:cNvSpPr/>
              <p:nvPr/>
            </p:nvSpPr>
            <p:spPr>
              <a:xfrm>
                <a:off x="4318122" y="3526355"/>
                <a:ext cx="788293"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5" name="직사각형 44"/>
              <p:cNvSpPr>
                <a:spLocks noRot="1" noChangeAspect="1" noMove="1" noResize="1" noEditPoints="1" noAdjustHandles="1" noChangeArrowheads="1" noChangeShapeType="1" noTextEdit="1"/>
              </p:cNvSpPr>
              <p:nvPr/>
            </p:nvSpPr>
            <p:spPr>
              <a:xfrm>
                <a:off x="4318122" y="3526355"/>
                <a:ext cx="788293" cy="401970"/>
              </a:xfrm>
              <a:prstGeom prst="rect">
                <a:avLst/>
              </a:prstGeom>
              <a:blipFill>
                <a:blip r:embed="rId13"/>
                <a:stretch>
                  <a:fillRect b="-1515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6" name="직사각형 45"/>
              <p:cNvSpPr/>
              <p:nvPr/>
            </p:nvSpPr>
            <p:spPr>
              <a:xfrm>
                <a:off x="6832587" y="2941346"/>
                <a:ext cx="788293"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6" name="직사각형 45"/>
              <p:cNvSpPr>
                <a:spLocks noRot="1" noChangeAspect="1" noMove="1" noResize="1" noEditPoints="1" noAdjustHandles="1" noChangeArrowheads="1" noChangeShapeType="1" noTextEdit="1"/>
              </p:cNvSpPr>
              <p:nvPr/>
            </p:nvSpPr>
            <p:spPr>
              <a:xfrm>
                <a:off x="6832587" y="2941346"/>
                <a:ext cx="788293" cy="401970"/>
              </a:xfrm>
              <a:prstGeom prst="rect">
                <a:avLst/>
              </a:prstGeom>
              <a:blipFill>
                <a:blip r:embed="rId14"/>
                <a:stretch>
                  <a:fillRect b="-1538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7" name="직사각형 46"/>
              <p:cNvSpPr/>
              <p:nvPr/>
            </p:nvSpPr>
            <p:spPr>
              <a:xfrm>
                <a:off x="6824085" y="3832551"/>
                <a:ext cx="807529"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b="0"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b="0"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7" name="직사각형 46"/>
              <p:cNvSpPr>
                <a:spLocks noRot="1" noChangeAspect="1" noMove="1" noResize="1" noEditPoints="1" noAdjustHandles="1" noChangeArrowheads="1" noChangeShapeType="1" noTextEdit="1"/>
              </p:cNvSpPr>
              <p:nvPr/>
            </p:nvSpPr>
            <p:spPr>
              <a:xfrm>
                <a:off x="6824085" y="3832551"/>
                <a:ext cx="807529" cy="401970"/>
              </a:xfrm>
              <a:prstGeom prst="rect">
                <a:avLst/>
              </a:prstGeom>
              <a:blipFill>
                <a:blip r:embed="rId15"/>
                <a:stretch>
                  <a:fillRect b="-1363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8" name="직사각형 47"/>
              <p:cNvSpPr/>
              <p:nvPr/>
            </p:nvSpPr>
            <p:spPr>
              <a:xfrm>
                <a:off x="6816428" y="4529539"/>
                <a:ext cx="788293"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8" name="직사각형 47"/>
              <p:cNvSpPr>
                <a:spLocks noRot="1" noChangeAspect="1" noMove="1" noResize="1" noEditPoints="1" noAdjustHandles="1" noChangeArrowheads="1" noChangeShapeType="1" noTextEdit="1"/>
              </p:cNvSpPr>
              <p:nvPr/>
            </p:nvSpPr>
            <p:spPr>
              <a:xfrm>
                <a:off x="6816428" y="4529539"/>
                <a:ext cx="788293" cy="401970"/>
              </a:xfrm>
              <a:prstGeom prst="rect">
                <a:avLst/>
              </a:prstGeom>
              <a:blipFill>
                <a:blip r:embed="rId16"/>
                <a:stretch>
                  <a:fillRect b="-1515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9" name="직사각형 48"/>
              <p:cNvSpPr/>
              <p:nvPr/>
            </p:nvSpPr>
            <p:spPr>
              <a:xfrm>
                <a:off x="6777610" y="5433448"/>
                <a:ext cx="961417"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b="0"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b="0"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9" name="직사각형 48"/>
              <p:cNvSpPr>
                <a:spLocks noRot="1" noChangeAspect="1" noMove="1" noResize="1" noEditPoints="1" noAdjustHandles="1" noChangeArrowheads="1" noChangeShapeType="1" noTextEdit="1"/>
              </p:cNvSpPr>
              <p:nvPr/>
            </p:nvSpPr>
            <p:spPr>
              <a:xfrm>
                <a:off x="6777610" y="5433448"/>
                <a:ext cx="961417" cy="401970"/>
              </a:xfrm>
              <a:prstGeom prst="rect">
                <a:avLst/>
              </a:prstGeom>
              <a:blipFill>
                <a:blip r:embed="rId17"/>
                <a:stretch>
                  <a:fillRect b="-15152"/>
                </a:stretch>
              </a:blipFill>
            </p:spPr>
            <p:txBody>
              <a:bodyPr/>
              <a:lstStyle/>
              <a:p>
                <a:r>
                  <a:rPr lang="ko-KR" altLang="en-US">
                    <a:noFill/>
                  </a:rPr>
                  <a:t> </a:t>
                </a:r>
              </a:p>
            </p:txBody>
          </p:sp>
        </mc:Fallback>
      </mc:AlternateContent>
      <p:sp>
        <p:nvSpPr>
          <p:cNvPr id="50" name="곱셈 기호 49"/>
          <p:cNvSpPr/>
          <p:nvPr/>
        </p:nvSpPr>
        <p:spPr>
          <a:xfrm>
            <a:off x="8431544" y="3742098"/>
            <a:ext cx="616203" cy="616203"/>
          </a:xfrm>
          <a:prstGeom prst="mathMultiply">
            <a:avLst>
              <a:gd name="adj1" fmla="val 18313"/>
            </a:avLst>
          </a:prstGeom>
          <a:solidFill>
            <a:srgbClr val="FF0000"/>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ko-KR" altLang="en-US"/>
          </a:p>
        </p:txBody>
      </p:sp>
      <p:sp>
        <p:nvSpPr>
          <p:cNvPr id="51" name="곱셈 기호 50"/>
          <p:cNvSpPr/>
          <p:nvPr/>
        </p:nvSpPr>
        <p:spPr>
          <a:xfrm>
            <a:off x="8405590" y="5541304"/>
            <a:ext cx="616203" cy="616203"/>
          </a:xfrm>
          <a:prstGeom prst="mathMultiply">
            <a:avLst>
              <a:gd name="adj1" fmla="val 18313"/>
            </a:avLst>
          </a:prstGeom>
          <a:solidFill>
            <a:srgbClr val="FF0000"/>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ko-KR" altLang="en-US"/>
          </a:p>
        </p:txBody>
      </p:sp>
      <p:sp>
        <p:nvSpPr>
          <p:cNvPr id="4" name="위쪽/아래쪽 화살표 3"/>
          <p:cNvSpPr/>
          <p:nvPr/>
        </p:nvSpPr>
        <p:spPr>
          <a:xfrm>
            <a:off x="8753507" y="4144652"/>
            <a:ext cx="464099" cy="1651476"/>
          </a:xfrm>
          <a:prstGeom prst="upDownArrow">
            <a:avLst>
              <a:gd name="adj1" fmla="val 26820"/>
              <a:gd name="adj2" fmla="val 5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60919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7" grpId="0"/>
      <p:bldP spid="28" grpId="0"/>
      <p:bldP spid="31" grpId="0"/>
      <p:bldP spid="32" grpId="0"/>
      <p:bldP spid="44" grpId="0"/>
      <p:bldP spid="45" grpId="0"/>
      <p:bldP spid="46" grpId="0"/>
      <p:bldP spid="47" grpId="0"/>
      <p:bldP spid="48" grpId="0"/>
      <p:bldP spid="49" grpId="0"/>
      <p:bldP spid="50" grpId="0" animBg="1"/>
      <p:bldP spid="51" grpId="0" animBg="1"/>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Quantum interference (Experiment A)</a:t>
            </a:r>
            <a:endParaRPr lang="en-US" sz="4000" dirty="0"/>
          </a:p>
        </p:txBody>
      </p:sp>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endParaRPr lang="en-US" altLang="ko-KR" sz="2400" dirty="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endParaRPr lang="en-US" altLang="ko-KR" sz="2400" dirty="0" smtClean="0">
              <a:ea typeface="Cambria Math" panose="02040503050406030204" pitchFamily="18" charset="0"/>
            </a:endParaRPr>
          </a:p>
        </p:txBody>
      </p:sp>
      <mc:AlternateContent xmlns:mc="http://schemas.openxmlformats.org/markup-compatibility/2006" xmlns:a14="http://schemas.microsoft.com/office/drawing/2010/main">
        <mc:Choice Requires="a14">
          <p:sp>
            <p:nvSpPr>
              <p:cNvPr id="10" name="Rectangle 8">
                <a:extLst>
                  <a:ext uri="{FF2B5EF4-FFF2-40B4-BE49-F238E27FC236}">
                    <a16:creationId xmlns:a16="http://schemas.microsoft.com/office/drawing/2014/main" id="{94EE92FC-DB34-FB95-BD1E-9664133A05EE}"/>
                  </a:ext>
                </a:extLst>
              </p:cNvPr>
              <p:cNvSpPr/>
              <p:nvPr/>
            </p:nvSpPr>
            <p:spPr>
              <a:xfrm>
                <a:off x="3425359" y="2249510"/>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10"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3425359" y="2249510"/>
                <a:ext cx="671594" cy="461665"/>
              </a:xfrm>
              <a:prstGeom prst="rect">
                <a:avLst/>
              </a:prstGeom>
              <a:blipFill>
                <a:blip r:embed="rId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0" name="Rectangle 8">
                <a:extLst>
                  <a:ext uri="{FF2B5EF4-FFF2-40B4-BE49-F238E27FC236}">
                    <a16:creationId xmlns:a16="http://schemas.microsoft.com/office/drawing/2014/main" id="{94EE92FC-DB34-FB95-BD1E-9664133A05EE}"/>
                  </a:ext>
                </a:extLst>
              </p:cNvPr>
              <p:cNvSpPr/>
              <p:nvPr/>
            </p:nvSpPr>
            <p:spPr>
              <a:xfrm>
                <a:off x="3553695" y="4133059"/>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20"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3553695" y="4133059"/>
                <a:ext cx="671594" cy="461665"/>
              </a:xfrm>
              <a:prstGeom prst="rect">
                <a:avLst/>
              </a:prstGeom>
              <a:blipFill>
                <a:blip r:embed="rId3"/>
                <a:stretch>
                  <a:fillRect/>
                </a:stretch>
              </a:blipFill>
            </p:spPr>
            <p:txBody>
              <a:bodyPr/>
              <a:lstStyle/>
              <a:p>
                <a:r>
                  <a:rPr lang="ko-KR" altLang="en-US">
                    <a:noFill/>
                  </a:rPr>
                  <a:t> </a:t>
                </a:r>
              </a:p>
            </p:txBody>
          </p:sp>
        </mc:Fallback>
      </mc:AlternateContent>
      <p:cxnSp>
        <p:nvCxnSpPr>
          <p:cNvPr id="5" name="직선 화살표 연결선 4"/>
          <p:cNvCxnSpPr>
            <a:endCxn id="23" idx="1"/>
          </p:cNvCxnSpPr>
          <p:nvPr/>
        </p:nvCxnSpPr>
        <p:spPr>
          <a:xfrm flipV="1">
            <a:off x="4225289" y="3615713"/>
            <a:ext cx="1457865" cy="603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p:cNvCxnSpPr>
            <a:endCxn id="24" idx="1"/>
          </p:cNvCxnSpPr>
          <p:nvPr/>
        </p:nvCxnSpPr>
        <p:spPr>
          <a:xfrm>
            <a:off x="4225289" y="4504674"/>
            <a:ext cx="1436405" cy="564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ectangle 8">
                <a:extLst>
                  <a:ext uri="{FF2B5EF4-FFF2-40B4-BE49-F238E27FC236}">
                    <a16:creationId xmlns:a16="http://schemas.microsoft.com/office/drawing/2014/main" id="{94EE92FC-DB34-FB95-BD1E-9664133A05EE}"/>
                  </a:ext>
                </a:extLst>
              </p:cNvPr>
              <p:cNvSpPr/>
              <p:nvPr/>
            </p:nvSpPr>
            <p:spPr>
              <a:xfrm>
                <a:off x="5683154" y="3384880"/>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23"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5683154" y="3384880"/>
                <a:ext cx="671594" cy="461665"/>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4" name="Rectangle 8">
                <a:extLst>
                  <a:ext uri="{FF2B5EF4-FFF2-40B4-BE49-F238E27FC236}">
                    <a16:creationId xmlns:a16="http://schemas.microsoft.com/office/drawing/2014/main" id="{94EE92FC-DB34-FB95-BD1E-9664133A05EE}"/>
                  </a:ext>
                </a:extLst>
              </p:cNvPr>
              <p:cNvSpPr/>
              <p:nvPr/>
            </p:nvSpPr>
            <p:spPr>
              <a:xfrm>
                <a:off x="5661694" y="4838721"/>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1</m:t>
                          </m:r>
                        </m:e>
                      </m:d>
                    </m:oMath>
                  </m:oMathPara>
                </a14:m>
                <a:endParaRPr lang="en-US" sz="2400" dirty="0"/>
              </a:p>
            </p:txBody>
          </p:sp>
        </mc:Choice>
        <mc:Fallback xmlns="">
          <p:sp>
            <p:nvSpPr>
              <p:cNvPr id="24"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5661694" y="4838721"/>
                <a:ext cx="671594" cy="461665"/>
              </a:xfrm>
              <a:prstGeom prst="rect">
                <a:avLst/>
              </a:prstGeom>
              <a:blipFill>
                <a:blip r:embed="rId5"/>
                <a:stretch>
                  <a:fillRect/>
                </a:stretch>
              </a:blipFill>
            </p:spPr>
            <p:txBody>
              <a:bodyPr/>
              <a:lstStyle/>
              <a:p>
                <a:r>
                  <a:rPr lang="ko-KR" altLang="en-US">
                    <a:noFill/>
                  </a:rPr>
                  <a:t> </a:t>
                </a:r>
              </a:p>
            </p:txBody>
          </p:sp>
        </mc:Fallback>
      </mc:AlternateContent>
      <p:cxnSp>
        <p:nvCxnSpPr>
          <p:cNvPr id="25" name="직선 화살표 연결선 24"/>
          <p:cNvCxnSpPr/>
          <p:nvPr/>
        </p:nvCxnSpPr>
        <p:spPr>
          <a:xfrm flipV="1">
            <a:off x="6371588" y="3243820"/>
            <a:ext cx="1710291" cy="206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직선 화살표 연결선 25"/>
          <p:cNvCxnSpPr/>
          <p:nvPr/>
        </p:nvCxnSpPr>
        <p:spPr>
          <a:xfrm>
            <a:off x="6371588" y="3722649"/>
            <a:ext cx="1600338" cy="2502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Rectangle 8">
                <a:extLst>
                  <a:ext uri="{FF2B5EF4-FFF2-40B4-BE49-F238E27FC236}">
                    <a16:creationId xmlns:a16="http://schemas.microsoft.com/office/drawing/2014/main" id="{94EE92FC-DB34-FB95-BD1E-9664133A05EE}"/>
                  </a:ext>
                </a:extLst>
              </p:cNvPr>
              <p:cNvSpPr/>
              <p:nvPr/>
            </p:nvSpPr>
            <p:spPr>
              <a:xfrm>
                <a:off x="8081879" y="2903647"/>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27"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081879" y="2903647"/>
                <a:ext cx="671594" cy="461665"/>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8" name="Rectangle 8">
                <a:extLst>
                  <a:ext uri="{FF2B5EF4-FFF2-40B4-BE49-F238E27FC236}">
                    <a16:creationId xmlns:a16="http://schemas.microsoft.com/office/drawing/2014/main" id="{94EE92FC-DB34-FB95-BD1E-9664133A05EE}"/>
                  </a:ext>
                </a:extLst>
              </p:cNvPr>
              <p:cNvSpPr/>
              <p:nvPr/>
            </p:nvSpPr>
            <p:spPr>
              <a:xfrm>
                <a:off x="8095747" y="3742098"/>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1</m:t>
                          </m:r>
                        </m:e>
                      </m:d>
                    </m:oMath>
                  </m:oMathPara>
                </a14:m>
                <a:endParaRPr lang="en-US" sz="2400" dirty="0"/>
              </a:p>
            </p:txBody>
          </p:sp>
        </mc:Choice>
        <mc:Fallback xmlns="">
          <p:sp>
            <p:nvSpPr>
              <p:cNvPr id="28"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095747" y="3742098"/>
                <a:ext cx="671594" cy="461665"/>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1" name="Rectangle 8">
                <a:extLst>
                  <a:ext uri="{FF2B5EF4-FFF2-40B4-BE49-F238E27FC236}">
                    <a16:creationId xmlns:a16="http://schemas.microsoft.com/office/drawing/2014/main" id="{94EE92FC-DB34-FB95-BD1E-9664133A05EE}"/>
                  </a:ext>
                </a:extLst>
              </p:cNvPr>
              <p:cNvSpPr/>
              <p:nvPr/>
            </p:nvSpPr>
            <p:spPr>
              <a:xfrm>
                <a:off x="8081879" y="4632407"/>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31"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081879" y="4632407"/>
                <a:ext cx="671594" cy="461665"/>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2" name="Rectangle 8">
                <a:extLst>
                  <a:ext uri="{FF2B5EF4-FFF2-40B4-BE49-F238E27FC236}">
                    <a16:creationId xmlns:a16="http://schemas.microsoft.com/office/drawing/2014/main" id="{94EE92FC-DB34-FB95-BD1E-9664133A05EE}"/>
                  </a:ext>
                </a:extLst>
              </p:cNvPr>
              <p:cNvSpPr/>
              <p:nvPr/>
            </p:nvSpPr>
            <p:spPr>
              <a:xfrm>
                <a:off x="8095747" y="5470858"/>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1</m:t>
                          </m:r>
                        </m:e>
                      </m:d>
                    </m:oMath>
                  </m:oMathPara>
                </a14:m>
                <a:endParaRPr lang="en-US" sz="2400" dirty="0"/>
              </a:p>
            </p:txBody>
          </p:sp>
        </mc:Choice>
        <mc:Fallback xmlns="">
          <p:sp>
            <p:nvSpPr>
              <p:cNvPr id="32"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095747" y="5470858"/>
                <a:ext cx="671594" cy="461665"/>
              </a:xfrm>
              <a:prstGeom prst="rect">
                <a:avLst/>
              </a:prstGeom>
              <a:blipFill>
                <a:blip r:embed="rId9"/>
                <a:stretch>
                  <a:fillRect/>
                </a:stretch>
              </a:blipFill>
            </p:spPr>
            <p:txBody>
              <a:bodyPr/>
              <a:lstStyle/>
              <a:p>
                <a:r>
                  <a:rPr lang="ko-KR" altLang="en-US">
                    <a:noFill/>
                  </a:rPr>
                  <a:t> </a:t>
                </a:r>
              </a:p>
            </p:txBody>
          </p:sp>
        </mc:Fallback>
      </mc:AlternateContent>
      <p:cxnSp>
        <p:nvCxnSpPr>
          <p:cNvPr id="37" name="직선 화살표 연결선 36"/>
          <p:cNvCxnSpPr/>
          <p:nvPr/>
        </p:nvCxnSpPr>
        <p:spPr>
          <a:xfrm flipV="1">
            <a:off x="6300990" y="4833864"/>
            <a:ext cx="1710291" cy="206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직선 화살표 연결선 37"/>
          <p:cNvCxnSpPr/>
          <p:nvPr/>
        </p:nvCxnSpPr>
        <p:spPr>
          <a:xfrm>
            <a:off x="6300990" y="5312693"/>
            <a:ext cx="1670936" cy="321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Connector 3">
            <a:extLst>
              <a:ext uri="{FF2B5EF4-FFF2-40B4-BE49-F238E27FC236}">
                <a16:creationId xmlns:a16="http://schemas.microsoft.com/office/drawing/2014/main" id="{B91E78E4-542E-3BF9-60EB-0A75C5E77BF2}"/>
              </a:ext>
            </a:extLst>
          </p:cNvPr>
          <p:cNvCxnSpPr>
            <a:cxnSpLocks/>
            <a:stCxn id="10" idx="3"/>
          </p:cNvCxnSpPr>
          <p:nvPr/>
        </p:nvCxnSpPr>
        <p:spPr>
          <a:xfrm>
            <a:off x="4096953" y="2480343"/>
            <a:ext cx="4705732" cy="18587"/>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직사각형 10"/>
              <p:cNvSpPr/>
              <p:nvPr/>
            </p:nvSpPr>
            <p:spPr>
              <a:xfrm>
                <a:off x="4700339" y="2265552"/>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1" name="직사각형 10"/>
              <p:cNvSpPr>
                <a:spLocks noRot="1" noChangeAspect="1" noMove="1" noResize="1" noEditPoints="1" noAdjustHandles="1" noChangeArrowheads="1" noChangeShapeType="1" noTextEdit="1"/>
              </p:cNvSpPr>
              <p:nvPr/>
            </p:nvSpPr>
            <p:spPr>
              <a:xfrm>
                <a:off x="4700339" y="2265552"/>
                <a:ext cx="461665" cy="461665"/>
              </a:xfrm>
              <a:prstGeom prst="rect">
                <a:avLst/>
              </a:prstGeom>
              <a:blipFill>
                <a:blip r:embed="rId10"/>
                <a:stretch>
                  <a:fillRect l="-1282"/>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직사각형 17"/>
              <p:cNvSpPr/>
              <p:nvPr/>
            </p:nvSpPr>
            <p:spPr>
              <a:xfrm>
                <a:off x="7143056" y="2237692"/>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𝐻</m:t>
                      </m:r>
                    </m:oMath>
                  </m:oMathPara>
                </a14:m>
                <a:endParaRPr lang="ko-KR" altLang="en-US" sz="2400" dirty="0"/>
              </a:p>
            </p:txBody>
          </p:sp>
        </mc:Choice>
        <mc:Fallback xmlns="">
          <p:sp>
            <p:nvSpPr>
              <p:cNvPr id="18" name="직사각형 17"/>
              <p:cNvSpPr>
                <a:spLocks noRot="1" noChangeAspect="1" noMove="1" noResize="1" noEditPoints="1" noAdjustHandles="1" noChangeArrowheads="1" noChangeShapeType="1" noTextEdit="1"/>
              </p:cNvSpPr>
              <p:nvPr/>
            </p:nvSpPr>
            <p:spPr>
              <a:xfrm>
                <a:off x="7143056" y="2237692"/>
                <a:ext cx="461665" cy="461665"/>
              </a:xfrm>
              <a:prstGeom prst="rect">
                <a:avLst/>
              </a:prstGeom>
              <a:blipFill>
                <a:blip r:embed="rId11"/>
                <a:stretch>
                  <a:fillRect l="-1299"/>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4" name="직사각형 43"/>
              <p:cNvSpPr/>
              <p:nvPr/>
            </p:nvSpPr>
            <p:spPr>
              <a:xfrm>
                <a:off x="4322795" y="4802494"/>
                <a:ext cx="788293"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4" name="직사각형 43"/>
              <p:cNvSpPr>
                <a:spLocks noRot="1" noChangeAspect="1" noMove="1" noResize="1" noEditPoints="1" noAdjustHandles="1" noChangeArrowheads="1" noChangeShapeType="1" noTextEdit="1"/>
              </p:cNvSpPr>
              <p:nvPr/>
            </p:nvSpPr>
            <p:spPr>
              <a:xfrm>
                <a:off x="4322795" y="4802494"/>
                <a:ext cx="788293" cy="401970"/>
              </a:xfrm>
              <a:prstGeom prst="rect">
                <a:avLst/>
              </a:prstGeom>
              <a:blipFill>
                <a:blip r:embed="rId12"/>
                <a:stretch>
                  <a:fillRect b="-1363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5" name="직사각형 44"/>
              <p:cNvSpPr/>
              <p:nvPr/>
            </p:nvSpPr>
            <p:spPr>
              <a:xfrm>
                <a:off x="4318122" y="3526355"/>
                <a:ext cx="788293"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5" name="직사각형 44"/>
              <p:cNvSpPr>
                <a:spLocks noRot="1" noChangeAspect="1" noMove="1" noResize="1" noEditPoints="1" noAdjustHandles="1" noChangeArrowheads="1" noChangeShapeType="1" noTextEdit="1"/>
              </p:cNvSpPr>
              <p:nvPr/>
            </p:nvSpPr>
            <p:spPr>
              <a:xfrm>
                <a:off x="4318122" y="3526355"/>
                <a:ext cx="788293" cy="401970"/>
              </a:xfrm>
              <a:prstGeom prst="rect">
                <a:avLst/>
              </a:prstGeom>
              <a:blipFill>
                <a:blip r:embed="rId13"/>
                <a:stretch>
                  <a:fillRect b="-1515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6" name="직사각형 45"/>
              <p:cNvSpPr/>
              <p:nvPr/>
            </p:nvSpPr>
            <p:spPr>
              <a:xfrm>
                <a:off x="6832587" y="2941346"/>
                <a:ext cx="788293"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6" name="직사각형 45"/>
              <p:cNvSpPr>
                <a:spLocks noRot="1" noChangeAspect="1" noMove="1" noResize="1" noEditPoints="1" noAdjustHandles="1" noChangeArrowheads="1" noChangeShapeType="1" noTextEdit="1"/>
              </p:cNvSpPr>
              <p:nvPr/>
            </p:nvSpPr>
            <p:spPr>
              <a:xfrm>
                <a:off x="6832587" y="2941346"/>
                <a:ext cx="788293" cy="401970"/>
              </a:xfrm>
              <a:prstGeom prst="rect">
                <a:avLst/>
              </a:prstGeom>
              <a:blipFill>
                <a:blip r:embed="rId14"/>
                <a:stretch>
                  <a:fillRect b="-1538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7" name="직사각형 46"/>
              <p:cNvSpPr/>
              <p:nvPr/>
            </p:nvSpPr>
            <p:spPr>
              <a:xfrm>
                <a:off x="6824085" y="3832551"/>
                <a:ext cx="807529"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b="0"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b="0"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7" name="직사각형 46"/>
              <p:cNvSpPr>
                <a:spLocks noRot="1" noChangeAspect="1" noMove="1" noResize="1" noEditPoints="1" noAdjustHandles="1" noChangeArrowheads="1" noChangeShapeType="1" noTextEdit="1"/>
              </p:cNvSpPr>
              <p:nvPr/>
            </p:nvSpPr>
            <p:spPr>
              <a:xfrm>
                <a:off x="6824085" y="3832551"/>
                <a:ext cx="807529" cy="401970"/>
              </a:xfrm>
              <a:prstGeom prst="rect">
                <a:avLst/>
              </a:prstGeom>
              <a:blipFill>
                <a:blip r:embed="rId15"/>
                <a:stretch>
                  <a:fillRect b="-1363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8" name="직사각형 47"/>
              <p:cNvSpPr/>
              <p:nvPr/>
            </p:nvSpPr>
            <p:spPr>
              <a:xfrm>
                <a:off x="6816428" y="4529539"/>
                <a:ext cx="788293"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8" name="직사각형 47"/>
              <p:cNvSpPr>
                <a:spLocks noRot="1" noChangeAspect="1" noMove="1" noResize="1" noEditPoints="1" noAdjustHandles="1" noChangeArrowheads="1" noChangeShapeType="1" noTextEdit="1"/>
              </p:cNvSpPr>
              <p:nvPr/>
            </p:nvSpPr>
            <p:spPr>
              <a:xfrm>
                <a:off x="6816428" y="4529539"/>
                <a:ext cx="788293" cy="401970"/>
              </a:xfrm>
              <a:prstGeom prst="rect">
                <a:avLst/>
              </a:prstGeom>
              <a:blipFill>
                <a:blip r:embed="rId16"/>
                <a:stretch>
                  <a:fillRect b="-15152"/>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9" name="직사각형 48"/>
              <p:cNvSpPr/>
              <p:nvPr/>
            </p:nvSpPr>
            <p:spPr>
              <a:xfrm>
                <a:off x="6777610" y="5433448"/>
                <a:ext cx="884473" cy="4019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b="0" i="1">
                          <a:latin typeface="Cambria Math" panose="02040503050406030204" pitchFamily="18" charset="0"/>
                          <a:ea typeface="Cambria Math" panose="02040503050406030204" pitchFamily="18" charset="0"/>
                        </a:rPr>
                        <m:t>−1/</m:t>
                      </m:r>
                      <m:rad>
                        <m:radPr>
                          <m:degHide m:val="on"/>
                          <m:ctrlPr>
                            <a:rPr lang="en-US" altLang="ko-KR" i="1">
                              <a:latin typeface="Cambria Math" panose="02040503050406030204" pitchFamily="18" charset="0"/>
                              <a:ea typeface="Cambria Math" panose="02040503050406030204" pitchFamily="18" charset="0"/>
                            </a:rPr>
                          </m:ctrlPr>
                        </m:radPr>
                        <m:deg/>
                        <m:e>
                          <m:r>
                            <a:rPr lang="en-US" altLang="ko-KR" b="0" i="1">
                              <a:latin typeface="Cambria Math" panose="02040503050406030204" pitchFamily="18" charset="0"/>
                              <a:ea typeface="Cambria Math" panose="02040503050406030204" pitchFamily="18" charset="0"/>
                            </a:rPr>
                            <m:t>2</m:t>
                          </m:r>
                        </m:e>
                      </m:rad>
                    </m:oMath>
                  </m:oMathPara>
                </a14:m>
                <a:endParaRPr lang="ko-KR" altLang="en-US" dirty="0"/>
              </a:p>
            </p:txBody>
          </p:sp>
        </mc:Choice>
        <mc:Fallback xmlns="">
          <p:sp>
            <p:nvSpPr>
              <p:cNvPr id="49" name="직사각형 48"/>
              <p:cNvSpPr>
                <a:spLocks noRot="1" noChangeAspect="1" noMove="1" noResize="1" noEditPoints="1" noAdjustHandles="1" noChangeArrowheads="1" noChangeShapeType="1" noTextEdit="1"/>
              </p:cNvSpPr>
              <p:nvPr/>
            </p:nvSpPr>
            <p:spPr>
              <a:xfrm>
                <a:off x="6777610" y="5433448"/>
                <a:ext cx="884473" cy="401970"/>
              </a:xfrm>
              <a:prstGeom prst="rect">
                <a:avLst/>
              </a:prstGeom>
              <a:blipFill>
                <a:blip r:embed="rId17"/>
                <a:stretch>
                  <a:fillRect b="-15152"/>
                </a:stretch>
              </a:blipFill>
            </p:spPr>
            <p:txBody>
              <a:bodyPr/>
              <a:lstStyle/>
              <a:p>
                <a:r>
                  <a:rPr lang="ko-KR" altLang="en-US">
                    <a:noFill/>
                  </a:rPr>
                  <a:t> </a:t>
                </a:r>
              </a:p>
            </p:txBody>
          </p:sp>
        </mc:Fallback>
      </mc:AlternateContent>
      <p:cxnSp>
        <p:nvCxnSpPr>
          <p:cNvPr id="6" name="직선 연결선 5"/>
          <p:cNvCxnSpPr/>
          <p:nvPr/>
        </p:nvCxnSpPr>
        <p:spPr>
          <a:xfrm flipH="1">
            <a:off x="5162005" y="4363891"/>
            <a:ext cx="5143821" cy="0"/>
          </a:xfrm>
          <a:prstGeom prst="line">
            <a:avLst/>
          </a:prstGeom>
          <a:ln w="349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3" name="그림 32"/>
          <p:cNvPicPr>
            <a:picLocks noChangeAspect="1"/>
          </p:cNvPicPr>
          <p:nvPr/>
        </p:nvPicPr>
        <p:blipFill>
          <a:blip r:embed="rId18"/>
          <a:stretch>
            <a:fillRect/>
          </a:stretch>
        </p:blipFill>
        <p:spPr>
          <a:xfrm>
            <a:off x="5824982" y="2277370"/>
            <a:ext cx="571580" cy="447737"/>
          </a:xfrm>
          <a:prstGeom prst="rect">
            <a:avLst/>
          </a:prstGeom>
        </p:spPr>
      </p:pic>
      <p:sp>
        <p:nvSpPr>
          <p:cNvPr id="34" name="위쪽/아래쪽 화살표 33"/>
          <p:cNvSpPr/>
          <p:nvPr/>
        </p:nvSpPr>
        <p:spPr>
          <a:xfrm>
            <a:off x="8915325" y="3601741"/>
            <a:ext cx="464099" cy="1651476"/>
          </a:xfrm>
          <a:prstGeom prst="upDownArrow">
            <a:avLst>
              <a:gd name="adj1" fmla="val 26820"/>
              <a:gd name="adj2" fmla="val 50000"/>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36" name="곱셈 기호 35"/>
          <p:cNvSpPr/>
          <p:nvPr/>
        </p:nvSpPr>
        <p:spPr>
          <a:xfrm>
            <a:off x="8622096" y="3842291"/>
            <a:ext cx="1099731" cy="1099731"/>
          </a:xfrm>
          <a:prstGeom prst="mathMultiply">
            <a:avLst>
              <a:gd name="adj1" fmla="val 18313"/>
            </a:avLst>
          </a:prstGeom>
          <a:solidFill>
            <a:srgbClr val="FF0000"/>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ko-KR" altLang="en-US"/>
          </a:p>
        </p:txBody>
      </p:sp>
      <p:sp>
        <p:nvSpPr>
          <p:cNvPr id="39" name="직사각형 38"/>
          <p:cNvSpPr/>
          <p:nvPr/>
        </p:nvSpPr>
        <p:spPr>
          <a:xfrm>
            <a:off x="5390147" y="2903647"/>
            <a:ext cx="3561348" cy="133087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40" name="직사각형 39"/>
          <p:cNvSpPr/>
          <p:nvPr/>
        </p:nvSpPr>
        <p:spPr>
          <a:xfrm>
            <a:off x="5402847" y="4580933"/>
            <a:ext cx="3561348" cy="133087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7951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3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0" nodeType="clickEffect">
                                  <p:stCondLst>
                                    <p:cond delay="0"/>
                                  </p:stCondLst>
                                  <p:childTnLst>
                                    <p:set>
                                      <p:cBhvr>
                                        <p:cTn id="23" dur="1" fill="hold">
                                          <p:stCondLst>
                                            <p:cond delay="0"/>
                                          </p:stCondLst>
                                        </p:cTn>
                                        <p:tgtEl>
                                          <p:spTgt spid="39"/>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animBg="1"/>
      <p:bldP spid="39" grpId="0" animBg="1"/>
      <p:bldP spid="39" grpId="1" animBg="1"/>
      <p:bldP spid="4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sz="4000" dirty="0" smtClean="0"/>
              <a:t>Intermediate measurement matters!</a:t>
            </a:r>
            <a:endParaRPr lang="en-US" sz="4000" dirty="0"/>
          </a:p>
        </p:txBody>
      </p:sp>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US" sz="2400" dirty="0" smtClean="0"/>
              <a:t>Takeaway: measurements destroy </a:t>
            </a:r>
            <a:r>
              <a:rPr lang="en-US" sz="2400" dirty="0" err="1" smtClean="0"/>
              <a:t>superpositions</a:t>
            </a:r>
            <a:r>
              <a:rPr lang="en-US" sz="2400" dirty="0" smtClean="0"/>
              <a:t> and prevent interference!</a:t>
            </a: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In quantum physics, amplitudes can be negative or complex, so that adding up amplitudes becomes 0.</a:t>
            </a:r>
          </a:p>
          <a:p>
            <a:pPr marL="0" indent="0">
              <a:buNone/>
            </a:pPr>
            <a:r>
              <a:rPr lang="en-US" altLang="ko-KR" sz="2400" dirty="0" smtClean="0">
                <a:ea typeface="Cambria Math" panose="02040503050406030204" pitchFamily="18" charset="0"/>
              </a:rPr>
              <a:t>(cf. In classical physics, probabilities are positive, so the events do not disappear!)</a:t>
            </a: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Interference is an example of “quantum weirdness” or “spookiness”</a:t>
            </a:r>
            <a:endParaRPr lang="en-US" altLang="ko-KR" sz="2400" dirty="0">
              <a:ea typeface="Cambria Math" panose="02040503050406030204" pitchFamily="18" charset="0"/>
            </a:endParaRPr>
          </a:p>
        </p:txBody>
      </p:sp>
    </p:spTree>
    <p:extLst>
      <p:ext uri="{BB962C8B-B14F-4D97-AF65-F5344CB8AC3E}">
        <p14:creationId xmlns:p14="http://schemas.microsoft.com/office/powerpoint/2010/main" val="400233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Examples</a:t>
            </a:r>
            <a:endParaRPr lang="ko-KR" altLang="en-US" dirty="0"/>
          </a:p>
        </p:txBody>
      </p:sp>
      <p:sp>
        <p:nvSpPr>
          <p:cNvPr id="3" name="내용 개체 틀 2"/>
          <p:cNvSpPr>
            <a:spLocks noGrp="1"/>
          </p:cNvSpPr>
          <p:nvPr>
            <p:ph idx="1"/>
          </p:nvPr>
        </p:nvSpPr>
        <p:spPr/>
        <p:txBody>
          <a:bodyPr>
            <a:normAutofit/>
          </a:bodyPr>
          <a:lstStyle/>
          <a:p>
            <a:r>
              <a:rPr lang="en-US" altLang="ko-KR" dirty="0" smtClean="0"/>
              <a:t>Quantum random number generators</a:t>
            </a:r>
          </a:p>
          <a:p>
            <a:endParaRPr lang="en-US" altLang="ko-KR" b="1" dirty="0" smtClean="0"/>
          </a:p>
          <a:p>
            <a:r>
              <a:rPr lang="en-US" altLang="ko-KR" dirty="0" smtClean="0"/>
              <a:t>Example about phases</a:t>
            </a:r>
          </a:p>
          <a:p>
            <a:endParaRPr lang="en-US" altLang="ko-KR" dirty="0"/>
          </a:p>
          <a:p>
            <a:r>
              <a:rPr lang="en-US" altLang="ko-KR" dirty="0" smtClean="0"/>
              <a:t>Example about a single intermediate measurement</a:t>
            </a:r>
          </a:p>
          <a:p>
            <a:endParaRPr lang="en-US" altLang="ko-KR" dirty="0"/>
          </a:p>
          <a:p>
            <a:r>
              <a:rPr lang="en-US" altLang="ko-KR" b="1" dirty="0" smtClean="0"/>
              <a:t>Example about many measurements</a:t>
            </a:r>
          </a:p>
        </p:txBody>
      </p:sp>
    </p:spTree>
    <p:extLst>
      <p:ext uri="{BB962C8B-B14F-4D97-AF65-F5344CB8AC3E}">
        <p14:creationId xmlns:p14="http://schemas.microsoft.com/office/powerpoint/2010/main" val="174314965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altLang="ko-KR" sz="4000" dirty="0" err="1" smtClean="0"/>
              <a:t>Elitzur-Vaidman</a:t>
            </a:r>
            <a:r>
              <a:rPr lang="en-US" altLang="ko-KR" sz="4000" dirty="0" smtClean="0"/>
              <a:t> Bomb</a:t>
            </a:r>
            <a:endParaRPr lang="en-US" sz="4000" dirty="0"/>
          </a:p>
        </p:txBody>
      </p:sp>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US" altLang="ko-KR" sz="2400" dirty="0" smtClean="0"/>
              <a:t>Say we find a suspicious box in this classroom. A note attached:</a:t>
            </a:r>
          </a:p>
          <a:p>
            <a:pPr marL="457200" lvl="1" indent="0">
              <a:buNone/>
            </a:pPr>
            <a:r>
              <a:rPr lang="en-US" altLang="ko-KR" sz="2000" dirty="0" smtClean="0">
                <a:ea typeface="Cambria Math" panose="02040503050406030204" pitchFamily="18" charset="0"/>
              </a:rPr>
              <a:t>“A bomb is inside the box. Do not open it, as it will explode! Give A+ to all, otherwise I will active the bomb!”</a:t>
            </a:r>
          </a:p>
          <a:p>
            <a:pPr marL="0" indent="0">
              <a:buNone/>
            </a:pPr>
            <a:endParaRPr lang="en-US" altLang="ko-KR" sz="2400" dirty="0" smtClean="0">
              <a:ea typeface="Cambria Math" panose="02040503050406030204" pitchFamily="18" charset="0"/>
            </a:endParaRPr>
          </a:p>
          <a:p>
            <a:pPr marL="0" indent="0">
              <a:buNone/>
            </a:pPr>
            <a:r>
              <a:rPr lang="en-US" altLang="ko-KR" sz="2400" dirty="0" smtClean="0">
                <a:ea typeface="Cambria Math" panose="02040503050406030204" pitchFamily="18" charset="0"/>
              </a:rPr>
              <a:t>You do not want to get an automatic A+ for this class as a learner with a thirst for knowledge. You suspect it is a fraud, and wonder if it actually has an active bomb inside. You find two tiny holes in the box.</a:t>
            </a:r>
          </a:p>
          <a:p>
            <a:endParaRPr lang="en-US" altLang="ko-KR" sz="2400" dirty="0">
              <a:ea typeface="Cambria Math" panose="02040503050406030204" pitchFamily="18" charset="0"/>
            </a:endParaRPr>
          </a:p>
        </p:txBody>
      </p:sp>
      <p:pic>
        <p:nvPicPr>
          <p:cNvPr id="7" name="그림 6"/>
          <p:cNvPicPr>
            <a:picLocks noChangeAspect="1"/>
          </p:cNvPicPr>
          <p:nvPr/>
        </p:nvPicPr>
        <p:blipFill>
          <a:blip r:embed="rId2"/>
          <a:stretch>
            <a:fillRect/>
          </a:stretch>
        </p:blipFill>
        <p:spPr>
          <a:xfrm>
            <a:off x="4266944" y="4419260"/>
            <a:ext cx="3658111" cy="2438740"/>
          </a:xfrm>
          <a:prstGeom prst="rect">
            <a:avLst/>
          </a:prstGeom>
        </p:spPr>
      </p:pic>
      <p:sp>
        <p:nvSpPr>
          <p:cNvPr id="6" name="직사각형 5"/>
          <p:cNvSpPr/>
          <p:nvPr/>
        </p:nvSpPr>
        <p:spPr>
          <a:xfrm>
            <a:off x="6440316" y="812938"/>
            <a:ext cx="1023456" cy="42993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ko-KR" sz="1400" dirty="0" smtClean="0"/>
              <a:t>Slightly advanced</a:t>
            </a:r>
            <a:endParaRPr lang="ko-KR" altLang="en-US" sz="1400" dirty="0"/>
          </a:p>
        </p:txBody>
      </p:sp>
    </p:spTree>
    <p:extLst>
      <p:ext uri="{BB962C8B-B14F-4D97-AF65-F5344CB8AC3E}">
        <p14:creationId xmlns:p14="http://schemas.microsoft.com/office/powerpoint/2010/main" val="4217676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 · OpenMo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72520" y="5827059"/>
            <a:ext cx="710461" cy="71046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altLang="ko-KR" sz="4000" dirty="0" err="1" smtClean="0"/>
              <a:t>Elitzur-Vaidman</a:t>
            </a:r>
            <a:r>
              <a:rPr lang="en-US" altLang="ko-KR" sz="4000" dirty="0" smtClean="0"/>
              <a:t> Bomb</a:t>
            </a:r>
            <a:endParaRPr lang="en-US" sz="4000" dirty="0"/>
          </a:p>
        </p:txBody>
      </p:sp>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US" altLang="ko-KR" sz="2400" dirty="0" smtClean="0">
                <a:ea typeface="Cambria Math" panose="02040503050406030204" pitchFamily="18" charset="0"/>
              </a:rPr>
              <a:t>Further careful inspection, you reveal:</a:t>
            </a:r>
          </a:p>
          <a:p>
            <a:r>
              <a:rPr lang="en-US" altLang="ko-KR" sz="2400" dirty="0" smtClean="0">
                <a:ea typeface="Cambria Math" panose="02040503050406030204" pitchFamily="18" charset="0"/>
              </a:rPr>
              <a:t>There are two tiny little holes.</a:t>
            </a:r>
          </a:p>
          <a:p>
            <a:r>
              <a:rPr lang="en-US" altLang="ko-KR" sz="2400" dirty="0" smtClean="0">
                <a:ea typeface="Cambria Math" panose="02040503050406030204" pitchFamily="18" charset="0"/>
              </a:rPr>
              <a:t>You can emit a photon into one, then it will come out from the other.</a:t>
            </a:r>
          </a:p>
          <a:p>
            <a:r>
              <a:rPr lang="en-US" altLang="ko-KR" sz="2400" dirty="0" smtClean="0">
                <a:ea typeface="Cambria Math" panose="02040503050406030204" pitchFamily="18" charset="0"/>
              </a:rPr>
              <a:t>The purported bomb is connected to the measurement device; it will measure whether the photon is vertically polarized, and if yes, it triggers the bomb; otherwise it does nothing.</a:t>
            </a:r>
          </a:p>
        </p:txBody>
      </p:sp>
      <p:cxnSp>
        <p:nvCxnSpPr>
          <p:cNvPr id="4" name="Straight Connector 3">
            <a:extLst>
              <a:ext uri="{FF2B5EF4-FFF2-40B4-BE49-F238E27FC236}">
                <a16:creationId xmlns:a16="http://schemas.microsoft.com/office/drawing/2014/main" id="{B91E78E4-542E-3BF9-60EB-0A75C5E77BF2}"/>
              </a:ext>
            </a:extLst>
          </p:cNvPr>
          <p:cNvCxnSpPr>
            <a:cxnSpLocks/>
          </p:cNvCxnSpPr>
          <p:nvPr/>
        </p:nvCxnSpPr>
        <p:spPr>
          <a:xfrm>
            <a:off x="1441967" y="4965098"/>
            <a:ext cx="3427745" cy="0"/>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 name="Rectangle 8">
                <a:extLst>
                  <a:ext uri="{FF2B5EF4-FFF2-40B4-BE49-F238E27FC236}">
                    <a16:creationId xmlns:a16="http://schemas.microsoft.com/office/drawing/2014/main" id="{94EE92FC-DB34-FB95-BD1E-9664133A05EE}"/>
                  </a:ext>
                </a:extLst>
              </p:cNvPr>
              <p:cNvSpPr/>
              <p:nvPr/>
            </p:nvSpPr>
            <p:spPr>
              <a:xfrm>
                <a:off x="838200" y="4716264"/>
                <a:ext cx="7182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𝜙</m:t>
                          </m:r>
                        </m:e>
                      </m:d>
                    </m:oMath>
                  </m:oMathPara>
                </a14:m>
                <a:endParaRPr lang="en-US" sz="2400" dirty="0"/>
              </a:p>
            </p:txBody>
          </p:sp>
        </mc:Choice>
        <mc:Fallback xmlns="">
          <p:sp>
            <p:nvSpPr>
              <p:cNvPr id="5"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38200" y="4716264"/>
                <a:ext cx="718274" cy="461665"/>
              </a:xfrm>
              <a:prstGeom prst="rect">
                <a:avLst/>
              </a:prstGeom>
              <a:blipFill>
                <a:blip r:embed="rId3"/>
                <a:stretch>
                  <a:fillRect b="-20000"/>
                </a:stretch>
              </a:blipFill>
            </p:spPr>
            <p:txBody>
              <a:bodyPr/>
              <a:lstStyle/>
              <a:p>
                <a:r>
                  <a:rPr lang="ko-KR" altLang="en-US">
                    <a:noFill/>
                  </a:rPr>
                  <a:t> </a:t>
                </a:r>
              </a:p>
            </p:txBody>
          </p:sp>
        </mc:Fallback>
      </mc:AlternateContent>
      <p:pic>
        <p:nvPicPr>
          <p:cNvPr id="6" name="그림 5"/>
          <p:cNvPicPr>
            <a:picLocks noChangeAspect="1"/>
          </p:cNvPicPr>
          <p:nvPr/>
        </p:nvPicPr>
        <p:blipFill>
          <a:blip r:embed="rId4"/>
          <a:stretch>
            <a:fillRect/>
          </a:stretch>
        </p:blipFill>
        <p:spPr>
          <a:xfrm>
            <a:off x="2618173" y="4741229"/>
            <a:ext cx="571580" cy="447737"/>
          </a:xfrm>
          <a:prstGeom prst="rect">
            <a:avLst/>
          </a:prstGeom>
        </p:spPr>
      </p:pic>
      <p:sp>
        <p:nvSpPr>
          <p:cNvPr id="8" name="직사각형 7"/>
          <p:cNvSpPr/>
          <p:nvPr/>
        </p:nvSpPr>
        <p:spPr>
          <a:xfrm>
            <a:off x="1914623" y="4486940"/>
            <a:ext cx="1998159" cy="217103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ko-KR" altLang="en-US"/>
          </a:p>
        </p:txBody>
      </p:sp>
      <p:cxnSp>
        <p:nvCxnSpPr>
          <p:cNvPr id="12" name="직선 화살표 연결선 11"/>
          <p:cNvCxnSpPr>
            <a:stCxn id="6" idx="2"/>
          </p:cNvCxnSpPr>
          <p:nvPr/>
        </p:nvCxnSpPr>
        <p:spPr>
          <a:xfrm>
            <a:off x="2903963" y="5188966"/>
            <a:ext cx="9739" cy="7456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Connector 3">
            <a:extLst>
              <a:ext uri="{FF2B5EF4-FFF2-40B4-BE49-F238E27FC236}">
                <a16:creationId xmlns:a16="http://schemas.microsoft.com/office/drawing/2014/main" id="{B91E78E4-542E-3BF9-60EB-0A75C5E77BF2}"/>
              </a:ext>
            </a:extLst>
          </p:cNvPr>
          <p:cNvCxnSpPr>
            <a:cxnSpLocks/>
          </p:cNvCxnSpPr>
          <p:nvPr/>
        </p:nvCxnSpPr>
        <p:spPr>
          <a:xfrm>
            <a:off x="7000084" y="4965098"/>
            <a:ext cx="3427745" cy="0"/>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6" name="Rectangle 8">
                <a:extLst>
                  <a:ext uri="{FF2B5EF4-FFF2-40B4-BE49-F238E27FC236}">
                    <a16:creationId xmlns:a16="http://schemas.microsoft.com/office/drawing/2014/main" id="{94EE92FC-DB34-FB95-BD1E-9664133A05EE}"/>
                  </a:ext>
                </a:extLst>
              </p:cNvPr>
              <p:cNvSpPr/>
              <p:nvPr/>
            </p:nvSpPr>
            <p:spPr>
              <a:xfrm>
                <a:off x="6396317" y="4716264"/>
                <a:ext cx="7182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𝜙</m:t>
                          </m:r>
                        </m:e>
                      </m:d>
                    </m:oMath>
                  </m:oMathPara>
                </a14:m>
                <a:endParaRPr lang="en-US" sz="2400" dirty="0"/>
              </a:p>
            </p:txBody>
          </p:sp>
        </mc:Choice>
        <mc:Fallback xmlns="">
          <p:sp>
            <p:nvSpPr>
              <p:cNvPr id="16"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6396317" y="4716264"/>
                <a:ext cx="718274" cy="461665"/>
              </a:xfrm>
              <a:prstGeom prst="rect">
                <a:avLst/>
              </a:prstGeom>
              <a:blipFill>
                <a:blip r:embed="rId5"/>
                <a:stretch>
                  <a:fillRect b="-20000"/>
                </a:stretch>
              </a:blipFill>
            </p:spPr>
            <p:txBody>
              <a:bodyPr/>
              <a:lstStyle/>
              <a:p>
                <a:r>
                  <a:rPr lang="ko-KR" altLang="en-US">
                    <a:noFill/>
                  </a:rPr>
                  <a:t> </a:t>
                </a:r>
              </a:p>
            </p:txBody>
          </p:sp>
        </mc:Fallback>
      </mc:AlternateContent>
      <p:sp>
        <p:nvSpPr>
          <p:cNvPr id="18" name="직사각형 17"/>
          <p:cNvSpPr/>
          <p:nvPr/>
        </p:nvSpPr>
        <p:spPr>
          <a:xfrm>
            <a:off x="7472740" y="4486940"/>
            <a:ext cx="1998159" cy="217103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20" name="Rectangle 8">
                <a:extLst>
                  <a:ext uri="{FF2B5EF4-FFF2-40B4-BE49-F238E27FC236}">
                    <a16:creationId xmlns:a16="http://schemas.microsoft.com/office/drawing/2014/main" id="{94EE92FC-DB34-FB95-BD1E-9664133A05EE}"/>
                  </a:ext>
                </a:extLst>
              </p:cNvPr>
              <p:cNvSpPr/>
              <p:nvPr/>
            </p:nvSpPr>
            <p:spPr>
              <a:xfrm>
                <a:off x="10315412" y="4716263"/>
                <a:ext cx="7182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𝜙</m:t>
                          </m:r>
                        </m:e>
                      </m:d>
                    </m:oMath>
                  </m:oMathPara>
                </a14:m>
                <a:endParaRPr lang="en-US" sz="2400" dirty="0"/>
              </a:p>
            </p:txBody>
          </p:sp>
        </mc:Choice>
        <mc:Fallback xmlns="">
          <p:sp>
            <p:nvSpPr>
              <p:cNvPr id="20"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10315412" y="4716263"/>
                <a:ext cx="718274" cy="461665"/>
              </a:xfrm>
              <a:prstGeom prst="rect">
                <a:avLst/>
              </a:prstGeom>
              <a:blipFill>
                <a:blip r:embed="rId6"/>
                <a:stretch>
                  <a:fillRect b="-20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Rectangle 8">
                <a:extLst>
                  <a:ext uri="{FF2B5EF4-FFF2-40B4-BE49-F238E27FC236}">
                    <a16:creationId xmlns:a16="http://schemas.microsoft.com/office/drawing/2014/main" id="{94EE92FC-DB34-FB95-BD1E-9664133A05EE}"/>
                  </a:ext>
                </a:extLst>
              </p:cNvPr>
              <p:cNvSpPr/>
              <p:nvPr/>
            </p:nvSpPr>
            <p:spPr>
              <a:xfrm>
                <a:off x="4813504" y="4716262"/>
                <a:ext cx="67512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𝑏</m:t>
                          </m:r>
                        </m:e>
                      </m:d>
                    </m:oMath>
                  </m:oMathPara>
                </a14:m>
                <a:endParaRPr lang="en-US" sz="2400" dirty="0"/>
              </a:p>
            </p:txBody>
          </p:sp>
        </mc:Choice>
        <mc:Fallback xmlns="">
          <p:sp>
            <p:nvSpPr>
              <p:cNvPr id="21"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4813504" y="4716262"/>
                <a:ext cx="675121" cy="461665"/>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직사각형 12"/>
              <p:cNvSpPr/>
              <p:nvPr/>
            </p:nvSpPr>
            <p:spPr>
              <a:xfrm>
                <a:off x="2886462" y="5337272"/>
                <a:ext cx="3965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rPr>
                        <m:t>𝑏</m:t>
                      </m:r>
                    </m:oMath>
                  </m:oMathPara>
                </a14:m>
                <a:endParaRPr lang="ko-KR" altLang="en-US" dirty="0"/>
              </a:p>
            </p:txBody>
          </p:sp>
        </mc:Choice>
        <mc:Fallback xmlns="">
          <p:sp>
            <p:nvSpPr>
              <p:cNvPr id="13" name="직사각형 12"/>
              <p:cNvSpPr>
                <a:spLocks noRot="1" noChangeAspect="1" noMove="1" noResize="1" noEditPoints="1" noAdjustHandles="1" noChangeArrowheads="1" noChangeShapeType="1" noTextEdit="1"/>
              </p:cNvSpPr>
              <p:nvPr/>
            </p:nvSpPr>
            <p:spPr>
              <a:xfrm>
                <a:off x="2886462" y="5337272"/>
                <a:ext cx="396519" cy="369332"/>
              </a:xfrm>
              <a:prstGeom prst="rect">
                <a:avLst/>
              </a:prstGeom>
              <a:blipFill>
                <a:blip r:embed="rId8"/>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14189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8" grpId="0" animBg="1"/>
      <p:bldP spid="16" grpId="0"/>
      <p:bldP spid="18" grpId="0" animBg="1"/>
      <p:bldP spid="20" grpId="0"/>
      <p:bldP spid="21" grpId="0"/>
      <p:bldP spid="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 · OpenMo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72520" y="5827059"/>
            <a:ext cx="710461" cy="71046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altLang="ko-KR" sz="4000" dirty="0" err="1" smtClean="0"/>
              <a:t>Elitzur-Vaidman</a:t>
            </a:r>
            <a:r>
              <a:rPr lang="en-US" altLang="ko-KR" sz="4000" dirty="0" smtClean="0"/>
              <a:t> Bomb</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US" altLang="ko-KR" sz="2400" dirty="0" smtClean="0">
                    <a:ea typeface="Cambria Math" panose="02040503050406030204" pitchFamily="18" charset="0"/>
                  </a:rPr>
                  <a:t>We want to distinguish two cases:</a:t>
                </a:r>
              </a:p>
              <a:p>
                <a:r>
                  <a:rPr lang="en-US" altLang="ko-KR" sz="2400" dirty="0" smtClean="0">
                    <a:ea typeface="Cambria Math" panose="02040503050406030204" pitchFamily="18" charset="0"/>
                  </a:rPr>
                  <a:t>If there is no bomb, the box does nothing.</a:t>
                </a:r>
              </a:p>
              <a:p>
                <a:r>
                  <a:rPr lang="en-US" altLang="ko-KR" sz="2400" dirty="0" smtClean="0">
                    <a:ea typeface="Cambria Math" panose="02040503050406030204" pitchFamily="18" charset="0"/>
                  </a:rPr>
                  <a:t>If there is a bomb, the box does measure input</a:t>
                </a:r>
              </a:p>
              <a:p>
                <a:pPr lvl="1"/>
                <a:r>
                  <a:rPr lang="en-US" altLang="ko-KR" sz="2000" dirty="0" smtClean="0">
                    <a:ea typeface="Cambria Math" panose="02040503050406030204" pitchFamily="18" charset="0"/>
                  </a:rPr>
                  <a:t>If the outcome is </a:t>
                </a:r>
                <a14:m>
                  <m:oMath xmlns:m="http://schemas.openxmlformats.org/officeDocument/2006/math">
                    <m:r>
                      <a:rPr lang="en-US" altLang="ko-KR" sz="2000" i="1">
                        <a:latin typeface="Cambria Math" panose="02040503050406030204" pitchFamily="18" charset="0"/>
                      </a:rPr>
                      <m:t>𝑏</m:t>
                    </m:r>
                    <m:r>
                      <a:rPr lang="en-US" altLang="ko-KR" sz="2000" b="0" i="1" smtClean="0">
                        <a:latin typeface="Cambria Math" panose="02040503050406030204" pitchFamily="18" charset="0"/>
                      </a:rPr>
                      <m:t>=0</m:t>
                    </m:r>
                  </m:oMath>
                </a14:m>
                <a:r>
                  <a:rPr lang="en-US" altLang="ko-KR" sz="2000" dirty="0" smtClean="0">
                    <a:ea typeface="Cambria Math" panose="02040503050406030204" pitchFamily="18" charset="0"/>
                  </a:rPr>
                  <a:t>, nothing happens and you get the leftover state </a:t>
                </a:r>
                <a14:m>
                  <m:oMath xmlns:m="http://schemas.openxmlformats.org/officeDocument/2006/math">
                    <m:r>
                      <a:rPr lang="en-US" altLang="ko-KR" sz="2000" b="0" i="1" smtClean="0">
                        <a:latin typeface="Cambria Math" panose="02040503050406030204" pitchFamily="18" charset="0"/>
                      </a:rPr>
                      <m:t>|0⟩</m:t>
                    </m:r>
                  </m:oMath>
                </a14:m>
                <a:endParaRPr lang="en-US" altLang="ko-KR" sz="2000" dirty="0" smtClean="0">
                  <a:ea typeface="Cambria Math" panose="02040503050406030204" pitchFamily="18" charset="0"/>
                </a:endParaRPr>
              </a:p>
              <a:p>
                <a:pPr lvl="1"/>
                <a:r>
                  <a:rPr lang="en-US" altLang="ko-KR" sz="2000" dirty="0" smtClean="0">
                    <a:ea typeface="Cambria Math" panose="02040503050406030204" pitchFamily="18" charset="0"/>
                  </a:rPr>
                  <a:t>If the outcome is </a:t>
                </a:r>
                <a14:m>
                  <m:oMath xmlns:m="http://schemas.openxmlformats.org/officeDocument/2006/math">
                    <m:r>
                      <a:rPr lang="en-US" altLang="ko-KR" sz="2000" i="1">
                        <a:latin typeface="Cambria Math" panose="02040503050406030204" pitchFamily="18" charset="0"/>
                      </a:rPr>
                      <m:t>𝑏</m:t>
                    </m:r>
                    <m:r>
                      <a:rPr lang="en-US" altLang="ko-KR" sz="2000" b="0" i="1" smtClean="0">
                        <a:latin typeface="Cambria Math" panose="02040503050406030204" pitchFamily="18" charset="0"/>
                      </a:rPr>
                      <m:t>=1</m:t>
                    </m:r>
                  </m:oMath>
                </a14:m>
                <a:r>
                  <a:rPr lang="en-US" altLang="ko-KR" sz="2000" dirty="0" smtClean="0">
                    <a:ea typeface="Cambria Math" panose="02040503050406030204" pitchFamily="18" charset="0"/>
                  </a:rPr>
                  <a:t>, the bomb explodes! (You may not care about what the output wire gives you…)</a:t>
                </a: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3"/>
                <a:stretch>
                  <a:fillRect l="-928" t="-1765"/>
                </a:stretch>
              </a:blipFill>
            </p:spPr>
            <p:txBody>
              <a:bodyPr/>
              <a:lstStyle/>
              <a:p>
                <a:r>
                  <a:rPr lang="ko-KR" altLang="en-US">
                    <a:noFill/>
                  </a:rPr>
                  <a:t> </a:t>
                </a:r>
              </a:p>
            </p:txBody>
          </p:sp>
        </mc:Fallback>
      </mc:AlternateContent>
      <p:cxnSp>
        <p:nvCxnSpPr>
          <p:cNvPr id="4" name="Straight Connector 3">
            <a:extLst>
              <a:ext uri="{FF2B5EF4-FFF2-40B4-BE49-F238E27FC236}">
                <a16:creationId xmlns:a16="http://schemas.microsoft.com/office/drawing/2014/main" id="{B91E78E4-542E-3BF9-60EB-0A75C5E77BF2}"/>
              </a:ext>
            </a:extLst>
          </p:cNvPr>
          <p:cNvCxnSpPr>
            <a:cxnSpLocks/>
          </p:cNvCxnSpPr>
          <p:nvPr/>
        </p:nvCxnSpPr>
        <p:spPr>
          <a:xfrm>
            <a:off x="1441967" y="4965098"/>
            <a:ext cx="3427745" cy="0"/>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 name="Rectangle 8">
                <a:extLst>
                  <a:ext uri="{FF2B5EF4-FFF2-40B4-BE49-F238E27FC236}">
                    <a16:creationId xmlns:a16="http://schemas.microsoft.com/office/drawing/2014/main" id="{94EE92FC-DB34-FB95-BD1E-9664133A05EE}"/>
                  </a:ext>
                </a:extLst>
              </p:cNvPr>
              <p:cNvSpPr/>
              <p:nvPr/>
            </p:nvSpPr>
            <p:spPr>
              <a:xfrm>
                <a:off x="838200" y="4716264"/>
                <a:ext cx="7182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𝜙</m:t>
                          </m:r>
                        </m:e>
                      </m:d>
                    </m:oMath>
                  </m:oMathPara>
                </a14:m>
                <a:endParaRPr lang="en-US" sz="2400" dirty="0"/>
              </a:p>
            </p:txBody>
          </p:sp>
        </mc:Choice>
        <mc:Fallback xmlns="">
          <p:sp>
            <p:nvSpPr>
              <p:cNvPr id="5"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838200" y="4716264"/>
                <a:ext cx="718274" cy="461665"/>
              </a:xfrm>
              <a:prstGeom prst="rect">
                <a:avLst/>
              </a:prstGeom>
              <a:blipFill>
                <a:blip r:embed="rId4"/>
                <a:stretch>
                  <a:fillRect b="-20000"/>
                </a:stretch>
              </a:blipFill>
            </p:spPr>
            <p:txBody>
              <a:bodyPr/>
              <a:lstStyle/>
              <a:p>
                <a:r>
                  <a:rPr lang="ko-KR" altLang="en-US">
                    <a:noFill/>
                  </a:rPr>
                  <a:t> </a:t>
                </a:r>
              </a:p>
            </p:txBody>
          </p:sp>
        </mc:Fallback>
      </mc:AlternateContent>
      <p:pic>
        <p:nvPicPr>
          <p:cNvPr id="6" name="그림 5"/>
          <p:cNvPicPr>
            <a:picLocks noChangeAspect="1"/>
          </p:cNvPicPr>
          <p:nvPr/>
        </p:nvPicPr>
        <p:blipFill>
          <a:blip r:embed="rId5"/>
          <a:stretch>
            <a:fillRect/>
          </a:stretch>
        </p:blipFill>
        <p:spPr>
          <a:xfrm>
            <a:off x="2618173" y="4741229"/>
            <a:ext cx="571580" cy="447737"/>
          </a:xfrm>
          <a:prstGeom prst="rect">
            <a:avLst/>
          </a:prstGeom>
        </p:spPr>
      </p:pic>
      <p:sp>
        <p:nvSpPr>
          <p:cNvPr id="8" name="직사각형 7"/>
          <p:cNvSpPr/>
          <p:nvPr/>
        </p:nvSpPr>
        <p:spPr>
          <a:xfrm>
            <a:off x="1914623" y="4486940"/>
            <a:ext cx="1998159" cy="217103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ko-KR" altLang="en-US"/>
          </a:p>
        </p:txBody>
      </p:sp>
      <p:cxnSp>
        <p:nvCxnSpPr>
          <p:cNvPr id="12" name="직선 화살표 연결선 11"/>
          <p:cNvCxnSpPr>
            <a:stCxn id="6" idx="2"/>
          </p:cNvCxnSpPr>
          <p:nvPr/>
        </p:nvCxnSpPr>
        <p:spPr>
          <a:xfrm>
            <a:off x="2903963" y="5188966"/>
            <a:ext cx="9739" cy="7456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Connector 3">
            <a:extLst>
              <a:ext uri="{FF2B5EF4-FFF2-40B4-BE49-F238E27FC236}">
                <a16:creationId xmlns:a16="http://schemas.microsoft.com/office/drawing/2014/main" id="{B91E78E4-542E-3BF9-60EB-0A75C5E77BF2}"/>
              </a:ext>
            </a:extLst>
          </p:cNvPr>
          <p:cNvCxnSpPr>
            <a:cxnSpLocks/>
          </p:cNvCxnSpPr>
          <p:nvPr/>
        </p:nvCxnSpPr>
        <p:spPr>
          <a:xfrm>
            <a:off x="7000084" y="4965098"/>
            <a:ext cx="3427745" cy="0"/>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6" name="Rectangle 8">
                <a:extLst>
                  <a:ext uri="{FF2B5EF4-FFF2-40B4-BE49-F238E27FC236}">
                    <a16:creationId xmlns:a16="http://schemas.microsoft.com/office/drawing/2014/main" id="{94EE92FC-DB34-FB95-BD1E-9664133A05EE}"/>
                  </a:ext>
                </a:extLst>
              </p:cNvPr>
              <p:cNvSpPr/>
              <p:nvPr/>
            </p:nvSpPr>
            <p:spPr>
              <a:xfrm>
                <a:off x="6396317" y="4716264"/>
                <a:ext cx="7182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𝜙</m:t>
                          </m:r>
                        </m:e>
                      </m:d>
                    </m:oMath>
                  </m:oMathPara>
                </a14:m>
                <a:endParaRPr lang="en-US" sz="2400" dirty="0"/>
              </a:p>
            </p:txBody>
          </p:sp>
        </mc:Choice>
        <mc:Fallback xmlns="">
          <p:sp>
            <p:nvSpPr>
              <p:cNvPr id="16"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6396317" y="4716264"/>
                <a:ext cx="718274" cy="461665"/>
              </a:xfrm>
              <a:prstGeom prst="rect">
                <a:avLst/>
              </a:prstGeom>
              <a:blipFill>
                <a:blip r:embed="rId6"/>
                <a:stretch>
                  <a:fillRect b="-20000"/>
                </a:stretch>
              </a:blipFill>
            </p:spPr>
            <p:txBody>
              <a:bodyPr/>
              <a:lstStyle/>
              <a:p>
                <a:r>
                  <a:rPr lang="ko-KR" altLang="en-US">
                    <a:noFill/>
                  </a:rPr>
                  <a:t> </a:t>
                </a:r>
              </a:p>
            </p:txBody>
          </p:sp>
        </mc:Fallback>
      </mc:AlternateContent>
      <p:sp>
        <p:nvSpPr>
          <p:cNvPr id="18" name="직사각형 17"/>
          <p:cNvSpPr/>
          <p:nvPr/>
        </p:nvSpPr>
        <p:spPr>
          <a:xfrm>
            <a:off x="7472740" y="4486940"/>
            <a:ext cx="1998159" cy="217103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20" name="Rectangle 8">
                <a:extLst>
                  <a:ext uri="{FF2B5EF4-FFF2-40B4-BE49-F238E27FC236}">
                    <a16:creationId xmlns:a16="http://schemas.microsoft.com/office/drawing/2014/main" id="{94EE92FC-DB34-FB95-BD1E-9664133A05EE}"/>
                  </a:ext>
                </a:extLst>
              </p:cNvPr>
              <p:cNvSpPr/>
              <p:nvPr/>
            </p:nvSpPr>
            <p:spPr>
              <a:xfrm>
                <a:off x="10315412" y="4716263"/>
                <a:ext cx="7182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𝜙</m:t>
                          </m:r>
                        </m:e>
                      </m:d>
                    </m:oMath>
                  </m:oMathPara>
                </a14:m>
                <a:endParaRPr lang="en-US" sz="2400" dirty="0"/>
              </a:p>
            </p:txBody>
          </p:sp>
        </mc:Choice>
        <mc:Fallback xmlns="">
          <p:sp>
            <p:nvSpPr>
              <p:cNvPr id="20"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10315412" y="4716263"/>
                <a:ext cx="718274" cy="461665"/>
              </a:xfrm>
              <a:prstGeom prst="rect">
                <a:avLst/>
              </a:prstGeom>
              <a:blipFill>
                <a:blip r:embed="rId7"/>
                <a:stretch>
                  <a:fillRect b="-20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Rectangle 8">
                <a:extLst>
                  <a:ext uri="{FF2B5EF4-FFF2-40B4-BE49-F238E27FC236}">
                    <a16:creationId xmlns:a16="http://schemas.microsoft.com/office/drawing/2014/main" id="{94EE92FC-DB34-FB95-BD1E-9664133A05EE}"/>
                  </a:ext>
                </a:extLst>
              </p:cNvPr>
              <p:cNvSpPr/>
              <p:nvPr/>
            </p:nvSpPr>
            <p:spPr>
              <a:xfrm>
                <a:off x="4813504" y="4716262"/>
                <a:ext cx="67512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𝑏</m:t>
                          </m:r>
                        </m:e>
                      </m:d>
                    </m:oMath>
                  </m:oMathPara>
                </a14:m>
                <a:endParaRPr lang="en-US" sz="2400" dirty="0"/>
              </a:p>
            </p:txBody>
          </p:sp>
        </mc:Choice>
        <mc:Fallback xmlns="">
          <p:sp>
            <p:nvSpPr>
              <p:cNvPr id="21"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4813504" y="4716262"/>
                <a:ext cx="675121" cy="461665"/>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직사각형 12"/>
              <p:cNvSpPr/>
              <p:nvPr/>
            </p:nvSpPr>
            <p:spPr>
              <a:xfrm>
                <a:off x="2886462" y="5337272"/>
                <a:ext cx="3965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rPr>
                        <m:t>𝑏</m:t>
                      </m:r>
                    </m:oMath>
                  </m:oMathPara>
                </a14:m>
                <a:endParaRPr lang="ko-KR" altLang="en-US" dirty="0"/>
              </a:p>
            </p:txBody>
          </p:sp>
        </mc:Choice>
        <mc:Fallback xmlns="">
          <p:sp>
            <p:nvSpPr>
              <p:cNvPr id="13" name="직사각형 12"/>
              <p:cNvSpPr>
                <a:spLocks noRot="1" noChangeAspect="1" noMove="1" noResize="1" noEditPoints="1" noAdjustHandles="1" noChangeArrowheads="1" noChangeShapeType="1" noTextEdit="1"/>
              </p:cNvSpPr>
              <p:nvPr/>
            </p:nvSpPr>
            <p:spPr>
              <a:xfrm>
                <a:off x="2886462" y="5337272"/>
                <a:ext cx="396519" cy="369332"/>
              </a:xfrm>
              <a:prstGeom prst="rect">
                <a:avLst/>
              </a:prstGeom>
              <a:blipFill>
                <a:blip r:embed="rId9"/>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52695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altLang="ko-KR" sz="4000" dirty="0" smtClean="0"/>
              <a:t>The probing strategy</a:t>
            </a:r>
            <a:endParaRPr lang="en-US" sz="4000" dirty="0"/>
          </a:p>
        </p:txBody>
      </p:sp>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US" altLang="ko-KR" sz="2400" dirty="0" smtClean="0">
                <a:ea typeface="Cambria Math" panose="02040503050406030204" pitchFamily="18" charset="0"/>
              </a:rPr>
              <a:t>Classically, you cannot do anything (as long as you are alive)</a:t>
            </a: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Using quantum computing?</a:t>
            </a: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Take 1:</a:t>
            </a:r>
          </a:p>
          <a:p>
            <a:pPr marL="0" indent="0">
              <a:buNone/>
            </a:pPr>
            <a:endParaRPr lang="en-US" altLang="ko-KR" sz="2400" dirty="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Analysis is almost the same with the previous example</a:t>
            </a:r>
          </a:p>
        </p:txBody>
      </p:sp>
      <mc:AlternateContent xmlns:mc="http://schemas.openxmlformats.org/markup-compatibility/2006" xmlns:a14="http://schemas.microsoft.com/office/drawing/2010/main">
        <mc:Choice Requires="a14">
          <p:sp>
            <p:nvSpPr>
              <p:cNvPr id="27" name="Rectangle 8">
                <a:extLst>
                  <a:ext uri="{FF2B5EF4-FFF2-40B4-BE49-F238E27FC236}">
                    <a16:creationId xmlns:a16="http://schemas.microsoft.com/office/drawing/2014/main" id="{94EE92FC-DB34-FB95-BD1E-9664133A05EE}"/>
                  </a:ext>
                </a:extLst>
              </p:cNvPr>
              <p:cNvSpPr/>
              <p:nvPr/>
            </p:nvSpPr>
            <p:spPr>
              <a:xfrm>
                <a:off x="4624951" y="4340031"/>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27"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4624951" y="4340031"/>
                <a:ext cx="671594" cy="461665"/>
              </a:xfrm>
              <a:prstGeom prst="rect">
                <a:avLst/>
              </a:prstGeom>
              <a:blipFill>
                <a:blip r:embed="rId2"/>
                <a:stretch>
                  <a:fillRect/>
                </a:stretch>
              </a:blipFill>
            </p:spPr>
            <p:txBody>
              <a:bodyPr/>
              <a:lstStyle/>
              <a:p>
                <a:r>
                  <a:rPr lang="ko-KR" altLang="en-US">
                    <a:noFill/>
                  </a:rPr>
                  <a:t> </a:t>
                </a:r>
              </a:p>
            </p:txBody>
          </p:sp>
        </mc:Fallback>
      </mc:AlternateContent>
      <p:cxnSp>
        <p:nvCxnSpPr>
          <p:cNvPr id="28" name="Straight Connector 3">
            <a:extLst>
              <a:ext uri="{FF2B5EF4-FFF2-40B4-BE49-F238E27FC236}">
                <a16:creationId xmlns:a16="http://schemas.microsoft.com/office/drawing/2014/main" id="{B91E78E4-542E-3BF9-60EB-0A75C5E77BF2}"/>
              </a:ext>
            </a:extLst>
          </p:cNvPr>
          <p:cNvCxnSpPr>
            <a:cxnSpLocks/>
            <a:stCxn id="27" idx="3"/>
          </p:cNvCxnSpPr>
          <p:nvPr/>
        </p:nvCxnSpPr>
        <p:spPr>
          <a:xfrm>
            <a:off x="5296545" y="4570864"/>
            <a:ext cx="2576005" cy="10100"/>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직사각형 28"/>
              <p:cNvSpPr/>
              <p:nvPr/>
            </p:nvSpPr>
            <p:spPr>
              <a:xfrm>
                <a:off x="5460660" y="4356073"/>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𝑅</m:t>
                      </m:r>
                    </m:oMath>
                  </m:oMathPara>
                </a14:m>
                <a:endParaRPr lang="ko-KR" altLang="en-US" sz="2400" dirty="0"/>
              </a:p>
            </p:txBody>
          </p:sp>
        </mc:Choice>
        <mc:Fallback xmlns="">
          <p:sp>
            <p:nvSpPr>
              <p:cNvPr id="29" name="직사각형 28"/>
              <p:cNvSpPr>
                <a:spLocks noRot="1" noChangeAspect="1" noMove="1" noResize="1" noEditPoints="1" noAdjustHandles="1" noChangeArrowheads="1" noChangeShapeType="1" noTextEdit="1"/>
              </p:cNvSpPr>
              <p:nvPr/>
            </p:nvSpPr>
            <p:spPr>
              <a:xfrm>
                <a:off x="5460660" y="4356073"/>
                <a:ext cx="461665" cy="461665"/>
              </a:xfrm>
              <a:prstGeom prst="rect">
                <a:avLst/>
              </a:prstGeom>
              <a:blipFill>
                <a:blip r:embed="rId3"/>
                <a:stretch>
                  <a:fillRect/>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0" name="직사각형 29"/>
              <p:cNvSpPr/>
              <p:nvPr/>
            </p:nvSpPr>
            <p:spPr>
              <a:xfrm>
                <a:off x="6151143" y="4340030"/>
                <a:ext cx="775227"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𝐵𝑂𝑋</m:t>
                      </m:r>
                    </m:oMath>
                  </m:oMathPara>
                </a14:m>
                <a:endParaRPr lang="ko-KR" altLang="en-US" sz="2400" dirty="0"/>
              </a:p>
            </p:txBody>
          </p:sp>
        </mc:Choice>
        <mc:Fallback xmlns="">
          <p:sp>
            <p:nvSpPr>
              <p:cNvPr id="30" name="직사각형 29"/>
              <p:cNvSpPr>
                <a:spLocks noRot="1" noChangeAspect="1" noMove="1" noResize="1" noEditPoints="1" noAdjustHandles="1" noChangeArrowheads="1" noChangeShapeType="1" noTextEdit="1"/>
              </p:cNvSpPr>
              <p:nvPr/>
            </p:nvSpPr>
            <p:spPr>
              <a:xfrm>
                <a:off x="6151143" y="4340030"/>
                <a:ext cx="775227" cy="461665"/>
              </a:xfrm>
              <a:prstGeom prst="rect">
                <a:avLst/>
              </a:prstGeom>
              <a:blipFill>
                <a:blip r:embed="rId4"/>
                <a:stretch>
                  <a:fillRect l="-4651" r="-3101"/>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1" name="직사각형 30"/>
              <p:cNvSpPr/>
              <p:nvPr/>
            </p:nvSpPr>
            <p:spPr>
              <a:xfrm>
                <a:off x="7141361" y="4356073"/>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i="1">
                          <a:latin typeface="Cambria Math" panose="02040503050406030204" pitchFamily="18" charset="0"/>
                        </a:rPr>
                        <m:t>𝑅</m:t>
                      </m:r>
                    </m:oMath>
                  </m:oMathPara>
                </a14:m>
                <a:endParaRPr lang="ko-KR" altLang="en-US" sz="2400" dirty="0"/>
              </a:p>
            </p:txBody>
          </p:sp>
        </mc:Choice>
        <mc:Fallback xmlns="">
          <p:sp>
            <p:nvSpPr>
              <p:cNvPr id="31" name="직사각형 30"/>
              <p:cNvSpPr>
                <a:spLocks noRot="1" noChangeAspect="1" noMove="1" noResize="1" noEditPoints="1" noAdjustHandles="1" noChangeArrowheads="1" noChangeShapeType="1" noTextEdit="1"/>
              </p:cNvSpPr>
              <p:nvPr/>
            </p:nvSpPr>
            <p:spPr>
              <a:xfrm>
                <a:off x="7141361" y="4356073"/>
                <a:ext cx="461665" cy="461665"/>
              </a:xfrm>
              <a:prstGeom prst="rect">
                <a:avLst/>
              </a:prstGeom>
              <a:blipFill>
                <a:blip r:embed="rId5"/>
                <a:stretch>
                  <a:fillRect/>
                </a:stretch>
              </a:blipFill>
              <a:ln>
                <a:solidFill>
                  <a:schemeClr val="tx1"/>
                </a:solidFill>
              </a:ln>
            </p:spPr>
            <p:txBody>
              <a:bodyPr/>
              <a:lstStyle/>
              <a:p>
                <a:r>
                  <a:rPr lang="ko-KR" altLang="en-US">
                    <a:noFill/>
                  </a:rPr>
                  <a:t> </a:t>
                </a:r>
              </a:p>
            </p:txBody>
          </p:sp>
        </mc:Fallback>
      </mc:AlternateContent>
      <p:pic>
        <p:nvPicPr>
          <p:cNvPr id="35" name="그림 34"/>
          <p:cNvPicPr>
            <a:picLocks noChangeAspect="1"/>
          </p:cNvPicPr>
          <p:nvPr/>
        </p:nvPicPr>
        <p:blipFill>
          <a:blip r:embed="rId6"/>
          <a:stretch>
            <a:fillRect/>
          </a:stretch>
        </p:blipFill>
        <p:spPr>
          <a:xfrm>
            <a:off x="7815578" y="4340030"/>
            <a:ext cx="571580" cy="447737"/>
          </a:xfrm>
          <a:prstGeom prst="rect">
            <a:avLst/>
          </a:prstGeom>
        </p:spPr>
      </p:pic>
      <mc:AlternateContent xmlns:mc="http://schemas.openxmlformats.org/markup-compatibility/2006" xmlns:a14="http://schemas.microsoft.com/office/drawing/2010/main">
        <mc:Choice Requires="a14">
          <p:sp>
            <p:nvSpPr>
              <p:cNvPr id="4" name="직사각형 3"/>
              <p:cNvSpPr/>
              <p:nvPr/>
            </p:nvSpPr>
            <p:spPr>
              <a:xfrm>
                <a:off x="7444712" y="3426881"/>
                <a:ext cx="4261551" cy="394210"/>
              </a:xfrm>
              <a:prstGeom prst="rect">
                <a:avLst/>
              </a:prstGeom>
            </p:spPr>
            <p:txBody>
              <a:bodyPr wrap="none">
                <a:spAutoFit/>
              </a:bodyPr>
              <a:lstStyle/>
              <a:p>
                <a14:m>
                  <m:oMath xmlns:m="http://schemas.openxmlformats.org/officeDocument/2006/math">
                    <m:r>
                      <a:rPr lang="en-US" altLang="ko-KR" i="1" dirty="0" smtClean="0">
                        <a:latin typeface="Cambria Math" panose="02040503050406030204" pitchFamily="18" charset="0"/>
                        <a:ea typeface="Cambria Math" panose="02040503050406030204" pitchFamily="18" charset="0"/>
                      </a:rPr>
                      <m:t>𝑅</m:t>
                    </m:r>
                    <m:r>
                      <a:rPr lang="en-US" altLang="ko-KR" i="1" dirty="0" smtClean="0">
                        <a:latin typeface="Cambria Math" panose="02040503050406030204" pitchFamily="18" charset="0"/>
                        <a:ea typeface="Cambria Math" panose="02040503050406030204" pitchFamily="18" charset="0"/>
                      </a:rPr>
                      <m:t>=</m:t>
                    </m:r>
                    <m:sSub>
                      <m:sSubPr>
                        <m:ctrlPr>
                          <a:rPr lang="en-US" altLang="ko-KR" i="1" dirty="0">
                            <a:latin typeface="Cambria Math" panose="02040503050406030204" pitchFamily="18" charset="0"/>
                            <a:ea typeface="Cambria Math" panose="02040503050406030204" pitchFamily="18" charset="0"/>
                          </a:rPr>
                        </m:ctrlPr>
                      </m:sSubPr>
                      <m:e>
                        <m:r>
                          <a:rPr lang="en-US" altLang="ko-KR" i="1" dirty="0">
                            <a:latin typeface="Cambria Math" panose="02040503050406030204" pitchFamily="18" charset="0"/>
                            <a:ea typeface="Cambria Math" panose="02040503050406030204" pitchFamily="18" charset="0"/>
                          </a:rPr>
                          <m:t>𝑅</m:t>
                        </m:r>
                      </m:e>
                      <m:sub>
                        <m:r>
                          <a:rPr lang="en-US" altLang="ko-KR" i="1" dirty="0">
                            <a:latin typeface="Cambria Math" panose="02040503050406030204" pitchFamily="18" charset="0"/>
                            <a:ea typeface="Cambria Math" panose="02040503050406030204" pitchFamily="18" charset="0"/>
                          </a:rPr>
                          <m:t>𝜋</m:t>
                        </m:r>
                        <m:r>
                          <a:rPr lang="en-US" altLang="ko-KR" i="1" dirty="0">
                            <a:latin typeface="Cambria Math" panose="02040503050406030204" pitchFamily="18" charset="0"/>
                            <a:ea typeface="Cambria Math" panose="02040503050406030204" pitchFamily="18" charset="0"/>
                          </a:rPr>
                          <m:t>/4</m:t>
                        </m:r>
                      </m:sub>
                    </m:sSub>
                  </m:oMath>
                </a14:m>
                <a:r>
                  <a:rPr lang="en-US" altLang="ko-KR" dirty="0">
                    <a:ea typeface="Cambria Math" panose="02040503050406030204" pitchFamily="18" charset="0"/>
                  </a:rPr>
                  <a:t>, </a:t>
                </a:r>
                <a:r>
                  <a:rPr lang="en-US" altLang="ko-KR" dirty="0" smtClean="0">
                    <a:ea typeface="Cambria Math" panose="02040503050406030204" pitchFamily="18" charset="0"/>
                  </a:rPr>
                  <a:t>so that </a:t>
                </a:r>
                <a14:m>
                  <m:oMath xmlns:m="http://schemas.openxmlformats.org/officeDocument/2006/math">
                    <m:r>
                      <a:rPr lang="en-US" altLang="ko-KR" i="1" dirty="0">
                        <a:latin typeface="Cambria Math" panose="02040503050406030204" pitchFamily="18" charset="0"/>
                        <a:ea typeface="Cambria Math" panose="02040503050406030204" pitchFamily="18" charset="0"/>
                      </a:rPr>
                      <m:t>𝑅</m:t>
                    </m:r>
                    <m:d>
                      <m:dPr>
                        <m:begChr m:val="|"/>
                        <m:endChr m:val="⟩"/>
                        <m:ctrlPr>
                          <a:rPr lang="en-US" altLang="ko-KR" i="1" dirty="0">
                            <a:latin typeface="Cambria Math" panose="02040503050406030204" pitchFamily="18" charset="0"/>
                            <a:ea typeface="Cambria Math" panose="02040503050406030204" pitchFamily="18" charset="0"/>
                          </a:rPr>
                        </m:ctrlPr>
                      </m:dPr>
                      <m:e>
                        <m:r>
                          <a:rPr lang="en-US" altLang="ko-KR" i="1" dirty="0">
                            <a:latin typeface="Cambria Math" panose="02040503050406030204" pitchFamily="18" charset="0"/>
                            <a:ea typeface="Cambria Math" panose="02040503050406030204" pitchFamily="18" charset="0"/>
                          </a:rPr>
                          <m:t>0</m:t>
                        </m:r>
                      </m:e>
                    </m:d>
                    <m:r>
                      <a:rPr lang="en-US" altLang="ko-KR" i="1" dirty="0">
                        <a:latin typeface="Cambria Math" panose="02040503050406030204" pitchFamily="18" charset="0"/>
                        <a:ea typeface="Cambria Math" panose="02040503050406030204" pitchFamily="18" charset="0"/>
                      </a:rPr>
                      <m:t>=</m:t>
                    </m:r>
                    <m:d>
                      <m:dPr>
                        <m:begChr m:val="|"/>
                        <m:endChr m:val="⟩"/>
                        <m:ctrlPr>
                          <a:rPr lang="en-US" altLang="ko-KR" i="1" dirty="0">
                            <a:latin typeface="Cambria Math" panose="02040503050406030204" pitchFamily="18" charset="0"/>
                            <a:ea typeface="Cambria Math" panose="02040503050406030204" pitchFamily="18" charset="0"/>
                          </a:rPr>
                        </m:ctrlPr>
                      </m:dPr>
                      <m:e>
                        <m:r>
                          <a:rPr lang="en-US" altLang="ko-KR" i="1" dirty="0">
                            <a:latin typeface="Cambria Math" panose="02040503050406030204" pitchFamily="18" charset="0"/>
                            <a:ea typeface="Cambria Math" panose="02040503050406030204" pitchFamily="18" charset="0"/>
                          </a:rPr>
                          <m:t>+</m:t>
                        </m:r>
                      </m:e>
                    </m:d>
                    <m:r>
                      <a:rPr lang="en-US" altLang="ko-KR" b="0" i="1" dirty="0" smtClean="0">
                        <a:latin typeface="Cambria Math" panose="02040503050406030204" pitchFamily="18" charset="0"/>
                        <a:ea typeface="Cambria Math" panose="02040503050406030204" pitchFamily="18" charset="0"/>
                      </a:rPr>
                      <m:t>, </m:t>
                    </m:r>
                    <m:r>
                      <a:rPr lang="en-US" altLang="ko-KR" b="0" i="1" dirty="0" smtClean="0">
                        <a:latin typeface="Cambria Math" panose="02040503050406030204" pitchFamily="18" charset="0"/>
                        <a:ea typeface="Cambria Math" panose="02040503050406030204" pitchFamily="18" charset="0"/>
                      </a:rPr>
                      <m:t>𝑅</m:t>
                    </m:r>
                    <m:d>
                      <m:dPr>
                        <m:begChr m:val="|"/>
                        <m:endChr m:val="⟩"/>
                        <m:ctrlPr>
                          <a:rPr lang="en-US" altLang="ko-KR" b="0" i="1" dirty="0" smtClean="0">
                            <a:latin typeface="Cambria Math" panose="02040503050406030204" pitchFamily="18" charset="0"/>
                            <a:ea typeface="Cambria Math" panose="02040503050406030204" pitchFamily="18" charset="0"/>
                          </a:rPr>
                        </m:ctrlPr>
                      </m:dPr>
                      <m:e>
                        <m:r>
                          <a:rPr lang="en-US" altLang="ko-KR" b="0" i="1" dirty="0" smtClean="0">
                            <a:latin typeface="Cambria Math" panose="02040503050406030204" pitchFamily="18" charset="0"/>
                            <a:ea typeface="Cambria Math" panose="02040503050406030204" pitchFamily="18" charset="0"/>
                          </a:rPr>
                          <m:t>+</m:t>
                        </m:r>
                      </m:e>
                    </m:d>
                    <m:r>
                      <a:rPr lang="en-US" altLang="ko-KR" b="0" i="1" dirty="0" smtClean="0">
                        <a:latin typeface="Cambria Math" panose="02040503050406030204" pitchFamily="18" charset="0"/>
                        <a:ea typeface="Cambria Math" panose="02040503050406030204" pitchFamily="18" charset="0"/>
                      </a:rPr>
                      <m:t>=|1⟩</m:t>
                    </m:r>
                  </m:oMath>
                </a14:m>
                <a:endParaRPr lang="en-US" altLang="ko-KR" dirty="0">
                  <a:ea typeface="Cambria Math" panose="02040503050406030204" pitchFamily="18" charset="0"/>
                </a:endParaRPr>
              </a:p>
            </p:txBody>
          </p:sp>
        </mc:Choice>
        <mc:Fallback xmlns="">
          <p:sp>
            <p:nvSpPr>
              <p:cNvPr id="4" name="직사각형 3"/>
              <p:cNvSpPr>
                <a:spLocks noRot="1" noChangeAspect="1" noMove="1" noResize="1" noEditPoints="1" noAdjustHandles="1" noChangeArrowheads="1" noChangeShapeType="1" noTextEdit="1"/>
              </p:cNvSpPr>
              <p:nvPr/>
            </p:nvSpPr>
            <p:spPr>
              <a:xfrm>
                <a:off x="7444712" y="3426881"/>
                <a:ext cx="4261551" cy="394210"/>
              </a:xfrm>
              <a:prstGeom prst="rect">
                <a:avLst/>
              </a:prstGeom>
              <a:blipFill>
                <a:blip r:embed="rId7"/>
                <a:stretch>
                  <a:fillRect t="-9231" b="-15385"/>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67601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animBg="1"/>
      <p:bldP spid="30" grpId="0" animBg="1"/>
      <p:bldP spid="31" grpId="0" animBg="1"/>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altLang="ko-KR" sz="4000" dirty="0" smtClean="0"/>
              <a:t>One more gate</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r>
                  <a:rPr lang="en-CA" sz="2400" dirty="0" smtClean="0"/>
                  <a:t>Quantum rotation gate </a:t>
                </a:r>
                <a14:m>
                  <m:oMath xmlns:m="http://schemas.openxmlformats.org/officeDocument/2006/math">
                    <m:sSub>
                      <m:sSubPr>
                        <m:ctrlPr>
                          <a:rPr lang="en-US" altLang="ko-KR" sz="2400" b="0" i="1" smtClean="0">
                            <a:solidFill>
                              <a:schemeClr val="tx1"/>
                            </a:solidFill>
                            <a:latin typeface="Cambria Math" panose="02040503050406030204" pitchFamily="18" charset="0"/>
                            <a:ea typeface="Cambria Math" panose="02040503050406030204" pitchFamily="18" charset="0"/>
                          </a:rPr>
                        </m:ctrlPr>
                      </m:sSubPr>
                      <m:e>
                        <m:r>
                          <a:rPr lang="en-US" altLang="ko-KR" sz="2400" b="0" i="1" smtClean="0">
                            <a:solidFill>
                              <a:schemeClr val="tx1"/>
                            </a:solidFill>
                            <a:latin typeface="Cambria Math" panose="02040503050406030204" pitchFamily="18" charset="0"/>
                            <a:ea typeface="Cambria Math" panose="02040503050406030204" pitchFamily="18" charset="0"/>
                          </a:rPr>
                          <m:t>𝑅</m:t>
                        </m:r>
                      </m:e>
                      <m:sub>
                        <m:r>
                          <a:rPr lang="en-US" altLang="ko-KR" sz="2400" b="0" i="1" smtClean="0">
                            <a:solidFill>
                              <a:schemeClr val="tx1"/>
                            </a:solidFill>
                            <a:latin typeface="Cambria Math" panose="02040503050406030204" pitchFamily="18" charset="0"/>
                            <a:ea typeface="Cambria Math" panose="02040503050406030204" pitchFamily="18" charset="0"/>
                          </a:rPr>
                          <m:t>𝜃</m:t>
                        </m:r>
                      </m:sub>
                    </m:sSub>
                    <m:r>
                      <a:rPr lang="en-US" altLang="ko-KR" sz="2400" i="1" smtClean="0">
                        <a:solidFill>
                          <a:schemeClr val="tx1"/>
                        </a:solidFill>
                        <a:latin typeface="Cambria Math" panose="02040503050406030204" pitchFamily="18" charset="0"/>
                        <a:ea typeface="Cambria Math" panose="02040503050406030204" pitchFamily="18" charset="0"/>
                      </a:rPr>
                      <m:t>=</m:t>
                    </m:r>
                    <m:d>
                      <m:dPr>
                        <m:ctrlPr>
                          <a:rPr lang="en-US" altLang="ko-KR" sz="2400"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ko-KR" sz="2400" i="1">
                                <a:solidFill>
                                  <a:schemeClr val="tx1"/>
                                </a:solidFill>
                                <a:latin typeface="Cambria Math" panose="02040503050406030204" pitchFamily="18" charset="0"/>
                                <a:ea typeface="Cambria Math" panose="02040503050406030204" pitchFamily="18" charset="0"/>
                              </a:rPr>
                            </m:ctrlPr>
                          </m:mPr>
                          <m:mr>
                            <m:e>
                              <m:func>
                                <m:funcPr>
                                  <m:ctrlPr>
                                    <a:rPr lang="en-US" altLang="ko-KR" sz="2400" b="0" i="1" smtClean="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ko-KR" sz="2400" b="0" i="0" smtClean="0">
                                      <a:solidFill>
                                        <a:schemeClr val="tx1"/>
                                      </a:solidFill>
                                      <a:latin typeface="Cambria Math" panose="02040503050406030204" pitchFamily="18" charset="0"/>
                                      <a:ea typeface="Cambria Math" panose="02040503050406030204" pitchFamily="18" charset="0"/>
                                    </a:rPr>
                                    <m:t>c</m:t>
                                  </m:r>
                                  <m:r>
                                    <m:rPr>
                                      <m:sty m:val="p"/>
                                    </m:rPr>
                                    <a:rPr lang="en-US" altLang="ko-KR" sz="2400" b="0" i="0" smtClean="0">
                                      <a:solidFill>
                                        <a:schemeClr val="tx1"/>
                                      </a:solidFill>
                                      <a:latin typeface="Cambria Math" panose="02040503050406030204" pitchFamily="18" charset="0"/>
                                      <a:ea typeface="Cambria Math" panose="02040503050406030204" pitchFamily="18" charset="0"/>
                                    </a:rPr>
                                    <m:t>os</m:t>
                                  </m:r>
                                </m:fName>
                                <m:e>
                                  <m:r>
                                    <m:rPr>
                                      <m:brk m:alnAt="7"/>
                                    </m:rPr>
                                    <a:rPr lang="en-US" altLang="ko-KR" sz="2400" b="0" i="1" smtClean="0">
                                      <a:solidFill>
                                        <a:schemeClr val="tx1"/>
                                      </a:solidFill>
                                      <a:latin typeface="Cambria Math" panose="02040503050406030204" pitchFamily="18" charset="0"/>
                                      <a:ea typeface="Cambria Math" panose="02040503050406030204" pitchFamily="18" charset="0"/>
                                    </a:rPr>
                                    <m:t>𝜃</m:t>
                                  </m:r>
                                </m:e>
                              </m:func>
                            </m:e>
                            <m:e>
                              <m:r>
                                <a:rPr lang="en-US" altLang="ko-KR" sz="2400" b="0" i="1" smtClean="0">
                                  <a:solidFill>
                                    <a:schemeClr val="tx1"/>
                                  </a:solidFill>
                                  <a:latin typeface="Cambria Math" panose="02040503050406030204" pitchFamily="18" charset="0"/>
                                  <a:ea typeface="Cambria Math" panose="02040503050406030204" pitchFamily="18" charset="0"/>
                                </a:rPr>
                                <m:t>−</m:t>
                              </m:r>
                              <m:func>
                                <m:funcPr>
                                  <m:ctrlPr>
                                    <a:rPr lang="en-US" altLang="ko-KR" sz="2400" b="0" i="1" smtClean="0">
                                      <a:solidFill>
                                        <a:schemeClr val="tx1"/>
                                      </a:solidFill>
                                      <a:latin typeface="Cambria Math" panose="02040503050406030204" pitchFamily="18" charset="0"/>
                                      <a:ea typeface="Cambria Math" panose="02040503050406030204" pitchFamily="18" charset="0"/>
                                    </a:rPr>
                                  </m:ctrlPr>
                                </m:funcPr>
                                <m:fName>
                                  <m:r>
                                    <m:rPr>
                                      <m:sty m:val="p"/>
                                    </m:rPr>
                                    <a:rPr lang="en-US" altLang="ko-KR" sz="2400" b="0" i="0" smtClean="0">
                                      <a:solidFill>
                                        <a:schemeClr val="tx1"/>
                                      </a:solidFill>
                                      <a:latin typeface="Cambria Math" panose="02040503050406030204" pitchFamily="18" charset="0"/>
                                      <a:ea typeface="Cambria Math" panose="02040503050406030204" pitchFamily="18" charset="0"/>
                                    </a:rPr>
                                    <m:t>sin</m:t>
                                  </m:r>
                                </m:fName>
                                <m:e>
                                  <m:r>
                                    <a:rPr lang="en-US" altLang="ko-KR" sz="2400" b="0" i="1" smtClean="0">
                                      <a:solidFill>
                                        <a:schemeClr val="tx1"/>
                                      </a:solidFill>
                                      <a:latin typeface="Cambria Math" panose="02040503050406030204" pitchFamily="18" charset="0"/>
                                      <a:ea typeface="Cambria Math" panose="02040503050406030204" pitchFamily="18" charset="0"/>
                                    </a:rPr>
                                    <m:t>𝜃</m:t>
                                  </m:r>
                                </m:e>
                              </m:func>
                            </m:e>
                          </m:mr>
                          <m:mr>
                            <m:e>
                              <m:func>
                                <m:funcPr>
                                  <m:ctrlPr>
                                    <a:rPr lang="en-US" altLang="ko-KR" sz="2400" b="0" i="1" smtClean="0">
                                      <a:solidFill>
                                        <a:schemeClr val="tx1"/>
                                      </a:solidFill>
                                      <a:latin typeface="Cambria Math" panose="02040503050406030204" pitchFamily="18" charset="0"/>
                                      <a:ea typeface="Cambria Math" panose="02040503050406030204" pitchFamily="18" charset="0"/>
                                    </a:rPr>
                                  </m:ctrlPr>
                                </m:funcPr>
                                <m:fName>
                                  <m:r>
                                    <m:rPr>
                                      <m:sty m:val="p"/>
                                    </m:rPr>
                                    <a:rPr lang="en-US" altLang="ko-KR" sz="2400" b="0" i="0" smtClean="0">
                                      <a:solidFill>
                                        <a:schemeClr val="tx1"/>
                                      </a:solidFill>
                                      <a:latin typeface="Cambria Math" panose="02040503050406030204" pitchFamily="18" charset="0"/>
                                      <a:ea typeface="Cambria Math" panose="02040503050406030204" pitchFamily="18" charset="0"/>
                                    </a:rPr>
                                    <m:t>sin</m:t>
                                  </m:r>
                                </m:fName>
                                <m:e>
                                  <m:r>
                                    <a:rPr lang="en-US" altLang="ko-KR" sz="2400" b="0" i="1" smtClean="0">
                                      <a:solidFill>
                                        <a:schemeClr val="tx1"/>
                                      </a:solidFill>
                                      <a:latin typeface="Cambria Math" panose="02040503050406030204" pitchFamily="18" charset="0"/>
                                      <a:ea typeface="Cambria Math" panose="02040503050406030204" pitchFamily="18" charset="0"/>
                                    </a:rPr>
                                    <m:t>𝜃</m:t>
                                  </m:r>
                                </m:e>
                              </m:func>
                            </m:e>
                            <m:e>
                              <m:func>
                                <m:funcPr>
                                  <m:ctrlPr>
                                    <a:rPr lang="en-US" altLang="ko-KR" sz="2400" b="0" i="1" smtClean="0">
                                      <a:solidFill>
                                        <a:schemeClr val="tx1"/>
                                      </a:solidFill>
                                      <a:latin typeface="Cambria Math" panose="02040503050406030204" pitchFamily="18" charset="0"/>
                                      <a:ea typeface="Cambria Math" panose="02040503050406030204" pitchFamily="18" charset="0"/>
                                    </a:rPr>
                                  </m:ctrlPr>
                                </m:funcPr>
                                <m:fName>
                                  <m:r>
                                    <m:rPr>
                                      <m:sty m:val="p"/>
                                    </m:rPr>
                                    <a:rPr lang="en-US" altLang="ko-KR" sz="2400" b="0" i="0" smtClean="0">
                                      <a:solidFill>
                                        <a:schemeClr val="tx1"/>
                                      </a:solidFill>
                                      <a:latin typeface="Cambria Math" panose="02040503050406030204" pitchFamily="18" charset="0"/>
                                      <a:ea typeface="Cambria Math" panose="02040503050406030204" pitchFamily="18" charset="0"/>
                                    </a:rPr>
                                    <m:t>cos</m:t>
                                  </m:r>
                                </m:fName>
                                <m:e>
                                  <m:r>
                                    <a:rPr lang="en-US" altLang="ko-KR" sz="2400" b="0" i="1" smtClean="0">
                                      <a:solidFill>
                                        <a:schemeClr val="tx1"/>
                                      </a:solidFill>
                                      <a:latin typeface="Cambria Math" panose="02040503050406030204" pitchFamily="18" charset="0"/>
                                      <a:ea typeface="Cambria Math" panose="02040503050406030204" pitchFamily="18" charset="0"/>
                                    </a:rPr>
                                    <m:t>𝜃</m:t>
                                  </m:r>
                                </m:e>
                              </m:func>
                            </m:e>
                          </m:mr>
                        </m:m>
                      </m:e>
                    </m:d>
                  </m:oMath>
                </a14:m>
                <a:r>
                  <a:rPr lang="en-US" altLang="ko-KR" sz="2400" dirty="0" smtClean="0">
                    <a:solidFill>
                      <a:schemeClr val="tx1"/>
                    </a:solidFill>
                    <a:ea typeface="Cambria Math" panose="02040503050406030204" pitchFamily="18" charset="0"/>
                  </a:rPr>
                  <a:t> </a:t>
                </a:r>
              </a:p>
              <a:p>
                <a:pPr marL="0" indent="0">
                  <a:buNone/>
                </a:pPr>
                <a:endParaRPr lang="en-US" altLang="ko-KR" sz="2400" dirty="0" smtClean="0">
                  <a:ea typeface="Cambria Math" panose="02040503050406030204" pitchFamily="18" charset="0"/>
                </a:endParaRPr>
              </a:p>
              <a:p>
                <a:pPr marL="0" indent="0">
                  <a:buNone/>
                </a:pPr>
                <a14:m>
                  <m:oMath xmlns:m="http://schemas.openxmlformats.org/officeDocument/2006/math">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𝜃</m:t>
                        </m:r>
                      </m:sub>
                    </m:sSub>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0</m:t>
                        </m:r>
                      </m:e>
                    </m:d>
                    <m:r>
                      <a:rPr lang="en-US" altLang="ko-KR" sz="2400" i="1">
                        <a:latin typeface="Cambria Math" panose="02040503050406030204" pitchFamily="18" charset="0"/>
                      </a:rPr>
                      <m:t>=</m:t>
                    </m:r>
                  </m:oMath>
                </a14:m>
                <a:r>
                  <a:rPr lang="en-CA" altLang="ko-KR" sz="2400" dirty="0" smtClean="0"/>
                  <a:t> ( do on board )</a:t>
                </a:r>
                <a:r>
                  <a:rPr lang="en-CA" altLang="ko-KR" sz="2400" dirty="0"/>
                  <a:t>	</a:t>
                </a:r>
                <a:endParaRPr lang="en-CA" altLang="ko-KR" sz="2400" dirty="0" smtClean="0"/>
              </a:p>
              <a:p>
                <a:pPr marL="0" indent="0">
                  <a:buNone/>
                </a:pPr>
                <a14:m>
                  <m:oMath xmlns:m="http://schemas.openxmlformats.org/officeDocument/2006/math">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𝜃</m:t>
                        </m:r>
                      </m:sub>
                    </m:sSub>
                    <m:d>
                      <m:dPr>
                        <m:begChr m:val="|"/>
                        <m:endChr m:val="⟩"/>
                        <m:ctrlPr>
                          <a:rPr lang="en-US" altLang="ko-KR" sz="2400" i="1">
                            <a:latin typeface="Cambria Math" panose="02040503050406030204" pitchFamily="18" charset="0"/>
                          </a:rPr>
                        </m:ctrlPr>
                      </m:dPr>
                      <m:e>
                        <m:r>
                          <a:rPr lang="en-US" altLang="ko-KR" sz="2400" i="1">
                            <a:latin typeface="Cambria Math" panose="02040503050406030204" pitchFamily="18" charset="0"/>
                          </a:rPr>
                          <m:t>1</m:t>
                        </m:r>
                      </m:e>
                    </m:d>
                    <m:r>
                      <a:rPr lang="en-US" altLang="ko-KR" sz="2400" b="0" i="1" smtClean="0">
                        <a:latin typeface="Cambria Math" panose="02040503050406030204" pitchFamily="18" charset="0"/>
                      </a:rPr>
                      <m:t>=</m:t>
                    </m:r>
                  </m:oMath>
                </a14:m>
                <a:r>
                  <a:rPr lang="en-CA" altLang="ko-KR" sz="2400" dirty="0" smtClean="0"/>
                  <a:t> ( do on board )</a:t>
                </a:r>
                <a:endParaRPr lang="en-US" altLang="ko-KR" sz="2400" dirty="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r>
                  <a:rPr lang="en-US" altLang="ko-KR" sz="2400" dirty="0" smtClean="0">
                    <a:ea typeface="Cambria Math" panose="02040503050406030204" pitchFamily="18" charset="0"/>
                  </a:rPr>
                  <a:t>Define </a:t>
                </a:r>
                <a14:m>
                  <m:oMath xmlns:m="http://schemas.openxmlformats.org/officeDocument/2006/math">
                    <m:d>
                      <m:dPr>
                        <m:begChr m:val="|"/>
                        <m:endChr m:val="⟩"/>
                        <m:ctrlPr>
                          <a:rPr lang="en-US" altLang="ko-KR" sz="2400" b="0" i="1" smtClean="0">
                            <a:latin typeface="Cambria Math" panose="02040503050406030204" pitchFamily="18" charset="0"/>
                          </a:rPr>
                        </m:ctrlPr>
                      </m:dPr>
                      <m:e>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𝜓</m:t>
                            </m:r>
                          </m:e>
                          <m:sub>
                            <m:r>
                              <a:rPr lang="en-US" altLang="ko-KR" sz="2400" b="0" i="1" smtClean="0">
                                <a:latin typeface="Cambria Math" panose="02040503050406030204" pitchFamily="18" charset="0"/>
                              </a:rPr>
                              <m:t>𝜃</m:t>
                            </m:r>
                          </m:sub>
                        </m:sSub>
                      </m:e>
                    </m:d>
                    <m:r>
                      <a:rPr lang="en-US" altLang="ko-KR" sz="2400" b="0" i="1" smtClean="0">
                        <a:latin typeface="Cambria Math" panose="02040503050406030204" pitchFamily="18" charset="0"/>
                      </a:rPr>
                      <m:t>=</m:t>
                    </m:r>
                    <m:func>
                      <m:funcPr>
                        <m:ctrlPr>
                          <a:rPr lang="en-US" altLang="ko-KR" sz="2400" b="0" i="1" smtClean="0">
                            <a:latin typeface="Cambria Math" panose="02040503050406030204" pitchFamily="18" charset="0"/>
                          </a:rPr>
                        </m:ctrlPr>
                      </m:funcPr>
                      <m:fName>
                        <m:r>
                          <m:rPr>
                            <m:sty m:val="p"/>
                          </m:rPr>
                          <a:rPr lang="en-US" altLang="ko-KR" sz="2400" b="0" i="0" smtClean="0">
                            <a:latin typeface="Cambria Math" panose="02040503050406030204" pitchFamily="18" charset="0"/>
                          </a:rPr>
                          <m:t>cos</m:t>
                        </m:r>
                      </m:fName>
                      <m:e>
                        <m:r>
                          <a:rPr lang="en-US" altLang="ko-KR" sz="2400" b="0" i="1" smtClean="0">
                            <a:latin typeface="Cambria Math" panose="02040503050406030204" pitchFamily="18" charset="0"/>
                          </a:rPr>
                          <m:t>𝜃</m:t>
                        </m:r>
                      </m:e>
                    </m:func>
                    <m:d>
                      <m:dPr>
                        <m:begChr m:val="|"/>
                        <m:endChr m:val="⟩"/>
                        <m:ctrlPr>
                          <a:rPr lang="en-US" altLang="ko-KR" sz="2400" b="0" i="1" smtClean="0">
                            <a:latin typeface="Cambria Math" panose="02040503050406030204" pitchFamily="18" charset="0"/>
                          </a:rPr>
                        </m:ctrlPr>
                      </m:dPr>
                      <m:e>
                        <m:r>
                          <a:rPr lang="en-US" altLang="ko-KR" sz="2400" b="0" i="1" smtClean="0">
                            <a:latin typeface="Cambria Math" panose="02040503050406030204" pitchFamily="18" charset="0"/>
                          </a:rPr>
                          <m:t>0</m:t>
                        </m:r>
                      </m:e>
                    </m:d>
                    <m:r>
                      <a:rPr lang="en-US" altLang="ko-KR" sz="2400" b="0" i="1" smtClean="0">
                        <a:latin typeface="Cambria Math" panose="02040503050406030204" pitchFamily="18" charset="0"/>
                      </a:rPr>
                      <m:t>+</m:t>
                    </m:r>
                    <m:func>
                      <m:funcPr>
                        <m:ctrlPr>
                          <a:rPr lang="en-US" altLang="ko-KR" sz="2400" b="0" i="1" smtClean="0">
                            <a:latin typeface="Cambria Math" panose="02040503050406030204" pitchFamily="18" charset="0"/>
                          </a:rPr>
                        </m:ctrlPr>
                      </m:funcPr>
                      <m:fName>
                        <m:r>
                          <m:rPr>
                            <m:sty m:val="p"/>
                          </m:rPr>
                          <a:rPr lang="en-US" altLang="ko-KR" sz="2400" b="0" i="0" smtClean="0">
                            <a:latin typeface="Cambria Math" panose="02040503050406030204" pitchFamily="18" charset="0"/>
                          </a:rPr>
                          <m:t>sin</m:t>
                        </m:r>
                      </m:fName>
                      <m:e>
                        <m:r>
                          <a:rPr lang="en-US" altLang="ko-KR" sz="2400" b="0" i="1" smtClean="0">
                            <a:latin typeface="Cambria Math" panose="02040503050406030204" pitchFamily="18" charset="0"/>
                          </a:rPr>
                          <m:t>𝜃</m:t>
                        </m:r>
                      </m:e>
                    </m:func>
                    <m:r>
                      <a:rPr lang="en-US" altLang="ko-KR" sz="2400" b="0" i="1" smtClean="0">
                        <a:latin typeface="Cambria Math" panose="02040503050406030204" pitchFamily="18" charset="0"/>
                      </a:rPr>
                      <m:t>|1⟩</m:t>
                    </m:r>
                  </m:oMath>
                </a14:m>
                <a:endParaRPr lang="en-US" altLang="ko-KR" sz="2400" dirty="0" smtClean="0">
                  <a:ea typeface="Cambria Math" panose="02040503050406030204" pitchFamily="18" charset="0"/>
                </a:endParaRPr>
              </a:p>
              <a:p>
                <a:pPr marL="0" indent="0">
                  <a:buNone/>
                </a:pPr>
                <a:endParaRPr lang="en-US" altLang="ko-KR" sz="2400" dirty="0">
                  <a:ea typeface="Cambria Math" panose="02040503050406030204" pitchFamily="18" charset="0"/>
                </a:endParaRPr>
              </a:p>
              <a:p>
                <a:pPr marL="0" indent="0">
                  <a:buNone/>
                </a:pPr>
                <a:r>
                  <a:rPr lang="en-US" altLang="ko-KR" sz="2400" dirty="0">
                    <a:ea typeface="Cambria Math" panose="02040503050406030204" pitchFamily="18" charset="0"/>
                  </a:rPr>
                  <a:t>Check that </a:t>
                </a:r>
                <a14:m>
                  <m:oMath xmlns:m="http://schemas.openxmlformats.org/officeDocument/2006/math">
                    <m:sSub>
                      <m:sSubPr>
                        <m:ctrlPr>
                          <a:rPr lang="en-US" altLang="ko-KR" sz="2400" i="1">
                            <a:latin typeface="Cambria Math" panose="02040503050406030204" pitchFamily="18" charset="0"/>
                            <a:ea typeface="Cambria Math" panose="02040503050406030204" pitchFamily="18" charset="0"/>
                          </a:rPr>
                        </m:ctrlPr>
                      </m:sSubPr>
                      <m:e>
                        <m:r>
                          <a:rPr lang="en-US" altLang="ko-KR" sz="2400" i="1">
                            <a:latin typeface="Cambria Math" panose="02040503050406030204" pitchFamily="18" charset="0"/>
                            <a:ea typeface="Cambria Math" panose="02040503050406030204" pitchFamily="18" charset="0"/>
                          </a:rPr>
                          <m:t>𝑅</m:t>
                        </m:r>
                      </m:e>
                      <m:sub>
                        <m:r>
                          <a:rPr lang="en-US" altLang="ko-KR" sz="2400" i="1">
                            <a:latin typeface="Cambria Math" panose="02040503050406030204" pitchFamily="18" charset="0"/>
                            <a:ea typeface="Cambria Math" panose="02040503050406030204" pitchFamily="18" charset="0"/>
                          </a:rPr>
                          <m:t>𝜃</m:t>
                        </m:r>
                      </m:sub>
                    </m:sSub>
                    <m:r>
                      <a:rPr lang="en-US" altLang="ko-KR" sz="2400" i="1">
                        <a:latin typeface="Cambria Math" panose="02040503050406030204" pitchFamily="18" charset="0"/>
                        <a:ea typeface="Cambria Math" panose="02040503050406030204" pitchFamily="18" charset="0"/>
                      </a:rPr>
                      <m:t>|</m:t>
                    </m:r>
                    <m:sSub>
                      <m:sSubPr>
                        <m:ctrlPr>
                          <a:rPr lang="en-US" altLang="ko-KR" sz="2400" i="1">
                            <a:latin typeface="Cambria Math" panose="02040503050406030204" pitchFamily="18" charset="0"/>
                            <a:ea typeface="Cambria Math" panose="02040503050406030204" pitchFamily="18" charset="0"/>
                          </a:rPr>
                        </m:ctrlPr>
                      </m:sSubPr>
                      <m:e>
                        <m:r>
                          <a:rPr lang="en-US" altLang="ko-KR" sz="2400" i="1">
                            <a:latin typeface="Cambria Math" panose="02040503050406030204" pitchFamily="18" charset="0"/>
                            <a:ea typeface="Cambria Math" panose="02040503050406030204" pitchFamily="18" charset="0"/>
                          </a:rPr>
                          <m:t>𝜓</m:t>
                        </m:r>
                      </m:e>
                      <m:sub>
                        <m:r>
                          <a:rPr lang="en-US" altLang="ko-KR" sz="2400" i="1">
                            <a:latin typeface="Cambria Math" panose="02040503050406030204" pitchFamily="18" charset="0"/>
                            <a:ea typeface="Cambria Math" panose="02040503050406030204" pitchFamily="18" charset="0"/>
                          </a:rPr>
                          <m:t>𝜌</m:t>
                        </m:r>
                      </m:sub>
                    </m:sSub>
                    <m:r>
                      <a:rPr lang="en-US" altLang="ko-KR" sz="2400" i="1">
                        <a:latin typeface="Cambria Math" panose="02040503050406030204" pitchFamily="18" charset="0"/>
                        <a:ea typeface="Cambria Math" panose="02040503050406030204" pitchFamily="18" charset="0"/>
                      </a:rPr>
                      <m:t>⟩=|</m:t>
                    </m:r>
                    <m:sSub>
                      <m:sSubPr>
                        <m:ctrlPr>
                          <a:rPr lang="en-US" altLang="ko-KR" sz="2400" i="1">
                            <a:latin typeface="Cambria Math" panose="02040503050406030204" pitchFamily="18" charset="0"/>
                            <a:ea typeface="Cambria Math" panose="02040503050406030204" pitchFamily="18" charset="0"/>
                          </a:rPr>
                        </m:ctrlPr>
                      </m:sSubPr>
                      <m:e>
                        <m:r>
                          <a:rPr lang="en-US" altLang="ko-KR" sz="2400" i="1">
                            <a:latin typeface="Cambria Math" panose="02040503050406030204" pitchFamily="18" charset="0"/>
                            <a:ea typeface="Cambria Math" panose="02040503050406030204" pitchFamily="18" charset="0"/>
                          </a:rPr>
                          <m:t>𝜓</m:t>
                        </m:r>
                      </m:e>
                      <m:sub>
                        <m:r>
                          <a:rPr lang="en-US" altLang="ko-KR" sz="2400" i="1">
                            <a:latin typeface="Cambria Math" panose="02040503050406030204" pitchFamily="18" charset="0"/>
                            <a:ea typeface="Cambria Math" panose="02040503050406030204" pitchFamily="18" charset="0"/>
                          </a:rPr>
                          <m:t>𝜌</m:t>
                        </m:r>
                        <m:r>
                          <a:rPr lang="en-US" altLang="ko-KR" sz="2400" i="1">
                            <a:latin typeface="Cambria Math" panose="02040503050406030204" pitchFamily="18" charset="0"/>
                            <a:ea typeface="Cambria Math" panose="02040503050406030204" pitchFamily="18" charset="0"/>
                          </a:rPr>
                          <m:t>+</m:t>
                        </m:r>
                        <m:r>
                          <a:rPr lang="en-US" altLang="ko-KR" sz="2400" i="1">
                            <a:latin typeface="Cambria Math" panose="02040503050406030204" pitchFamily="18" charset="0"/>
                            <a:ea typeface="Cambria Math" panose="02040503050406030204" pitchFamily="18" charset="0"/>
                          </a:rPr>
                          <m:t>𝜃</m:t>
                        </m:r>
                      </m:sub>
                    </m:sSub>
                    <m:r>
                      <a:rPr lang="en-US" altLang="ko-KR" sz="2400" i="1">
                        <a:latin typeface="Cambria Math" panose="02040503050406030204" pitchFamily="18" charset="0"/>
                        <a:ea typeface="Cambria Math" panose="02040503050406030204" pitchFamily="18" charset="0"/>
                      </a:rPr>
                      <m:t>⟩</m:t>
                    </m:r>
                  </m:oMath>
                </a14:m>
                <a:endParaRPr lang="en-US" altLang="ko-KR" sz="2400" dirty="0">
                  <a:ea typeface="Cambria Math" panose="02040503050406030204" pitchFamily="18" charset="0"/>
                </a:endParaRPr>
              </a:p>
              <a:p>
                <a:pPr marL="0" indent="0">
                  <a:buNone/>
                </a:pPr>
                <a:endParaRPr lang="en-US" altLang="ko-KR" sz="24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928"/>
                </a:stretch>
              </a:blipFill>
            </p:spPr>
            <p:txBody>
              <a:bodyPr/>
              <a:lstStyle/>
              <a:p>
                <a:r>
                  <a:rPr lang="ko-KR" altLang="en-US">
                    <a:noFill/>
                  </a:rPr>
                  <a:t> </a:t>
                </a:r>
              </a:p>
            </p:txBody>
          </p:sp>
        </mc:Fallback>
      </mc:AlternateContent>
      <p:pic>
        <p:nvPicPr>
          <p:cNvPr id="5" name="그림 4"/>
          <p:cNvPicPr>
            <a:picLocks noChangeAspect="1"/>
          </p:cNvPicPr>
          <p:nvPr/>
        </p:nvPicPr>
        <p:blipFill>
          <a:blip r:embed="rId3"/>
          <a:stretch>
            <a:fillRect/>
          </a:stretch>
        </p:blipFill>
        <p:spPr>
          <a:xfrm>
            <a:off x="6934310" y="3429000"/>
            <a:ext cx="2429214" cy="1991003"/>
          </a:xfrm>
          <a:prstGeom prst="rect">
            <a:avLst/>
          </a:prstGeom>
        </p:spPr>
      </p:pic>
    </p:spTree>
    <p:extLst>
      <p:ext uri="{BB962C8B-B14F-4D97-AF65-F5344CB8AC3E}">
        <p14:creationId xmlns:p14="http://schemas.microsoft.com/office/powerpoint/2010/main" val="58265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altLang="ko-KR" sz="4000" dirty="0" smtClean="0"/>
              <a:t>The probing strategy</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endParaRPr lang="en-US" altLang="ko-KR" sz="2400" dirty="0">
                  <a:ea typeface="Cambria Math" panose="02040503050406030204" pitchFamily="18" charset="0"/>
                </a:endParaRPr>
              </a:p>
              <a:p>
                <a:pPr marL="0" indent="0">
                  <a:buNone/>
                </a:pPr>
                <a:endParaRPr lang="en-US" altLang="ko-KR" sz="2400" dirty="0" smtClean="0">
                  <a:solidFill>
                    <a:schemeClr val="tx1"/>
                  </a:solidFill>
                  <a:ea typeface="Cambria Math" panose="02040503050406030204" pitchFamily="18" charset="0"/>
                </a:endParaRPr>
              </a:p>
              <a:p>
                <a:pPr marL="0" indent="0">
                  <a:buNone/>
                </a:pPr>
                <a:r>
                  <a:rPr lang="en-US" altLang="ko-KR" sz="2400" dirty="0" smtClean="0">
                    <a:solidFill>
                      <a:schemeClr val="tx1"/>
                    </a:solidFill>
                    <a:ea typeface="Cambria Math" panose="02040503050406030204" pitchFamily="18" charset="0"/>
                  </a:rPr>
                  <a:t>Choose </a:t>
                </a:r>
                <a14:m>
                  <m:oMath xmlns:m="http://schemas.openxmlformats.org/officeDocument/2006/math">
                    <m:r>
                      <a:rPr lang="en-US" altLang="ko-KR" sz="2400" i="1">
                        <a:latin typeface="Cambria Math" panose="02040503050406030204" pitchFamily="18" charset="0"/>
                        <a:ea typeface="Cambria Math" panose="02040503050406030204" pitchFamily="18" charset="0"/>
                      </a:rPr>
                      <m:t>𝜃</m:t>
                    </m:r>
                    <m:r>
                      <a:rPr lang="en-US" altLang="ko-KR" sz="2400" b="0" i="1" smtClean="0">
                        <a:latin typeface="Cambria Math" panose="02040503050406030204" pitchFamily="18" charset="0"/>
                        <a:ea typeface="Cambria Math" panose="02040503050406030204" pitchFamily="18" charset="0"/>
                      </a:rPr>
                      <m:t>=</m:t>
                    </m:r>
                    <m:f>
                      <m:fPr>
                        <m:ctrlPr>
                          <a:rPr lang="en-US" altLang="ko-KR" sz="2400" b="0" i="1" smtClean="0">
                            <a:latin typeface="Cambria Math" panose="02040503050406030204" pitchFamily="18" charset="0"/>
                            <a:ea typeface="Cambria Math" panose="02040503050406030204" pitchFamily="18" charset="0"/>
                          </a:rPr>
                        </m:ctrlPr>
                      </m:fPr>
                      <m:num>
                        <m:r>
                          <a:rPr lang="en-US" altLang="ko-KR" sz="2400" b="0" i="1" smtClean="0">
                            <a:latin typeface="Cambria Math" panose="02040503050406030204" pitchFamily="18" charset="0"/>
                            <a:ea typeface="Cambria Math" panose="02040503050406030204" pitchFamily="18" charset="0"/>
                          </a:rPr>
                          <m:t>𝜋</m:t>
                        </m:r>
                      </m:num>
                      <m:den>
                        <m:r>
                          <a:rPr lang="en-US" altLang="ko-KR" sz="2400" b="0" i="1" smtClean="0">
                            <a:latin typeface="Cambria Math" panose="02040503050406030204" pitchFamily="18" charset="0"/>
                            <a:ea typeface="Cambria Math" panose="02040503050406030204" pitchFamily="18" charset="0"/>
                          </a:rPr>
                          <m:t>2</m:t>
                        </m:r>
                        <m:r>
                          <a:rPr lang="en-US" altLang="ko-KR" sz="2400" b="0" i="1" smtClean="0">
                            <a:latin typeface="Cambria Math" panose="02040503050406030204" pitchFamily="18" charset="0"/>
                            <a:ea typeface="Cambria Math" panose="02040503050406030204" pitchFamily="18" charset="0"/>
                          </a:rPr>
                          <m:t>𝑁</m:t>
                        </m:r>
                      </m:den>
                    </m:f>
                  </m:oMath>
                </a14:m>
                <a:r>
                  <a:rPr lang="en-US" altLang="ko-KR" sz="2400" dirty="0" smtClean="0">
                    <a:solidFill>
                      <a:schemeClr val="tx1"/>
                    </a:solidFill>
                    <a:ea typeface="Cambria Math" panose="02040503050406030204" pitchFamily="18" charset="0"/>
                  </a:rPr>
                  <a:t> for large integer </a:t>
                </a:r>
                <a14:m>
                  <m:oMath xmlns:m="http://schemas.openxmlformats.org/officeDocument/2006/math">
                    <m:r>
                      <a:rPr lang="en-US" altLang="ko-KR" sz="2400" b="0" i="1" smtClean="0">
                        <a:latin typeface="Cambria Math" panose="02040503050406030204" pitchFamily="18" charset="0"/>
                        <a:ea typeface="Cambria Math" panose="02040503050406030204" pitchFamily="18" charset="0"/>
                      </a:rPr>
                      <m:t>𝑁</m:t>
                    </m:r>
                  </m:oMath>
                </a14:m>
                <a:r>
                  <a:rPr lang="en-US" altLang="ko-KR" sz="2400" dirty="0" smtClean="0">
                    <a:solidFill>
                      <a:schemeClr val="tx1"/>
                    </a:solidFill>
                    <a:ea typeface="Cambria Math" panose="02040503050406030204" pitchFamily="18" charset="0"/>
                  </a:rPr>
                  <a:t>. Prepare </a:t>
                </a:r>
                <a14:m>
                  <m:oMath xmlns:m="http://schemas.openxmlformats.org/officeDocument/2006/math">
                    <m:d>
                      <m:dPr>
                        <m:begChr m:val="|"/>
                        <m:endChr m:val="⟩"/>
                        <m:ctrlPr>
                          <a:rPr lang="en-US" altLang="ko-KR" sz="2400" b="0" i="1" smtClean="0">
                            <a:solidFill>
                              <a:schemeClr val="tx1"/>
                            </a:solidFill>
                            <a:latin typeface="Cambria Math" panose="02040503050406030204" pitchFamily="18" charset="0"/>
                            <a:ea typeface="Cambria Math" panose="02040503050406030204" pitchFamily="18" charset="0"/>
                          </a:rPr>
                        </m:ctrlPr>
                      </m:dPr>
                      <m:e>
                        <m:r>
                          <a:rPr lang="en-US" altLang="ko-KR" sz="2400" b="0" i="1" smtClean="0">
                            <a:solidFill>
                              <a:schemeClr val="tx1"/>
                            </a:solidFill>
                            <a:latin typeface="Cambria Math" panose="02040503050406030204" pitchFamily="18" charset="0"/>
                            <a:ea typeface="Cambria Math" panose="02040503050406030204" pitchFamily="18" charset="0"/>
                          </a:rPr>
                          <m:t>𝜙</m:t>
                        </m:r>
                      </m:e>
                    </m:d>
                    <m:r>
                      <a:rPr lang="en-US" altLang="ko-KR" sz="24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ko-KR" sz="2400" b="0" i="1" smtClean="0">
                            <a:solidFill>
                              <a:schemeClr val="tx1"/>
                            </a:solidFill>
                            <a:latin typeface="Cambria Math" panose="02040503050406030204" pitchFamily="18" charset="0"/>
                            <a:ea typeface="Cambria Math" panose="02040503050406030204" pitchFamily="18" charset="0"/>
                          </a:rPr>
                        </m:ctrlPr>
                      </m:dPr>
                      <m:e>
                        <m:sSub>
                          <m:sSubPr>
                            <m:ctrlPr>
                              <a:rPr lang="en-US" altLang="ko-KR" sz="2400" b="0" i="1" smtClean="0">
                                <a:solidFill>
                                  <a:schemeClr val="tx1"/>
                                </a:solidFill>
                                <a:latin typeface="Cambria Math" panose="02040503050406030204" pitchFamily="18" charset="0"/>
                                <a:ea typeface="Cambria Math" panose="02040503050406030204" pitchFamily="18" charset="0"/>
                              </a:rPr>
                            </m:ctrlPr>
                          </m:sSubPr>
                          <m:e>
                            <m:r>
                              <a:rPr lang="en-US" altLang="ko-KR" sz="2400" b="0" i="1" smtClean="0">
                                <a:solidFill>
                                  <a:schemeClr val="tx1"/>
                                </a:solidFill>
                                <a:latin typeface="Cambria Math" panose="02040503050406030204" pitchFamily="18" charset="0"/>
                                <a:ea typeface="Cambria Math" panose="02040503050406030204" pitchFamily="18" charset="0"/>
                              </a:rPr>
                              <m:t>𝜓</m:t>
                            </m:r>
                          </m:e>
                          <m:sub>
                            <m:r>
                              <a:rPr lang="en-US" altLang="ko-KR" sz="2400" b="0" i="1" smtClean="0">
                                <a:solidFill>
                                  <a:schemeClr val="tx1"/>
                                </a:solidFill>
                                <a:latin typeface="Cambria Math" panose="02040503050406030204" pitchFamily="18" charset="0"/>
                                <a:ea typeface="Cambria Math" panose="02040503050406030204" pitchFamily="18" charset="0"/>
                              </a:rPr>
                              <m:t>0</m:t>
                            </m:r>
                          </m:sub>
                        </m:sSub>
                      </m:e>
                    </m:d>
                    <m:r>
                      <a:rPr lang="en-US" altLang="ko-KR" sz="2400" b="0" i="1" smtClean="0">
                        <a:solidFill>
                          <a:schemeClr val="tx1"/>
                        </a:solidFill>
                        <a:latin typeface="Cambria Math" panose="02040503050406030204" pitchFamily="18" charset="0"/>
                        <a:ea typeface="Cambria Math" panose="02040503050406030204" pitchFamily="18" charset="0"/>
                      </a:rPr>
                      <m:t>=|0⟩</m:t>
                    </m:r>
                  </m:oMath>
                </a14:m>
                <a:endParaRPr lang="en-US" altLang="ko-KR" sz="2400" dirty="0" smtClean="0">
                  <a:solidFill>
                    <a:schemeClr val="tx1"/>
                  </a:solidFill>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r>
                  <a:rPr lang="en-US" altLang="ko-KR" sz="2400" dirty="0" smtClean="0">
                    <a:ea typeface="Cambria Math" panose="02040503050406030204" pitchFamily="18" charset="0"/>
                  </a:rPr>
                  <a:t>Repeat </a:t>
                </a:r>
                <a14:m>
                  <m:oMath xmlns:m="http://schemas.openxmlformats.org/officeDocument/2006/math">
                    <m:r>
                      <a:rPr lang="en-US" altLang="ko-KR" sz="2400" i="1">
                        <a:latin typeface="Cambria Math" panose="02040503050406030204" pitchFamily="18" charset="0"/>
                        <a:ea typeface="Cambria Math" panose="02040503050406030204" pitchFamily="18" charset="0"/>
                      </a:rPr>
                      <m:t>𝑁</m:t>
                    </m:r>
                  </m:oMath>
                </a14:m>
                <a:r>
                  <a:rPr lang="en-US" altLang="ko-KR" sz="2400" dirty="0" smtClean="0">
                    <a:ea typeface="Cambria Math" panose="02040503050406030204" pitchFamily="18" charset="0"/>
                  </a:rPr>
                  <a:t> times: Apply </a:t>
                </a:r>
                <a14:m>
                  <m:oMath xmlns:m="http://schemas.openxmlformats.org/officeDocument/2006/math">
                    <m:sSub>
                      <m:sSubPr>
                        <m:ctrlPr>
                          <a:rPr lang="en-US" altLang="ko-KR" sz="2400" b="0" i="1" smtClean="0">
                            <a:latin typeface="Cambria Math" panose="02040503050406030204" pitchFamily="18" charset="0"/>
                            <a:ea typeface="Cambria Math" panose="02040503050406030204" pitchFamily="18" charset="0"/>
                          </a:rPr>
                        </m:ctrlPr>
                      </m:sSubPr>
                      <m:e>
                        <m:r>
                          <a:rPr lang="en-US" altLang="ko-KR" sz="2400" b="0" i="1" smtClean="0">
                            <a:latin typeface="Cambria Math" panose="02040503050406030204" pitchFamily="18" charset="0"/>
                            <a:ea typeface="Cambria Math" panose="02040503050406030204" pitchFamily="18" charset="0"/>
                          </a:rPr>
                          <m:t>𝑅</m:t>
                        </m:r>
                      </m:e>
                      <m:sub>
                        <m:r>
                          <a:rPr lang="en-US" altLang="ko-KR" sz="2400" b="0" i="1" smtClean="0">
                            <a:latin typeface="Cambria Math" panose="02040503050406030204" pitchFamily="18" charset="0"/>
                            <a:ea typeface="Cambria Math" panose="02040503050406030204" pitchFamily="18" charset="0"/>
                          </a:rPr>
                          <m:t>𝜃</m:t>
                        </m:r>
                      </m:sub>
                    </m:sSub>
                  </m:oMath>
                </a14:m>
                <a:r>
                  <a:rPr lang="en-US" altLang="ko-KR" sz="2400" dirty="0" smtClean="0">
                    <a:ea typeface="Cambria Math" panose="02040503050406030204" pitchFamily="18" charset="0"/>
                  </a:rPr>
                  <a:t>; feed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𝜙</m:t>
                        </m:r>
                      </m:e>
                    </m:d>
                  </m:oMath>
                </a14:m>
                <a:r>
                  <a:rPr lang="en-US" altLang="ko-KR" sz="2400" dirty="0" smtClean="0">
                    <a:ea typeface="Cambria Math" panose="02040503050406030204" pitchFamily="18" charset="0"/>
                  </a:rPr>
                  <a:t> into the box and get the outcome </a:t>
                </a:r>
                <a14:m>
                  <m:oMath xmlns:m="http://schemas.openxmlformats.org/officeDocument/2006/math">
                    <m:d>
                      <m:dPr>
                        <m:begChr m:val="|"/>
                        <m:endChr m:val="⟩"/>
                        <m:ctrlPr>
                          <a:rPr lang="en-US" altLang="ko-KR" sz="2400" i="1">
                            <a:latin typeface="Cambria Math" panose="02040503050406030204" pitchFamily="18" charset="0"/>
                            <a:ea typeface="Cambria Math" panose="02040503050406030204" pitchFamily="18" charset="0"/>
                          </a:rPr>
                        </m:ctrlPr>
                      </m:dPr>
                      <m:e>
                        <m:r>
                          <a:rPr lang="en-US" altLang="ko-KR" sz="2400" i="1">
                            <a:latin typeface="Cambria Math" panose="02040503050406030204" pitchFamily="18" charset="0"/>
                            <a:ea typeface="Cambria Math" panose="02040503050406030204" pitchFamily="18" charset="0"/>
                          </a:rPr>
                          <m:t>𝜙</m:t>
                        </m:r>
                      </m:e>
                    </m:d>
                  </m:oMath>
                </a14:m>
                <a:endParaRPr lang="en-US" altLang="ko-KR" sz="2400" dirty="0" smtClean="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61AA8FCB-12CC-692A-1B75-ED3ACF8A8CF2}"/>
                  </a:ext>
                </a:extLst>
              </p:cNvPr>
              <p:cNvSpPr>
                <a:spLocks noGrp="1" noRot="1" noChangeAspect="1" noMove="1" noResize="1" noEditPoints="1" noAdjustHandles="1" noChangeArrowheads="1" noChangeShapeType="1" noTextEdit="1"/>
              </p:cNvSpPr>
              <p:nvPr>
                <p:ph idx="1"/>
              </p:nvPr>
            </p:nvSpPr>
            <p:spPr>
              <a:xfrm>
                <a:off x="838200" y="1825625"/>
                <a:ext cx="10515600" cy="4832350"/>
              </a:xfrm>
              <a:blipFill>
                <a:blip r:embed="rId2"/>
                <a:stretch>
                  <a:fillRect l="-928"/>
                </a:stretch>
              </a:blipFill>
            </p:spPr>
            <p:txBody>
              <a:bodyPr/>
              <a:lstStyle/>
              <a:p>
                <a:r>
                  <a:rPr lang="ko-KR" altLang="en-US">
                    <a:noFill/>
                  </a:rPr>
                  <a:t> </a:t>
                </a:r>
              </a:p>
            </p:txBody>
          </p:sp>
        </mc:Fallback>
      </mc:AlternateContent>
      <p:pic>
        <p:nvPicPr>
          <p:cNvPr id="5" name="그림 4"/>
          <p:cNvPicPr>
            <a:picLocks noChangeAspect="1"/>
          </p:cNvPicPr>
          <p:nvPr/>
        </p:nvPicPr>
        <p:blipFill>
          <a:blip r:embed="rId3"/>
          <a:stretch>
            <a:fillRect/>
          </a:stretch>
        </p:blipFill>
        <p:spPr>
          <a:xfrm>
            <a:off x="6275092" y="365125"/>
            <a:ext cx="2429214" cy="1991003"/>
          </a:xfrm>
          <a:prstGeom prst="rect">
            <a:avLst/>
          </a:prstGeom>
        </p:spPr>
      </p:pic>
      <mc:AlternateContent xmlns:mc="http://schemas.openxmlformats.org/markup-compatibility/2006" xmlns:a14="http://schemas.microsoft.com/office/drawing/2010/main">
        <mc:Choice Requires="a14">
          <p:sp>
            <p:nvSpPr>
              <p:cNvPr id="6" name="Rectangle 8">
                <a:extLst>
                  <a:ext uri="{FF2B5EF4-FFF2-40B4-BE49-F238E27FC236}">
                    <a16:creationId xmlns:a16="http://schemas.microsoft.com/office/drawing/2014/main" id="{94EE92FC-DB34-FB95-BD1E-9664133A05EE}"/>
                  </a:ext>
                </a:extLst>
              </p:cNvPr>
              <p:cNvSpPr/>
              <p:nvPr/>
            </p:nvSpPr>
            <p:spPr>
              <a:xfrm>
                <a:off x="1149992" y="4737528"/>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6"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1149992" y="4737528"/>
                <a:ext cx="671594" cy="461665"/>
              </a:xfrm>
              <a:prstGeom prst="rect">
                <a:avLst/>
              </a:prstGeom>
              <a:blipFill>
                <a:blip r:embed="rId4"/>
                <a:stretch>
                  <a:fillRect/>
                </a:stretch>
              </a:blipFill>
            </p:spPr>
            <p:txBody>
              <a:bodyPr/>
              <a:lstStyle/>
              <a:p>
                <a:r>
                  <a:rPr lang="ko-KR" altLang="en-US">
                    <a:noFill/>
                  </a:rPr>
                  <a:t> </a:t>
                </a:r>
              </a:p>
            </p:txBody>
          </p:sp>
        </mc:Fallback>
      </mc:AlternateContent>
      <p:cxnSp>
        <p:nvCxnSpPr>
          <p:cNvPr id="7" name="Straight Connector 3">
            <a:extLst>
              <a:ext uri="{FF2B5EF4-FFF2-40B4-BE49-F238E27FC236}">
                <a16:creationId xmlns:a16="http://schemas.microsoft.com/office/drawing/2014/main" id="{B91E78E4-542E-3BF9-60EB-0A75C5E77BF2}"/>
              </a:ext>
            </a:extLst>
          </p:cNvPr>
          <p:cNvCxnSpPr>
            <a:cxnSpLocks/>
            <a:stCxn id="6" idx="3"/>
          </p:cNvCxnSpPr>
          <p:nvPr/>
        </p:nvCxnSpPr>
        <p:spPr>
          <a:xfrm>
            <a:off x="1821586" y="4968361"/>
            <a:ext cx="8577056" cy="33878"/>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직사각형 7"/>
              <p:cNvSpPr/>
              <p:nvPr/>
            </p:nvSpPr>
            <p:spPr>
              <a:xfrm>
                <a:off x="1985701" y="4753570"/>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𝜃</m:t>
                          </m:r>
                        </m:sub>
                      </m:sSub>
                    </m:oMath>
                  </m:oMathPara>
                </a14:m>
                <a:endParaRPr lang="ko-KR" altLang="en-US" sz="2400" dirty="0"/>
              </a:p>
            </p:txBody>
          </p:sp>
        </mc:Choice>
        <mc:Fallback xmlns="">
          <p:sp>
            <p:nvSpPr>
              <p:cNvPr id="8" name="직사각형 7"/>
              <p:cNvSpPr>
                <a:spLocks noRot="1" noChangeAspect="1" noMove="1" noResize="1" noEditPoints="1" noAdjustHandles="1" noChangeArrowheads="1" noChangeShapeType="1" noTextEdit="1"/>
              </p:cNvSpPr>
              <p:nvPr/>
            </p:nvSpPr>
            <p:spPr>
              <a:xfrm>
                <a:off x="1985701" y="4753570"/>
                <a:ext cx="461665" cy="461665"/>
              </a:xfrm>
              <a:prstGeom prst="rect">
                <a:avLst/>
              </a:prstGeom>
              <a:blipFill>
                <a:blip r:embed="rId5"/>
                <a:stretch>
                  <a:fillRect l="-14286" r="-3896" b="-3846"/>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직사각형 8"/>
              <p:cNvSpPr/>
              <p:nvPr/>
            </p:nvSpPr>
            <p:spPr>
              <a:xfrm>
                <a:off x="2676184" y="4737527"/>
                <a:ext cx="775227"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𝐵𝑂𝑋</m:t>
                      </m:r>
                    </m:oMath>
                  </m:oMathPara>
                </a14:m>
                <a:endParaRPr lang="ko-KR" altLang="en-US" sz="2400" dirty="0"/>
              </a:p>
            </p:txBody>
          </p:sp>
        </mc:Choice>
        <mc:Fallback xmlns="">
          <p:sp>
            <p:nvSpPr>
              <p:cNvPr id="9" name="직사각형 8"/>
              <p:cNvSpPr>
                <a:spLocks noRot="1" noChangeAspect="1" noMove="1" noResize="1" noEditPoints="1" noAdjustHandles="1" noChangeArrowheads="1" noChangeShapeType="1" noTextEdit="1"/>
              </p:cNvSpPr>
              <p:nvPr/>
            </p:nvSpPr>
            <p:spPr>
              <a:xfrm>
                <a:off x="2676184" y="4737527"/>
                <a:ext cx="775227" cy="461665"/>
              </a:xfrm>
              <a:prstGeom prst="rect">
                <a:avLst/>
              </a:prstGeom>
              <a:blipFill>
                <a:blip r:embed="rId6"/>
                <a:stretch>
                  <a:fillRect l="-4651" r="-3101"/>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직사각형 9"/>
              <p:cNvSpPr/>
              <p:nvPr/>
            </p:nvSpPr>
            <p:spPr>
              <a:xfrm>
                <a:off x="3666402" y="4753570"/>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𝜃</m:t>
                          </m:r>
                        </m:sub>
                      </m:sSub>
                    </m:oMath>
                  </m:oMathPara>
                </a14:m>
                <a:endParaRPr lang="ko-KR" altLang="en-US" sz="2400" dirty="0"/>
              </a:p>
            </p:txBody>
          </p:sp>
        </mc:Choice>
        <mc:Fallback xmlns="">
          <p:sp>
            <p:nvSpPr>
              <p:cNvPr id="10" name="직사각형 9"/>
              <p:cNvSpPr>
                <a:spLocks noRot="1" noChangeAspect="1" noMove="1" noResize="1" noEditPoints="1" noAdjustHandles="1" noChangeArrowheads="1" noChangeShapeType="1" noTextEdit="1"/>
              </p:cNvSpPr>
              <p:nvPr/>
            </p:nvSpPr>
            <p:spPr>
              <a:xfrm>
                <a:off x="3666402" y="4753570"/>
                <a:ext cx="461665" cy="461665"/>
              </a:xfrm>
              <a:prstGeom prst="rect">
                <a:avLst/>
              </a:prstGeom>
              <a:blipFill>
                <a:blip r:embed="rId7"/>
                <a:stretch>
                  <a:fillRect l="-12821" r="-2564" b="-3846"/>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직사각형 10"/>
              <p:cNvSpPr/>
              <p:nvPr/>
            </p:nvSpPr>
            <p:spPr>
              <a:xfrm>
                <a:off x="4356885" y="4737527"/>
                <a:ext cx="775227"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𝐵𝑂𝑋</m:t>
                      </m:r>
                    </m:oMath>
                  </m:oMathPara>
                </a14:m>
                <a:endParaRPr lang="ko-KR" altLang="en-US" sz="2400" dirty="0"/>
              </a:p>
            </p:txBody>
          </p:sp>
        </mc:Choice>
        <mc:Fallback xmlns="">
          <p:sp>
            <p:nvSpPr>
              <p:cNvPr id="11" name="직사각형 10"/>
              <p:cNvSpPr>
                <a:spLocks noRot="1" noChangeAspect="1" noMove="1" noResize="1" noEditPoints="1" noAdjustHandles="1" noChangeArrowheads="1" noChangeShapeType="1" noTextEdit="1"/>
              </p:cNvSpPr>
              <p:nvPr/>
            </p:nvSpPr>
            <p:spPr>
              <a:xfrm>
                <a:off x="4356885" y="4737527"/>
                <a:ext cx="775227" cy="461665"/>
              </a:xfrm>
              <a:prstGeom prst="rect">
                <a:avLst/>
              </a:prstGeom>
              <a:blipFill>
                <a:blip r:embed="rId8"/>
                <a:stretch>
                  <a:fillRect l="-5426" r="-3101"/>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직사각형 11"/>
              <p:cNvSpPr/>
              <p:nvPr/>
            </p:nvSpPr>
            <p:spPr>
              <a:xfrm>
                <a:off x="6906990" y="4737527"/>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𝜃</m:t>
                          </m:r>
                        </m:sub>
                      </m:sSub>
                    </m:oMath>
                  </m:oMathPara>
                </a14:m>
                <a:endParaRPr lang="ko-KR" altLang="en-US" sz="2400" dirty="0"/>
              </a:p>
            </p:txBody>
          </p:sp>
        </mc:Choice>
        <mc:Fallback xmlns="">
          <p:sp>
            <p:nvSpPr>
              <p:cNvPr id="12" name="직사각형 11"/>
              <p:cNvSpPr>
                <a:spLocks noRot="1" noChangeAspect="1" noMove="1" noResize="1" noEditPoints="1" noAdjustHandles="1" noChangeArrowheads="1" noChangeShapeType="1" noTextEdit="1"/>
              </p:cNvSpPr>
              <p:nvPr/>
            </p:nvSpPr>
            <p:spPr>
              <a:xfrm>
                <a:off x="6906990" y="4737527"/>
                <a:ext cx="461665" cy="461665"/>
              </a:xfrm>
              <a:prstGeom prst="rect">
                <a:avLst/>
              </a:prstGeom>
              <a:blipFill>
                <a:blip r:embed="rId9"/>
                <a:stretch>
                  <a:fillRect l="-14103" r="-2564" b="-5128"/>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직사각형 12"/>
              <p:cNvSpPr/>
              <p:nvPr/>
            </p:nvSpPr>
            <p:spPr>
              <a:xfrm>
                <a:off x="7597473" y="4721484"/>
                <a:ext cx="775227"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𝐵𝑂𝑋</m:t>
                      </m:r>
                    </m:oMath>
                  </m:oMathPara>
                </a14:m>
                <a:endParaRPr lang="ko-KR" altLang="en-US" sz="2400" dirty="0"/>
              </a:p>
            </p:txBody>
          </p:sp>
        </mc:Choice>
        <mc:Fallback xmlns="">
          <p:sp>
            <p:nvSpPr>
              <p:cNvPr id="13" name="직사각형 12"/>
              <p:cNvSpPr>
                <a:spLocks noRot="1" noChangeAspect="1" noMove="1" noResize="1" noEditPoints="1" noAdjustHandles="1" noChangeArrowheads="1" noChangeShapeType="1" noTextEdit="1"/>
              </p:cNvSpPr>
              <p:nvPr/>
            </p:nvSpPr>
            <p:spPr>
              <a:xfrm>
                <a:off x="7597473" y="4721484"/>
                <a:ext cx="775227" cy="461665"/>
              </a:xfrm>
              <a:prstGeom prst="rect">
                <a:avLst/>
              </a:prstGeom>
              <a:blipFill>
                <a:blip r:embed="rId10"/>
                <a:stretch>
                  <a:fillRect l="-4651" r="-3876"/>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직사각형 13"/>
              <p:cNvSpPr/>
              <p:nvPr/>
            </p:nvSpPr>
            <p:spPr>
              <a:xfrm>
                <a:off x="8587691" y="4737527"/>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𝜃</m:t>
                          </m:r>
                        </m:sub>
                      </m:sSub>
                    </m:oMath>
                  </m:oMathPara>
                </a14:m>
                <a:endParaRPr lang="ko-KR" altLang="en-US" sz="2400" dirty="0"/>
              </a:p>
            </p:txBody>
          </p:sp>
        </mc:Choice>
        <mc:Fallback xmlns="">
          <p:sp>
            <p:nvSpPr>
              <p:cNvPr id="14" name="직사각형 13"/>
              <p:cNvSpPr>
                <a:spLocks noRot="1" noChangeAspect="1" noMove="1" noResize="1" noEditPoints="1" noAdjustHandles="1" noChangeArrowheads="1" noChangeShapeType="1" noTextEdit="1"/>
              </p:cNvSpPr>
              <p:nvPr/>
            </p:nvSpPr>
            <p:spPr>
              <a:xfrm>
                <a:off x="8587691" y="4737527"/>
                <a:ext cx="461665" cy="461665"/>
              </a:xfrm>
              <a:prstGeom prst="rect">
                <a:avLst/>
              </a:prstGeom>
              <a:blipFill>
                <a:blip r:embed="rId11"/>
                <a:stretch>
                  <a:fillRect l="-14286" r="-3896" b="-5128"/>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직사각형 15"/>
              <p:cNvSpPr/>
              <p:nvPr/>
            </p:nvSpPr>
            <p:spPr>
              <a:xfrm>
                <a:off x="8942742" y="843240"/>
                <a:ext cx="2862322" cy="6909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ko-KR" i="1" smtClean="0">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𝜓</m:t>
                              </m:r>
                            </m:e>
                            <m:sub>
                              <m:r>
                                <a:rPr lang="en-US" altLang="ko-KR" i="1">
                                  <a:latin typeface="Cambria Math" panose="02040503050406030204" pitchFamily="18" charset="0"/>
                                </a:rPr>
                                <m:t>𝜃</m:t>
                              </m:r>
                            </m:sub>
                          </m:sSub>
                        </m:e>
                      </m:d>
                      <m:r>
                        <a:rPr lang="en-US" altLang="ko-KR" i="1">
                          <a:latin typeface="Cambria Math" panose="02040503050406030204" pitchFamily="18" charset="0"/>
                        </a:rPr>
                        <m:t>=</m:t>
                      </m:r>
                      <m:func>
                        <m:funcPr>
                          <m:ctrlPr>
                            <a:rPr lang="en-US" altLang="ko-KR" i="1">
                              <a:latin typeface="Cambria Math" panose="02040503050406030204" pitchFamily="18" charset="0"/>
                            </a:rPr>
                          </m:ctrlPr>
                        </m:funcPr>
                        <m:fName>
                          <m:r>
                            <m:rPr>
                              <m:sty m:val="p"/>
                            </m:rPr>
                            <a:rPr lang="en-US" altLang="ko-KR">
                              <a:latin typeface="Cambria Math" panose="02040503050406030204" pitchFamily="18" charset="0"/>
                            </a:rPr>
                            <m:t>cos</m:t>
                          </m:r>
                        </m:fName>
                        <m:e>
                          <m:r>
                            <a:rPr lang="en-US" altLang="ko-KR" i="1">
                              <a:latin typeface="Cambria Math" panose="02040503050406030204" pitchFamily="18" charset="0"/>
                            </a:rPr>
                            <m:t>𝜃</m:t>
                          </m:r>
                        </m:e>
                      </m:func>
                      <m:d>
                        <m:dPr>
                          <m:begChr m:val="|"/>
                          <m:endChr m:val="⟩"/>
                          <m:ctrlPr>
                            <a:rPr lang="en-US" altLang="ko-KR" i="1">
                              <a:latin typeface="Cambria Math" panose="02040503050406030204" pitchFamily="18" charset="0"/>
                            </a:rPr>
                          </m:ctrlPr>
                        </m:dPr>
                        <m:e>
                          <m:r>
                            <a:rPr lang="en-US" altLang="ko-KR" i="1">
                              <a:latin typeface="Cambria Math" panose="02040503050406030204" pitchFamily="18" charset="0"/>
                            </a:rPr>
                            <m:t>0</m:t>
                          </m:r>
                        </m:e>
                      </m:d>
                      <m:r>
                        <a:rPr lang="en-US" altLang="ko-KR" i="1">
                          <a:latin typeface="Cambria Math" panose="02040503050406030204" pitchFamily="18" charset="0"/>
                        </a:rPr>
                        <m:t>+</m:t>
                      </m:r>
                      <m:func>
                        <m:funcPr>
                          <m:ctrlPr>
                            <a:rPr lang="en-US" altLang="ko-KR" i="1">
                              <a:latin typeface="Cambria Math" panose="02040503050406030204" pitchFamily="18" charset="0"/>
                            </a:rPr>
                          </m:ctrlPr>
                        </m:funcPr>
                        <m:fName>
                          <m:r>
                            <m:rPr>
                              <m:sty m:val="p"/>
                            </m:rPr>
                            <a:rPr lang="en-US" altLang="ko-KR">
                              <a:latin typeface="Cambria Math" panose="02040503050406030204" pitchFamily="18" charset="0"/>
                            </a:rPr>
                            <m:t>sin</m:t>
                          </m:r>
                        </m:fName>
                        <m:e>
                          <m:r>
                            <a:rPr lang="en-US" altLang="ko-KR" i="1">
                              <a:latin typeface="Cambria Math" panose="02040503050406030204" pitchFamily="18" charset="0"/>
                            </a:rPr>
                            <m:t>𝜃</m:t>
                          </m:r>
                        </m:e>
                      </m:func>
                      <m:d>
                        <m:dPr>
                          <m:begChr m:val="|"/>
                          <m:endChr m:val="⟩"/>
                          <m:ctrlPr>
                            <a:rPr lang="en-US" altLang="ko-KR" i="1">
                              <a:latin typeface="Cambria Math" panose="02040503050406030204" pitchFamily="18" charset="0"/>
                            </a:rPr>
                          </m:ctrlPr>
                        </m:dPr>
                        <m:e>
                          <m:r>
                            <a:rPr lang="en-US" altLang="ko-KR" i="1">
                              <a:latin typeface="Cambria Math" panose="02040503050406030204" pitchFamily="18" charset="0"/>
                            </a:rPr>
                            <m:t>1</m:t>
                          </m:r>
                        </m:e>
                      </m:d>
                    </m:oMath>
                  </m:oMathPara>
                </a14:m>
                <a:endParaRPr lang="en-US" altLang="ko-KR"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n-US" altLang="ko-KR" b="0" i="1" smtClean="0">
                              <a:latin typeface="Cambria Math" panose="02040503050406030204" pitchFamily="18" charset="0"/>
                            </a:rPr>
                          </m:ctrlPr>
                        </m:dPr>
                        <m:e>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𝜓</m:t>
                              </m:r>
                            </m:e>
                            <m:sub>
                              <m:r>
                                <a:rPr lang="en-US" altLang="ko-KR" b="0" i="1" smtClean="0">
                                  <a:latin typeface="Cambria Math" panose="02040503050406030204" pitchFamily="18" charset="0"/>
                                </a:rPr>
                                <m:t>0</m:t>
                              </m:r>
                            </m:sub>
                          </m:sSub>
                        </m:e>
                      </m:d>
                      <m:r>
                        <a:rPr lang="en-US" altLang="ko-KR" b="0" i="1" smtClean="0">
                          <a:latin typeface="Cambria Math" panose="02040503050406030204" pitchFamily="18" charset="0"/>
                        </a:rPr>
                        <m:t>=</m:t>
                      </m:r>
                      <m:d>
                        <m:dPr>
                          <m:begChr m:val="|"/>
                          <m:endChr m:val="⟩"/>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0</m:t>
                          </m:r>
                        </m:e>
                      </m:d>
                      <m:r>
                        <a:rPr lang="en-US" altLang="ko-KR" b="0" i="1" smtClean="0">
                          <a:latin typeface="Cambria Math" panose="02040503050406030204" pitchFamily="18" charset="0"/>
                        </a:rPr>
                        <m:t>,</m:t>
                      </m:r>
                      <m:d>
                        <m:dPr>
                          <m:begChr m:val="|"/>
                          <m:endChr m:val="⟩"/>
                          <m:ctrlPr>
                            <a:rPr lang="en-US" altLang="ko-KR" b="0" i="1" smtClean="0">
                              <a:latin typeface="Cambria Math" panose="02040503050406030204" pitchFamily="18" charset="0"/>
                            </a:rPr>
                          </m:ctrlPr>
                        </m:dPr>
                        <m:e>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𝜓</m:t>
                              </m:r>
                            </m:e>
                            <m:sub>
                              <m:r>
                                <a:rPr lang="en-US" altLang="ko-KR" b="0" i="1" smtClean="0">
                                  <a:latin typeface="Cambria Math" panose="02040503050406030204" pitchFamily="18" charset="0"/>
                                </a:rPr>
                                <m:t>𝜋</m:t>
                              </m:r>
                              <m:r>
                                <a:rPr lang="en-US" altLang="ko-KR" b="0" i="1" smtClean="0">
                                  <a:latin typeface="Cambria Math" panose="02040503050406030204" pitchFamily="18" charset="0"/>
                                </a:rPr>
                                <m:t>/2</m:t>
                              </m:r>
                            </m:sub>
                          </m:sSub>
                        </m:e>
                      </m:d>
                      <m:r>
                        <a:rPr lang="en-US" altLang="ko-KR" b="0" i="1" smtClean="0">
                          <a:latin typeface="Cambria Math" panose="02040503050406030204" pitchFamily="18" charset="0"/>
                        </a:rPr>
                        <m:t>=|1⟩</m:t>
                      </m:r>
                    </m:oMath>
                  </m:oMathPara>
                </a14:m>
                <a:endParaRPr lang="en-US" altLang="ko-KR" dirty="0" smtClean="0"/>
              </a:p>
            </p:txBody>
          </p:sp>
        </mc:Choice>
        <mc:Fallback xmlns="">
          <p:sp>
            <p:nvSpPr>
              <p:cNvPr id="16" name="직사각형 15"/>
              <p:cNvSpPr>
                <a:spLocks noRot="1" noChangeAspect="1" noMove="1" noResize="1" noEditPoints="1" noAdjustHandles="1" noChangeArrowheads="1" noChangeShapeType="1" noTextEdit="1"/>
              </p:cNvSpPr>
              <p:nvPr/>
            </p:nvSpPr>
            <p:spPr>
              <a:xfrm>
                <a:off x="8942742" y="843240"/>
                <a:ext cx="2862322" cy="690958"/>
              </a:xfrm>
              <a:prstGeom prst="rect">
                <a:avLst/>
              </a:prstGeom>
              <a:blipFill>
                <a:blip r:embed="rId12"/>
                <a:stretch>
                  <a:fillRect b="-4386"/>
                </a:stretch>
              </a:blipFill>
            </p:spPr>
            <p:txBody>
              <a:bodyPr/>
              <a:lstStyle/>
              <a:p>
                <a:r>
                  <a:rPr lang="ko-KR" altLang="en-US">
                    <a:noFill/>
                  </a:rPr>
                  <a:t> </a:t>
                </a:r>
              </a:p>
            </p:txBody>
          </p:sp>
        </mc:Fallback>
      </mc:AlternateContent>
      <p:pic>
        <p:nvPicPr>
          <p:cNvPr id="17" name="그림 16"/>
          <p:cNvPicPr>
            <a:picLocks noChangeAspect="1"/>
          </p:cNvPicPr>
          <p:nvPr/>
        </p:nvPicPr>
        <p:blipFill>
          <a:blip r:embed="rId13"/>
          <a:stretch>
            <a:fillRect/>
          </a:stretch>
        </p:blipFill>
        <p:spPr>
          <a:xfrm>
            <a:off x="10159650" y="4749568"/>
            <a:ext cx="571580" cy="447737"/>
          </a:xfrm>
          <a:prstGeom prst="rect">
            <a:avLst/>
          </a:prstGeom>
        </p:spPr>
      </p:pic>
      <mc:AlternateContent xmlns:mc="http://schemas.openxmlformats.org/markup-compatibility/2006" xmlns:a14="http://schemas.microsoft.com/office/drawing/2010/main">
        <mc:Choice Requires="a14">
          <p:sp>
            <p:nvSpPr>
              <p:cNvPr id="19" name="직사각형 18"/>
              <p:cNvSpPr/>
              <p:nvPr/>
            </p:nvSpPr>
            <p:spPr>
              <a:xfrm>
                <a:off x="9204122" y="4754892"/>
                <a:ext cx="775227"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𝐵𝑂𝑋</m:t>
                      </m:r>
                    </m:oMath>
                  </m:oMathPara>
                </a14:m>
                <a:endParaRPr lang="ko-KR" altLang="en-US" sz="2400" dirty="0"/>
              </a:p>
            </p:txBody>
          </p:sp>
        </mc:Choice>
        <mc:Fallback xmlns="">
          <p:sp>
            <p:nvSpPr>
              <p:cNvPr id="19" name="직사각형 18"/>
              <p:cNvSpPr>
                <a:spLocks noRot="1" noChangeAspect="1" noMove="1" noResize="1" noEditPoints="1" noAdjustHandles="1" noChangeArrowheads="1" noChangeShapeType="1" noTextEdit="1"/>
              </p:cNvSpPr>
              <p:nvPr/>
            </p:nvSpPr>
            <p:spPr>
              <a:xfrm>
                <a:off x="9204122" y="4754892"/>
                <a:ext cx="775227" cy="461665"/>
              </a:xfrm>
              <a:prstGeom prst="rect">
                <a:avLst/>
              </a:prstGeom>
              <a:blipFill>
                <a:blip r:embed="rId14"/>
                <a:stretch>
                  <a:fillRect l="-4651" r="-3101"/>
                </a:stretch>
              </a:blipFill>
              <a:ln>
                <a:solidFill>
                  <a:schemeClr val="tx1"/>
                </a:solidFill>
              </a:ln>
            </p:spPr>
            <p:txBody>
              <a:bodyPr/>
              <a:lstStyle/>
              <a:p>
                <a:r>
                  <a:rPr lang="ko-KR" altLang="en-US">
                    <a:noFill/>
                  </a:rPr>
                  <a:t> </a:t>
                </a:r>
              </a:p>
            </p:txBody>
          </p:sp>
        </mc:Fallback>
      </mc:AlternateContent>
    </p:spTree>
    <p:extLst>
      <p:ext uri="{BB962C8B-B14F-4D97-AF65-F5344CB8AC3E}">
        <p14:creationId xmlns:p14="http://schemas.microsoft.com/office/powerpoint/2010/main" val="152482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9" grpId="0" animBg="1"/>
      <p:bldP spid="10" grpId="0" animBg="1"/>
      <p:bldP spid="11" grpId="0" animBg="1"/>
      <p:bldP spid="12" grpId="0" animBg="1"/>
      <p:bldP spid="13" grpId="0" animBg="1"/>
      <p:bldP spid="14" grpId="0" animBg="1"/>
      <p:bldP spid="1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996C-B5F6-B594-B19D-FDB3BDDBA4D7}"/>
              </a:ext>
            </a:extLst>
          </p:cNvPr>
          <p:cNvSpPr>
            <a:spLocks noGrp="1"/>
          </p:cNvSpPr>
          <p:nvPr>
            <p:ph type="title"/>
          </p:nvPr>
        </p:nvSpPr>
        <p:spPr/>
        <p:txBody>
          <a:bodyPr>
            <a:normAutofit/>
          </a:bodyPr>
          <a:lstStyle/>
          <a:p>
            <a:r>
              <a:rPr lang="en-US" altLang="ko-KR" sz="4000" dirty="0" smtClean="0"/>
              <a:t>The probing strategy</a:t>
            </a:r>
            <a:endParaRPr lang="en-US" sz="4000" dirty="0"/>
          </a:p>
        </p:txBody>
      </p:sp>
      <p:sp>
        <p:nvSpPr>
          <p:cNvPr id="3" name="Content Placeholder 2">
            <a:extLst>
              <a:ext uri="{FF2B5EF4-FFF2-40B4-BE49-F238E27FC236}">
                <a16:creationId xmlns:a16="http://schemas.microsoft.com/office/drawing/2014/main" id="{61AA8FCB-12CC-692A-1B75-ED3ACF8A8CF2}"/>
              </a:ext>
            </a:extLst>
          </p:cNvPr>
          <p:cNvSpPr>
            <a:spLocks noGrp="1"/>
          </p:cNvSpPr>
          <p:nvPr>
            <p:ph idx="1"/>
          </p:nvPr>
        </p:nvSpPr>
        <p:spPr>
          <a:xfrm>
            <a:off x="838200" y="1825625"/>
            <a:ext cx="10515600" cy="4832350"/>
          </a:xfrm>
        </p:spPr>
        <p:txBody>
          <a:bodyPr>
            <a:normAutofit/>
          </a:bodyPr>
          <a:lstStyle/>
          <a:p>
            <a:pPr marL="0" indent="0">
              <a:buNone/>
            </a:pPr>
            <a:endParaRPr lang="en-US" altLang="ko-KR" sz="2400" b="0" dirty="0" smtClean="0">
              <a:solidFill>
                <a:schemeClr val="tx1"/>
              </a:solidFill>
              <a:ea typeface="Cambria Math" panose="02040503050406030204" pitchFamily="18" charset="0"/>
            </a:endParaRPr>
          </a:p>
          <a:p>
            <a:pPr marL="0" indent="0">
              <a:buNone/>
            </a:pPr>
            <a:endParaRPr lang="en-US" altLang="ko-KR" sz="2400" dirty="0">
              <a:ea typeface="Cambria Math" panose="02040503050406030204" pitchFamily="18" charset="0"/>
            </a:endParaRPr>
          </a:p>
          <a:p>
            <a:pPr marL="0" indent="0">
              <a:buNone/>
            </a:pPr>
            <a:endParaRPr lang="en-US" altLang="ko-KR" sz="2400" b="0" dirty="0" smtClean="0">
              <a:solidFill>
                <a:schemeClr val="tx1"/>
              </a:solidFill>
              <a:ea typeface="Cambria Math" panose="02040503050406030204" pitchFamily="18" charset="0"/>
            </a:endParaRPr>
          </a:p>
          <a:p>
            <a:pPr marL="0" indent="0">
              <a:buNone/>
            </a:pPr>
            <a:r>
              <a:rPr lang="en-US" altLang="ko-KR" sz="2400" b="0" dirty="0" smtClean="0">
                <a:solidFill>
                  <a:schemeClr val="tx1"/>
                </a:solidFill>
                <a:ea typeface="Cambria Math" panose="02040503050406030204" pitchFamily="18" charset="0"/>
              </a:rPr>
              <a:t>Analysis is on board</a:t>
            </a:r>
          </a:p>
          <a:p>
            <a:pPr marL="0" indent="0">
              <a:buNone/>
            </a:pPr>
            <a:endParaRPr lang="en-US" altLang="ko-KR" sz="2400" dirty="0">
              <a:ea typeface="Cambria Math" panose="02040503050406030204" pitchFamily="18" charset="0"/>
            </a:endParaRPr>
          </a:p>
          <a:p>
            <a:pPr marL="0" indent="0">
              <a:buNone/>
            </a:pPr>
            <a:endParaRPr lang="en-US" altLang="ko-KR" sz="2400" dirty="0" smtClean="0">
              <a:ea typeface="Cambria Math" panose="02040503050406030204" pitchFamily="18" charset="0"/>
            </a:endParaRPr>
          </a:p>
          <a:p>
            <a:pPr marL="0" indent="0">
              <a:buNone/>
            </a:pPr>
            <a:endParaRPr lang="en-US" altLang="ko-KR" sz="2400" dirty="0">
              <a:ea typeface="Cambria Math" panose="02040503050406030204" pitchFamily="18" charset="0"/>
            </a:endParaRPr>
          </a:p>
          <a:p>
            <a:pPr marL="0" indent="0">
              <a:buNone/>
            </a:pPr>
            <a:r>
              <a:rPr lang="en-US" altLang="ko-KR" sz="2400" dirty="0" smtClean="0">
                <a:ea typeface="Cambria Math" panose="02040503050406030204" pitchFamily="18" charset="0"/>
              </a:rPr>
              <a:t>Conclusion: We can detect the active bomb, with a </a:t>
            </a:r>
            <a:r>
              <a:rPr lang="en-US" altLang="ko-KR" sz="2400" dirty="0" err="1" smtClean="0">
                <a:ea typeface="Cambria Math" panose="02040503050406030204" pitchFamily="18" charset="0"/>
              </a:rPr>
              <a:t>prob</a:t>
            </a:r>
            <a:r>
              <a:rPr lang="en-US" altLang="ko-KR" sz="2400" dirty="0" smtClean="0">
                <a:ea typeface="Cambria Math" panose="02040503050406030204" pitchFamily="18" charset="0"/>
              </a:rPr>
              <a:t> 1/N of death.</a:t>
            </a:r>
          </a:p>
        </p:txBody>
      </p:sp>
      <mc:AlternateContent xmlns:mc="http://schemas.openxmlformats.org/markup-compatibility/2006" xmlns:a14="http://schemas.microsoft.com/office/drawing/2010/main">
        <mc:Choice Requires="a14">
          <p:sp>
            <p:nvSpPr>
              <p:cNvPr id="6" name="Rectangle 8">
                <a:extLst>
                  <a:ext uri="{FF2B5EF4-FFF2-40B4-BE49-F238E27FC236}">
                    <a16:creationId xmlns:a16="http://schemas.microsoft.com/office/drawing/2014/main" id="{94EE92FC-DB34-FB95-BD1E-9664133A05EE}"/>
                  </a:ext>
                </a:extLst>
              </p:cNvPr>
              <p:cNvSpPr/>
              <p:nvPr/>
            </p:nvSpPr>
            <p:spPr>
              <a:xfrm>
                <a:off x="1499616" y="1706732"/>
                <a:ext cx="6715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6" name="Rectangle 8">
                <a:extLst>
                  <a:ext uri="{FF2B5EF4-FFF2-40B4-BE49-F238E27FC236}">
                    <a16:creationId xmlns:a16="http://schemas.microsoft.com/office/drawing/2014/main" id="{94EE92FC-DB34-FB95-BD1E-9664133A05EE}"/>
                  </a:ext>
                </a:extLst>
              </p:cNvPr>
              <p:cNvSpPr>
                <a:spLocks noRot="1" noChangeAspect="1" noMove="1" noResize="1" noEditPoints="1" noAdjustHandles="1" noChangeArrowheads="1" noChangeShapeType="1" noTextEdit="1"/>
              </p:cNvSpPr>
              <p:nvPr/>
            </p:nvSpPr>
            <p:spPr>
              <a:xfrm>
                <a:off x="1499616" y="1706732"/>
                <a:ext cx="671594" cy="461665"/>
              </a:xfrm>
              <a:prstGeom prst="rect">
                <a:avLst/>
              </a:prstGeom>
              <a:blipFill>
                <a:blip r:embed="rId2"/>
                <a:stretch>
                  <a:fillRect/>
                </a:stretch>
              </a:blipFill>
            </p:spPr>
            <p:txBody>
              <a:bodyPr/>
              <a:lstStyle/>
              <a:p>
                <a:r>
                  <a:rPr lang="ko-KR" altLang="en-US">
                    <a:noFill/>
                  </a:rPr>
                  <a:t> </a:t>
                </a:r>
              </a:p>
            </p:txBody>
          </p:sp>
        </mc:Fallback>
      </mc:AlternateContent>
      <p:cxnSp>
        <p:nvCxnSpPr>
          <p:cNvPr id="7" name="Straight Connector 3">
            <a:extLst>
              <a:ext uri="{FF2B5EF4-FFF2-40B4-BE49-F238E27FC236}">
                <a16:creationId xmlns:a16="http://schemas.microsoft.com/office/drawing/2014/main" id="{B91E78E4-542E-3BF9-60EB-0A75C5E77BF2}"/>
              </a:ext>
            </a:extLst>
          </p:cNvPr>
          <p:cNvCxnSpPr>
            <a:cxnSpLocks/>
            <a:stCxn id="6" idx="3"/>
          </p:cNvCxnSpPr>
          <p:nvPr/>
        </p:nvCxnSpPr>
        <p:spPr>
          <a:xfrm>
            <a:off x="2217890" y="1937565"/>
            <a:ext cx="8530376" cy="33878"/>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직사각형 7"/>
              <p:cNvSpPr/>
              <p:nvPr/>
            </p:nvSpPr>
            <p:spPr>
              <a:xfrm>
                <a:off x="2335325" y="1722774"/>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𝜃</m:t>
                          </m:r>
                        </m:sub>
                      </m:sSub>
                    </m:oMath>
                  </m:oMathPara>
                </a14:m>
                <a:endParaRPr lang="ko-KR" altLang="en-US" sz="2400" dirty="0"/>
              </a:p>
            </p:txBody>
          </p:sp>
        </mc:Choice>
        <mc:Fallback xmlns="">
          <p:sp>
            <p:nvSpPr>
              <p:cNvPr id="8" name="직사각형 7"/>
              <p:cNvSpPr>
                <a:spLocks noRot="1" noChangeAspect="1" noMove="1" noResize="1" noEditPoints="1" noAdjustHandles="1" noChangeArrowheads="1" noChangeShapeType="1" noTextEdit="1"/>
              </p:cNvSpPr>
              <p:nvPr/>
            </p:nvSpPr>
            <p:spPr>
              <a:xfrm>
                <a:off x="2335325" y="1722774"/>
                <a:ext cx="461665" cy="461665"/>
              </a:xfrm>
              <a:prstGeom prst="rect">
                <a:avLst/>
              </a:prstGeom>
              <a:blipFill>
                <a:blip r:embed="rId3"/>
                <a:stretch>
                  <a:fillRect l="-12821" r="-2564" b="-5195"/>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직사각형 8"/>
              <p:cNvSpPr/>
              <p:nvPr/>
            </p:nvSpPr>
            <p:spPr>
              <a:xfrm>
                <a:off x="3025808" y="1706731"/>
                <a:ext cx="775227"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𝐵𝑂𝑋</m:t>
                      </m:r>
                    </m:oMath>
                  </m:oMathPara>
                </a14:m>
                <a:endParaRPr lang="ko-KR" altLang="en-US" sz="2400" dirty="0"/>
              </a:p>
            </p:txBody>
          </p:sp>
        </mc:Choice>
        <mc:Fallback xmlns="">
          <p:sp>
            <p:nvSpPr>
              <p:cNvPr id="9" name="직사각형 8"/>
              <p:cNvSpPr>
                <a:spLocks noRot="1" noChangeAspect="1" noMove="1" noResize="1" noEditPoints="1" noAdjustHandles="1" noChangeArrowheads="1" noChangeShapeType="1" noTextEdit="1"/>
              </p:cNvSpPr>
              <p:nvPr/>
            </p:nvSpPr>
            <p:spPr>
              <a:xfrm>
                <a:off x="3025808" y="1706731"/>
                <a:ext cx="775227" cy="461665"/>
              </a:xfrm>
              <a:prstGeom prst="rect">
                <a:avLst/>
              </a:prstGeom>
              <a:blipFill>
                <a:blip r:embed="rId4"/>
                <a:stretch>
                  <a:fillRect l="-4615" r="-3077"/>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직사각형 9"/>
              <p:cNvSpPr/>
              <p:nvPr/>
            </p:nvSpPr>
            <p:spPr>
              <a:xfrm>
                <a:off x="4016026" y="1722774"/>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𝜃</m:t>
                          </m:r>
                        </m:sub>
                      </m:sSub>
                    </m:oMath>
                  </m:oMathPara>
                </a14:m>
                <a:endParaRPr lang="ko-KR" altLang="en-US" sz="2400" dirty="0"/>
              </a:p>
            </p:txBody>
          </p:sp>
        </mc:Choice>
        <mc:Fallback xmlns="">
          <p:sp>
            <p:nvSpPr>
              <p:cNvPr id="10" name="직사각형 9"/>
              <p:cNvSpPr>
                <a:spLocks noRot="1" noChangeAspect="1" noMove="1" noResize="1" noEditPoints="1" noAdjustHandles="1" noChangeArrowheads="1" noChangeShapeType="1" noTextEdit="1"/>
              </p:cNvSpPr>
              <p:nvPr/>
            </p:nvSpPr>
            <p:spPr>
              <a:xfrm>
                <a:off x="4016026" y="1722774"/>
                <a:ext cx="461665" cy="461665"/>
              </a:xfrm>
              <a:prstGeom prst="rect">
                <a:avLst/>
              </a:prstGeom>
              <a:blipFill>
                <a:blip r:embed="rId5"/>
                <a:stretch>
                  <a:fillRect l="-14103" r="-2564" b="-5195"/>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직사각형 10"/>
              <p:cNvSpPr/>
              <p:nvPr/>
            </p:nvSpPr>
            <p:spPr>
              <a:xfrm>
                <a:off x="4706509" y="1706731"/>
                <a:ext cx="775227"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𝐵𝑂𝑋</m:t>
                      </m:r>
                    </m:oMath>
                  </m:oMathPara>
                </a14:m>
                <a:endParaRPr lang="ko-KR" altLang="en-US" sz="2400" dirty="0"/>
              </a:p>
            </p:txBody>
          </p:sp>
        </mc:Choice>
        <mc:Fallback xmlns="">
          <p:sp>
            <p:nvSpPr>
              <p:cNvPr id="11" name="직사각형 10"/>
              <p:cNvSpPr>
                <a:spLocks noRot="1" noChangeAspect="1" noMove="1" noResize="1" noEditPoints="1" noAdjustHandles="1" noChangeArrowheads="1" noChangeShapeType="1" noTextEdit="1"/>
              </p:cNvSpPr>
              <p:nvPr/>
            </p:nvSpPr>
            <p:spPr>
              <a:xfrm>
                <a:off x="4706509" y="1706731"/>
                <a:ext cx="775227" cy="461665"/>
              </a:xfrm>
              <a:prstGeom prst="rect">
                <a:avLst/>
              </a:prstGeom>
              <a:blipFill>
                <a:blip r:embed="rId6"/>
                <a:stretch>
                  <a:fillRect l="-4651" r="-3101"/>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직사각형 11"/>
              <p:cNvSpPr/>
              <p:nvPr/>
            </p:nvSpPr>
            <p:spPr>
              <a:xfrm>
                <a:off x="7256614" y="1706731"/>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𝜃</m:t>
                          </m:r>
                        </m:sub>
                      </m:sSub>
                    </m:oMath>
                  </m:oMathPara>
                </a14:m>
                <a:endParaRPr lang="ko-KR" altLang="en-US" sz="2400" dirty="0"/>
              </a:p>
            </p:txBody>
          </p:sp>
        </mc:Choice>
        <mc:Fallback xmlns="">
          <p:sp>
            <p:nvSpPr>
              <p:cNvPr id="12" name="직사각형 11"/>
              <p:cNvSpPr>
                <a:spLocks noRot="1" noChangeAspect="1" noMove="1" noResize="1" noEditPoints="1" noAdjustHandles="1" noChangeArrowheads="1" noChangeShapeType="1" noTextEdit="1"/>
              </p:cNvSpPr>
              <p:nvPr/>
            </p:nvSpPr>
            <p:spPr>
              <a:xfrm>
                <a:off x="7256614" y="1706731"/>
                <a:ext cx="461665" cy="461665"/>
              </a:xfrm>
              <a:prstGeom prst="rect">
                <a:avLst/>
              </a:prstGeom>
              <a:blipFill>
                <a:blip r:embed="rId7"/>
                <a:stretch>
                  <a:fillRect l="-12821" r="-2564" b="-3846"/>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직사각형 12"/>
              <p:cNvSpPr/>
              <p:nvPr/>
            </p:nvSpPr>
            <p:spPr>
              <a:xfrm>
                <a:off x="7947097" y="1690688"/>
                <a:ext cx="775227"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𝐵𝑂𝑋</m:t>
                      </m:r>
                    </m:oMath>
                  </m:oMathPara>
                </a14:m>
                <a:endParaRPr lang="ko-KR" altLang="en-US" sz="2400" dirty="0"/>
              </a:p>
            </p:txBody>
          </p:sp>
        </mc:Choice>
        <mc:Fallback xmlns="">
          <p:sp>
            <p:nvSpPr>
              <p:cNvPr id="13" name="직사각형 12"/>
              <p:cNvSpPr>
                <a:spLocks noRot="1" noChangeAspect="1" noMove="1" noResize="1" noEditPoints="1" noAdjustHandles="1" noChangeArrowheads="1" noChangeShapeType="1" noTextEdit="1"/>
              </p:cNvSpPr>
              <p:nvPr/>
            </p:nvSpPr>
            <p:spPr>
              <a:xfrm>
                <a:off x="7947097" y="1690688"/>
                <a:ext cx="775227" cy="461665"/>
              </a:xfrm>
              <a:prstGeom prst="rect">
                <a:avLst/>
              </a:prstGeom>
              <a:blipFill>
                <a:blip r:embed="rId8"/>
                <a:stretch>
                  <a:fillRect l="-5426" r="-3101"/>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직사각형 13"/>
              <p:cNvSpPr/>
              <p:nvPr/>
            </p:nvSpPr>
            <p:spPr>
              <a:xfrm>
                <a:off x="8937315" y="1706731"/>
                <a:ext cx="461665"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𝑅</m:t>
                          </m:r>
                        </m:e>
                        <m:sub>
                          <m:r>
                            <a:rPr lang="en-US" altLang="ko-KR" sz="2400" b="0" i="1" smtClean="0">
                              <a:latin typeface="Cambria Math" panose="02040503050406030204" pitchFamily="18" charset="0"/>
                            </a:rPr>
                            <m:t>𝜃</m:t>
                          </m:r>
                        </m:sub>
                      </m:sSub>
                    </m:oMath>
                  </m:oMathPara>
                </a14:m>
                <a:endParaRPr lang="ko-KR" altLang="en-US" sz="2400" dirty="0"/>
              </a:p>
            </p:txBody>
          </p:sp>
        </mc:Choice>
        <mc:Fallback xmlns="">
          <p:sp>
            <p:nvSpPr>
              <p:cNvPr id="14" name="직사각형 13"/>
              <p:cNvSpPr>
                <a:spLocks noRot="1" noChangeAspect="1" noMove="1" noResize="1" noEditPoints="1" noAdjustHandles="1" noChangeArrowheads="1" noChangeShapeType="1" noTextEdit="1"/>
              </p:cNvSpPr>
              <p:nvPr/>
            </p:nvSpPr>
            <p:spPr>
              <a:xfrm>
                <a:off x="8937315" y="1706731"/>
                <a:ext cx="461665" cy="461665"/>
              </a:xfrm>
              <a:prstGeom prst="rect">
                <a:avLst/>
              </a:prstGeom>
              <a:blipFill>
                <a:blip r:embed="rId9"/>
                <a:stretch>
                  <a:fillRect l="-12821" r="-2564" b="-3846"/>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5" name="직사각형 14"/>
              <p:cNvSpPr/>
              <p:nvPr/>
            </p:nvSpPr>
            <p:spPr>
              <a:xfrm>
                <a:off x="9627798" y="1690688"/>
                <a:ext cx="775227" cy="46166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ko-KR" sz="2400" b="0" i="1" smtClean="0">
                          <a:latin typeface="Cambria Math" panose="02040503050406030204" pitchFamily="18" charset="0"/>
                        </a:rPr>
                        <m:t>  </m:t>
                      </m:r>
                      <m:r>
                        <a:rPr lang="en-US" altLang="ko-KR" sz="2400" b="0" i="1" smtClean="0">
                          <a:latin typeface="Cambria Math" panose="02040503050406030204" pitchFamily="18" charset="0"/>
                        </a:rPr>
                        <m:t>𝐵𝑂𝑋</m:t>
                      </m:r>
                    </m:oMath>
                  </m:oMathPara>
                </a14:m>
                <a:endParaRPr lang="ko-KR" altLang="en-US" sz="2400" dirty="0"/>
              </a:p>
            </p:txBody>
          </p:sp>
        </mc:Choice>
        <mc:Fallback xmlns="">
          <p:sp>
            <p:nvSpPr>
              <p:cNvPr id="15" name="직사각형 14"/>
              <p:cNvSpPr>
                <a:spLocks noRot="1" noChangeAspect="1" noMove="1" noResize="1" noEditPoints="1" noAdjustHandles="1" noChangeArrowheads="1" noChangeShapeType="1" noTextEdit="1"/>
              </p:cNvSpPr>
              <p:nvPr/>
            </p:nvSpPr>
            <p:spPr>
              <a:xfrm>
                <a:off x="9627798" y="1690688"/>
                <a:ext cx="775227" cy="461665"/>
              </a:xfrm>
              <a:prstGeom prst="rect">
                <a:avLst/>
              </a:prstGeom>
              <a:blipFill>
                <a:blip r:embed="rId10"/>
                <a:stretch>
                  <a:fillRect l="-4615" r="-3077"/>
                </a:stretch>
              </a:blipFill>
              <a:ln>
                <a:solidFill>
                  <a:schemeClr val="tx1"/>
                </a:solidFill>
              </a:ln>
            </p:spPr>
            <p:txBody>
              <a:bodyPr/>
              <a:lstStyle/>
              <a:p>
                <a:r>
                  <a:rPr lang="ko-KR" altLang="en-US">
                    <a:noFill/>
                  </a:rPr>
                  <a:t> </a:t>
                </a:r>
              </a:p>
            </p:txBody>
          </p:sp>
        </mc:Fallback>
      </mc:AlternateContent>
      <p:pic>
        <p:nvPicPr>
          <p:cNvPr id="17" name="그림 16"/>
          <p:cNvPicPr>
            <a:picLocks noChangeAspect="1"/>
          </p:cNvPicPr>
          <p:nvPr/>
        </p:nvPicPr>
        <p:blipFill>
          <a:blip r:embed="rId11"/>
          <a:stretch>
            <a:fillRect/>
          </a:stretch>
        </p:blipFill>
        <p:spPr>
          <a:xfrm>
            <a:off x="10669051" y="1690688"/>
            <a:ext cx="571580" cy="447737"/>
          </a:xfrm>
          <a:prstGeom prst="rect">
            <a:avLst/>
          </a:prstGeom>
        </p:spPr>
      </p:pic>
    </p:spTree>
    <p:extLst>
      <p:ext uri="{BB962C8B-B14F-4D97-AF65-F5344CB8AC3E}">
        <p14:creationId xmlns:p14="http://schemas.microsoft.com/office/powerpoint/2010/main" val="2752915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56BE7-710B-55F6-D872-93BC51DC6965}"/>
              </a:ext>
            </a:extLst>
          </p:cNvPr>
          <p:cNvSpPr>
            <a:spLocks noGrp="1"/>
          </p:cNvSpPr>
          <p:nvPr>
            <p:ph type="title"/>
          </p:nvPr>
        </p:nvSpPr>
        <p:spPr/>
        <p:txBody>
          <a:bodyPr/>
          <a:lstStyle/>
          <a:p>
            <a:r>
              <a:rPr lang="en-US" dirty="0" smtClean="0"/>
              <a:t>Summary</a:t>
            </a:r>
            <a:endParaRPr lang="en-US" dirty="0"/>
          </a:p>
        </p:txBody>
      </p:sp>
      <p:sp>
        <p:nvSpPr>
          <p:cNvPr id="3" name="Content Placeholder 2">
            <a:extLst>
              <a:ext uri="{FF2B5EF4-FFF2-40B4-BE49-F238E27FC236}">
                <a16:creationId xmlns:a16="http://schemas.microsoft.com/office/drawing/2014/main" id="{481B553B-CDA5-30AE-5456-EA946F62CEB0}"/>
              </a:ext>
            </a:extLst>
          </p:cNvPr>
          <p:cNvSpPr>
            <a:spLocks noGrp="1"/>
          </p:cNvSpPr>
          <p:nvPr>
            <p:ph idx="1"/>
          </p:nvPr>
        </p:nvSpPr>
        <p:spPr/>
        <p:txBody>
          <a:bodyPr>
            <a:normAutofit/>
          </a:bodyPr>
          <a:lstStyle/>
          <a:p>
            <a:r>
              <a:rPr lang="en-US" sz="2400" dirty="0" smtClean="0"/>
              <a:t>Qubit</a:t>
            </a:r>
          </a:p>
          <a:p>
            <a:r>
              <a:rPr lang="en-US" sz="2400" dirty="0" smtClean="0"/>
              <a:t>Measurement</a:t>
            </a:r>
          </a:p>
          <a:p>
            <a:r>
              <a:rPr lang="en-US" sz="2400" dirty="0" smtClean="0"/>
              <a:t>Unitary</a:t>
            </a:r>
          </a:p>
          <a:p>
            <a:endParaRPr lang="en-US" sz="2400" dirty="0"/>
          </a:p>
          <a:p>
            <a:r>
              <a:rPr lang="en-US" sz="2400" dirty="0" smtClean="0"/>
              <a:t>Quantum random number generators</a:t>
            </a:r>
          </a:p>
          <a:p>
            <a:r>
              <a:rPr lang="en-US" sz="2400" dirty="0" smtClean="0"/>
              <a:t>Quantum interference</a:t>
            </a:r>
          </a:p>
          <a:p>
            <a:r>
              <a:rPr lang="en-US" sz="2400" dirty="0" smtClean="0"/>
              <a:t>Bomb tester</a:t>
            </a:r>
            <a:endParaRPr lang="en-US" sz="2400" dirty="0"/>
          </a:p>
        </p:txBody>
      </p:sp>
    </p:spTree>
    <p:extLst>
      <p:ext uri="{BB962C8B-B14F-4D97-AF65-F5344CB8AC3E}">
        <p14:creationId xmlns:p14="http://schemas.microsoft.com/office/powerpoint/2010/main" val="15552779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9955</TotalTime>
  <Words>2808</Words>
  <Application>Microsoft Office PowerPoint</Application>
  <PresentationFormat>와이드스크린</PresentationFormat>
  <Paragraphs>603</Paragraphs>
  <Slides>53</Slides>
  <Notes>15</Notes>
  <HiddenSlides>0</HiddenSlides>
  <MMClips>0</MMClips>
  <ScaleCrop>false</ScaleCrop>
  <HeadingPairs>
    <vt:vector size="8" baseType="variant">
      <vt:variant>
        <vt:lpstr>사용한 글꼴</vt:lpstr>
      </vt:variant>
      <vt:variant>
        <vt:i4>4</vt:i4>
      </vt:variant>
      <vt:variant>
        <vt:lpstr>테마</vt:lpstr>
      </vt:variant>
      <vt:variant>
        <vt:i4>1</vt:i4>
      </vt:variant>
      <vt:variant>
        <vt:lpstr>포함된 OLE 서버</vt:lpstr>
      </vt:variant>
      <vt:variant>
        <vt:i4>1</vt:i4>
      </vt:variant>
      <vt:variant>
        <vt:lpstr>슬라이드 제목</vt:lpstr>
      </vt:variant>
      <vt:variant>
        <vt:i4>53</vt:i4>
      </vt:variant>
    </vt:vector>
  </HeadingPairs>
  <TitlesOfParts>
    <vt:vector size="59" baseType="lpstr">
      <vt:lpstr>맑은 고딕</vt:lpstr>
      <vt:lpstr>Arial</vt:lpstr>
      <vt:lpstr>Cambria Math</vt:lpstr>
      <vt:lpstr>Symbol</vt:lpstr>
      <vt:lpstr>Office 테마</vt:lpstr>
      <vt:lpstr>Bitmap Image</vt:lpstr>
      <vt:lpstr>Introduction to  Quantum Algorithms</vt:lpstr>
      <vt:lpstr>Administration</vt:lpstr>
      <vt:lpstr>Last time: Reversible computing</vt:lpstr>
      <vt:lpstr>Last time: Reversible computing</vt:lpstr>
      <vt:lpstr>Last time: Reversible computing</vt:lpstr>
      <vt:lpstr>Last time: Reversible computing</vt:lpstr>
      <vt:lpstr>Last time: Reversible computing</vt:lpstr>
      <vt:lpstr>Today we will learn about a single-qubit</vt:lpstr>
      <vt:lpstr>Today we will learn about a single-qubit</vt:lpstr>
      <vt:lpstr>Bit vs Qubit (quantum bit)</vt:lpstr>
      <vt:lpstr>Qubit as a unit vector</vt:lpstr>
      <vt:lpstr>Examples</vt:lpstr>
      <vt:lpstr>Examples</vt:lpstr>
      <vt:lpstr>Examples</vt:lpstr>
      <vt:lpstr>The first operation: Observing qubits </vt:lpstr>
      <vt:lpstr>The first operation: Observing qubits </vt:lpstr>
      <vt:lpstr>Examples</vt:lpstr>
      <vt:lpstr>The first operation: Observing qubits </vt:lpstr>
      <vt:lpstr>Examples</vt:lpstr>
      <vt:lpstr>Examples</vt:lpstr>
      <vt:lpstr>Today we will learn about a single-qubit</vt:lpstr>
      <vt:lpstr>Second: “Reversible” Transformations</vt:lpstr>
      <vt:lpstr>Recall the slide from reversible computing</vt:lpstr>
      <vt:lpstr>Equivalent definitions of unitary transform (proving equivalence is        )</vt:lpstr>
      <vt:lpstr>Examples of qubit unitary transforms (=quantum gates)</vt:lpstr>
      <vt:lpstr>Examples of qubit unitary transforms (=quantum gates)</vt:lpstr>
      <vt:lpstr>Examples of qubit unitary transforms (=quantum gates)</vt:lpstr>
      <vt:lpstr>Examples of qubit unitary transforms (=quantum gates)</vt:lpstr>
      <vt:lpstr>Today we will learn about a single-qubit</vt:lpstr>
      <vt:lpstr>Examples</vt:lpstr>
      <vt:lpstr>Quantum random number generations</vt:lpstr>
      <vt:lpstr>Quantum random number generations</vt:lpstr>
      <vt:lpstr>Examples</vt:lpstr>
      <vt:lpstr>Uniform superpositions</vt:lpstr>
      <vt:lpstr>Uniform superpositions</vt:lpstr>
      <vt:lpstr>Computation example</vt:lpstr>
      <vt:lpstr>Phase matters!</vt:lpstr>
      <vt:lpstr>Examples</vt:lpstr>
      <vt:lpstr>Example: Measurement matters</vt:lpstr>
      <vt:lpstr>Example: Measurement matters</vt:lpstr>
      <vt:lpstr>Example: Measurement matters</vt:lpstr>
      <vt:lpstr>Quantum interference (Experiment B)</vt:lpstr>
      <vt:lpstr>Quantum interference (Experiment A)</vt:lpstr>
      <vt:lpstr>Intermediate measurement matters!</vt:lpstr>
      <vt:lpstr>Examples</vt:lpstr>
      <vt:lpstr>Elitzur-Vaidman Bomb</vt:lpstr>
      <vt:lpstr>Elitzur-Vaidman Bomb</vt:lpstr>
      <vt:lpstr>Elitzur-Vaidman Bomb</vt:lpstr>
      <vt:lpstr>The probing strategy</vt:lpstr>
      <vt:lpstr>One more gate</vt:lpstr>
      <vt:lpstr>The probing strategy</vt:lpstr>
      <vt:lpstr>The probing strategy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Quantum Algorithms</dc:title>
  <dc:creator>Minki Hhan</dc:creator>
  <cp:lastModifiedBy>Minki Hhan</cp:lastModifiedBy>
  <cp:revision>112</cp:revision>
  <dcterms:created xsi:type="dcterms:W3CDTF">2026-02-24T07:16:23Z</dcterms:created>
  <dcterms:modified xsi:type="dcterms:W3CDTF">2026-03-31T01:51:01Z</dcterms:modified>
</cp:coreProperties>
</file>