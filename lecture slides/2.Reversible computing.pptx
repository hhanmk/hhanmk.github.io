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46"/>
  </p:notesMasterIdLst>
  <p:sldIdLst>
    <p:sldId id="256" r:id="rId2"/>
    <p:sldId id="298" r:id="rId3"/>
    <p:sldId id="299" r:id="rId4"/>
    <p:sldId id="300" r:id="rId5"/>
    <p:sldId id="287" r:id="rId6"/>
    <p:sldId id="257" r:id="rId7"/>
    <p:sldId id="258" r:id="rId8"/>
    <p:sldId id="259" r:id="rId9"/>
    <p:sldId id="260" r:id="rId10"/>
    <p:sldId id="261" r:id="rId11"/>
    <p:sldId id="262" r:id="rId12"/>
    <p:sldId id="263" r:id="rId13"/>
    <p:sldId id="264" r:id="rId14"/>
    <p:sldId id="265" r:id="rId15"/>
    <p:sldId id="266" r:id="rId16"/>
    <p:sldId id="267" r:id="rId17"/>
    <p:sldId id="268" r:id="rId18"/>
    <p:sldId id="288" r:id="rId19"/>
    <p:sldId id="269" r:id="rId20"/>
    <p:sldId id="270" r:id="rId21"/>
    <p:sldId id="271" r:id="rId22"/>
    <p:sldId id="272" r:id="rId23"/>
    <p:sldId id="273" r:id="rId24"/>
    <p:sldId id="274" r:id="rId25"/>
    <p:sldId id="275" r:id="rId26"/>
    <p:sldId id="276" r:id="rId27"/>
    <p:sldId id="279" r:id="rId28"/>
    <p:sldId id="280" r:id="rId29"/>
    <p:sldId id="281" r:id="rId30"/>
    <p:sldId id="282" r:id="rId31"/>
    <p:sldId id="283" r:id="rId32"/>
    <p:sldId id="284" r:id="rId33"/>
    <p:sldId id="285" r:id="rId34"/>
    <p:sldId id="290" r:id="rId35"/>
    <p:sldId id="295" r:id="rId36"/>
    <p:sldId id="297" r:id="rId37"/>
    <p:sldId id="291" r:id="rId38"/>
    <p:sldId id="292" r:id="rId39"/>
    <p:sldId id="293" r:id="rId40"/>
    <p:sldId id="286" r:id="rId41"/>
    <p:sldId id="294" r:id="rId42"/>
    <p:sldId id="296" r:id="rId43"/>
    <p:sldId id="301" r:id="rId44"/>
    <p:sldId id="302" r:id="rId45"/>
  </p:sldIdLst>
  <p:sldSz cx="12192000" cy="6858000"/>
  <p:notesSz cx="6858000" cy="9144000"/>
  <p:defaultTextStyle>
    <a:defPPr>
      <a:defRPr lang="ko-KR"/>
    </a:defPPr>
    <a:lvl1pPr marL="0" algn="l" defTabSz="914400" rtl="0" eaLnBrk="1" latinLnBrk="1" hangingPunct="1">
      <a:defRPr sz="1800" kern="1200">
        <a:solidFill>
          <a:schemeClr val="tx1"/>
        </a:solidFill>
        <a:latin typeface="+mn-lt"/>
        <a:ea typeface="+mn-ea"/>
        <a:cs typeface="+mn-cs"/>
      </a:defRPr>
    </a:lvl1pPr>
    <a:lvl2pPr marL="457200" algn="l" defTabSz="914400" rtl="0" eaLnBrk="1" latinLnBrk="1" hangingPunct="1">
      <a:defRPr sz="1800" kern="1200">
        <a:solidFill>
          <a:schemeClr val="tx1"/>
        </a:solidFill>
        <a:latin typeface="+mn-lt"/>
        <a:ea typeface="+mn-ea"/>
        <a:cs typeface="+mn-cs"/>
      </a:defRPr>
    </a:lvl2pPr>
    <a:lvl3pPr marL="914400" algn="l" defTabSz="914400" rtl="0" eaLnBrk="1" latinLnBrk="1" hangingPunct="1">
      <a:defRPr sz="1800" kern="1200">
        <a:solidFill>
          <a:schemeClr val="tx1"/>
        </a:solidFill>
        <a:latin typeface="+mn-lt"/>
        <a:ea typeface="+mn-ea"/>
        <a:cs typeface="+mn-cs"/>
      </a:defRPr>
    </a:lvl3pPr>
    <a:lvl4pPr marL="1371600" algn="l" defTabSz="914400" rtl="0" eaLnBrk="1" latinLnBrk="1" hangingPunct="1">
      <a:defRPr sz="1800" kern="1200">
        <a:solidFill>
          <a:schemeClr val="tx1"/>
        </a:solidFill>
        <a:latin typeface="+mn-lt"/>
        <a:ea typeface="+mn-ea"/>
        <a:cs typeface="+mn-cs"/>
      </a:defRPr>
    </a:lvl4pPr>
    <a:lvl5pPr marL="1828800" algn="l" defTabSz="914400" rtl="0" eaLnBrk="1" latinLnBrk="1" hangingPunct="1">
      <a:defRPr sz="1800" kern="1200">
        <a:solidFill>
          <a:schemeClr val="tx1"/>
        </a:solidFill>
        <a:latin typeface="+mn-lt"/>
        <a:ea typeface="+mn-ea"/>
        <a:cs typeface="+mn-cs"/>
      </a:defRPr>
    </a:lvl5pPr>
    <a:lvl6pPr marL="2286000" algn="l" defTabSz="914400" rtl="0" eaLnBrk="1" latinLnBrk="1" hangingPunct="1">
      <a:defRPr sz="1800" kern="1200">
        <a:solidFill>
          <a:schemeClr val="tx1"/>
        </a:solidFill>
        <a:latin typeface="+mn-lt"/>
        <a:ea typeface="+mn-ea"/>
        <a:cs typeface="+mn-cs"/>
      </a:defRPr>
    </a:lvl6pPr>
    <a:lvl7pPr marL="2743200" algn="l" defTabSz="914400" rtl="0" eaLnBrk="1" latinLnBrk="1" hangingPunct="1">
      <a:defRPr sz="1800" kern="1200">
        <a:solidFill>
          <a:schemeClr val="tx1"/>
        </a:solidFill>
        <a:latin typeface="+mn-lt"/>
        <a:ea typeface="+mn-ea"/>
        <a:cs typeface="+mn-cs"/>
      </a:defRPr>
    </a:lvl7pPr>
    <a:lvl8pPr marL="3200400" algn="l" defTabSz="914400" rtl="0" eaLnBrk="1" latinLnBrk="1" hangingPunct="1">
      <a:defRPr sz="1800" kern="1200">
        <a:solidFill>
          <a:schemeClr val="tx1"/>
        </a:solidFill>
        <a:latin typeface="+mn-lt"/>
        <a:ea typeface="+mn-ea"/>
        <a:cs typeface="+mn-cs"/>
      </a:defRPr>
    </a:lvl8pPr>
    <a:lvl9pPr marL="3657600" algn="l" defTabSz="914400" rtl="0" eaLnBrk="1" latinLnBrk="1"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userDrawn="1">
          <p15:clr>
            <a:srgbClr val="A4A3A4"/>
          </p15:clr>
        </p15:guide>
        <p15:guide id="2" pos="3817"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보통 스타일 2 - 강조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987" autoAdjust="0"/>
    <p:restoredTop sz="94660"/>
  </p:normalViewPr>
  <p:slideViewPr>
    <p:cSldViewPr snapToGrid="0" showGuides="1">
      <p:cViewPr varScale="1">
        <p:scale>
          <a:sx n="114" d="100"/>
          <a:sy n="114" d="100"/>
        </p:scale>
        <p:origin x="414" y="108"/>
      </p:cViewPr>
      <p:guideLst>
        <p:guide orient="horz" pos="2160"/>
        <p:guide pos="3817"/>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presProps" Target="presProps.xml"/><Relationship Id="rId50" Type="http://schemas.openxmlformats.org/officeDocument/2006/relationships/tableStyles" Target="tableStyle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theme" Target="theme/theme1.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slide" Target="slides/slide43.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viewProps" Target="viewProps.xml"/><Relationship Id="rId8" Type="http://schemas.openxmlformats.org/officeDocument/2006/relationships/slide" Target="slides/slide7.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notesMaster" Target="notesMasters/notesMaster1.xml"/><Relationship Id="rId20" Type="http://schemas.openxmlformats.org/officeDocument/2006/relationships/slide" Target="slides/slide19.xml"/><Relationship Id="rId41" Type="http://schemas.openxmlformats.org/officeDocument/2006/relationships/slide" Target="slides/slide40.xml"/><Relationship Id="rId1" Type="http://schemas.openxmlformats.org/officeDocument/2006/relationships/slideMaster" Target="slideMasters/slideMaster1.xml"/><Relationship Id="rId6" Type="http://schemas.openxmlformats.org/officeDocument/2006/relationships/slide" Target="slides/slide5.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머리글 개체 틀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ko-KR" altLang="en-US"/>
          </a:p>
        </p:txBody>
      </p:sp>
      <p:sp>
        <p:nvSpPr>
          <p:cNvPr id="3" name="날짜 개체 틀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9CF7EABD-121C-4E1C-A30D-B7AAAB8F758C}" type="datetimeFigureOut">
              <a:rPr lang="ko-KR" altLang="en-US" smtClean="0"/>
              <a:t>2026-03-31</a:t>
            </a:fld>
            <a:endParaRPr lang="ko-KR" altLang="en-US"/>
          </a:p>
        </p:txBody>
      </p:sp>
      <p:sp>
        <p:nvSpPr>
          <p:cNvPr id="4" name="슬라이드 이미지 개체 틀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ko-KR" altLang="en-US"/>
          </a:p>
        </p:txBody>
      </p:sp>
      <p:sp>
        <p:nvSpPr>
          <p:cNvPr id="5" name="슬라이드 노트 개체 틀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ko-KR" altLang="en-US" smtClean="0"/>
              <a:t>마스터 텍스트 스타일 편집</a:t>
            </a:r>
          </a:p>
          <a:p>
            <a:pPr lvl="1"/>
            <a:r>
              <a:rPr lang="ko-KR" altLang="en-US" smtClean="0"/>
              <a:t>둘째 수준</a:t>
            </a:r>
          </a:p>
          <a:p>
            <a:pPr lvl="2"/>
            <a:r>
              <a:rPr lang="ko-KR" altLang="en-US" smtClean="0"/>
              <a:t>셋째 수준</a:t>
            </a:r>
          </a:p>
          <a:p>
            <a:pPr lvl="3"/>
            <a:r>
              <a:rPr lang="ko-KR" altLang="en-US" smtClean="0"/>
              <a:t>넷째 수준</a:t>
            </a:r>
          </a:p>
          <a:p>
            <a:pPr lvl="4"/>
            <a:r>
              <a:rPr lang="ko-KR" altLang="en-US" smtClean="0"/>
              <a:t>다섯째 수준</a:t>
            </a:r>
            <a:endParaRPr lang="ko-KR" altLang="en-US"/>
          </a:p>
        </p:txBody>
      </p:sp>
      <p:sp>
        <p:nvSpPr>
          <p:cNvPr id="6" name="바닥글 개체 틀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ko-KR" altLang="en-US"/>
          </a:p>
        </p:txBody>
      </p:sp>
      <p:sp>
        <p:nvSpPr>
          <p:cNvPr id="7" name="슬라이드 번호 개체 틀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7E9CA3E8-17C6-46E1-AB81-2C03EE0FF831}" type="slidenum">
              <a:rPr lang="ko-KR" altLang="en-US" smtClean="0"/>
              <a:t>‹#›</a:t>
            </a:fld>
            <a:endParaRPr lang="ko-KR" altLang="en-US"/>
          </a:p>
        </p:txBody>
      </p:sp>
    </p:spTree>
    <p:extLst>
      <p:ext uri="{BB962C8B-B14F-4D97-AF65-F5344CB8AC3E}">
        <p14:creationId xmlns:p14="http://schemas.microsoft.com/office/powerpoint/2010/main" val="988499442"/>
      </p:ext>
    </p:extLst>
  </p:cSld>
  <p:clrMap bg1="lt1" tx1="dk1" bg2="lt2" tx2="dk2" accent1="accent1" accent2="accent2" accent3="accent3" accent4="accent4" accent5="accent5" accent6="accent6" hlink="hlink" folHlink="folHlink"/>
  <p:notesStyle>
    <a:lvl1pPr marL="0" algn="l" defTabSz="914400" rtl="0" eaLnBrk="1" latinLnBrk="1" hangingPunct="1">
      <a:defRPr sz="1200" kern="1200">
        <a:solidFill>
          <a:schemeClr val="tx1"/>
        </a:solidFill>
        <a:latin typeface="+mn-lt"/>
        <a:ea typeface="+mn-ea"/>
        <a:cs typeface="+mn-cs"/>
      </a:defRPr>
    </a:lvl1pPr>
    <a:lvl2pPr marL="457200" algn="l" defTabSz="914400" rtl="0" eaLnBrk="1" latinLnBrk="1" hangingPunct="1">
      <a:defRPr sz="1200" kern="1200">
        <a:solidFill>
          <a:schemeClr val="tx1"/>
        </a:solidFill>
        <a:latin typeface="+mn-lt"/>
        <a:ea typeface="+mn-ea"/>
        <a:cs typeface="+mn-cs"/>
      </a:defRPr>
    </a:lvl2pPr>
    <a:lvl3pPr marL="914400" algn="l" defTabSz="914400" rtl="0" eaLnBrk="1" latinLnBrk="1" hangingPunct="1">
      <a:defRPr sz="1200" kern="1200">
        <a:solidFill>
          <a:schemeClr val="tx1"/>
        </a:solidFill>
        <a:latin typeface="+mn-lt"/>
        <a:ea typeface="+mn-ea"/>
        <a:cs typeface="+mn-cs"/>
      </a:defRPr>
    </a:lvl3pPr>
    <a:lvl4pPr marL="1371600" algn="l" defTabSz="914400" rtl="0" eaLnBrk="1" latinLnBrk="1" hangingPunct="1">
      <a:defRPr sz="1200" kern="1200">
        <a:solidFill>
          <a:schemeClr val="tx1"/>
        </a:solidFill>
        <a:latin typeface="+mn-lt"/>
        <a:ea typeface="+mn-ea"/>
        <a:cs typeface="+mn-cs"/>
      </a:defRPr>
    </a:lvl4pPr>
    <a:lvl5pPr marL="1828800" algn="l" defTabSz="914400" rtl="0" eaLnBrk="1" latinLnBrk="1" hangingPunct="1">
      <a:defRPr sz="1200" kern="1200">
        <a:solidFill>
          <a:schemeClr val="tx1"/>
        </a:solidFill>
        <a:latin typeface="+mn-lt"/>
        <a:ea typeface="+mn-ea"/>
        <a:cs typeface="+mn-cs"/>
      </a:defRPr>
    </a:lvl5pPr>
    <a:lvl6pPr marL="2286000" algn="l" defTabSz="914400" rtl="0" eaLnBrk="1" latinLnBrk="1" hangingPunct="1">
      <a:defRPr sz="1200" kern="1200">
        <a:solidFill>
          <a:schemeClr val="tx1"/>
        </a:solidFill>
        <a:latin typeface="+mn-lt"/>
        <a:ea typeface="+mn-ea"/>
        <a:cs typeface="+mn-cs"/>
      </a:defRPr>
    </a:lvl6pPr>
    <a:lvl7pPr marL="2743200" algn="l" defTabSz="914400" rtl="0" eaLnBrk="1" latinLnBrk="1" hangingPunct="1">
      <a:defRPr sz="1200" kern="1200">
        <a:solidFill>
          <a:schemeClr val="tx1"/>
        </a:solidFill>
        <a:latin typeface="+mn-lt"/>
        <a:ea typeface="+mn-ea"/>
        <a:cs typeface="+mn-cs"/>
      </a:defRPr>
    </a:lvl7pPr>
    <a:lvl8pPr marL="3200400" algn="l" defTabSz="914400" rtl="0" eaLnBrk="1" latinLnBrk="1" hangingPunct="1">
      <a:defRPr sz="1200" kern="1200">
        <a:solidFill>
          <a:schemeClr val="tx1"/>
        </a:solidFill>
        <a:latin typeface="+mn-lt"/>
        <a:ea typeface="+mn-ea"/>
        <a:cs typeface="+mn-cs"/>
      </a:defRPr>
    </a:lvl8pPr>
    <a:lvl9pPr marL="3657600" algn="l" defTabSz="914400" rtl="0" eaLnBrk="1" latinLnBrk="1"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To answer this, we really have to dig into the physics of how information is processed. Think about how information is stored on your hard drive, say. Ok, hard drives aren’t made like this anymore, but at some point they were stacks of discs and the data is stored via the orientation of magnetic material on disks. If the magnetization is pointing up, or down, that corresponds to 0 or 1. So when you erase or reset </a:t>
            </a:r>
            <a:r>
              <a:rPr lang="en-US"/>
              <a:t>some information, </a:t>
            </a:r>
          </a:p>
        </p:txBody>
      </p:sp>
      <p:sp>
        <p:nvSpPr>
          <p:cNvPr id="4" name="Slide Number Placeholder 3"/>
          <p:cNvSpPr>
            <a:spLocks noGrp="1"/>
          </p:cNvSpPr>
          <p:nvPr>
            <p:ph type="sldNum" sz="quarter" idx="5"/>
          </p:nvPr>
        </p:nvSpPr>
        <p:spPr/>
        <p:txBody>
          <a:bodyPr/>
          <a:lstStyle/>
          <a:p>
            <a:fld id="{EF1EDA97-CC10-0D46-BAAF-B4D45128B754}" type="slidenum">
              <a:rPr lang="en-US" smtClean="0"/>
              <a:t>6</a:t>
            </a:fld>
            <a:endParaRPr lang="en-US"/>
          </a:p>
        </p:txBody>
      </p:sp>
    </p:spTree>
    <p:extLst>
      <p:ext uri="{BB962C8B-B14F-4D97-AF65-F5344CB8AC3E}">
        <p14:creationId xmlns:p14="http://schemas.microsoft.com/office/powerpoint/2010/main" val="3537405486"/>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EF1EDA97-CC10-0D46-BAAF-B4D45128B754}" type="slidenum">
              <a:rPr lang="en-US" smtClean="0"/>
              <a:t>32</a:t>
            </a:fld>
            <a:endParaRPr lang="en-US"/>
          </a:p>
        </p:txBody>
      </p:sp>
    </p:spTree>
    <p:extLst>
      <p:ext uri="{BB962C8B-B14F-4D97-AF65-F5344CB8AC3E}">
        <p14:creationId xmlns:p14="http://schemas.microsoft.com/office/powerpoint/2010/main" val="2949633760"/>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EF1EDA97-CC10-0D46-BAAF-B4D45128B754}" type="slidenum">
              <a:rPr lang="en-US" smtClean="0"/>
              <a:t>33</a:t>
            </a:fld>
            <a:endParaRPr lang="en-US"/>
          </a:p>
        </p:txBody>
      </p:sp>
    </p:spTree>
    <p:extLst>
      <p:ext uri="{BB962C8B-B14F-4D97-AF65-F5344CB8AC3E}">
        <p14:creationId xmlns:p14="http://schemas.microsoft.com/office/powerpoint/2010/main" val="3644073246"/>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제목 슬라이드">
    <p:spTree>
      <p:nvGrpSpPr>
        <p:cNvPr id="1" name=""/>
        <p:cNvGrpSpPr/>
        <p:nvPr/>
      </p:nvGrpSpPr>
      <p:grpSpPr>
        <a:xfrm>
          <a:off x="0" y="0"/>
          <a:ext cx="0" cy="0"/>
          <a:chOff x="0" y="0"/>
          <a:chExt cx="0" cy="0"/>
        </a:xfrm>
      </p:grpSpPr>
      <p:sp>
        <p:nvSpPr>
          <p:cNvPr id="2" name="제목 1"/>
          <p:cNvSpPr>
            <a:spLocks noGrp="1"/>
          </p:cNvSpPr>
          <p:nvPr>
            <p:ph type="ctrTitle"/>
          </p:nvPr>
        </p:nvSpPr>
        <p:spPr>
          <a:xfrm>
            <a:off x="1524000" y="1122363"/>
            <a:ext cx="9144000" cy="2387600"/>
          </a:xfrm>
        </p:spPr>
        <p:txBody>
          <a:bodyPr anchor="b"/>
          <a:lstStyle>
            <a:lvl1pPr algn="ctr">
              <a:defRPr sz="6000"/>
            </a:lvl1pPr>
          </a:lstStyle>
          <a:p>
            <a:r>
              <a:rPr lang="ko-KR" altLang="en-US" smtClean="0"/>
              <a:t>마스터 제목 스타일 편집</a:t>
            </a:r>
            <a:endParaRPr lang="ko-KR" altLang="en-US"/>
          </a:p>
        </p:txBody>
      </p:sp>
      <p:sp>
        <p:nvSpPr>
          <p:cNvPr id="3" name="부제목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ko-KR" altLang="en-US" smtClean="0"/>
              <a:t>클릭하여 마스터 부제목 스타일 편집</a:t>
            </a:r>
            <a:endParaRPr lang="ko-KR" altLang="en-US"/>
          </a:p>
        </p:txBody>
      </p:sp>
      <p:sp>
        <p:nvSpPr>
          <p:cNvPr id="4" name="날짜 개체 틀 3"/>
          <p:cNvSpPr>
            <a:spLocks noGrp="1"/>
          </p:cNvSpPr>
          <p:nvPr>
            <p:ph type="dt" sz="half" idx="10"/>
          </p:nvPr>
        </p:nvSpPr>
        <p:spPr/>
        <p:txBody>
          <a:bodyPr/>
          <a:lstStyle/>
          <a:p>
            <a:fld id="{95B8B3D6-5FF2-4C83-B3C3-C5C37AAB6EE8}" type="datetimeFigureOut">
              <a:rPr lang="ko-KR" altLang="en-US" smtClean="0"/>
              <a:t>2026-03-31</a:t>
            </a:fld>
            <a:endParaRPr lang="ko-KR" altLang="en-US"/>
          </a:p>
        </p:txBody>
      </p:sp>
      <p:sp>
        <p:nvSpPr>
          <p:cNvPr id="5" name="바닥글 개체 틀 4"/>
          <p:cNvSpPr>
            <a:spLocks noGrp="1"/>
          </p:cNvSpPr>
          <p:nvPr>
            <p:ph type="ftr" sz="quarter" idx="11"/>
          </p:nvPr>
        </p:nvSpPr>
        <p:spPr/>
        <p:txBody>
          <a:bodyPr/>
          <a:lstStyle/>
          <a:p>
            <a:endParaRPr lang="ko-KR" altLang="en-US"/>
          </a:p>
        </p:txBody>
      </p:sp>
      <p:sp>
        <p:nvSpPr>
          <p:cNvPr id="6" name="슬라이드 번호 개체 틀 5"/>
          <p:cNvSpPr>
            <a:spLocks noGrp="1"/>
          </p:cNvSpPr>
          <p:nvPr>
            <p:ph type="sldNum" sz="quarter" idx="12"/>
          </p:nvPr>
        </p:nvSpPr>
        <p:spPr/>
        <p:txBody>
          <a:bodyPr/>
          <a:lstStyle/>
          <a:p>
            <a:fld id="{9E709058-EE6E-4782-B725-5941026A47FB}" type="slidenum">
              <a:rPr lang="ko-KR" altLang="en-US" smtClean="0"/>
              <a:t>‹#›</a:t>
            </a:fld>
            <a:endParaRPr lang="ko-KR" altLang="en-US"/>
          </a:p>
        </p:txBody>
      </p:sp>
    </p:spTree>
    <p:extLst>
      <p:ext uri="{BB962C8B-B14F-4D97-AF65-F5344CB8AC3E}">
        <p14:creationId xmlns:p14="http://schemas.microsoft.com/office/powerpoint/2010/main" val="1543636758"/>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제목 및 내용">
    <p:spTree>
      <p:nvGrpSpPr>
        <p:cNvPr id="1" name=""/>
        <p:cNvGrpSpPr/>
        <p:nvPr/>
      </p:nvGrpSpPr>
      <p:grpSpPr>
        <a:xfrm>
          <a:off x="0" y="0"/>
          <a:ext cx="0" cy="0"/>
          <a:chOff x="0" y="0"/>
          <a:chExt cx="0" cy="0"/>
        </a:xfrm>
      </p:grpSpPr>
      <p:sp>
        <p:nvSpPr>
          <p:cNvPr id="2" name="제목 1"/>
          <p:cNvSpPr>
            <a:spLocks noGrp="1"/>
          </p:cNvSpPr>
          <p:nvPr>
            <p:ph type="title"/>
          </p:nvPr>
        </p:nvSpPr>
        <p:spPr/>
        <p:txBody>
          <a:bodyPr/>
          <a:lstStyle/>
          <a:p>
            <a:r>
              <a:rPr lang="ko-KR" altLang="en-US" smtClean="0"/>
              <a:t>마스터 제목 스타일 편집</a:t>
            </a:r>
            <a:endParaRPr lang="ko-KR" altLang="en-US"/>
          </a:p>
        </p:txBody>
      </p:sp>
      <p:sp>
        <p:nvSpPr>
          <p:cNvPr id="3" name="내용 개체 틀 2"/>
          <p:cNvSpPr>
            <a:spLocks noGrp="1"/>
          </p:cNvSpPr>
          <p:nvPr>
            <p:ph idx="1"/>
          </p:nvPr>
        </p:nvSpPr>
        <p:spPr/>
        <p:txBody>
          <a:bodyPr/>
          <a:lstStyle/>
          <a:p>
            <a:pPr lvl="0"/>
            <a:r>
              <a:rPr lang="ko-KR" altLang="en-US" smtClean="0"/>
              <a:t>마스터 텍스트 스타일 편집</a:t>
            </a:r>
          </a:p>
          <a:p>
            <a:pPr lvl="1"/>
            <a:r>
              <a:rPr lang="ko-KR" altLang="en-US" smtClean="0"/>
              <a:t>둘째 수준</a:t>
            </a:r>
          </a:p>
          <a:p>
            <a:pPr lvl="2"/>
            <a:r>
              <a:rPr lang="ko-KR" altLang="en-US" smtClean="0"/>
              <a:t>셋째 수준</a:t>
            </a:r>
          </a:p>
          <a:p>
            <a:pPr lvl="3"/>
            <a:r>
              <a:rPr lang="ko-KR" altLang="en-US" smtClean="0"/>
              <a:t>넷째 수준</a:t>
            </a:r>
          </a:p>
          <a:p>
            <a:pPr lvl="4"/>
            <a:r>
              <a:rPr lang="ko-KR" altLang="en-US" smtClean="0"/>
              <a:t>다섯째 수준</a:t>
            </a:r>
            <a:endParaRPr lang="ko-KR" altLang="en-US"/>
          </a:p>
        </p:txBody>
      </p:sp>
      <p:sp>
        <p:nvSpPr>
          <p:cNvPr id="4" name="날짜 개체 틀 3"/>
          <p:cNvSpPr>
            <a:spLocks noGrp="1"/>
          </p:cNvSpPr>
          <p:nvPr>
            <p:ph type="dt" sz="half" idx="10"/>
          </p:nvPr>
        </p:nvSpPr>
        <p:spPr/>
        <p:txBody>
          <a:bodyPr/>
          <a:lstStyle/>
          <a:p>
            <a:fld id="{95B8B3D6-5FF2-4C83-B3C3-C5C37AAB6EE8}" type="datetimeFigureOut">
              <a:rPr lang="ko-KR" altLang="en-US" smtClean="0"/>
              <a:t>2026-03-31</a:t>
            </a:fld>
            <a:endParaRPr lang="ko-KR" altLang="en-US"/>
          </a:p>
        </p:txBody>
      </p:sp>
      <p:sp>
        <p:nvSpPr>
          <p:cNvPr id="5" name="바닥글 개체 틀 4"/>
          <p:cNvSpPr>
            <a:spLocks noGrp="1"/>
          </p:cNvSpPr>
          <p:nvPr>
            <p:ph type="ftr" sz="quarter" idx="11"/>
          </p:nvPr>
        </p:nvSpPr>
        <p:spPr/>
        <p:txBody>
          <a:bodyPr/>
          <a:lstStyle/>
          <a:p>
            <a:endParaRPr lang="ko-KR" altLang="en-US"/>
          </a:p>
        </p:txBody>
      </p:sp>
      <p:sp>
        <p:nvSpPr>
          <p:cNvPr id="6" name="슬라이드 번호 개체 틀 5"/>
          <p:cNvSpPr>
            <a:spLocks noGrp="1"/>
          </p:cNvSpPr>
          <p:nvPr>
            <p:ph type="sldNum" sz="quarter" idx="12"/>
          </p:nvPr>
        </p:nvSpPr>
        <p:spPr/>
        <p:txBody>
          <a:bodyPr/>
          <a:lstStyle/>
          <a:p>
            <a:fld id="{9E709058-EE6E-4782-B725-5941026A47FB}" type="slidenum">
              <a:rPr lang="ko-KR" altLang="en-US" smtClean="0"/>
              <a:t>‹#›</a:t>
            </a:fld>
            <a:endParaRPr lang="ko-KR" altLang="en-US"/>
          </a:p>
        </p:txBody>
      </p:sp>
    </p:spTree>
    <p:extLst>
      <p:ext uri="{BB962C8B-B14F-4D97-AF65-F5344CB8AC3E}">
        <p14:creationId xmlns:p14="http://schemas.microsoft.com/office/powerpoint/2010/main" val="414005196"/>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구역 머리글">
    <p:spTree>
      <p:nvGrpSpPr>
        <p:cNvPr id="1" name=""/>
        <p:cNvGrpSpPr/>
        <p:nvPr/>
      </p:nvGrpSpPr>
      <p:grpSpPr>
        <a:xfrm>
          <a:off x="0" y="0"/>
          <a:ext cx="0" cy="0"/>
          <a:chOff x="0" y="0"/>
          <a:chExt cx="0" cy="0"/>
        </a:xfrm>
      </p:grpSpPr>
      <p:sp>
        <p:nvSpPr>
          <p:cNvPr id="2" name="제목 1"/>
          <p:cNvSpPr>
            <a:spLocks noGrp="1"/>
          </p:cNvSpPr>
          <p:nvPr>
            <p:ph type="title"/>
          </p:nvPr>
        </p:nvSpPr>
        <p:spPr>
          <a:xfrm>
            <a:off x="831850" y="1709738"/>
            <a:ext cx="10515600" cy="2852737"/>
          </a:xfrm>
        </p:spPr>
        <p:txBody>
          <a:bodyPr anchor="b"/>
          <a:lstStyle>
            <a:lvl1pPr>
              <a:defRPr sz="6000"/>
            </a:lvl1pPr>
          </a:lstStyle>
          <a:p>
            <a:r>
              <a:rPr lang="ko-KR" altLang="en-US" smtClean="0"/>
              <a:t>마스터 제목 스타일 편집</a:t>
            </a:r>
            <a:endParaRPr lang="ko-KR" altLang="en-US"/>
          </a:p>
        </p:txBody>
      </p:sp>
      <p:sp>
        <p:nvSpPr>
          <p:cNvPr id="3" name="텍스트 개체 틀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ko-KR" altLang="en-US" smtClean="0"/>
              <a:t>마스터 텍스트 스타일 편집</a:t>
            </a:r>
          </a:p>
        </p:txBody>
      </p:sp>
      <p:sp>
        <p:nvSpPr>
          <p:cNvPr id="4" name="날짜 개체 틀 3"/>
          <p:cNvSpPr>
            <a:spLocks noGrp="1"/>
          </p:cNvSpPr>
          <p:nvPr>
            <p:ph type="dt" sz="half" idx="10"/>
          </p:nvPr>
        </p:nvSpPr>
        <p:spPr/>
        <p:txBody>
          <a:bodyPr/>
          <a:lstStyle/>
          <a:p>
            <a:fld id="{95B8B3D6-5FF2-4C83-B3C3-C5C37AAB6EE8}" type="datetimeFigureOut">
              <a:rPr lang="ko-KR" altLang="en-US" smtClean="0"/>
              <a:t>2026-03-31</a:t>
            </a:fld>
            <a:endParaRPr lang="ko-KR" altLang="en-US"/>
          </a:p>
        </p:txBody>
      </p:sp>
      <p:sp>
        <p:nvSpPr>
          <p:cNvPr id="5" name="바닥글 개체 틀 4"/>
          <p:cNvSpPr>
            <a:spLocks noGrp="1"/>
          </p:cNvSpPr>
          <p:nvPr>
            <p:ph type="ftr" sz="quarter" idx="11"/>
          </p:nvPr>
        </p:nvSpPr>
        <p:spPr/>
        <p:txBody>
          <a:bodyPr/>
          <a:lstStyle/>
          <a:p>
            <a:endParaRPr lang="ko-KR" altLang="en-US"/>
          </a:p>
        </p:txBody>
      </p:sp>
      <p:sp>
        <p:nvSpPr>
          <p:cNvPr id="6" name="슬라이드 번호 개체 틀 5"/>
          <p:cNvSpPr>
            <a:spLocks noGrp="1"/>
          </p:cNvSpPr>
          <p:nvPr>
            <p:ph type="sldNum" sz="quarter" idx="12"/>
          </p:nvPr>
        </p:nvSpPr>
        <p:spPr/>
        <p:txBody>
          <a:bodyPr/>
          <a:lstStyle/>
          <a:p>
            <a:fld id="{9E709058-EE6E-4782-B725-5941026A47FB}" type="slidenum">
              <a:rPr lang="ko-KR" altLang="en-US" smtClean="0"/>
              <a:t>‹#›</a:t>
            </a:fld>
            <a:endParaRPr lang="ko-KR" altLang="en-US"/>
          </a:p>
        </p:txBody>
      </p:sp>
    </p:spTree>
    <p:extLst>
      <p:ext uri="{BB962C8B-B14F-4D97-AF65-F5344CB8AC3E}">
        <p14:creationId xmlns:p14="http://schemas.microsoft.com/office/powerpoint/2010/main" val="2154600536"/>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콘텐츠 2개">
    <p:spTree>
      <p:nvGrpSpPr>
        <p:cNvPr id="1" name=""/>
        <p:cNvGrpSpPr/>
        <p:nvPr/>
      </p:nvGrpSpPr>
      <p:grpSpPr>
        <a:xfrm>
          <a:off x="0" y="0"/>
          <a:ext cx="0" cy="0"/>
          <a:chOff x="0" y="0"/>
          <a:chExt cx="0" cy="0"/>
        </a:xfrm>
      </p:grpSpPr>
      <p:sp>
        <p:nvSpPr>
          <p:cNvPr id="2" name="제목 1"/>
          <p:cNvSpPr>
            <a:spLocks noGrp="1"/>
          </p:cNvSpPr>
          <p:nvPr>
            <p:ph type="title"/>
          </p:nvPr>
        </p:nvSpPr>
        <p:spPr/>
        <p:txBody>
          <a:bodyPr/>
          <a:lstStyle/>
          <a:p>
            <a:r>
              <a:rPr lang="ko-KR" altLang="en-US" smtClean="0"/>
              <a:t>마스터 제목 스타일 편집</a:t>
            </a:r>
            <a:endParaRPr lang="ko-KR" altLang="en-US"/>
          </a:p>
        </p:txBody>
      </p:sp>
      <p:sp>
        <p:nvSpPr>
          <p:cNvPr id="3" name="내용 개체 틀 2"/>
          <p:cNvSpPr>
            <a:spLocks noGrp="1"/>
          </p:cNvSpPr>
          <p:nvPr>
            <p:ph sz="half" idx="1"/>
          </p:nvPr>
        </p:nvSpPr>
        <p:spPr>
          <a:xfrm>
            <a:off x="838200" y="1825625"/>
            <a:ext cx="5181600" cy="4351338"/>
          </a:xfrm>
        </p:spPr>
        <p:txBody>
          <a:bodyPr/>
          <a:lstStyle/>
          <a:p>
            <a:pPr lvl="0"/>
            <a:r>
              <a:rPr lang="ko-KR" altLang="en-US" smtClean="0"/>
              <a:t>마스터 텍스트 스타일 편집</a:t>
            </a:r>
          </a:p>
          <a:p>
            <a:pPr lvl="1"/>
            <a:r>
              <a:rPr lang="ko-KR" altLang="en-US" smtClean="0"/>
              <a:t>둘째 수준</a:t>
            </a:r>
          </a:p>
          <a:p>
            <a:pPr lvl="2"/>
            <a:r>
              <a:rPr lang="ko-KR" altLang="en-US" smtClean="0"/>
              <a:t>셋째 수준</a:t>
            </a:r>
          </a:p>
          <a:p>
            <a:pPr lvl="3"/>
            <a:r>
              <a:rPr lang="ko-KR" altLang="en-US" smtClean="0"/>
              <a:t>넷째 수준</a:t>
            </a:r>
          </a:p>
          <a:p>
            <a:pPr lvl="4"/>
            <a:r>
              <a:rPr lang="ko-KR" altLang="en-US" smtClean="0"/>
              <a:t>다섯째 수준</a:t>
            </a:r>
            <a:endParaRPr lang="ko-KR" altLang="en-US"/>
          </a:p>
        </p:txBody>
      </p:sp>
      <p:sp>
        <p:nvSpPr>
          <p:cNvPr id="4" name="내용 개체 틀 3"/>
          <p:cNvSpPr>
            <a:spLocks noGrp="1"/>
          </p:cNvSpPr>
          <p:nvPr>
            <p:ph sz="half" idx="2"/>
          </p:nvPr>
        </p:nvSpPr>
        <p:spPr>
          <a:xfrm>
            <a:off x="6172200" y="1825625"/>
            <a:ext cx="5181600" cy="4351338"/>
          </a:xfrm>
        </p:spPr>
        <p:txBody>
          <a:bodyPr/>
          <a:lstStyle/>
          <a:p>
            <a:pPr lvl="0"/>
            <a:r>
              <a:rPr lang="ko-KR" altLang="en-US" smtClean="0"/>
              <a:t>마스터 텍스트 스타일 편집</a:t>
            </a:r>
          </a:p>
          <a:p>
            <a:pPr lvl="1"/>
            <a:r>
              <a:rPr lang="ko-KR" altLang="en-US" smtClean="0"/>
              <a:t>둘째 수준</a:t>
            </a:r>
          </a:p>
          <a:p>
            <a:pPr lvl="2"/>
            <a:r>
              <a:rPr lang="ko-KR" altLang="en-US" smtClean="0"/>
              <a:t>셋째 수준</a:t>
            </a:r>
          </a:p>
          <a:p>
            <a:pPr lvl="3"/>
            <a:r>
              <a:rPr lang="ko-KR" altLang="en-US" smtClean="0"/>
              <a:t>넷째 수준</a:t>
            </a:r>
          </a:p>
          <a:p>
            <a:pPr lvl="4"/>
            <a:r>
              <a:rPr lang="ko-KR" altLang="en-US" smtClean="0"/>
              <a:t>다섯째 수준</a:t>
            </a:r>
            <a:endParaRPr lang="ko-KR" altLang="en-US"/>
          </a:p>
        </p:txBody>
      </p:sp>
      <p:sp>
        <p:nvSpPr>
          <p:cNvPr id="5" name="날짜 개체 틀 4"/>
          <p:cNvSpPr>
            <a:spLocks noGrp="1"/>
          </p:cNvSpPr>
          <p:nvPr>
            <p:ph type="dt" sz="half" idx="10"/>
          </p:nvPr>
        </p:nvSpPr>
        <p:spPr/>
        <p:txBody>
          <a:bodyPr/>
          <a:lstStyle/>
          <a:p>
            <a:fld id="{95B8B3D6-5FF2-4C83-B3C3-C5C37AAB6EE8}" type="datetimeFigureOut">
              <a:rPr lang="ko-KR" altLang="en-US" smtClean="0"/>
              <a:t>2026-03-31</a:t>
            </a:fld>
            <a:endParaRPr lang="ko-KR" altLang="en-US"/>
          </a:p>
        </p:txBody>
      </p:sp>
      <p:sp>
        <p:nvSpPr>
          <p:cNvPr id="6" name="바닥글 개체 틀 5"/>
          <p:cNvSpPr>
            <a:spLocks noGrp="1"/>
          </p:cNvSpPr>
          <p:nvPr>
            <p:ph type="ftr" sz="quarter" idx="11"/>
          </p:nvPr>
        </p:nvSpPr>
        <p:spPr/>
        <p:txBody>
          <a:bodyPr/>
          <a:lstStyle/>
          <a:p>
            <a:endParaRPr lang="ko-KR" altLang="en-US"/>
          </a:p>
        </p:txBody>
      </p:sp>
      <p:sp>
        <p:nvSpPr>
          <p:cNvPr id="7" name="슬라이드 번호 개체 틀 6"/>
          <p:cNvSpPr>
            <a:spLocks noGrp="1"/>
          </p:cNvSpPr>
          <p:nvPr>
            <p:ph type="sldNum" sz="quarter" idx="12"/>
          </p:nvPr>
        </p:nvSpPr>
        <p:spPr/>
        <p:txBody>
          <a:bodyPr/>
          <a:lstStyle/>
          <a:p>
            <a:fld id="{9E709058-EE6E-4782-B725-5941026A47FB}" type="slidenum">
              <a:rPr lang="ko-KR" altLang="en-US" smtClean="0"/>
              <a:t>‹#›</a:t>
            </a:fld>
            <a:endParaRPr lang="ko-KR" altLang="en-US"/>
          </a:p>
        </p:txBody>
      </p:sp>
    </p:spTree>
    <p:extLst>
      <p:ext uri="{BB962C8B-B14F-4D97-AF65-F5344CB8AC3E}">
        <p14:creationId xmlns:p14="http://schemas.microsoft.com/office/powerpoint/2010/main" val="1856718090"/>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비교">
    <p:spTree>
      <p:nvGrpSpPr>
        <p:cNvPr id="1" name=""/>
        <p:cNvGrpSpPr/>
        <p:nvPr/>
      </p:nvGrpSpPr>
      <p:grpSpPr>
        <a:xfrm>
          <a:off x="0" y="0"/>
          <a:ext cx="0" cy="0"/>
          <a:chOff x="0" y="0"/>
          <a:chExt cx="0" cy="0"/>
        </a:xfrm>
      </p:grpSpPr>
      <p:sp>
        <p:nvSpPr>
          <p:cNvPr id="2" name="제목 1"/>
          <p:cNvSpPr>
            <a:spLocks noGrp="1"/>
          </p:cNvSpPr>
          <p:nvPr>
            <p:ph type="title"/>
          </p:nvPr>
        </p:nvSpPr>
        <p:spPr>
          <a:xfrm>
            <a:off x="839788" y="365125"/>
            <a:ext cx="10515600" cy="1325563"/>
          </a:xfrm>
        </p:spPr>
        <p:txBody>
          <a:bodyPr/>
          <a:lstStyle/>
          <a:p>
            <a:r>
              <a:rPr lang="ko-KR" altLang="en-US" smtClean="0"/>
              <a:t>마스터 제목 스타일 편집</a:t>
            </a:r>
            <a:endParaRPr lang="ko-KR" altLang="en-US"/>
          </a:p>
        </p:txBody>
      </p:sp>
      <p:sp>
        <p:nvSpPr>
          <p:cNvPr id="3" name="텍스트 개체 틀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ko-KR" altLang="en-US" smtClean="0"/>
              <a:t>마스터 텍스트 스타일 편집</a:t>
            </a:r>
          </a:p>
        </p:txBody>
      </p:sp>
      <p:sp>
        <p:nvSpPr>
          <p:cNvPr id="4" name="내용 개체 틀 3"/>
          <p:cNvSpPr>
            <a:spLocks noGrp="1"/>
          </p:cNvSpPr>
          <p:nvPr>
            <p:ph sz="half" idx="2"/>
          </p:nvPr>
        </p:nvSpPr>
        <p:spPr>
          <a:xfrm>
            <a:off x="839788" y="2505075"/>
            <a:ext cx="5157787" cy="3684588"/>
          </a:xfrm>
        </p:spPr>
        <p:txBody>
          <a:bodyPr/>
          <a:lstStyle/>
          <a:p>
            <a:pPr lvl="0"/>
            <a:r>
              <a:rPr lang="ko-KR" altLang="en-US" smtClean="0"/>
              <a:t>마스터 텍스트 스타일 편집</a:t>
            </a:r>
          </a:p>
          <a:p>
            <a:pPr lvl="1"/>
            <a:r>
              <a:rPr lang="ko-KR" altLang="en-US" smtClean="0"/>
              <a:t>둘째 수준</a:t>
            </a:r>
          </a:p>
          <a:p>
            <a:pPr lvl="2"/>
            <a:r>
              <a:rPr lang="ko-KR" altLang="en-US" smtClean="0"/>
              <a:t>셋째 수준</a:t>
            </a:r>
          </a:p>
          <a:p>
            <a:pPr lvl="3"/>
            <a:r>
              <a:rPr lang="ko-KR" altLang="en-US" smtClean="0"/>
              <a:t>넷째 수준</a:t>
            </a:r>
          </a:p>
          <a:p>
            <a:pPr lvl="4"/>
            <a:r>
              <a:rPr lang="ko-KR" altLang="en-US" smtClean="0"/>
              <a:t>다섯째 수준</a:t>
            </a:r>
            <a:endParaRPr lang="ko-KR" altLang="en-US"/>
          </a:p>
        </p:txBody>
      </p:sp>
      <p:sp>
        <p:nvSpPr>
          <p:cNvPr id="5" name="텍스트 개체 틀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ko-KR" altLang="en-US" smtClean="0"/>
              <a:t>마스터 텍스트 스타일 편집</a:t>
            </a:r>
          </a:p>
        </p:txBody>
      </p:sp>
      <p:sp>
        <p:nvSpPr>
          <p:cNvPr id="6" name="내용 개체 틀 5"/>
          <p:cNvSpPr>
            <a:spLocks noGrp="1"/>
          </p:cNvSpPr>
          <p:nvPr>
            <p:ph sz="quarter" idx="4"/>
          </p:nvPr>
        </p:nvSpPr>
        <p:spPr>
          <a:xfrm>
            <a:off x="6172200" y="2505075"/>
            <a:ext cx="5183188" cy="3684588"/>
          </a:xfrm>
        </p:spPr>
        <p:txBody>
          <a:bodyPr/>
          <a:lstStyle/>
          <a:p>
            <a:pPr lvl="0"/>
            <a:r>
              <a:rPr lang="ko-KR" altLang="en-US" smtClean="0"/>
              <a:t>마스터 텍스트 스타일 편집</a:t>
            </a:r>
          </a:p>
          <a:p>
            <a:pPr lvl="1"/>
            <a:r>
              <a:rPr lang="ko-KR" altLang="en-US" smtClean="0"/>
              <a:t>둘째 수준</a:t>
            </a:r>
          </a:p>
          <a:p>
            <a:pPr lvl="2"/>
            <a:r>
              <a:rPr lang="ko-KR" altLang="en-US" smtClean="0"/>
              <a:t>셋째 수준</a:t>
            </a:r>
          </a:p>
          <a:p>
            <a:pPr lvl="3"/>
            <a:r>
              <a:rPr lang="ko-KR" altLang="en-US" smtClean="0"/>
              <a:t>넷째 수준</a:t>
            </a:r>
          </a:p>
          <a:p>
            <a:pPr lvl="4"/>
            <a:r>
              <a:rPr lang="ko-KR" altLang="en-US" smtClean="0"/>
              <a:t>다섯째 수준</a:t>
            </a:r>
            <a:endParaRPr lang="ko-KR" altLang="en-US"/>
          </a:p>
        </p:txBody>
      </p:sp>
      <p:sp>
        <p:nvSpPr>
          <p:cNvPr id="7" name="날짜 개체 틀 6"/>
          <p:cNvSpPr>
            <a:spLocks noGrp="1"/>
          </p:cNvSpPr>
          <p:nvPr>
            <p:ph type="dt" sz="half" idx="10"/>
          </p:nvPr>
        </p:nvSpPr>
        <p:spPr/>
        <p:txBody>
          <a:bodyPr/>
          <a:lstStyle/>
          <a:p>
            <a:fld id="{95B8B3D6-5FF2-4C83-B3C3-C5C37AAB6EE8}" type="datetimeFigureOut">
              <a:rPr lang="ko-KR" altLang="en-US" smtClean="0"/>
              <a:t>2026-03-31</a:t>
            </a:fld>
            <a:endParaRPr lang="ko-KR" altLang="en-US"/>
          </a:p>
        </p:txBody>
      </p:sp>
      <p:sp>
        <p:nvSpPr>
          <p:cNvPr id="8" name="바닥글 개체 틀 7"/>
          <p:cNvSpPr>
            <a:spLocks noGrp="1"/>
          </p:cNvSpPr>
          <p:nvPr>
            <p:ph type="ftr" sz="quarter" idx="11"/>
          </p:nvPr>
        </p:nvSpPr>
        <p:spPr/>
        <p:txBody>
          <a:bodyPr/>
          <a:lstStyle/>
          <a:p>
            <a:endParaRPr lang="ko-KR" altLang="en-US"/>
          </a:p>
        </p:txBody>
      </p:sp>
      <p:sp>
        <p:nvSpPr>
          <p:cNvPr id="9" name="슬라이드 번호 개체 틀 8"/>
          <p:cNvSpPr>
            <a:spLocks noGrp="1"/>
          </p:cNvSpPr>
          <p:nvPr>
            <p:ph type="sldNum" sz="quarter" idx="12"/>
          </p:nvPr>
        </p:nvSpPr>
        <p:spPr/>
        <p:txBody>
          <a:bodyPr/>
          <a:lstStyle/>
          <a:p>
            <a:fld id="{9E709058-EE6E-4782-B725-5941026A47FB}" type="slidenum">
              <a:rPr lang="ko-KR" altLang="en-US" smtClean="0"/>
              <a:t>‹#›</a:t>
            </a:fld>
            <a:endParaRPr lang="ko-KR" altLang="en-US"/>
          </a:p>
        </p:txBody>
      </p:sp>
    </p:spTree>
    <p:extLst>
      <p:ext uri="{BB962C8B-B14F-4D97-AF65-F5344CB8AC3E}">
        <p14:creationId xmlns:p14="http://schemas.microsoft.com/office/powerpoint/2010/main" val="4082596082"/>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제목만">
    <p:spTree>
      <p:nvGrpSpPr>
        <p:cNvPr id="1" name=""/>
        <p:cNvGrpSpPr/>
        <p:nvPr/>
      </p:nvGrpSpPr>
      <p:grpSpPr>
        <a:xfrm>
          <a:off x="0" y="0"/>
          <a:ext cx="0" cy="0"/>
          <a:chOff x="0" y="0"/>
          <a:chExt cx="0" cy="0"/>
        </a:xfrm>
      </p:grpSpPr>
      <p:sp>
        <p:nvSpPr>
          <p:cNvPr id="2" name="제목 1"/>
          <p:cNvSpPr>
            <a:spLocks noGrp="1"/>
          </p:cNvSpPr>
          <p:nvPr>
            <p:ph type="title"/>
          </p:nvPr>
        </p:nvSpPr>
        <p:spPr/>
        <p:txBody>
          <a:bodyPr/>
          <a:lstStyle/>
          <a:p>
            <a:r>
              <a:rPr lang="ko-KR" altLang="en-US" smtClean="0"/>
              <a:t>마스터 제목 스타일 편집</a:t>
            </a:r>
            <a:endParaRPr lang="ko-KR" altLang="en-US"/>
          </a:p>
        </p:txBody>
      </p:sp>
      <p:sp>
        <p:nvSpPr>
          <p:cNvPr id="3" name="날짜 개체 틀 2"/>
          <p:cNvSpPr>
            <a:spLocks noGrp="1"/>
          </p:cNvSpPr>
          <p:nvPr>
            <p:ph type="dt" sz="half" idx="10"/>
          </p:nvPr>
        </p:nvSpPr>
        <p:spPr/>
        <p:txBody>
          <a:bodyPr/>
          <a:lstStyle/>
          <a:p>
            <a:fld id="{95B8B3D6-5FF2-4C83-B3C3-C5C37AAB6EE8}" type="datetimeFigureOut">
              <a:rPr lang="ko-KR" altLang="en-US" smtClean="0"/>
              <a:t>2026-03-31</a:t>
            </a:fld>
            <a:endParaRPr lang="ko-KR" altLang="en-US"/>
          </a:p>
        </p:txBody>
      </p:sp>
      <p:sp>
        <p:nvSpPr>
          <p:cNvPr id="4" name="바닥글 개체 틀 3"/>
          <p:cNvSpPr>
            <a:spLocks noGrp="1"/>
          </p:cNvSpPr>
          <p:nvPr>
            <p:ph type="ftr" sz="quarter" idx="11"/>
          </p:nvPr>
        </p:nvSpPr>
        <p:spPr/>
        <p:txBody>
          <a:bodyPr/>
          <a:lstStyle/>
          <a:p>
            <a:endParaRPr lang="ko-KR" altLang="en-US"/>
          </a:p>
        </p:txBody>
      </p:sp>
      <p:sp>
        <p:nvSpPr>
          <p:cNvPr id="5" name="슬라이드 번호 개체 틀 4"/>
          <p:cNvSpPr>
            <a:spLocks noGrp="1"/>
          </p:cNvSpPr>
          <p:nvPr>
            <p:ph type="sldNum" sz="quarter" idx="12"/>
          </p:nvPr>
        </p:nvSpPr>
        <p:spPr/>
        <p:txBody>
          <a:bodyPr/>
          <a:lstStyle/>
          <a:p>
            <a:fld id="{9E709058-EE6E-4782-B725-5941026A47FB}" type="slidenum">
              <a:rPr lang="ko-KR" altLang="en-US" smtClean="0"/>
              <a:t>‹#›</a:t>
            </a:fld>
            <a:endParaRPr lang="ko-KR" altLang="en-US"/>
          </a:p>
        </p:txBody>
      </p:sp>
    </p:spTree>
    <p:extLst>
      <p:ext uri="{BB962C8B-B14F-4D97-AF65-F5344CB8AC3E}">
        <p14:creationId xmlns:p14="http://schemas.microsoft.com/office/powerpoint/2010/main" val="1348691079"/>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빈 화면">
    <p:spTree>
      <p:nvGrpSpPr>
        <p:cNvPr id="1" name=""/>
        <p:cNvGrpSpPr/>
        <p:nvPr/>
      </p:nvGrpSpPr>
      <p:grpSpPr>
        <a:xfrm>
          <a:off x="0" y="0"/>
          <a:ext cx="0" cy="0"/>
          <a:chOff x="0" y="0"/>
          <a:chExt cx="0" cy="0"/>
        </a:xfrm>
      </p:grpSpPr>
      <p:sp>
        <p:nvSpPr>
          <p:cNvPr id="2" name="날짜 개체 틀 1"/>
          <p:cNvSpPr>
            <a:spLocks noGrp="1"/>
          </p:cNvSpPr>
          <p:nvPr>
            <p:ph type="dt" sz="half" idx="10"/>
          </p:nvPr>
        </p:nvSpPr>
        <p:spPr/>
        <p:txBody>
          <a:bodyPr/>
          <a:lstStyle/>
          <a:p>
            <a:fld id="{95B8B3D6-5FF2-4C83-B3C3-C5C37AAB6EE8}" type="datetimeFigureOut">
              <a:rPr lang="ko-KR" altLang="en-US" smtClean="0"/>
              <a:t>2026-03-31</a:t>
            </a:fld>
            <a:endParaRPr lang="ko-KR" altLang="en-US"/>
          </a:p>
        </p:txBody>
      </p:sp>
      <p:sp>
        <p:nvSpPr>
          <p:cNvPr id="3" name="바닥글 개체 틀 2"/>
          <p:cNvSpPr>
            <a:spLocks noGrp="1"/>
          </p:cNvSpPr>
          <p:nvPr>
            <p:ph type="ftr" sz="quarter" idx="11"/>
          </p:nvPr>
        </p:nvSpPr>
        <p:spPr/>
        <p:txBody>
          <a:bodyPr/>
          <a:lstStyle/>
          <a:p>
            <a:endParaRPr lang="ko-KR" altLang="en-US"/>
          </a:p>
        </p:txBody>
      </p:sp>
      <p:sp>
        <p:nvSpPr>
          <p:cNvPr id="4" name="슬라이드 번호 개체 틀 3"/>
          <p:cNvSpPr>
            <a:spLocks noGrp="1"/>
          </p:cNvSpPr>
          <p:nvPr>
            <p:ph type="sldNum" sz="quarter" idx="12"/>
          </p:nvPr>
        </p:nvSpPr>
        <p:spPr/>
        <p:txBody>
          <a:bodyPr/>
          <a:lstStyle/>
          <a:p>
            <a:fld id="{9E709058-EE6E-4782-B725-5941026A47FB}" type="slidenum">
              <a:rPr lang="ko-KR" altLang="en-US" smtClean="0"/>
              <a:t>‹#›</a:t>
            </a:fld>
            <a:endParaRPr lang="ko-KR" altLang="en-US"/>
          </a:p>
        </p:txBody>
      </p:sp>
    </p:spTree>
    <p:extLst>
      <p:ext uri="{BB962C8B-B14F-4D97-AF65-F5344CB8AC3E}">
        <p14:creationId xmlns:p14="http://schemas.microsoft.com/office/powerpoint/2010/main" val="33960336"/>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캡션 있는 콘텐츠">
    <p:spTree>
      <p:nvGrpSpPr>
        <p:cNvPr id="1" name=""/>
        <p:cNvGrpSpPr/>
        <p:nvPr/>
      </p:nvGrpSpPr>
      <p:grpSpPr>
        <a:xfrm>
          <a:off x="0" y="0"/>
          <a:ext cx="0" cy="0"/>
          <a:chOff x="0" y="0"/>
          <a:chExt cx="0" cy="0"/>
        </a:xfrm>
      </p:grpSpPr>
      <p:sp>
        <p:nvSpPr>
          <p:cNvPr id="2" name="제목 1"/>
          <p:cNvSpPr>
            <a:spLocks noGrp="1"/>
          </p:cNvSpPr>
          <p:nvPr>
            <p:ph type="title"/>
          </p:nvPr>
        </p:nvSpPr>
        <p:spPr>
          <a:xfrm>
            <a:off x="839788" y="457200"/>
            <a:ext cx="3932237" cy="1600200"/>
          </a:xfrm>
        </p:spPr>
        <p:txBody>
          <a:bodyPr anchor="b"/>
          <a:lstStyle>
            <a:lvl1pPr>
              <a:defRPr sz="3200"/>
            </a:lvl1pPr>
          </a:lstStyle>
          <a:p>
            <a:r>
              <a:rPr lang="ko-KR" altLang="en-US" smtClean="0"/>
              <a:t>마스터 제목 스타일 편집</a:t>
            </a:r>
            <a:endParaRPr lang="ko-KR" altLang="en-US"/>
          </a:p>
        </p:txBody>
      </p:sp>
      <p:sp>
        <p:nvSpPr>
          <p:cNvPr id="3" name="내용 개체 틀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ko-KR" altLang="en-US" smtClean="0"/>
              <a:t>마스터 텍스트 스타일 편집</a:t>
            </a:r>
          </a:p>
          <a:p>
            <a:pPr lvl="1"/>
            <a:r>
              <a:rPr lang="ko-KR" altLang="en-US" smtClean="0"/>
              <a:t>둘째 수준</a:t>
            </a:r>
          </a:p>
          <a:p>
            <a:pPr lvl="2"/>
            <a:r>
              <a:rPr lang="ko-KR" altLang="en-US" smtClean="0"/>
              <a:t>셋째 수준</a:t>
            </a:r>
          </a:p>
          <a:p>
            <a:pPr lvl="3"/>
            <a:r>
              <a:rPr lang="ko-KR" altLang="en-US" smtClean="0"/>
              <a:t>넷째 수준</a:t>
            </a:r>
          </a:p>
          <a:p>
            <a:pPr lvl="4"/>
            <a:r>
              <a:rPr lang="ko-KR" altLang="en-US" smtClean="0"/>
              <a:t>다섯째 수준</a:t>
            </a:r>
            <a:endParaRPr lang="ko-KR" altLang="en-US"/>
          </a:p>
        </p:txBody>
      </p:sp>
      <p:sp>
        <p:nvSpPr>
          <p:cNvPr id="4" name="텍스트 개체 틀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ko-KR" altLang="en-US" smtClean="0"/>
              <a:t>마스터 텍스트 스타일 편집</a:t>
            </a:r>
          </a:p>
        </p:txBody>
      </p:sp>
      <p:sp>
        <p:nvSpPr>
          <p:cNvPr id="5" name="날짜 개체 틀 4"/>
          <p:cNvSpPr>
            <a:spLocks noGrp="1"/>
          </p:cNvSpPr>
          <p:nvPr>
            <p:ph type="dt" sz="half" idx="10"/>
          </p:nvPr>
        </p:nvSpPr>
        <p:spPr/>
        <p:txBody>
          <a:bodyPr/>
          <a:lstStyle/>
          <a:p>
            <a:fld id="{95B8B3D6-5FF2-4C83-B3C3-C5C37AAB6EE8}" type="datetimeFigureOut">
              <a:rPr lang="ko-KR" altLang="en-US" smtClean="0"/>
              <a:t>2026-03-31</a:t>
            </a:fld>
            <a:endParaRPr lang="ko-KR" altLang="en-US"/>
          </a:p>
        </p:txBody>
      </p:sp>
      <p:sp>
        <p:nvSpPr>
          <p:cNvPr id="6" name="바닥글 개체 틀 5"/>
          <p:cNvSpPr>
            <a:spLocks noGrp="1"/>
          </p:cNvSpPr>
          <p:nvPr>
            <p:ph type="ftr" sz="quarter" idx="11"/>
          </p:nvPr>
        </p:nvSpPr>
        <p:spPr/>
        <p:txBody>
          <a:bodyPr/>
          <a:lstStyle/>
          <a:p>
            <a:endParaRPr lang="ko-KR" altLang="en-US"/>
          </a:p>
        </p:txBody>
      </p:sp>
      <p:sp>
        <p:nvSpPr>
          <p:cNvPr id="7" name="슬라이드 번호 개체 틀 6"/>
          <p:cNvSpPr>
            <a:spLocks noGrp="1"/>
          </p:cNvSpPr>
          <p:nvPr>
            <p:ph type="sldNum" sz="quarter" idx="12"/>
          </p:nvPr>
        </p:nvSpPr>
        <p:spPr/>
        <p:txBody>
          <a:bodyPr/>
          <a:lstStyle/>
          <a:p>
            <a:fld id="{9E709058-EE6E-4782-B725-5941026A47FB}" type="slidenum">
              <a:rPr lang="ko-KR" altLang="en-US" smtClean="0"/>
              <a:t>‹#›</a:t>
            </a:fld>
            <a:endParaRPr lang="ko-KR" altLang="en-US"/>
          </a:p>
        </p:txBody>
      </p:sp>
    </p:spTree>
    <p:extLst>
      <p:ext uri="{BB962C8B-B14F-4D97-AF65-F5344CB8AC3E}">
        <p14:creationId xmlns:p14="http://schemas.microsoft.com/office/powerpoint/2010/main" val="933052933"/>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캡션 있는 그림">
    <p:spTree>
      <p:nvGrpSpPr>
        <p:cNvPr id="1" name=""/>
        <p:cNvGrpSpPr/>
        <p:nvPr/>
      </p:nvGrpSpPr>
      <p:grpSpPr>
        <a:xfrm>
          <a:off x="0" y="0"/>
          <a:ext cx="0" cy="0"/>
          <a:chOff x="0" y="0"/>
          <a:chExt cx="0" cy="0"/>
        </a:xfrm>
      </p:grpSpPr>
      <p:sp>
        <p:nvSpPr>
          <p:cNvPr id="2" name="제목 1"/>
          <p:cNvSpPr>
            <a:spLocks noGrp="1"/>
          </p:cNvSpPr>
          <p:nvPr>
            <p:ph type="title"/>
          </p:nvPr>
        </p:nvSpPr>
        <p:spPr>
          <a:xfrm>
            <a:off x="839788" y="457200"/>
            <a:ext cx="3932237" cy="1600200"/>
          </a:xfrm>
        </p:spPr>
        <p:txBody>
          <a:bodyPr anchor="b"/>
          <a:lstStyle>
            <a:lvl1pPr>
              <a:defRPr sz="3200"/>
            </a:lvl1pPr>
          </a:lstStyle>
          <a:p>
            <a:r>
              <a:rPr lang="ko-KR" altLang="en-US" smtClean="0"/>
              <a:t>마스터 제목 스타일 편집</a:t>
            </a:r>
            <a:endParaRPr lang="ko-KR" altLang="en-US"/>
          </a:p>
        </p:txBody>
      </p:sp>
      <p:sp>
        <p:nvSpPr>
          <p:cNvPr id="3" name="그림 개체 틀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ko-KR" altLang="en-US"/>
          </a:p>
        </p:txBody>
      </p:sp>
      <p:sp>
        <p:nvSpPr>
          <p:cNvPr id="4" name="텍스트 개체 틀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ko-KR" altLang="en-US" smtClean="0"/>
              <a:t>마스터 텍스트 스타일 편집</a:t>
            </a:r>
          </a:p>
        </p:txBody>
      </p:sp>
      <p:sp>
        <p:nvSpPr>
          <p:cNvPr id="5" name="날짜 개체 틀 4"/>
          <p:cNvSpPr>
            <a:spLocks noGrp="1"/>
          </p:cNvSpPr>
          <p:nvPr>
            <p:ph type="dt" sz="half" idx="10"/>
          </p:nvPr>
        </p:nvSpPr>
        <p:spPr/>
        <p:txBody>
          <a:bodyPr/>
          <a:lstStyle/>
          <a:p>
            <a:fld id="{95B8B3D6-5FF2-4C83-B3C3-C5C37AAB6EE8}" type="datetimeFigureOut">
              <a:rPr lang="ko-KR" altLang="en-US" smtClean="0"/>
              <a:t>2026-03-31</a:t>
            </a:fld>
            <a:endParaRPr lang="ko-KR" altLang="en-US"/>
          </a:p>
        </p:txBody>
      </p:sp>
      <p:sp>
        <p:nvSpPr>
          <p:cNvPr id="6" name="바닥글 개체 틀 5"/>
          <p:cNvSpPr>
            <a:spLocks noGrp="1"/>
          </p:cNvSpPr>
          <p:nvPr>
            <p:ph type="ftr" sz="quarter" idx="11"/>
          </p:nvPr>
        </p:nvSpPr>
        <p:spPr/>
        <p:txBody>
          <a:bodyPr/>
          <a:lstStyle/>
          <a:p>
            <a:endParaRPr lang="ko-KR" altLang="en-US"/>
          </a:p>
        </p:txBody>
      </p:sp>
      <p:sp>
        <p:nvSpPr>
          <p:cNvPr id="7" name="슬라이드 번호 개체 틀 6"/>
          <p:cNvSpPr>
            <a:spLocks noGrp="1"/>
          </p:cNvSpPr>
          <p:nvPr>
            <p:ph type="sldNum" sz="quarter" idx="12"/>
          </p:nvPr>
        </p:nvSpPr>
        <p:spPr/>
        <p:txBody>
          <a:bodyPr/>
          <a:lstStyle/>
          <a:p>
            <a:fld id="{9E709058-EE6E-4782-B725-5941026A47FB}" type="slidenum">
              <a:rPr lang="ko-KR" altLang="en-US" smtClean="0"/>
              <a:t>‹#›</a:t>
            </a:fld>
            <a:endParaRPr lang="ko-KR" altLang="en-US"/>
          </a:p>
        </p:txBody>
      </p:sp>
    </p:spTree>
    <p:extLst>
      <p:ext uri="{BB962C8B-B14F-4D97-AF65-F5344CB8AC3E}">
        <p14:creationId xmlns:p14="http://schemas.microsoft.com/office/powerpoint/2010/main" val="3658421580"/>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제목 및 세로 텍스트">
    <p:spTree>
      <p:nvGrpSpPr>
        <p:cNvPr id="1" name=""/>
        <p:cNvGrpSpPr/>
        <p:nvPr/>
      </p:nvGrpSpPr>
      <p:grpSpPr>
        <a:xfrm>
          <a:off x="0" y="0"/>
          <a:ext cx="0" cy="0"/>
          <a:chOff x="0" y="0"/>
          <a:chExt cx="0" cy="0"/>
        </a:xfrm>
      </p:grpSpPr>
      <p:sp>
        <p:nvSpPr>
          <p:cNvPr id="2" name="제목 1"/>
          <p:cNvSpPr>
            <a:spLocks noGrp="1"/>
          </p:cNvSpPr>
          <p:nvPr>
            <p:ph type="title"/>
          </p:nvPr>
        </p:nvSpPr>
        <p:spPr/>
        <p:txBody>
          <a:bodyPr/>
          <a:lstStyle/>
          <a:p>
            <a:r>
              <a:rPr lang="ko-KR" altLang="en-US" smtClean="0"/>
              <a:t>마스터 제목 스타일 편집</a:t>
            </a:r>
            <a:endParaRPr lang="ko-KR" altLang="en-US"/>
          </a:p>
        </p:txBody>
      </p:sp>
      <p:sp>
        <p:nvSpPr>
          <p:cNvPr id="3" name="세로 텍스트 개체 틀 2"/>
          <p:cNvSpPr>
            <a:spLocks noGrp="1"/>
          </p:cNvSpPr>
          <p:nvPr>
            <p:ph type="body" orient="vert" idx="1"/>
          </p:nvPr>
        </p:nvSpPr>
        <p:spPr/>
        <p:txBody>
          <a:bodyPr vert="eaVert"/>
          <a:lstStyle/>
          <a:p>
            <a:pPr lvl="0"/>
            <a:r>
              <a:rPr lang="ko-KR" altLang="en-US" smtClean="0"/>
              <a:t>마스터 텍스트 스타일 편집</a:t>
            </a:r>
          </a:p>
          <a:p>
            <a:pPr lvl="1"/>
            <a:r>
              <a:rPr lang="ko-KR" altLang="en-US" smtClean="0"/>
              <a:t>둘째 수준</a:t>
            </a:r>
          </a:p>
          <a:p>
            <a:pPr lvl="2"/>
            <a:r>
              <a:rPr lang="ko-KR" altLang="en-US" smtClean="0"/>
              <a:t>셋째 수준</a:t>
            </a:r>
          </a:p>
          <a:p>
            <a:pPr lvl="3"/>
            <a:r>
              <a:rPr lang="ko-KR" altLang="en-US" smtClean="0"/>
              <a:t>넷째 수준</a:t>
            </a:r>
          </a:p>
          <a:p>
            <a:pPr lvl="4"/>
            <a:r>
              <a:rPr lang="ko-KR" altLang="en-US" smtClean="0"/>
              <a:t>다섯째 수준</a:t>
            </a:r>
            <a:endParaRPr lang="ko-KR" altLang="en-US"/>
          </a:p>
        </p:txBody>
      </p:sp>
      <p:sp>
        <p:nvSpPr>
          <p:cNvPr id="4" name="날짜 개체 틀 3"/>
          <p:cNvSpPr>
            <a:spLocks noGrp="1"/>
          </p:cNvSpPr>
          <p:nvPr>
            <p:ph type="dt" sz="half" idx="10"/>
          </p:nvPr>
        </p:nvSpPr>
        <p:spPr/>
        <p:txBody>
          <a:bodyPr/>
          <a:lstStyle/>
          <a:p>
            <a:fld id="{95B8B3D6-5FF2-4C83-B3C3-C5C37AAB6EE8}" type="datetimeFigureOut">
              <a:rPr lang="ko-KR" altLang="en-US" smtClean="0"/>
              <a:t>2026-03-31</a:t>
            </a:fld>
            <a:endParaRPr lang="ko-KR" altLang="en-US"/>
          </a:p>
        </p:txBody>
      </p:sp>
      <p:sp>
        <p:nvSpPr>
          <p:cNvPr id="5" name="바닥글 개체 틀 4"/>
          <p:cNvSpPr>
            <a:spLocks noGrp="1"/>
          </p:cNvSpPr>
          <p:nvPr>
            <p:ph type="ftr" sz="quarter" idx="11"/>
          </p:nvPr>
        </p:nvSpPr>
        <p:spPr/>
        <p:txBody>
          <a:bodyPr/>
          <a:lstStyle/>
          <a:p>
            <a:endParaRPr lang="ko-KR" altLang="en-US"/>
          </a:p>
        </p:txBody>
      </p:sp>
      <p:sp>
        <p:nvSpPr>
          <p:cNvPr id="6" name="슬라이드 번호 개체 틀 5"/>
          <p:cNvSpPr>
            <a:spLocks noGrp="1"/>
          </p:cNvSpPr>
          <p:nvPr>
            <p:ph type="sldNum" sz="quarter" idx="12"/>
          </p:nvPr>
        </p:nvSpPr>
        <p:spPr/>
        <p:txBody>
          <a:bodyPr/>
          <a:lstStyle/>
          <a:p>
            <a:fld id="{9E709058-EE6E-4782-B725-5941026A47FB}" type="slidenum">
              <a:rPr lang="ko-KR" altLang="en-US" smtClean="0"/>
              <a:t>‹#›</a:t>
            </a:fld>
            <a:endParaRPr lang="ko-KR" altLang="en-US"/>
          </a:p>
        </p:txBody>
      </p:sp>
    </p:spTree>
    <p:extLst>
      <p:ext uri="{BB962C8B-B14F-4D97-AF65-F5344CB8AC3E}">
        <p14:creationId xmlns:p14="http://schemas.microsoft.com/office/powerpoint/2010/main" val="2188561049"/>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세로 제목 및 텍스트">
    <p:spTree>
      <p:nvGrpSpPr>
        <p:cNvPr id="1" name=""/>
        <p:cNvGrpSpPr/>
        <p:nvPr/>
      </p:nvGrpSpPr>
      <p:grpSpPr>
        <a:xfrm>
          <a:off x="0" y="0"/>
          <a:ext cx="0" cy="0"/>
          <a:chOff x="0" y="0"/>
          <a:chExt cx="0" cy="0"/>
        </a:xfrm>
      </p:grpSpPr>
      <p:sp>
        <p:nvSpPr>
          <p:cNvPr id="2" name="세로 제목 1"/>
          <p:cNvSpPr>
            <a:spLocks noGrp="1"/>
          </p:cNvSpPr>
          <p:nvPr>
            <p:ph type="title" orient="vert"/>
          </p:nvPr>
        </p:nvSpPr>
        <p:spPr>
          <a:xfrm>
            <a:off x="8724900" y="365125"/>
            <a:ext cx="2628900" cy="5811838"/>
          </a:xfrm>
        </p:spPr>
        <p:txBody>
          <a:bodyPr vert="eaVert"/>
          <a:lstStyle/>
          <a:p>
            <a:r>
              <a:rPr lang="ko-KR" altLang="en-US" smtClean="0"/>
              <a:t>마스터 제목 스타일 편집</a:t>
            </a:r>
            <a:endParaRPr lang="ko-KR" altLang="en-US"/>
          </a:p>
        </p:txBody>
      </p:sp>
      <p:sp>
        <p:nvSpPr>
          <p:cNvPr id="3" name="세로 텍스트 개체 틀 2"/>
          <p:cNvSpPr>
            <a:spLocks noGrp="1"/>
          </p:cNvSpPr>
          <p:nvPr>
            <p:ph type="body" orient="vert" idx="1"/>
          </p:nvPr>
        </p:nvSpPr>
        <p:spPr>
          <a:xfrm>
            <a:off x="838200" y="365125"/>
            <a:ext cx="7734300" cy="5811838"/>
          </a:xfrm>
        </p:spPr>
        <p:txBody>
          <a:bodyPr vert="eaVert"/>
          <a:lstStyle/>
          <a:p>
            <a:pPr lvl="0"/>
            <a:r>
              <a:rPr lang="ko-KR" altLang="en-US" smtClean="0"/>
              <a:t>마스터 텍스트 스타일 편집</a:t>
            </a:r>
          </a:p>
          <a:p>
            <a:pPr lvl="1"/>
            <a:r>
              <a:rPr lang="ko-KR" altLang="en-US" smtClean="0"/>
              <a:t>둘째 수준</a:t>
            </a:r>
          </a:p>
          <a:p>
            <a:pPr lvl="2"/>
            <a:r>
              <a:rPr lang="ko-KR" altLang="en-US" smtClean="0"/>
              <a:t>셋째 수준</a:t>
            </a:r>
          </a:p>
          <a:p>
            <a:pPr lvl="3"/>
            <a:r>
              <a:rPr lang="ko-KR" altLang="en-US" smtClean="0"/>
              <a:t>넷째 수준</a:t>
            </a:r>
          </a:p>
          <a:p>
            <a:pPr lvl="4"/>
            <a:r>
              <a:rPr lang="ko-KR" altLang="en-US" smtClean="0"/>
              <a:t>다섯째 수준</a:t>
            </a:r>
            <a:endParaRPr lang="ko-KR" altLang="en-US"/>
          </a:p>
        </p:txBody>
      </p:sp>
      <p:sp>
        <p:nvSpPr>
          <p:cNvPr id="4" name="날짜 개체 틀 3"/>
          <p:cNvSpPr>
            <a:spLocks noGrp="1"/>
          </p:cNvSpPr>
          <p:nvPr>
            <p:ph type="dt" sz="half" idx="10"/>
          </p:nvPr>
        </p:nvSpPr>
        <p:spPr/>
        <p:txBody>
          <a:bodyPr/>
          <a:lstStyle/>
          <a:p>
            <a:fld id="{95B8B3D6-5FF2-4C83-B3C3-C5C37AAB6EE8}" type="datetimeFigureOut">
              <a:rPr lang="ko-KR" altLang="en-US" smtClean="0"/>
              <a:t>2026-03-31</a:t>
            </a:fld>
            <a:endParaRPr lang="ko-KR" altLang="en-US"/>
          </a:p>
        </p:txBody>
      </p:sp>
      <p:sp>
        <p:nvSpPr>
          <p:cNvPr id="5" name="바닥글 개체 틀 4"/>
          <p:cNvSpPr>
            <a:spLocks noGrp="1"/>
          </p:cNvSpPr>
          <p:nvPr>
            <p:ph type="ftr" sz="quarter" idx="11"/>
          </p:nvPr>
        </p:nvSpPr>
        <p:spPr/>
        <p:txBody>
          <a:bodyPr/>
          <a:lstStyle/>
          <a:p>
            <a:endParaRPr lang="ko-KR" altLang="en-US"/>
          </a:p>
        </p:txBody>
      </p:sp>
      <p:sp>
        <p:nvSpPr>
          <p:cNvPr id="6" name="슬라이드 번호 개체 틀 5"/>
          <p:cNvSpPr>
            <a:spLocks noGrp="1"/>
          </p:cNvSpPr>
          <p:nvPr>
            <p:ph type="sldNum" sz="quarter" idx="12"/>
          </p:nvPr>
        </p:nvSpPr>
        <p:spPr/>
        <p:txBody>
          <a:bodyPr/>
          <a:lstStyle/>
          <a:p>
            <a:fld id="{9E709058-EE6E-4782-B725-5941026A47FB}" type="slidenum">
              <a:rPr lang="ko-KR" altLang="en-US" smtClean="0"/>
              <a:t>‹#›</a:t>
            </a:fld>
            <a:endParaRPr lang="ko-KR" altLang="en-US"/>
          </a:p>
        </p:txBody>
      </p:sp>
    </p:spTree>
    <p:extLst>
      <p:ext uri="{BB962C8B-B14F-4D97-AF65-F5344CB8AC3E}">
        <p14:creationId xmlns:p14="http://schemas.microsoft.com/office/powerpoint/2010/main" val="2365098666"/>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제목 개체 틀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ko-KR" altLang="en-US" smtClean="0"/>
              <a:t>마스터 제목 스타일 편집</a:t>
            </a:r>
            <a:endParaRPr lang="ko-KR" altLang="en-US"/>
          </a:p>
        </p:txBody>
      </p:sp>
      <p:sp>
        <p:nvSpPr>
          <p:cNvPr id="3" name="텍스트 개체 틀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ko-KR" altLang="en-US" smtClean="0"/>
              <a:t>마스터 텍스트 스타일 편집</a:t>
            </a:r>
          </a:p>
          <a:p>
            <a:pPr lvl="1"/>
            <a:r>
              <a:rPr lang="ko-KR" altLang="en-US" smtClean="0"/>
              <a:t>둘째 수준</a:t>
            </a:r>
          </a:p>
          <a:p>
            <a:pPr lvl="2"/>
            <a:r>
              <a:rPr lang="ko-KR" altLang="en-US" smtClean="0"/>
              <a:t>셋째 수준</a:t>
            </a:r>
          </a:p>
          <a:p>
            <a:pPr lvl="3"/>
            <a:r>
              <a:rPr lang="ko-KR" altLang="en-US" smtClean="0"/>
              <a:t>넷째 수준</a:t>
            </a:r>
          </a:p>
          <a:p>
            <a:pPr lvl="4"/>
            <a:r>
              <a:rPr lang="ko-KR" altLang="en-US" smtClean="0"/>
              <a:t>다섯째 수준</a:t>
            </a:r>
            <a:endParaRPr lang="ko-KR" altLang="en-US"/>
          </a:p>
        </p:txBody>
      </p:sp>
      <p:sp>
        <p:nvSpPr>
          <p:cNvPr id="4" name="날짜 개체 틀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95B8B3D6-5FF2-4C83-B3C3-C5C37AAB6EE8}" type="datetimeFigureOut">
              <a:rPr lang="ko-KR" altLang="en-US" smtClean="0"/>
              <a:t>2026-03-31</a:t>
            </a:fld>
            <a:endParaRPr lang="ko-KR" altLang="en-US"/>
          </a:p>
        </p:txBody>
      </p:sp>
      <p:sp>
        <p:nvSpPr>
          <p:cNvPr id="5" name="바닥글 개체 틀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ko-KR" altLang="en-US"/>
          </a:p>
        </p:txBody>
      </p:sp>
      <p:sp>
        <p:nvSpPr>
          <p:cNvPr id="6" name="슬라이드 번호 개체 틀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9E709058-EE6E-4782-B725-5941026A47FB}" type="slidenum">
              <a:rPr lang="ko-KR" altLang="en-US" smtClean="0"/>
              <a:t>‹#›</a:t>
            </a:fld>
            <a:endParaRPr lang="ko-KR" altLang="en-US"/>
          </a:p>
        </p:txBody>
      </p:sp>
    </p:spTree>
    <p:extLst>
      <p:ext uri="{BB962C8B-B14F-4D97-AF65-F5344CB8AC3E}">
        <p14:creationId xmlns:p14="http://schemas.microsoft.com/office/powerpoint/2010/main" val="3108009038"/>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1"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1"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1"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1"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1"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1"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1"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1"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1"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1"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ko-KR"/>
      </a:defPPr>
      <a:lvl1pPr marL="0" algn="l" defTabSz="914400" rtl="0" eaLnBrk="1" latinLnBrk="1" hangingPunct="1">
        <a:defRPr sz="1800" kern="1200">
          <a:solidFill>
            <a:schemeClr val="tx1"/>
          </a:solidFill>
          <a:latin typeface="+mn-lt"/>
          <a:ea typeface="+mn-ea"/>
          <a:cs typeface="+mn-cs"/>
        </a:defRPr>
      </a:lvl1pPr>
      <a:lvl2pPr marL="457200" algn="l" defTabSz="914400" rtl="0" eaLnBrk="1" latinLnBrk="1" hangingPunct="1">
        <a:defRPr sz="1800" kern="1200">
          <a:solidFill>
            <a:schemeClr val="tx1"/>
          </a:solidFill>
          <a:latin typeface="+mn-lt"/>
          <a:ea typeface="+mn-ea"/>
          <a:cs typeface="+mn-cs"/>
        </a:defRPr>
      </a:lvl2pPr>
      <a:lvl3pPr marL="914400" algn="l" defTabSz="914400" rtl="0" eaLnBrk="1" latinLnBrk="1" hangingPunct="1">
        <a:defRPr sz="1800" kern="1200">
          <a:solidFill>
            <a:schemeClr val="tx1"/>
          </a:solidFill>
          <a:latin typeface="+mn-lt"/>
          <a:ea typeface="+mn-ea"/>
          <a:cs typeface="+mn-cs"/>
        </a:defRPr>
      </a:lvl3pPr>
      <a:lvl4pPr marL="1371600" algn="l" defTabSz="914400" rtl="0" eaLnBrk="1" latinLnBrk="1" hangingPunct="1">
        <a:defRPr sz="1800" kern="1200">
          <a:solidFill>
            <a:schemeClr val="tx1"/>
          </a:solidFill>
          <a:latin typeface="+mn-lt"/>
          <a:ea typeface="+mn-ea"/>
          <a:cs typeface="+mn-cs"/>
        </a:defRPr>
      </a:lvl4pPr>
      <a:lvl5pPr marL="1828800" algn="l" defTabSz="914400" rtl="0" eaLnBrk="1" latinLnBrk="1" hangingPunct="1">
        <a:defRPr sz="1800" kern="1200">
          <a:solidFill>
            <a:schemeClr val="tx1"/>
          </a:solidFill>
          <a:latin typeface="+mn-lt"/>
          <a:ea typeface="+mn-ea"/>
          <a:cs typeface="+mn-cs"/>
        </a:defRPr>
      </a:lvl5pPr>
      <a:lvl6pPr marL="2286000" algn="l" defTabSz="914400" rtl="0" eaLnBrk="1" latinLnBrk="1" hangingPunct="1">
        <a:defRPr sz="1800" kern="1200">
          <a:solidFill>
            <a:schemeClr val="tx1"/>
          </a:solidFill>
          <a:latin typeface="+mn-lt"/>
          <a:ea typeface="+mn-ea"/>
          <a:cs typeface="+mn-cs"/>
        </a:defRPr>
      </a:lvl6pPr>
      <a:lvl7pPr marL="2743200" algn="l" defTabSz="914400" rtl="0" eaLnBrk="1" latinLnBrk="1" hangingPunct="1">
        <a:defRPr sz="1800" kern="1200">
          <a:solidFill>
            <a:schemeClr val="tx1"/>
          </a:solidFill>
          <a:latin typeface="+mn-lt"/>
          <a:ea typeface="+mn-ea"/>
          <a:cs typeface="+mn-cs"/>
        </a:defRPr>
      </a:lvl7pPr>
      <a:lvl8pPr marL="3200400" algn="l" defTabSz="914400" rtl="0" eaLnBrk="1" latinLnBrk="1" hangingPunct="1">
        <a:defRPr sz="1800" kern="1200">
          <a:solidFill>
            <a:schemeClr val="tx1"/>
          </a:solidFill>
          <a:latin typeface="+mn-lt"/>
          <a:ea typeface="+mn-ea"/>
          <a:cs typeface="+mn-cs"/>
        </a:defRPr>
      </a:lvl8pPr>
      <a:lvl9pPr marL="3657600" algn="l" defTabSz="914400" rtl="0" eaLnBrk="1" latinLnBrk="1"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4.jpeg"/><Relationship Id="rId2" Type="http://schemas.openxmlformats.org/officeDocument/2006/relationships/image" Target="../media/image3.jpe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6.png"/><Relationship Id="rId1" Type="http://schemas.openxmlformats.org/officeDocument/2006/relationships/slideLayout" Target="../slideLayouts/slideLayout2.xml"/><Relationship Id="rId4" Type="http://schemas.openxmlformats.org/officeDocument/2006/relationships/image" Target="../media/image8.png"/></Relationships>
</file>

<file path=ppt/slides/_rels/slide12.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6.png"/><Relationship Id="rId1" Type="http://schemas.openxmlformats.org/officeDocument/2006/relationships/slideLayout" Target="../slideLayouts/slideLayout2.xml"/><Relationship Id="rId4" Type="http://schemas.openxmlformats.org/officeDocument/2006/relationships/image" Target="../media/image9.png"/></Relationships>
</file>

<file path=ppt/slides/_rels/slide13.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10.png"/><Relationship Id="rId1" Type="http://schemas.openxmlformats.org/officeDocument/2006/relationships/slideLayout" Target="../slideLayouts/slideLayout2.xml"/><Relationship Id="rId4" Type="http://schemas.openxmlformats.org/officeDocument/2006/relationships/image" Target="../media/image11.png"/></Relationships>
</file>

<file path=ppt/slides/_rels/slide14.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12.png"/><Relationship Id="rId1" Type="http://schemas.openxmlformats.org/officeDocument/2006/relationships/slideLayout" Target="../slideLayouts/slideLayout2.xml"/><Relationship Id="rId4" Type="http://schemas.openxmlformats.org/officeDocument/2006/relationships/image" Target="../media/image13.png"/></Relationships>
</file>

<file path=ppt/slides/_rels/slide15.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12.png"/><Relationship Id="rId1" Type="http://schemas.openxmlformats.org/officeDocument/2006/relationships/slideLayout" Target="../slideLayouts/slideLayout2.xml"/><Relationship Id="rId6" Type="http://schemas.openxmlformats.org/officeDocument/2006/relationships/image" Target="../media/image15.png"/><Relationship Id="rId5" Type="http://schemas.openxmlformats.org/officeDocument/2006/relationships/image" Target="../media/image14.png"/><Relationship Id="rId4" Type="http://schemas.openxmlformats.org/officeDocument/2006/relationships/image" Target="../media/image13.png"/></Relationships>
</file>

<file path=ppt/slides/_rels/slide16.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16.png"/><Relationship Id="rId1" Type="http://schemas.openxmlformats.org/officeDocument/2006/relationships/slideLayout" Target="../slideLayouts/slideLayout2.xml"/><Relationship Id="rId4" Type="http://schemas.openxmlformats.org/officeDocument/2006/relationships/image" Target="../media/image160.png"/></Relationships>
</file>

<file path=ppt/slides/_rels/slide17.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170.png"/><Relationship Id="rId1" Type="http://schemas.openxmlformats.org/officeDocument/2006/relationships/slideLayout" Target="../slideLayouts/slideLayout2.xml"/><Relationship Id="rId6" Type="http://schemas.openxmlformats.org/officeDocument/2006/relationships/image" Target="../media/image190.png"/><Relationship Id="rId5" Type="http://schemas.openxmlformats.org/officeDocument/2006/relationships/image" Target="../media/image18.png"/><Relationship Id="rId4" Type="http://schemas.openxmlformats.org/officeDocument/2006/relationships/image" Target="../media/image160.png"/></Relationships>
</file>

<file path=ppt/slides/_rels/slide18.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image" Target="../media/image200.png"/><Relationship Id="rId1" Type="http://schemas.openxmlformats.org/officeDocument/2006/relationships/slideLayout" Target="../slideLayouts/slideLayout2.xml"/><Relationship Id="rId6" Type="http://schemas.openxmlformats.org/officeDocument/2006/relationships/image" Target="../media/image22.png"/><Relationship Id="rId5" Type="http://schemas.openxmlformats.org/officeDocument/2006/relationships/image" Target="../media/image21.png"/><Relationship Id="rId4" Type="http://schemas.openxmlformats.org/officeDocument/2006/relationships/image" Target="../media/image20.png"/></Relationships>
</file>

<file path=ppt/slides/_rels/slide20.xml.rels><?xml version="1.0" encoding="UTF-8" standalone="yes"?>
<Relationships xmlns="http://schemas.openxmlformats.org/package/2006/relationships"><Relationship Id="rId8" Type="http://schemas.openxmlformats.org/officeDocument/2006/relationships/image" Target="../media/image270.png"/><Relationship Id="rId3" Type="http://schemas.openxmlformats.org/officeDocument/2006/relationships/image" Target="../media/image23.png"/><Relationship Id="rId7" Type="http://schemas.openxmlformats.org/officeDocument/2006/relationships/image" Target="../media/image25.png"/><Relationship Id="rId2" Type="http://schemas.openxmlformats.org/officeDocument/2006/relationships/image" Target="../media/image250.png"/><Relationship Id="rId1" Type="http://schemas.openxmlformats.org/officeDocument/2006/relationships/slideLayout" Target="../slideLayouts/slideLayout2.xml"/><Relationship Id="rId6" Type="http://schemas.openxmlformats.org/officeDocument/2006/relationships/image" Target="../media/image240.png"/><Relationship Id="rId5" Type="http://schemas.openxmlformats.org/officeDocument/2006/relationships/image" Target="../media/image24.png"/><Relationship Id="rId10" Type="http://schemas.openxmlformats.org/officeDocument/2006/relationships/image" Target="../media/image27.png"/><Relationship Id="rId4" Type="http://schemas.openxmlformats.org/officeDocument/2006/relationships/image" Target="../media/image220.png"/><Relationship Id="rId9" Type="http://schemas.openxmlformats.org/officeDocument/2006/relationships/image" Target="../media/image26.png"/></Relationships>
</file>

<file path=ppt/slides/_rels/slide21.xml.rels><?xml version="1.0" encoding="UTF-8" standalone="yes"?>
<Relationships xmlns="http://schemas.openxmlformats.org/package/2006/relationships"><Relationship Id="rId3" Type="http://schemas.openxmlformats.org/officeDocument/2006/relationships/image" Target="../media/image23.png"/><Relationship Id="rId7" Type="http://schemas.openxmlformats.org/officeDocument/2006/relationships/image" Target="../media/image28.png"/><Relationship Id="rId2" Type="http://schemas.openxmlformats.org/officeDocument/2006/relationships/image" Target="../media/image260.png"/><Relationship Id="rId1" Type="http://schemas.openxmlformats.org/officeDocument/2006/relationships/slideLayout" Target="../slideLayouts/slideLayout2.xml"/><Relationship Id="rId6" Type="http://schemas.openxmlformats.org/officeDocument/2006/relationships/image" Target="../media/image30.png"/><Relationship Id="rId5" Type="http://schemas.openxmlformats.org/officeDocument/2006/relationships/image" Target="../media/image271.png"/><Relationship Id="rId4" Type="http://schemas.openxmlformats.org/officeDocument/2006/relationships/image" Target="../media/image220.png"/></Relationships>
</file>

<file path=ppt/slides/_rels/slide22.xml.rels><?xml version="1.0" encoding="UTF-8" standalone="yes"?>
<Relationships xmlns="http://schemas.openxmlformats.org/package/2006/relationships"><Relationship Id="rId8" Type="http://schemas.openxmlformats.org/officeDocument/2006/relationships/image" Target="../media/image29.png"/><Relationship Id="rId3" Type="http://schemas.openxmlformats.org/officeDocument/2006/relationships/image" Target="../media/image33.png"/><Relationship Id="rId7" Type="http://schemas.openxmlformats.org/officeDocument/2006/relationships/image" Target="../media/image240.png"/><Relationship Id="rId2" Type="http://schemas.openxmlformats.org/officeDocument/2006/relationships/image" Target="../media/image320.png"/><Relationship Id="rId1" Type="http://schemas.openxmlformats.org/officeDocument/2006/relationships/slideLayout" Target="../slideLayouts/slideLayout2.xml"/><Relationship Id="rId6" Type="http://schemas.openxmlformats.org/officeDocument/2006/relationships/image" Target="../media/image230.png"/><Relationship Id="rId5" Type="http://schemas.openxmlformats.org/officeDocument/2006/relationships/image" Target="../media/image220.png"/><Relationship Id="rId4" Type="http://schemas.openxmlformats.org/officeDocument/2006/relationships/image" Target="../media/image210.png"/></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3" Type="http://schemas.openxmlformats.org/officeDocument/2006/relationships/image" Target="../media/image35.png"/><Relationship Id="rId2" Type="http://schemas.openxmlformats.org/officeDocument/2006/relationships/image" Target="../media/image340.png"/><Relationship Id="rId1" Type="http://schemas.openxmlformats.org/officeDocument/2006/relationships/slideLayout" Target="../slideLayouts/slideLayout2.xml"/><Relationship Id="rId5" Type="http://schemas.openxmlformats.org/officeDocument/2006/relationships/image" Target="../media/image37.png"/><Relationship Id="rId4" Type="http://schemas.openxmlformats.org/officeDocument/2006/relationships/image" Target="../media/image36.png"/></Relationships>
</file>

<file path=ppt/slides/_rels/slide25.xml.rels><?xml version="1.0" encoding="UTF-8" standalone="yes"?>
<Relationships xmlns="http://schemas.openxmlformats.org/package/2006/relationships"><Relationship Id="rId8" Type="http://schemas.openxmlformats.org/officeDocument/2006/relationships/image" Target="../media/image44.png"/><Relationship Id="rId3" Type="http://schemas.openxmlformats.org/officeDocument/2006/relationships/image" Target="../media/image39.png"/><Relationship Id="rId7" Type="http://schemas.openxmlformats.org/officeDocument/2006/relationships/image" Target="../media/image43.png"/><Relationship Id="rId2" Type="http://schemas.openxmlformats.org/officeDocument/2006/relationships/image" Target="../media/image380.png"/><Relationship Id="rId1" Type="http://schemas.openxmlformats.org/officeDocument/2006/relationships/slideLayout" Target="../slideLayouts/slideLayout2.xml"/><Relationship Id="rId6" Type="http://schemas.openxmlformats.org/officeDocument/2006/relationships/image" Target="../media/image42.png"/><Relationship Id="rId5" Type="http://schemas.openxmlformats.org/officeDocument/2006/relationships/image" Target="../media/image41.png"/><Relationship Id="rId4" Type="http://schemas.openxmlformats.org/officeDocument/2006/relationships/image" Target="../media/image40.png"/></Relationships>
</file>

<file path=ppt/slides/_rels/slide26.xml.rels><?xml version="1.0" encoding="UTF-8" standalone="yes"?>
<Relationships xmlns="http://schemas.openxmlformats.org/package/2006/relationships"><Relationship Id="rId8" Type="http://schemas.openxmlformats.org/officeDocument/2006/relationships/image" Target="../media/image39.png"/><Relationship Id="rId3" Type="http://schemas.openxmlformats.org/officeDocument/2006/relationships/image" Target="../media/image42.png"/><Relationship Id="rId7" Type="http://schemas.openxmlformats.org/officeDocument/2006/relationships/image" Target="../media/image380.png"/><Relationship Id="rId2" Type="http://schemas.openxmlformats.org/officeDocument/2006/relationships/image" Target="../media/image41.png"/><Relationship Id="rId1" Type="http://schemas.openxmlformats.org/officeDocument/2006/relationships/slideLayout" Target="../slideLayouts/slideLayout2.xml"/><Relationship Id="rId6" Type="http://schemas.openxmlformats.org/officeDocument/2006/relationships/image" Target="../media/image45.png"/><Relationship Id="rId5" Type="http://schemas.openxmlformats.org/officeDocument/2006/relationships/image" Target="../media/image44.png"/><Relationship Id="rId4" Type="http://schemas.openxmlformats.org/officeDocument/2006/relationships/image" Target="../media/image43.png"/><Relationship Id="rId9" Type="http://schemas.openxmlformats.org/officeDocument/2006/relationships/image" Target="../media/image40.png"/></Relationships>
</file>

<file path=ppt/slides/_rels/slide27.xml.rels><?xml version="1.0" encoding="UTF-8" standalone="yes"?>
<Relationships xmlns="http://schemas.openxmlformats.org/package/2006/relationships"><Relationship Id="rId3" Type="http://schemas.openxmlformats.org/officeDocument/2006/relationships/image" Target="../media/image610.png"/><Relationship Id="rId2" Type="http://schemas.openxmlformats.org/officeDocument/2006/relationships/image" Target="../media/image57.png"/><Relationship Id="rId1" Type="http://schemas.openxmlformats.org/officeDocument/2006/relationships/slideLayout" Target="../slideLayouts/slideLayout2.xml"/><Relationship Id="rId6" Type="http://schemas.openxmlformats.org/officeDocument/2006/relationships/image" Target="../media/image640.png"/><Relationship Id="rId5" Type="http://schemas.openxmlformats.org/officeDocument/2006/relationships/image" Target="../media/image630.png"/><Relationship Id="rId4" Type="http://schemas.openxmlformats.org/officeDocument/2006/relationships/image" Target="../media/image620.png"/></Relationships>
</file>

<file path=ppt/slides/_rels/slide28.xml.rels><?xml version="1.0" encoding="UTF-8" standalone="yes"?>
<Relationships xmlns="http://schemas.openxmlformats.org/package/2006/relationships"><Relationship Id="rId3" Type="http://schemas.openxmlformats.org/officeDocument/2006/relationships/image" Target="../media/image72.png"/><Relationship Id="rId2" Type="http://schemas.openxmlformats.org/officeDocument/2006/relationships/image" Target="../media/image71.png"/><Relationship Id="rId1" Type="http://schemas.openxmlformats.org/officeDocument/2006/relationships/slideLayout" Target="../slideLayouts/slideLayout2.xml"/><Relationship Id="rId5" Type="http://schemas.openxmlformats.org/officeDocument/2006/relationships/image" Target="../media/image31.png"/><Relationship Id="rId4" Type="http://schemas.openxmlformats.org/officeDocument/2006/relationships/image" Target="../media/image73.png"/></Relationships>
</file>

<file path=ppt/slides/_rels/slide29.xml.rels><?xml version="1.0" encoding="UTF-8" standalone="yes"?>
<Relationships xmlns="http://schemas.openxmlformats.org/package/2006/relationships"><Relationship Id="rId3" Type="http://schemas.openxmlformats.org/officeDocument/2006/relationships/image" Target="../media/image75.png"/><Relationship Id="rId2" Type="http://schemas.openxmlformats.org/officeDocument/2006/relationships/image" Target="../media/image74.png"/><Relationship Id="rId1" Type="http://schemas.openxmlformats.org/officeDocument/2006/relationships/slideLayout" Target="../slideLayouts/slideLayout2.xml"/><Relationship Id="rId4" Type="http://schemas.openxmlformats.org/officeDocument/2006/relationships/image" Target="../media/image76.png"/></Relationships>
</file>

<file path=ppt/slides/_rels/slide30.xml.rels><?xml version="1.0" encoding="UTF-8" standalone="yes"?>
<Relationships xmlns="http://schemas.openxmlformats.org/package/2006/relationships"><Relationship Id="rId2" Type="http://schemas.openxmlformats.org/officeDocument/2006/relationships/image" Target="../media/image32.png"/><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3" Type="http://schemas.openxmlformats.org/officeDocument/2006/relationships/image" Target="../media/image34.png"/><Relationship Id="rId2" Type="http://schemas.openxmlformats.org/officeDocument/2006/relationships/image" Target="../media/image720.png"/><Relationship Id="rId1" Type="http://schemas.openxmlformats.org/officeDocument/2006/relationships/slideLayout" Target="../slideLayouts/slideLayout2.xml"/><Relationship Id="rId5" Type="http://schemas.openxmlformats.org/officeDocument/2006/relationships/image" Target="../media/image38.png"/><Relationship Id="rId4" Type="http://schemas.openxmlformats.org/officeDocument/2006/relationships/image" Target="../media/image343.png"/></Relationships>
</file>

<file path=ppt/slides/_rels/slide32.xml.rels><?xml version="1.0" encoding="UTF-8" standalone="yes"?>
<Relationships xmlns="http://schemas.openxmlformats.org/package/2006/relationships"><Relationship Id="rId3" Type="http://schemas.openxmlformats.org/officeDocument/2006/relationships/image" Target="../media/image110.png"/><Relationship Id="rId7" Type="http://schemas.openxmlformats.org/officeDocument/2006/relationships/image" Target="../media/image150.png"/><Relationship Id="rId2" Type="http://schemas.openxmlformats.org/officeDocument/2006/relationships/notesSlide" Target="../notesSlides/notesSlide2.xml"/><Relationship Id="rId1" Type="http://schemas.openxmlformats.org/officeDocument/2006/relationships/slideLayout" Target="../slideLayouts/slideLayout2.xml"/><Relationship Id="rId6" Type="http://schemas.openxmlformats.org/officeDocument/2006/relationships/image" Target="../media/image140.png"/><Relationship Id="rId5" Type="http://schemas.openxmlformats.org/officeDocument/2006/relationships/image" Target="../media/image130.png"/><Relationship Id="rId4" Type="http://schemas.openxmlformats.org/officeDocument/2006/relationships/image" Target="../media/image120.png"/></Relationships>
</file>

<file path=ppt/slides/_rels/slide33.xml.rels><?xml version="1.0" encoding="UTF-8" standalone="yes"?>
<Relationships xmlns="http://schemas.openxmlformats.org/package/2006/relationships"><Relationship Id="rId8" Type="http://schemas.openxmlformats.org/officeDocument/2006/relationships/image" Target="../media/image740.png"/><Relationship Id="rId7" Type="http://schemas.openxmlformats.org/officeDocument/2006/relationships/image" Target="../media/image83.png"/><Relationship Id="rId2" Type="http://schemas.openxmlformats.org/officeDocument/2006/relationships/notesSlide" Target="../notesSlides/notesSlide3.xml"/><Relationship Id="rId1" Type="http://schemas.openxmlformats.org/officeDocument/2006/relationships/slideLayout" Target="../slideLayouts/slideLayout2.xml"/><Relationship Id="rId6" Type="http://schemas.openxmlformats.org/officeDocument/2006/relationships/image" Target="../media/image82.png"/><Relationship Id="rId5" Type="http://schemas.openxmlformats.org/officeDocument/2006/relationships/image" Target="../media/image81.png"/><Relationship Id="rId10" Type="http://schemas.openxmlformats.org/officeDocument/2006/relationships/image" Target="../media/image79.png"/><Relationship Id="rId4" Type="http://schemas.openxmlformats.org/officeDocument/2006/relationships/image" Target="../media/image80.png"/><Relationship Id="rId9" Type="http://schemas.openxmlformats.org/officeDocument/2006/relationships/image" Target="../media/image780.png"/></Relationships>
</file>

<file path=ppt/slides/_rels/slide34.xml.rels><?xml version="1.0" encoding="UTF-8" standalone="yes"?>
<Relationships xmlns="http://schemas.openxmlformats.org/package/2006/relationships"><Relationship Id="rId8" Type="http://schemas.openxmlformats.org/officeDocument/2006/relationships/image" Target="../media/image39.png"/><Relationship Id="rId13" Type="http://schemas.openxmlformats.org/officeDocument/2006/relationships/image" Target="../media/image50.png"/><Relationship Id="rId3" Type="http://schemas.openxmlformats.org/officeDocument/2006/relationships/image" Target="../media/image342.png"/><Relationship Id="rId7" Type="http://schemas.openxmlformats.org/officeDocument/2006/relationships/image" Target="../media/image380.png"/><Relationship Id="rId12" Type="http://schemas.openxmlformats.org/officeDocument/2006/relationships/image" Target="../media/image49.png"/><Relationship Id="rId2" Type="http://schemas.openxmlformats.org/officeDocument/2006/relationships/image" Target="../media/image41.png"/><Relationship Id="rId1" Type="http://schemas.openxmlformats.org/officeDocument/2006/relationships/slideLayout" Target="../slideLayouts/slideLayout2.xml"/><Relationship Id="rId6" Type="http://schemas.openxmlformats.org/officeDocument/2006/relationships/image" Target="../media/image45.png"/><Relationship Id="rId11" Type="http://schemas.openxmlformats.org/officeDocument/2006/relationships/image" Target="../media/image48.png"/><Relationship Id="rId5" Type="http://schemas.openxmlformats.org/officeDocument/2006/relationships/image" Target="../media/image46.png"/><Relationship Id="rId10" Type="http://schemas.openxmlformats.org/officeDocument/2006/relationships/image" Target="../media/image47.png"/><Relationship Id="rId4" Type="http://schemas.openxmlformats.org/officeDocument/2006/relationships/image" Target="../media/image382.png"/><Relationship Id="rId9" Type="http://schemas.openxmlformats.org/officeDocument/2006/relationships/image" Target="../media/image40.png"/><Relationship Id="rId14" Type="http://schemas.openxmlformats.org/officeDocument/2006/relationships/image" Target="../media/image51.png"/></Relationships>
</file>

<file path=ppt/slides/_rels/slide35.xml.rels><?xml version="1.0" encoding="UTF-8" standalone="yes"?>
<Relationships xmlns="http://schemas.openxmlformats.org/package/2006/relationships"><Relationship Id="rId8" Type="http://schemas.openxmlformats.org/officeDocument/2006/relationships/image" Target="../media/image39.png"/><Relationship Id="rId13" Type="http://schemas.openxmlformats.org/officeDocument/2006/relationships/image" Target="../media/image50.png"/><Relationship Id="rId18" Type="http://schemas.openxmlformats.org/officeDocument/2006/relationships/image" Target="../media/image55.png"/><Relationship Id="rId7" Type="http://schemas.openxmlformats.org/officeDocument/2006/relationships/image" Target="../media/image380.png"/><Relationship Id="rId12" Type="http://schemas.openxmlformats.org/officeDocument/2006/relationships/image" Target="../media/image49.png"/><Relationship Id="rId17" Type="http://schemas.openxmlformats.org/officeDocument/2006/relationships/image" Target="../media/image54.png"/><Relationship Id="rId16" Type="http://schemas.openxmlformats.org/officeDocument/2006/relationships/image" Target="../media/image53.png"/><Relationship Id="rId1" Type="http://schemas.openxmlformats.org/officeDocument/2006/relationships/slideLayout" Target="../slideLayouts/slideLayout2.xml"/><Relationship Id="rId11" Type="http://schemas.openxmlformats.org/officeDocument/2006/relationships/image" Target="../media/image48.png"/><Relationship Id="rId6" Type="http://schemas.openxmlformats.org/officeDocument/2006/relationships/image" Target="../media/image82.png"/><Relationship Id="rId5" Type="http://schemas.openxmlformats.org/officeDocument/2006/relationships/image" Target="../media/image81.png"/><Relationship Id="rId15" Type="http://schemas.openxmlformats.org/officeDocument/2006/relationships/image" Target="../media/image52.png"/><Relationship Id="rId10" Type="http://schemas.openxmlformats.org/officeDocument/2006/relationships/image" Target="../media/image47.png"/><Relationship Id="rId9" Type="http://schemas.openxmlformats.org/officeDocument/2006/relationships/image" Target="../media/image40.png"/><Relationship Id="rId4" Type="http://schemas.openxmlformats.org/officeDocument/2006/relationships/image" Target="../media/image80.png"/><Relationship Id="rId14" Type="http://schemas.openxmlformats.org/officeDocument/2006/relationships/image" Target="../media/image83.png"/></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8" Type="http://schemas.openxmlformats.org/officeDocument/2006/relationships/image" Target="../media/image520.png"/><Relationship Id="rId13" Type="http://schemas.openxmlformats.org/officeDocument/2006/relationships/image" Target="../media/image570.png"/><Relationship Id="rId7" Type="http://schemas.openxmlformats.org/officeDocument/2006/relationships/image" Target="../media/image510.png"/><Relationship Id="rId12" Type="http://schemas.openxmlformats.org/officeDocument/2006/relationships/image" Target="../media/image56.png"/><Relationship Id="rId2" Type="http://schemas.openxmlformats.org/officeDocument/2006/relationships/image" Target="../media/image310.png"/><Relationship Id="rId1" Type="http://schemas.openxmlformats.org/officeDocument/2006/relationships/slideLayout" Target="../slideLayouts/slideLayout2.xml"/><Relationship Id="rId6" Type="http://schemas.openxmlformats.org/officeDocument/2006/relationships/image" Target="../media/image500.png"/><Relationship Id="rId11" Type="http://schemas.openxmlformats.org/officeDocument/2006/relationships/image" Target="../media/image550.png"/><Relationship Id="rId5" Type="http://schemas.openxmlformats.org/officeDocument/2006/relationships/image" Target="../media/image490.png"/><Relationship Id="rId10" Type="http://schemas.openxmlformats.org/officeDocument/2006/relationships/image" Target="../media/image540.png"/><Relationship Id="rId4" Type="http://schemas.openxmlformats.org/officeDocument/2006/relationships/image" Target="../media/image480.png"/><Relationship Id="rId9" Type="http://schemas.openxmlformats.org/officeDocument/2006/relationships/image" Target="../media/image470.png"/><Relationship Id="rId14" Type="http://schemas.openxmlformats.org/officeDocument/2006/relationships/image" Target="../media/image58.png"/></Relationships>
</file>

<file path=ppt/slides/_rels/slide38.xml.rels><?xml version="1.0" encoding="UTF-8" standalone="yes"?>
<Relationships xmlns="http://schemas.openxmlformats.org/package/2006/relationships"><Relationship Id="rId8" Type="http://schemas.openxmlformats.org/officeDocument/2006/relationships/image" Target="../media/image63.png"/><Relationship Id="rId13" Type="http://schemas.openxmlformats.org/officeDocument/2006/relationships/image" Target="../media/image68.png"/><Relationship Id="rId3" Type="http://schemas.openxmlformats.org/officeDocument/2006/relationships/image" Target="../media/image35.jpeg"/><Relationship Id="rId7" Type="http://schemas.openxmlformats.org/officeDocument/2006/relationships/image" Target="../media/image62.png"/><Relationship Id="rId12" Type="http://schemas.openxmlformats.org/officeDocument/2006/relationships/image" Target="../media/image67.png"/><Relationship Id="rId2" Type="http://schemas.openxmlformats.org/officeDocument/2006/relationships/image" Target="../media/image59.png"/><Relationship Id="rId1" Type="http://schemas.openxmlformats.org/officeDocument/2006/relationships/slideLayout" Target="../slideLayouts/slideLayout2.xml"/><Relationship Id="rId6" Type="http://schemas.openxmlformats.org/officeDocument/2006/relationships/image" Target="../media/image61.png"/><Relationship Id="rId11" Type="http://schemas.openxmlformats.org/officeDocument/2006/relationships/image" Target="../media/image66.png"/><Relationship Id="rId5" Type="http://schemas.openxmlformats.org/officeDocument/2006/relationships/image" Target="../media/image60.png"/><Relationship Id="rId15" Type="http://schemas.openxmlformats.org/officeDocument/2006/relationships/image" Target="../media/image70.png"/><Relationship Id="rId10" Type="http://schemas.openxmlformats.org/officeDocument/2006/relationships/image" Target="../media/image65.png"/><Relationship Id="rId4" Type="http://schemas.openxmlformats.org/officeDocument/2006/relationships/image" Target="../media/image590.png"/><Relationship Id="rId9" Type="http://schemas.openxmlformats.org/officeDocument/2006/relationships/image" Target="../media/image64.png"/><Relationship Id="rId14" Type="http://schemas.openxmlformats.org/officeDocument/2006/relationships/image" Target="../media/image69.png"/></Relationships>
</file>

<file path=ppt/slides/_rels/slide39.xml.rels><?xml version="1.0" encoding="UTF-8" standalone="yes"?>
<Relationships xmlns="http://schemas.openxmlformats.org/package/2006/relationships"><Relationship Id="rId3" Type="http://schemas.openxmlformats.org/officeDocument/2006/relationships/image" Target="../media/image341.png"/><Relationship Id="rId2" Type="http://schemas.openxmlformats.org/officeDocument/2006/relationships/image" Target="../media/image321.png"/><Relationship Id="rId1" Type="http://schemas.openxmlformats.org/officeDocument/2006/relationships/slideLayout" Target="../slideLayouts/slideLayout2.xml"/><Relationship Id="rId5" Type="http://schemas.openxmlformats.org/officeDocument/2006/relationships/image" Target="../media/image460.png"/><Relationship Id="rId4" Type="http://schemas.openxmlformats.org/officeDocument/2006/relationships/image" Target="../media/image381.png"/></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3" Type="http://schemas.openxmlformats.org/officeDocument/2006/relationships/image" Target="../media/image84.png"/><Relationship Id="rId2" Type="http://schemas.openxmlformats.org/officeDocument/2006/relationships/image" Target="../media/image77.png"/><Relationship Id="rId1" Type="http://schemas.openxmlformats.org/officeDocument/2006/relationships/slideLayout" Target="../slideLayouts/slideLayout2.xml"/><Relationship Id="rId5" Type="http://schemas.openxmlformats.org/officeDocument/2006/relationships/image" Target="../media/image78.png"/><Relationship Id="rId4" Type="http://schemas.openxmlformats.org/officeDocument/2006/relationships/image" Target="../media/image85.png"/></Relationships>
</file>

<file path=ppt/slides/_rels/slide42.xml.rels><?xml version="1.0" encoding="UTF-8" standalone="yes"?>
<Relationships xmlns="http://schemas.openxmlformats.org/package/2006/relationships"><Relationship Id="rId2" Type="http://schemas.openxmlformats.org/officeDocument/2006/relationships/image" Target="../media/image86.png"/><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2" Type="http://schemas.openxmlformats.org/officeDocument/2006/relationships/image" Target="../media/image87.png"/><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2" Type="http://schemas.openxmlformats.org/officeDocument/2006/relationships/image" Target="../media/image36.jpe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제목 1"/>
          <p:cNvSpPr>
            <a:spLocks noGrp="1"/>
          </p:cNvSpPr>
          <p:nvPr>
            <p:ph type="ctrTitle"/>
          </p:nvPr>
        </p:nvSpPr>
        <p:spPr>
          <a:xfrm>
            <a:off x="1524000" y="480683"/>
            <a:ext cx="9144000" cy="2387600"/>
          </a:xfrm>
        </p:spPr>
        <p:txBody>
          <a:bodyPr/>
          <a:lstStyle/>
          <a:p>
            <a:r>
              <a:rPr lang="en-US" altLang="ko-KR" dirty="0" smtClean="0"/>
              <a:t>Introduction to </a:t>
            </a:r>
            <a:br>
              <a:rPr lang="en-US" altLang="ko-KR" dirty="0" smtClean="0"/>
            </a:br>
            <a:r>
              <a:rPr lang="en-US" altLang="ko-KR" dirty="0" smtClean="0"/>
              <a:t>Quantum Algorithms</a:t>
            </a:r>
            <a:endParaRPr lang="ko-KR" altLang="en-US" dirty="0"/>
          </a:p>
        </p:txBody>
      </p:sp>
      <p:sp>
        <p:nvSpPr>
          <p:cNvPr id="3" name="부제목 2"/>
          <p:cNvSpPr>
            <a:spLocks noGrp="1"/>
          </p:cNvSpPr>
          <p:nvPr>
            <p:ph type="subTitle" idx="1"/>
          </p:nvPr>
        </p:nvSpPr>
        <p:spPr>
          <a:xfrm>
            <a:off x="1524000" y="2960357"/>
            <a:ext cx="9144000" cy="3648989"/>
          </a:xfrm>
        </p:spPr>
        <p:txBody>
          <a:bodyPr/>
          <a:lstStyle/>
          <a:p>
            <a:r>
              <a:rPr lang="en-US" altLang="ko-KR" dirty="0" smtClean="0"/>
              <a:t>CS.49900	(Spring 2026)</a:t>
            </a:r>
          </a:p>
          <a:p>
            <a:endParaRPr lang="en-US" altLang="ko-KR" dirty="0"/>
          </a:p>
          <a:p>
            <a:endParaRPr lang="en-US" altLang="ko-KR" dirty="0"/>
          </a:p>
          <a:p>
            <a:r>
              <a:rPr lang="en-US" altLang="ko-KR" sz="3200" dirty="0" smtClean="0"/>
              <a:t>Reversible </a:t>
            </a:r>
            <a:r>
              <a:rPr lang="en-US" altLang="ko-KR" sz="3200" dirty="0" smtClean="0"/>
              <a:t>computing</a:t>
            </a:r>
            <a:br>
              <a:rPr lang="en-US" altLang="ko-KR" sz="3200" dirty="0" smtClean="0"/>
            </a:br>
            <a:r>
              <a:rPr lang="en-US" altLang="ko-KR" sz="2800" dirty="0" smtClean="0"/>
              <a:t>(+ complexity theory)</a:t>
            </a:r>
            <a:endParaRPr lang="ko-KR" altLang="en-US" sz="3200" dirty="0"/>
          </a:p>
        </p:txBody>
      </p:sp>
    </p:spTree>
    <p:extLst>
      <p:ext uri="{BB962C8B-B14F-4D97-AF65-F5344CB8AC3E}">
        <p14:creationId xmlns:p14="http://schemas.microsoft.com/office/powerpoint/2010/main" val="1911271076"/>
      </p:ext>
    </p:extLst>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제목 1"/>
          <p:cNvSpPr>
            <a:spLocks noGrp="1"/>
          </p:cNvSpPr>
          <p:nvPr>
            <p:ph type="title"/>
          </p:nvPr>
        </p:nvSpPr>
        <p:spPr/>
        <p:txBody>
          <a:bodyPr/>
          <a:lstStyle/>
          <a:p>
            <a:r>
              <a:rPr lang="en-US" altLang="ko-KR" dirty="0" smtClean="0"/>
              <a:t>Administration</a:t>
            </a:r>
            <a:endParaRPr lang="ko-KR" altLang="en-US" dirty="0"/>
          </a:p>
        </p:txBody>
      </p:sp>
      <p:sp>
        <p:nvSpPr>
          <p:cNvPr id="3" name="내용 개체 틀 2"/>
          <p:cNvSpPr>
            <a:spLocks noGrp="1"/>
          </p:cNvSpPr>
          <p:nvPr>
            <p:ph idx="1"/>
          </p:nvPr>
        </p:nvSpPr>
        <p:spPr/>
        <p:txBody>
          <a:bodyPr>
            <a:normAutofit/>
          </a:bodyPr>
          <a:lstStyle/>
          <a:p>
            <a:r>
              <a:rPr lang="en-US" altLang="ko-KR" sz="2400" dirty="0" smtClean="0"/>
              <a:t>Midterm: 		April 23, 13:30 – 15:30 (or shorter?)</a:t>
            </a:r>
          </a:p>
          <a:p>
            <a:r>
              <a:rPr lang="en-US" altLang="ko-KR" sz="2400" dirty="0" smtClean="0"/>
              <a:t>Final: 		June 18, 13:30 – 15:30</a:t>
            </a:r>
          </a:p>
          <a:p>
            <a:endParaRPr lang="en-US" altLang="ko-KR" sz="2400" dirty="0" smtClean="0"/>
          </a:p>
          <a:p>
            <a:r>
              <a:rPr lang="en-US" altLang="ko-KR" sz="2400" dirty="0" smtClean="0"/>
              <a:t>Presentation</a:t>
            </a:r>
          </a:p>
          <a:p>
            <a:pPr lvl="1"/>
            <a:r>
              <a:rPr lang="en-US" altLang="ko-KR" sz="2000" dirty="0" smtClean="0"/>
              <a:t>20~30 min in the class</a:t>
            </a:r>
          </a:p>
          <a:p>
            <a:pPr lvl="1"/>
            <a:r>
              <a:rPr lang="en-US" altLang="ko-KR" sz="2000" dirty="0" smtClean="0"/>
              <a:t>Anything that is not covered by the lecture</a:t>
            </a:r>
          </a:p>
          <a:p>
            <a:pPr marL="914400" lvl="2" indent="0">
              <a:buNone/>
            </a:pPr>
            <a:r>
              <a:rPr lang="en-US" altLang="ko-KR" sz="1800" dirty="0" smtClean="0"/>
              <a:t>Error correction or fault-tolerant quantum computing/Quantum key distribution/Some advanced quantum algorithms/Any other advanced thing</a:t>
            </a:r>
            <a:endParaRPr lang="en-US" altLang="ko-KR" sz="1800" dirty="0"/>
          </a:p>
          <a:p>
            <a:pPr lvl="1"/>
            <a:r>
              <a:rPr lang="en-US" altLang="ko-KR" sz="2000" dirty="0" smtClean="0"/>
              <a:t>You can choose </a:t>
            </a:r>
            <a:r>
              <a:rPr lang="en-US" altLang="ko-KR" sz="1600" dirty="0" smtClean="0"/>
              <a:t>(before presentation)</a:t>
            </a:r>
            <a:r>
              <a:rPr lang="en-US" altLang="ko-KR" sz="2000" dirty="0" smtClean="0"/>
              <a:t>: +2%p in the score or replace two </a:t>
            </a:r>
            <a:r>
              <a:rPr lang="en-US" altLang="ko-KR" sz="2000" dirty="0" err="1" smtClean="0"/>
              <a:t>Psets</a:t>
            </a:r>
            <a:endParaRPr lang="en-US" altLang="ko-KR" sz="2000" dirty="0" smtClean="0"/>
          </a:p>
          <a:p>
            <a:endParaRPr lang="en-US" altLang="ko-KR" sz="2400" dirty="0" smtClean="0"/>
          </a:p>
          <a:p>
            <a:r>
              <a:rPr lang="en-US" altLang="ko-KR" sz="2400" dirty="0" smtClean="0"/>
              <a:t>Syllabus will be updated in this weekend (or not?)</a:t>
            </a:r>
            <a:endParaRPr lang="en-US" altLang="ko-KR" sz="2400" dirty="0"/>
          </a:p>
          <a:p>
            <a:pPr lvl="1"/>
            <a:endParaRPr lang="en-US" altLang="ko-KR" sz="2000" dirty="0" smtClean="0"/>
          </a:p>
        </p:txBody>
      </p:sp>
    </p:spTree>
    <p:extLst>
      <p:ext uri="{BB962C8B-B14F-4D97-AF65-F5344CB8AC3E}">
        <p14:creationId xmlns:p14="http://schemas.microsoft.com/office/powerpoint/2010/main" val="53548844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
                                            <p:txEl>
                                              <p:pRg st="3" end="3"/>
                                            </p:txEl>
                                          </p:spTgt>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3">
                                            <p:txEl>
                                              <p:pRg st="4" end="4"/>
                                            </p:txEl>
                                          </p:spTgt>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3">
                                            <p:txEl>
                                              <p:pRg st="5" end="5"/>
                                            </p:txEl>
                                          </p:spTgt>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3">
                                            <p:txEl>
                                              <p:pRg st="6" end="6"/>
                                            </p:txEl>
                                          </p:spTgt>
                                        </p:tgtEl>
                                        <p:attrNameLst>
                                          <p:attrName>style.visibility</p:attrName>
                                        </p:attrNameLst>
                                      </p:cBhvr>
                                      <p:to>
                                        <p:strVal val="visible"/>
                                      </p:to>
                                    </p:set>
                                  </p:childTnLst>
                                </p:cTn>
                              </p:par>
                              <p:par>
                                <p:cTn id="21" presetID="1" presetClass="entr" presetSubtype="0" fill="hold" grpId="0" nodeType="withEffect">
                                  <p:stCondLst>
                                    <p:cond delay="0"/>
                                  </p:stCondLst>
                                  <p:childTnLst>
                                    <p:set>
                                      <p:cBhvr>
                                        <p:cTn id="22" dur="1" fill="hold">
                                          <p:stCondLst>
                                            <p:cond delay="0"/>
                                          </p:stCondLst>
                                        </p:cTn>
                                        <p:tgtEl>
                                          <p:spTgt spid="3">
                                            <p:txEl>
                                              <p:pRg st="7" end="7"/>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3">
                                            <p:txEl>
                                              <p:pRg st="9" end="9"/>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제목 1"/>
          <p:cNvSpPr>
            <a:spLocks noGrp="1"/>
          </p:cNvSpPr>
          <p:nvPr>
            <p:ph type="title"/>
          </p:nvPr>
        </p:nvSpPr>
        <p:spPr/>
        <p:txBody>
          <a:bodyPr/>
          <a:lstStyle/>
          <a:p>
            <a:r>
              <a:rPr lang="en-US" altLang="ko-KR" dirty="0" smtClean="0"/>
              <a:t>Survey statistics</a:t>
            </a:r>
            <a:endParaRPr lang="ko-KR" altLang="en-US" dirty="0"/>
          </a:p>
        </p:txBody>
      </p:sp>
      <p:sp>
        <p:nvSpPr>
          <p:cNvPr id="3" name="내용 개체 틀 2"/>
          <p:cNvSpPr>
            <a:spLocks noGrp="1"/>
          </p:cNvSpPr>
          <p:nvPr>
            <p:ph idx="1"/>
          </p:nvPr>
        </p:nvSpPr>
        <p:spPr/>
        <p:txBody>
          <a:bodyPr>
            <a:normAutofit/>
          </a:bodyPr>
          <a:lstStyle/>
          <a:p>
            <a:r>
              <a:rPr lang="en-US" altLang="ko-KR" sz="2400" dirty="0" smtClean="0"/>
              <a:t>Most of you know linear algebra</a:t>
            </a:r>
          </a:p>
          <a:p>
            <a:r>
              <a:rPr lang="en-US" altLang="ko-KR" sz="2400" dirty="0" smtClean="0"/>
              <a:t>Most of you claim to know polynomial time algorithm </a:t>
            </a:r>
            <a:br>
              <a:rPr lang="en-US" altLang="ko-KR" sz="2400" dirty="0" smtClean="0"/>
            </a:br>
            <a:r>
              <a:rPr lang="en-US" altLang="ko-KR" sz="2400" dirty="0" smtClean="0"/>
              <a:t>… but many say do not know complexity well</a:t>
            </a:r>
          </a:p>
          <a:p>
            <a:r>
              <a:rPr lang="en-US" altLang="ko-KR" sz="2400" dirty="0" smtClean="0"/>
              <a:t>Most of you can use </a:t>
            </a:r>
            <a:r>
              <a:rPr lang="en-US" altLang="ko-KR" sz="2400" dirty="0" err="1" smtClean="0"/>
              <a:t>LaTeX</a:t>
            </a:r>
            <a:r>
              <a:rPr lang="en-US" altLang="ko-KR" sz="2400" dirty="0" smtClean="0"/>
              <a:t>!</a:t>
            </a:r>
          </a:p>
          <a:p>
            <a:r>
              <a:rPr lang="en-US" altLang="ko-KR" sz="2400" dirty="0" smtClean="0"/>
              <a:t>Interest by score (total=21):</a:t>
            </a:r>
          </a:p>
          <a:p>
            <a:endParaRPr lang="en-US" altLang="ko-KR" sz="2400" dirty="0" smtClean="0"/>
          </a:p>
          <a:p>
            <a:pPr marL="0" indent="0">
              <a:buNone/>
            </a:pPr>
            <a:endParaRPr lang="en-US" altLang="ko-KR" sz="2400" dirty="0" smtClean="0"/>
          </a:p>
          <a:p>
            <a:r>
              <a:rPr lang="en-US" altLang="ko-KR" sz="2400" dirty="0" smtClean="0"/>
              <a:t>Some comments mention “basics” while some mention “advanced”</a:t>
            </a:r>
          </a:p>
          <a:p>
            <a:r>
              <a:rPr lang="en-US" altLang="ko-KR" sz="2400" dirty="0" smtClean="0"/>
              <a:t>Other comments say “please </a:t>
            </a:r>
            <a:r>
              <a:rPr lang="en-US" altLang="ko-KR" sz="2400" dirty="0"/>
              <a:t>give good </a:t>
            </a:r>
            <a:r>
              <a:rPr lang="en-US" altLang="ko-KR" sz="2400" dirty="0" smtClean="0"/>
              <a:t>grades (?)”</a:t>
            </a:r>
            <a:endParaRPr lang="en-US" altLang="ko-KR" sz="2400" dirty="0"/>
          </a:p>
        </p:txBody>
      </p:sp>
      <p:graphicFrame>
        <p:nvGraphicFramePr>
          <p:cNvPr id="4" name="표 3"/>
          <p:cNvGraphicFramePr>
            <a:graphicFrameLocks noGrp="1"/>
          </p:cNvGraphicFramePr>
          <p:nvPr>
            <p:extLst>
              <p:ext uri="{D42A27DB-BD31-4B8C-83A1-F6EECF244321}">
                <p14:modId xmlns:p14="http://schemas.microsoft.com/office/powerpoint/2010/main" val="3136268347"/>
              </p:ext>
            </p:extLst>
          </p:nvPr>
        </p:nvGraphicFramePr>
        <p:xfrm>
          <a:off x="1995488" y="4024516"/>
          <a:ext cx="8128000" cy="828040"/>
        </p:xfrm>
        <a:graphic>
          <a:graphicData uri="http://schemas.openxmlformats.org/drawingml/2006/table">
            <a:tbl>
              <a:tblPr firstRow="1" bandRow="1">
                <a:tableStyleId>{5C22544A-7EE6-4342-B048-85BDC9FD1C3A}</a:tableStyleId>
              </a:tblPr>
              <a:tblGrid>
                <a:gridCol w="1625600">
                  <a:extLst>
                    <a:ext uri="{9D8B030D-6E8A-4147-A177-3AD203B41FA5}">
                      <a16:colId xmlns:a16="http://schemas.microsoft.com/office/drawing/2014/main" val="1751303526"/>
                    </a:ext>
                  </a:extLst>
                </a:gridCol>
                <a:gridCol w="1625600">
                  <a:extLst>
                    <a:ext uri="{9D8B030D-6E8A-4147-A177-3AD203B41FA5}">
                      <a16:colId xmlns:a16="http://schemas.microsoft.com/office/drawing/2014/main" val="1227095255"/>
                    </a:ext>
                  </a:extLst>
                </a:gridCol>
                <a:gridCol w="1625600">
                  <a:extLst>
                    <a:ext uri="{9D8B030D-6E8A-4147-A177-3AD203B41FA5}">
                      <a16:colId xmlns:a16="http://schemas.microsoft.com/office/drawing/2014/main" val="2093847345"/>
                    </a:ext>
                  </a:extLst>
                </a:gridCol>
                <a:gridCol w="1625600">
                  <a:extLst>
                    <a:ext uri="{9D8B030D-6E8A-4147-A177-3AD203B41FA5}">
                      <a16:colId xmlns:a16="http://schemas.microsoft.com/office/drawing/2014/main" val="645093113"/>
                    </a:ext>
                  </a:extLst>
                </a:gridCol>
                <a:gridCol w="1625600">
                  <a:extLst>
                    <a:ext uri="{9D8B030D-6E8A-4147-A177-3AD203B41FA5}">
                      <a16:colId xmlns:a16="http://schemas.microsoft.com/office/drawing/2014/main" val="1652886018"/>
                    </a:ext>
                  </a:extLst>
                </a:gridCol>
              </a:tblGrid>
              <a:tr h="370840">
                <a:tc>
                  <a:txBody>
                    <a:bodyPr/>
                    <a:lstStyle/>
                    <a:p>
                      <a:pPr latinLnBrk="1"/>
                      <a:r>
                        <a:rPr lang="en-US" altLang="ko-KR" sz="1200" dirty="0" smtClean="0"/>
                        <a:t>Advanced </a:t>
                      </a:r>
                      <a:r>
                        <a:rPr lang="en-US" altLang="ko-KR" sz="1200" dirty="0" err="1" smtClean="0"/>
                        <a:t>algo</a:t>
                      </a:r>
                      <a:r>
                        <a:rPr lang="en-US" altLang="ko-KR" sz="1200" dirty="0" smtClean="0"/>
                        <a:t>/applications</a:t>
                      </a:r>
                      <a:endParaRPr lang="ko-KR" altLang="en-US" sz="1200" dirty="0"/>
                    </a:p>
                  </a:txBody>
                  <a:tcPr/>
                </a:tc>
                <a:tc>
                  <a:txBody>
                    <a:bodyPr/>
                    <a:lstStyle/>
                    <a:p>
                      <a:pPr latinLnBrk="1"/>
                      <a:r>
                        <a:rPr lang="en-US" altLang="ko-KR" sz="1200" dirty="0" smtClean="0"/>
                        <a:t>Advanced limitations of </a:t>
                      </a:r>
                      <a:r>
                        <a:rPr lang="en-US" altLang="ko-KR" sz="1200" dirty="0" err="1" smtClean="0"/>
                        <a:t>algo</a:t>
                      </a:r>
                      <a:endParaRPr lang="ko-KR" altLang="en-US" sz="1200" dirty="0"/>
                    </a:p>
                  </a:txBody>
                  <a:tcPr/>
                </a:tc>
                <a:tc>
                  <a:txBody>
                    <a:bodyPr/>
                    <a:lstStyle/>
                    <a:p>
                      <a:pPr latinLnBrk="1"/>
                      <a:r>
                        <a:rPr lang="en-US" altLang="ko-KR" sz="1200" dirty="0" smtClean="0"/>
                        <a:t>Advanced complexity</a:t>
                      </a:r>
                      <a:endParaRPr lang="ko-KR" altLang="en-US" sz="1200" dirty="0"/>
                    </a:p>
                  </a:txBody>
                  <a:tcPr/>
                </a:tc>
                <a:tc>
                  <a:txBody>
                    <a:bodyPr/>
                    <a:lstStyle/>
                    <a:p>
                      <a:pPr latinLnBrk="1"/>
                      <a:r>
                        <a:rPr lang="en-US" altLang="ko-KR" sz="1200" dirty="0" smtClean="0"/>
                        <a:t>Quantum cryptography</a:t>
                      </a:r>
                      <a:endParaRPr lang="ko-KR" altLang="en-US" sz="1200" dirty="0"/>
                    </a:p>
                  </a:txBody>
                  <a:tcPr/>
                </a:tc>
                <a:tc>
                  <a:txBody>
                    <a:bodyPr/>
                    <a:lstStyle/>
                    <a:p>
                      <a:pPr latinLnBrk="1"/>
                      <a:r>
                        <a:rPr lang="en-US" altLang="ko-KR" sz="1200" dirty="0" smtClean="0"/>
                        <a:t>Recent experiments</a:t>
                      </a:r>
                      <a:endParaRPr lang="ko-KR" altLang="en-US" sz="1200" dirty="0"/>
                    </a:p>
                  </a:txBody>
                  <a:tcPr/>
                </a:tc>
                <a:extLst>
                  <a:ext uri="{0D108BD9-81ED-4DB2-BD59-A6C34878D82A}">
                    <a16:rowId xmlns:a16="http://schemas.microsoft.com/office/drawing/2014/main" val="566610942"/>
                  </a:ext>
                </a:extLst>
              </a:tr>
              <a:tr h="370840">
                <a:tc>
                  <a:txBody>
                    <a:bodyPr/>
                    <a:lstStyle/>
                    <a:p>
                      <a:pPr algn="ctr" latinLnBrk="1"/>
                      <a:r>
                        <a:rPr lang="en-US" altLang="ko-KR" sz="1600" dirty="0" smtClean="0"/>
                        <a:t>17</a:t>
                      </a:r>
                      <a:endParaRPr lang="ko-KR" altLang="en-US" sz="1600" dirty="0"/>
                    </a:p>
                  </a:txBody>
                  <a:tcPr/>
                </a:tc>
                <a:tc>
                  <a:txBody>
                    <a:bodyPr/>
                    <a:lstStyle/>
                    <a:p>
                      <a:pPr algn="ctr" latinLnBrk="1"/>
                      <a:r>
                        <a:rPr lang="en-US" altLang="ko-KR" sz="1600" dirty="0" smtClean="0"/>
                        <a:t>15</a:t>
                      </a:r>
                      <a:endParaRPr lang="ko-KR" altLang="en-US" sz="1600" dirty="0"/>
                    </a:p>
                  </a:txBody>
                  <a:tcPr/>
                </a:tc>
                <a:tc>
                  <a:txBody>
                    <a:bodyPr/>
                    <a:lstStyle/>
                    <a:p>
                      <a:pPr algn="ctr" latinLnBrk="1"/>
                      <a:r>
                        <a:rPr lang="en-US" altLang="ko-KR" sz="1600" dirty="0" smtClean="0"/>
                        <a:t>11</a:t>
                      </a:r>
                      <a:endParaRPr lang="ko-KR" altLang="en-US" sz="1600" dirty="0"/>
                    </a:p>
                  </a:txBody>
                  <a:tcPr/>
                </a:tc>
                <a:tc>
                  <a:txBody>
                    <a:bodyPr/>
                    <a:lstStyle/>
                    <a:p>
                      <a:pPr algn="ctr" latinLnBrk="1"/>
                      <a:r>
                        <a:rPr lang="en-US" altLang="ko-KR" sz="1600" dirty="0" smtClean="0"/>
                        <a:t>16.5</a:t>
                      </a:r>
                      <a:endParaRPr lang="ko-KR" altLang="en-US" sz="1600" dirty="0"/>
                    </a:p>
                  </a:txBody>
                  <a:tcPr/>
                </a:tc>
                <a:tc>
                  <a:txBody>
                    <a:bodyPr/>
                    <a:lstStyle/>
                    <a:p>
                      <a:pPr algn="ctr" latinLnBrk="1"/>
                      <a:r>
                        <a:rPr lang="en-US" altLang="ko-KR" sz="1600" dirty="0" smtClean="0"/>
                        <a:t>11.5</a:t>
                      </a:r>
                      <a:endParaRPr lang="ko-KR" altLang="en-US" sz="1600" dirty="0"/>
                    </a:p>
                  </a:txBody>
                  <a:tcPr/>
                </a:tc>
                <a:extLst>
                  <a:ext uri="{0D108BD9-81ED-4DB2-BD59-A6C34878D82A}">
                    <a16:rowId xmlns:a16="http://schemas.microsoft.com/office/drawing/2014/main" val="1105150940"/>
                  </a:ext>
                </a:extLst>
              </a:tr>
            </a:tbl>
          </a:graphicData>
        </a:graphic>
      </p:graphicFrame>
    </p:spTree>
    <p:extLst>
      <p:ext uri="{BB962C8B-B14F-4D97-AF65-F5344CB8AC3E}">
        <p14:creationId xmlns:p14="http://schemas.microsoft.com/office/powerpoint/2010/main" val="246388052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childTnLst>
                                </p:cTn>
                              </p:par>
                              <p:par>
                                <p:cTn id="19" presetID="1" presetClass="entr" presetSubtype="0" fill="hold" nodeType="withEffect">
                                  <p:stCondLst>
                                    <p:cond delay="0"/>
                                  </p:stCondLst>
                                  <p:childTnLst>
                                    <p:set>
                                      <p:cBhvr>
                                        <p:cTn id="20" dur="1" fill="hold">
                                          <p:stCondLst>
                                            <p:cond delay="0"/>
                                          </p:stCondLst>
                                        </p:cTn>
                                        <p:tgtEl>
                                          <p:spTgt spid="4"/>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grpId="0" nodeType="clickEffect">
                                  <p:stCondLst>
                                    <p:cond delay="0"/>
                                  </p:stCondLst>
                                  <p:childTnLst>
                                    <p:set>
                                      <p:cBhvr>
                                        <p:cTn id="24" dur="1" fill="hold">
                                          <p:stCondLst>
                                            <p:cond delay="0"/>
                                          </p:stCondLst>
                                        </p:cTn>
                                        <p:tgtEl>
                                          <p:spTgt spid="3">
                                            <p:txEl>
                                              <p:pRg st="6" end="6"/>
                                            </p:txEl>
                                          </p:spTgt>
                                        </p:tgtEl>
                                        <p:attrNameLst>
                                          <p:attrName>style.visibility</p:attrName>
                                        </p:attrNameLst>
                                      </p:cBhvr>
                                      <p:to>
                                        <p:strVal val="visible"/>
                                      </p:to>
                                    </p:set>
                                  </p:childTnLst>
                                </p:cTn>
                              </p:par>
                            </p:childTnLst>
                          </p:cTn>
                        </p:par>
                      </p:childTnLst>
                    </p:cTn>
                  </p:par>
                  <p:par>
                    <p:cTn id="25" fill="hold">
                      <p:stCondLst>
                        <p:cond delay="indefinite"/>
                      </p:stCondLst>
                      <p:childTnLst>
                        <p:par>
                          <p:cTn id="26" fill="hold">
                            <p:stCondLst>
                              <p:cond delay="0"/>
                            </p:stCondLst>
                            <p:childTnLst>
                              <p:par>
                                <p:cTn id="27" presetID="1" presetClass="entr" presetSubtype="0" fill="hold" grpId="0" nodeType="clickEffect">
                                  <p:stCondLst>
                                    <p:cond delay="0"/>
                                  </p:stCondLst>
                                  <p:childTnLst>
                                    <p:set>
                                      <p:cBhvr>
                                        <p:cTn id="28" dur="1" fill="hold">
                                          <p:stCondLst>
                                            <p:cond delay="0"/>
                                          </p:stCondLst>
                                        </p:cTn>
                                        <p:tgtEl>
                                          <p:spTgt spid="3">
                                            <p:txEl>
                                              <p:pRg st="7" end="7"/>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uiExpand="1" build="p"/>
    </p:bld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제목 1"/>
          <p:cNvSpPr>
            <a:spLocks noGrp="1"/>
          </p:cNvSpPr>
          <p:nvPr>
            <p:ph type="title"/>
          </p:nvPr>
        </p:nvSpPr>
        <p:spPr/>
        <p:txBody>
          <a:bodyPr/>
          <a:lstStyle/>
          <a:p>
            <a:r>
              <a:rPr lang="en-US" altLang="ko-KR" dirty="0" smtClean="0"/>
              <a:t>Slide guide</a:t>
            </a:r>
            <a:endParaRPr lang="ko-KR" altLang="en-US" dirty="0"/>
          </a:p>
        </p:txBody>
      </p:sp>
      <p:sp>
        <p:nvSpPr>
          <p:cNvPr id="3" name="내용 개체 틀 2"/>
          <p:cNvSpPr>
            <a:spLocks noGrp="1"/>
          </p:cNvSpPr>
          <p:nvPr>
            <p:ph idx="1"/>
          </p:nvPr>
        </p:nvSpPr>
        <p:spPr/>
        <p:txBody>
          <a:bodyPr>
            <a:normAutofit/>
          </a:bodyPr>
          <a:lstStyle/>
          <a:p>
            <a:r>
              <a:rPr lang="en-US" altLang="ko-KR" sz="2400" dirty="0" smtClean="0"/>
              <a:t>Some contents are marked:</a:t>
            </a:r>
          </a:p>
          <a:p>
            <a:pPr marL="457200" lvl="1" indent="0">
              <a:buNone/>
            </a:pPr>
            <a:r>
              <a:rPr lang="en-US" altLang="ko-KR" sz="2000" dirty="0" smtClean="0"/>
              <a:t>It may not be hard (require constant minutes), but I do not explain any detail</a:t>
            </a:r>
            <a:endParaRPr lang="en-US" altLang="ko-KR" sz="2000" dirty="0"/>
          </a:p>
          <a:p>
            <a:endParaRPr lang="en-US" altLang="ko-KR" sz="2400" dirty="0" smtClean="0"/>
          </a:p>
          <a:p>
            <a:r>
              <a:rPr lang="en-US" altLang="ko-KR" sz="2400" dirty="0" smtClean="0"/>
              <a:t>Some contents are marked:</a:t>
            </a:r>
          </a:p>
          <a:p>
            <a:pPr marL="457200" lvl="1" indent="0">
              <a:buNone/>
            </a:pPr>
            <a:r>
              <a:rPr lang="en-US" altLang="ko-KR" sz="2000" dirty="0" smtClean="0"/>
              <a:t>It may need another lecture to fill the detail.</a:t>
            </a:r>
            <a:endParaRPr lang="en-US" altLang="ko-KR" sz="2000" dirty="0"/>
          </a:p>
          <a:p>
            <a:pPr marL="0" indent="0">
              <a:buNone/>
            </a:pPr>
            <a:endParaRPr lang="en-US" altLang="ko-KR" sz="2400" dirty="0"/>
          </a:p>
          <a:p>
            <a:pPr marL="0" indent="0">
              <a:buNone/>
            </a:pPr>
            <a:r>
              <a:rPr lang="en-US" altLang="ko-KR" sz="2400" dirty="0" smtClean="0"/>
              <a:t>We always cover the main contents first.</a:t>
            </a:r>
          </a:p>
          <a:p>
            <a:pPr marL="0" indent="0">
              <a:buNone/>
            </a:pPr>
            <a:r>
              <a:rPr lang="en-US" altLang="ko-KR" sz="2400" dirty="0" smtClean="0"/>
              <a:t>If we have time at the end, I will explain something more advanced</a:t>
            </a:r>
            <a:endParaRPr lang="en-US" altLang="ko-KR" dirty="0" smtClean="0"/>
          </a:p>
          <a:p>
            <a:pPr marL="0" indent="0">
              <a:buNone/>
            </a:pPr>
            <a:r>
              <a:rPr lang="en-US" altLang="ko-KR" sz="2400" dirty="0" smtClean="0"/>
              <a:t>Marked “slightly advanced” can be included in the test but not “advanced”</a:t>
            </a:r>
            <a:endParaRPr lang="en-US" altLang="ko-KR" sz="2400" dirty="0"/>
          </a:p>
        </p:txBody>
      </p:sp>
      <p:sp>
        <p:nvSpPr>
          <p:cNvPr id="4" name="직사각형 3"/>
          <p:cNvSpPr/>
          <p:nvPr/>
        </p:nvSpPr>
        <p:spPr>
          <a:xfrm>
            <a:off x="5127072" y="1825625"/>
            <a:ext cx="1023456" cy="429936"/>
          </a:xfrm>
          <a:prstGeom prst="rect">
            <a:avLst/>
          </a:prstGeom>
        </p:spPr>
        <p:style>
          <a:lnRef idx="2">
            <a:schemeClr val="accent2">
              <a:shade val="50000"/>
            </a:schemeClr>
          </a:lnRef>
          <a:fillRef idx="1">
            <a:schemeClr val="accent2"/>
          </a:fillRef>
          <a:effectRef idx="0">
            <a:schemeClr val="accent2"/>
          </a:effectRef>
          <a:fontRef idx="minor">
            <a:schemeClr val="lt1"/>
          </a:fontRef>
        </p:style>
        <p:txBody>
          <a:bodyPr rtlCol="0" anchor="ctr"/>
          <a:lstStyle/>
          <a:p>
            <a:pPr algn="ctr"/>
            <a:r>
              <a:rPr lang="en-US" altLang="ko-KR" sz="1400" dirty="0" smtClean="0"/>
              <a:t>Slightly advanced</a:t>
            </a:r>
            <a:endParaRPr lang="ko-KR" altLang="en-US" sz="1400" dirty="0"/>
          </a:p>
        </p:txBody>
      </p:sp>
      <p:sp>
        <p:nvSpPr>
          <p:cNvPr id="5" name="직사각형 4"/>
          <p:cNvSpPr/>
          <p:nvPr/>
        </p:nvSpPr>
        <p:spPr>
          <a:xfrm>
            <a:off x="5127072" y="3110298"/>
            <a:ext cx="1023456" cy="360727"/>
          </a:xfrm>
          <a:prstGeom prst="rect">
            <a:avLst/>
          </a:prstGeom>
          <a:solidFill>
            <a:srgbClr val="FF0000"/>
          </a:solidFill>
        </p:spPr>
        <p:style>
          <a:lnRef idx="2">
            <a:schemeClr val="accent2">
              <a:shade val="50000"/>
            </a:schemeClr>
          </a:lnRef>
          <a:fillRef idx="1">
            <a:schemeClr val="accent2"/>
          </a:fillRef>
          <a:effectRef idx="0">
            <a:schemeClr val="accent2"/>
          </a:effectRef>
          <a:fontRef idx="minor">
            <a:schemeClr val="lt1"/>
          </a:fontRef>
        </p:style>
        <p:txBody>
          <a:bodyPr rtlCol="0" anchor="ctr"/>
          <a:lstStyle/>
          <a:p>
            <a:pPr algn="ctr"/>
            <a:r>
              <a:rPr lang="en-US" altLang="ko-KR" sz="1400" dirty="0" smtClean="0"/>
              <a:t>advanced</a:t>
            </a:r>
            <a:endParaRPr lang="ko-KR" altLang="en-US" sz="1400" dirty="0"/>
          </a:p>
        </p:txBody>
      </p:sp>
    </p:spTree>
    <p:extLst>
      <p:ext uri="{BB962C8B-B14F-4D97-AF65-F5344CB8AC3E}">
        <p14:creationId xmlns:p14="http://schemas.microsoft.com/office/powerpoint/2010/main" val="425582299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6" end="6"/>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3">
                                            <p:txEl>
                                              <p:pRg st="7" end="7"/>
                                            </p:txEl>
                                          </p:spTgt>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3">
                                            <p:txEl>
                                              <p:pRg st="8" end="8"/>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제목 1"/>
          <p:cNvSpPr>
            <a:spLocks noGrp="1"/>
          </p:cNvSpPr>
          <p:nvPr>
            <p:ph type="title"/>
          </p:nvPr>
        </p:nvSpPr>
        <p:spPr/>
        <p:txBody>
          <a:bodyPr/>
          <a:lstStyle/>
          <a:p>
            <a:r>
              <a:rPr lang="en-US" altLang="ko-KR" dirty="0" smtClean="0"/>
              <a:t>Today we will learn</a:t>
            </a:r>
            <a:endParaRPr lang="ko-KR" altLang="en-US" dirty="0"/>
          </a:p>
        </p:txBody>
      </p:sp>
      <p:sp>
        <p:nvSpPr>
          <p:cNvPr id="3" name="내용 개체 틀 2"/>
          <p:cNvSpPr>
            <a:spLocks noGrp="1"/>
          </p:cNvSpPr>
          <p:nvPr>
            <p:ph idx="1"/>
          </p:nvPr>
        </p:nvSpPr>
        <p:spPr/>
        <p:txBody>
          <a:bodyPr>
            <a:normAutofit/>
          </a:bodyPr>
          <a:lstStyle/>
          <a:p>
            <a:pPr marL="0" indent="0">
              <a:buNone/>
            </a:pPr>
            <a:r>
              <a:rPr lang="en-US" altLang="ko-KR" dirty="0" smtClean="0"/>
              <a:t>Reversible computing</a:t>
            </a:r>
          </a:p>
          <a:p>
            <a:pPr lvl="1"/>
            <a:r>
              <a:rPr lang="en-US" altLang="ko-KR" dirty="0" smtClean="0"/>
              <a:t>Why does it matter</a:t>
            </a:r>
          </a:p>
          <a:p>
            <a:pPr lvl="1"/>
            <a:r>
              <a:rPr lang="en-US" altLang="ko-KR" dirty="0" smtClean="0"/>
              <a:t>What does it mean</a:t>
            </a:r>
          </a:p>
          <a:p>
            <a:pPr lvl="1"/>
            <a:r>
              <a:rPr lang="en-US" altLang="ko-KR" dirty="0" smtClean="0"/>
              <a:t>Notations</a:t>
            </a:r>
          </a:p>
          <a:p>
            <a:pPr lvl="1"/>
            <a:r>
              <a:rPr lang="en-US" altLang="ko-KR" dirty="0" smtClean="0"/>
              <a:t>Circuit-style description</a:t>
            </a:r>
          </a:p>
          <a:p>
            <a:pPr lvl="1"/>
            <a:r>
              <a:rPr lang="en-US" altLang="ko-KR" dirty="0" smtClean="0"/>
              <a:t>Linear algebra description</a:t>
            </a:r>
          </a:p>
          <a:p>
            <a:pPr marL="0" indent="0">
              <a:buNone/>
            </a:pPr>
            <a:endParaRPr lang="en-US" altLang="ko-KR" dirty="0" smtClean="0"/>
          </a:p>
          <a:p>
            <a:pPr marL="0" indent="0">
              <a:buNone/>
            </a:pPr>
            <a:r>
              <a:rPr lang="en-US" altLang="ko-KR" dirty="0" smtClean="0"/>
              <a:t>Why does it matter?</a:t>
            </a:r>
          </a:p>
          <a:p>
            <a:pPr lvl="1"/>
            <a:r>
              <a:rPr lang="en-US" altLang="ko-KR" dirty="0" smtClean="0"/>
              <a:t>This is a “simpler” version of quantum computing</a:t>
            </a:r>
          </a:p>
          <a:p>
            <a:pPr lvl="1"/>
            <a:r>
              <a:rPr lang="en-US" altLang="ko-KR" dirty="0" smtClean="0"/>
              <a:t>To learn some notations (which will be used in quantum computing)</a:t>
            </a:r>
          </a:p>
        </p:txBody>
      </p:sp>
    </p:spTree>
    <p:extLst>
      <p:ext uri="{BB962C8B-B14F-4D97-AF65-F5344CB8AC3E}">
        <p14:creationId xmlns:p14="http://schemas.microsoft.com/office/powerpoint/2010/main" val="367620040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3">
                                            <p:txEl>
                                              <p:pRg st="1" end="1"/>
                                            </p:txEl>
                                          </p:spTgt>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3">
                                            <p:txEl>
                                              <p:pRg st="2" end="2"/>
                                            </p:txEl>
                                          </p:spTgt>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3">
                                            <p:txEl>
                                              <p:pRg st="3" end="3"/>
                                            </p:txEl>
                                          </p:spTgt>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3">
                                            <p:txEl>
                                              <p:pRg st="4" end="4"/>
                                            </p:txEl>
                                          </p:spTgt>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grpId="0" nodeType="clickEffect">
                                  <p:stCondLst>
                                    <p:cond delay="0"/>
                                  </p:stCondLst>
                                  <p:childTnLst>
                                    <p:set>
                                      <p:cBhvr>
                                        <p:cTn id="20" dur="1" fill="hold">
                                          <p:stCondLst>
                                            <p:cond delay="0"/>
                                          </p:stCondLst>
                                        </p:cTn>
                                        <p:tgtEl>
                                          <p:spTgt spid="3">
                                            <p:txEl>
                                              <p:pRg st="7" end="7"/>
                                            </p:txEl>
                                          </p:spTgt>
                                        </p:tgtEl>
                                        <p:attrNameLst>
                                          <p:attrName>style.visibility</p:attrName>
                                        </p:attrNameLst>
                                      </p:cBhvr>
                                      <p:to>
                                        <p:strVal val="visible"/>
                                      </p:to>
                                    </p:set>
                                  </p:childTnLst>
                                </p:cTn>
                              </p:par>
                              <p:par>
                                <p:cTn id="21" presetID="1" presetClass="entr" presetSubtype="0" fill="hold" grpId="0" nodeType="withEffect">
                                  <p:stCondLst>
                                    <p:cond delay="0"/>
                                  </p:stCondLst>
                                  <p:childTnLst>
                                    <p:set>
                                      <p:cBhvr>
                                        <p:cTn id="22" dur="1" fill="hold">
                                          <p:stCondLst>
                                            <p:cond delay="0"/>
                                          </p:stCondLst>
                                        </p:cTn>
                                        <p:tgtEl>
                                          <p:spTgt spid="3">
                                            <p:txEl>
                                              <p:pRg st="8" end="8"/>
                                            </p:txEl>
                                          </p:spTgt>
                                        </p:tgtEl>
                                        <p:attrNameLst>
                                          <p:attrName>style.visibility</p:attrName>
                                        </p:attrNameLst>
                                      </p:cBhvr>
                                      <p:to>
                                        <p:strVal val="visible"/>
                                      </p:to>
                                    </p:set>
                                  </p:childTnLst>
                                </p:cTn>
                              </p:par>
                              <p:par>
                                <p:cTn id="23" presetID="1" presetClass="entr" presetSubtype="0" fill="hold" grpId="0" nodeType="withEffect">
                                  <p:stCondLst>
                                    <p:cond delay="0"/>
                                  </p:stCondLst>
                                  <p:childTnLst>
                                    <p:set>
                                      <p:cBhvr>
                                        <p:cTn id="24" dur="1" fill="hold">
                                          <p:stCondLst>
                                            <p:cond delay="0"/>
                                          </p:stCondLst>
                                        </p:cTn>
                                        <p:tgtEl>
                                          <p:spTgt spid="3">
                                            <p:txEl>
                                              <p:pRg st="9" end="9"/>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45ACF45-D9D6-7EEC-F68B-0ED541CDAB3A}"/>
              </a:ext>
            </a:extLst>
          </p:cNvPr>
          <p:cNvSpPr>
            <a:spLocks noGrp="1"/>
          </p:cNvSpPr>
          <p:nvPr>
            <p:ph type="title"/>
          </p:nvPr>
        </p:nvSpPr>
        <p:spPr/>
        <p:txBody>
          <a:bodyPr/>
          <a:lstStyle/>
          <a:p>
            <a:r>
              <a:rPr lang="en-US" dirty="0" smtClean="0"/>
              <a:t>Physics </a:t>
            </a:r>
            <a:r>
              <a:rPr lang="en-US" dirty="0"/>
              <a:t>of information</a:t>
            </a:r>
          </a:p>
        </p:txBody>
      </p:sp>
      <p:sp>
        <p:nvSpPr>
          <p:cNvPr id="3" name="Content Placeholder 2">
            <a:extLst>
              <a:ext uri="{FF2B5EF4-FFF2-40B4-BE49-F238E27FC236}">
                <a16:creationId xmlns:a16="http://schemas.microsoft.com/office/drawing/2014/main" id="{E90B5776-B85A-A93B-A4D8-05FF79DD7B17}"/>
              </a:ext>
            </a:extLst>
          </p:cNvPr>
          <p:cNvSpPr>
            <a:spLocks noGrp="1"/>
          </p:cNvSpPr>
          <p:nvPr>
            <p:ph idx="1"/>
          </p:nvPr>
        </p:nvSpPr>
        <p:spPr/>
        <p:txBody>
          <a:bodyPr>
            <a:normAutofit/>
          </a:bodyPr>
          <a:lstStyle/>
          <a:p>
            <a:r>
              <a:rPr lang="en-US" sz="2400" dirty="0"/>
              <a:t>In (classical) computing, we see operations like</a:t>
            </a:r>
          </a:p>
          <a:p>
            <a:endParaRPr lang="en-US" sz="2400" dirty="0"/>
          </a:p>
          <a:p>
            <a:endParaRPr lang="en-US" sz="2400" dirty="0"/>
          </a:p>
          <a:p>
            <a:endParaRPr lang="en-US" sz="2400" dirty="0"/>
          </a:p>
          <a:p>
            <a:endParaRPr lang="en-US" sz="2400" dirty="0"/>
          </a:p>
          <a:p>
            <a:r>
              <a:rPr lang="en-US" sz="2400" dirty="0"/>
              <a:t>Information appears to be </a:t>
            </a:r>
            <a:r>
              <a:rPr lang="en-US" sz="2400" i="1" dirty="0"/>
              <a:t>erased</a:t>
            </a:r>
            <a:r>
              <a:rPr lang="en-US" sz="2400" dirty="0"/>
              <a:t>.</a:t>
            </a:r>
          </a:p>
          <a:p>
            <a:endParaRPr lang="en-US" sz="2400" dirty="0"/>
          </a:p>
          <a:p>
            <a:r>
              <a:rPr lang="en-US" sz="2400" dirty="0"/>
              <a:t>Is this actually possible? Can information… </a:t>
            </a:r>
            <a:r>
              <a:rPr lang="en-US" sz="2400" i="1" dirty="0"/>
              <a:t>disappear?</a:t>
            </a:r>
            <a:endParaRPr lang="en-US" sz="2400" dirty="0"/>
          </a:p>
          <a:p>
            <a:endParaRPr lang="en-US" sz="2400" dirty="0"/>
          </a:p>
          <a:p>
            <a:endParaRPr lang="en-US" sz="2400" dirty="0"/>
          </a:p>
          <a:p>
            <a:endParaRPr lang="en-US" sz="2400" dirty="0"/>
          </a:p>
        </p:txBody>
      </p:sp>
      <p:sp>
        <p:nvSpPr>
          <p:cNvPr id="4" name="TextBox 3">
            <a:extLst>
              <a:ext uri="{FF2B5EF4-FFF2-40B4-BE49-F238E27FC236}">
                <a16:creationId xmlns:a16="http://schemas.microsoft.com/office/drawing/2014/main" id="{82AAA543-83D1-D2F0-B7D0-DE64CAE6C01E}"/>
              </a:ext>
            </a:extLst>
          </p:cNvPr>
          <p:cNvSpPr txBox="1"/>
          <p:nvPr/>
        </p:nvSpPr>
        <p:spPr>
          <a:xfrm>
            <a:off x="2178755" y="2800965"/>
            <a:ext cx="4661432" cy="1200329"/>
          </a:xfrm>
          <a:prstGeom prst="rect">
            <a:avLst/>
          </a:prstGeom>
          <a:noFill/>
        </p:spPr>
        <p:txBody>
          <a:bodyPr wrap="square" rtlCol="0">
            <a:spAutoFit/>
          </a:bodyPr>
          <a:lstStyle/>
          <a:p>
            <a:r>
              <a:rPr lang="en-US" sz="2400" dirty="0">
                <a:latin typeface="Courier New" panose="02070309020205020404" pitchFamily="49" charset="0"/>
                <a:cs typeface="Courier New" panose="02070309020205020404" pitchFamily="49" charset="0"/>
              </a:rPr>
              <a:t>...</a:t>
            </a:r>
          </a:p>
          <a:p>
            <a:r>
              <a:rPr lang="en-US" sz="2400" dirty="0">
                <a:latin typeface="Courier New" panose="02070309020205020404" pitchFamily="49" charset="0"/>
                <a:cs typeface="Courier New" panose="02070309020205020404" pitchFamily="49" charset="0"/>
              </a:rPr>
              <a:t>A = 0      #reset</a:t>
            </a:r>
          </a:p>
          <a:p>
            <a:r>
              <a:rPr lang="en-US" sz="2400" dirty="0">
                <a:latin typeface="Courier New" panose="02070309020205020404" pitchFamily="49" charset="0"/>
                <a:cs typeface="Courier New" panose="02070309020205020404" pitchFamily="49" charset="0"/>
              </a:rPr>
              <a:t>...</a:t>
            </a:r>
          </a:p>
        </p:txBody>
      </p:sp>
      <p:pic>
        <p:nvPicPr>
          <p:cNvPr id="1026" name="Picture 2" descr="Digital Logic AND Gate – Digital Gates - Electrical Technology">
            <a:extLst>
              <a:ext uri="{FF2B5EF4-FFF2-40B4-BE49-F238E27FC236}">
                <a16:creationId xmlns:a16="http://schemas.microsoft.com/office/drawing/2014/main" id="{065F764C-011D-FFAD-B286-EF1D5FE42A33}"/>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958894" y="2478394"/>
            <a:ext cx="3163005" cy="1845469"/>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55197344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7" end="7"/>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E8F9E9E-F190-B19C-F5D1-4CEFCD2BAE78}"/>
              </a:ext>
            </a:extLst>
          </p:cNvPr>
          <p:cNvSpPr>
            <a:spLocks noGrp="1"/>
          </p:cNvSpPr>
          <p:nvPr>
            <p:ph type="title"/>
          </p:nvPr>
        </p:nvSpPr>
        <p:spPr/>
        <p:txBody>
          <a:bodyPr/>
          <a:lstStyle/>
          <a:p>
            <a:r>
              <a:rPr lang="en-US" dirty="0"/>
              <a:t>Reversibility of physics</a:t>
            </a:r>
          </a:p>
        </p:txBody>
      </p:sp>
      <p:sp>
        <p:nvSpPr>
          <p:cNvPr id="3" name="Content Placeholder 2">
            <a:extLst>
              <a:ext uri="{FF2B5EF4-FFF2-40B4-BE49-F238E27FC236}">
                <a16:creationId xmlns:a16="http://schemas.microsoft.com/office/drawing/2014/main" id="{57698B1C-7D33-3E5E-01DB-FDFE785C5853}"/>
              </a:ext>
            </a:extLst>
          </p:cNvPr>
          <p:cNvSpPr>
            <a:spLocks noGrp="1"/>
          </p:cNvSpPr>
          <p:nvPr>
            <p:ph idx="1"/>
          </p:nvPr>
        </p:nvSpPr>
        <p:spPr/>
        <p:txBody>
          <a:bodyPr>
            <a:normAutofit/>
          </a:bodyPr>
          <a:lstStyle/>
          <a:p>
            <a:r>
              <a:rPr lang="en-US" sz="2400" dirty="0"/>
              <a:t>The laws of </a:t>
            </a:r>
            <a:r>
              <a:rPr lang="en-US" sz="2400" dirty="0" smtClean="0"/>
              <a:t>physics are </a:t>
            </a:r>
            <a:r>
              <a:rPr lang="en-US" sz="2400" dirty="0"/>
              <a:t>inherently </a:t>
            </a:r>
            <a:r>
              <a:rPr lang="en-US" sz="2400" i="1" dirty="0" smtClean="0"/>
              <a:t>reversible</a:t>
            </a:r>
            <a:r>
              <a:rPr lang="en-US" sz="2400" dirty="0"/>
              <a:t>. </a:t>
            </a:r>
          </a:p>
          <a:p>
            <a:endParaRPr lang="en-US" sz="2400" dirty="0"/>
          </a:p>
          <a:p>
            <a:r>
              <a:rPr lang="en-US" sz="2400" dirty="0"/>
              <a:t>Any isolated physical process running in one direction, can </a:t>
            </a:r>
            <a:br>
              <a:rPr lang="en-US" sz="2400" dirty="0"/>
            </a:br>
            <a:r>
              <a:rPr lang="en-US" sz="2400" dirty="0"/>
              <a:t>(in principle) run in reverse.</a:t>
            </a:r>
          </a:p>
          <a:p>
            <a:endParaRPr lang="en-US" sz="2400" dirty="0"/>
          </a:p>
          <a:p>
            <a:r>
              <a:rPr lang="en-US" sz="2400" dirty="0"/>
              <a:t>In fact: at a microscopic level, one should not be able to tell </a:t>
            </a:r>
            <a:r>
              <a:rPr lang="en-US" sz="2400" dirty="0" smtClean="0"/>
              <a:t/>
            </a:r>
            <a:br>
              <a:rPr lang="en-US" sz="2400" dirty="0" smtClean="0"/>
            </a:br>
            <a:r>
              <a:rPr lang="en-US" sz="2400" dirty="0" smtClean="0"/>
              <a:t>the difference </a:t>
            </a:r>
            <a:r>
              <a:rPr lang="en-US" sz="2400" dirty="0"/>
              <a:t>between time running forwards or backwards.</a:t>
            </a:r>
          </a:p>
          <a:p>
            <a:pPr marL="0" indent="0">
              <a:buNone/>
            </a:pPr>
            <a:endParaRPr lang="en-US" sz="2400" dirty="0"/>
          </a:p>
          <a:p>
            <a:endParaRPr lang="en-US" sz="2400" dirty="0"/>
          </a:p>
          <a:p>
            <a:endParaRPr lang="en-US" sz="2400" dirty="0"/>
          </a:p>
          <a:p>
            <a:endParaRPr lang="en-US" sz="2400" dirty="0"/>
          </a:p>
          <a:p>
            <a:endParaRPr lang="en-US" sz="2400" dirty="0"/>
          </a:p>
          <a:p>
            <a:pPr lvl="1"/>
            <a:endParaRPr lang="en-US" dirty="0"/>
          </a:p>
          <a:p>
            <a:endParaRPr lang="en-US" sz="2400" dirty="0"/>
          </a:p>
          <a:p>
            <a:endParaRPr lang="en-US" sz="2400" dirty="0"/>
          </a:p>
        </p:txBody>
      </p:sp>
      <p:pic>
        <p:nvPicPr>
          <p:cNvPr id="2054" name="Picture 6" descr="enter image description here">
            <a:extLst>
              <a:ext uri="{FF2B5EF4-FFF2-40B4-BE49-F238E27FC236}">
                <a16:creationId xmlns:a16="http://schemas.microsoft.com/office/drawing/2014/main" id="{55AFAF0E-3448-DB08-215C-141BDBA537FF}"/>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9946217" y="1109663"/>
            <a:ext cx="1511300" cy="50673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87439954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205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E8F9E9E-F190-B19C-F5D1-4CEFCD2BAE78}"/>
              </a:ext>
            </a:extLst>
          </p:cNvPr>
          <p:cNvSpPr>
            <a:spLocks noGrp="1"/>
          </p:cNvSpPr>
          <p:nvPr>
            <p:ph type="title"/>
          </p:nvPr>
        </p:nvSpPr>
        <p:spPr/>
        <p:txBody>
          <a:bodyPr/>
          <a:lstStyle/>
          <a:p>
            <a:r>
              <a:rPr lang="en-US" dirty="0"/>
              <a:t>Reversibility of physics</a:t>
            </a:r>
          </a:p>
        </p:txBody>
      </p:sp>
      <p:sp>
        <p:nvSpPr>
          <p:cNvPr id="3" name="Content Placeholder 2">
            <a:extLst>
              <a:ext uri="{FF2B5EF4-FFF2-40B4-BE49-F238E27FC236}">
                <a16:creationId xmlns:a16="http://schemas.microsoft.com/office/drawing/2014/main" id="{57698B1C-7D33-3E5E-01DB-FDFE785C5853}"/>
              </a:ext>
            </a:extLst>
          </p:cNvPr>
          <p:cNvSpPr>
            <a:spLocks noGrp="1"/>
          </p:cNvSpPr>
          <p:nvPr>
            <p:ph idx="1"/>
          </p:nvPr>
        </p:nvSpPr>
        <p:spPr/>
        <p:txBody>
          <a:bodyPr>
            <a:normAutofit/>
          </a:bodyPr>
          <a:lstStyle/>
          <a:p>
            <a:r>
              <a:rPr lang="en-US" sz="2400" dirty="0"/>
              <a:t>Even the process of an egg falling and breaking is </a:t>
            </a:r>
            <a:r>
              <a:rPr lang="en-US" sz="2400" dirty="0" smtClean="0"/>
              <a:t/>
            </a:r>
            <a:br>
              <a:rPr lang="en-US" sz="2400" dirty="0" smtClean="0"/>
            </a:br>
            <a:r>
              <a:rPr lang="en-US" sz="2400" dirty="0" smtClean="0"/>
              <a:t>(</a:t>
            </a:r>
            <a:r>
              <a:rPr lang="en-US" sz="2400" dirty="0"/>
              <a:t>in principle) </a:t>
            </a:r>
            <a:r>
              <a:rPr lang="en-US" sz="2400" dirty="0" smtClean="0"/>
              <a:t>reversible </a:t>
            </a:r>
            <a:r>
              <a:rPr lang="en-US" sz="2400" dirty="0"/>
              <a:t>and possible according to physics.</a:t>
            </a:r>
          </a:p>
          <a:p>
            <a:endParaRPr lang="en-US" sz="2400" dirty="0"/>
          </a:p>
          <a:p>
            <a:r>
              <a:rPr lang="en-US" sz="2400" dirty="0"/>
              <a:t>However, in the macroscopic world such events are </a:t>
            </a:r>
            <a:br>
              <a:rPr lang="en-US" sz="2400" dirty="0"/>
            </a:br>
            <a:r>
              <a:rPr lang="en-US" sz="2400" i="1" dirty="0"/>
              <a:t>extremely unlikely</a:t>
            </a:r>
            <a:r>
              <a:rPr lang="en-US" sz="2400" dirty="0"/>
              <a:t>.</a:t>
            </a:r>
          </a:p>
          <a:p>
            <a:endParaRPr lang="en-US" sz="2400" dirty="0"/>
          </a:p>
          <a:p>
            <a:endParaRPr lang="en-US" sz="2400" dirty="0"/>
          </a:p>
          <a:p>
            <a:endParaRPr lang="en-US" sz="2400" dirty="0"/>
          </a:p>
          <a:p>
            <a:endParaRPr lang="en-US" sz="2400" dirty="0"/>
          </a:p>
          <a:p>
            <a:endParaRPr lang="en-US" sz="2400" dirty="0"/>
          </a:p>
          <a:p>
            <a:endParaRPr lang="en-US" sz="2400" dirty="0"/>
          </a:p>
          <a:p>
            <a:endParaRPr lang="en-US" sz="2400" dirty="0"/>
          </a:p>
          <a:p>
            <a:endParaRPr lang="en-US" sz="2400" dirty="0"/>
          </a:p>
          <a:p>
            <a:endParaRPr lang="en-US" sz="2400" dirty="0"/>
          </a:p>
          <a:p>
            <a:pPr lvl="1"/>
            <a:endParaRPr lang="en-US" dirty="0"/>
          </a:p>
          <a:p>
            <a:endParaRPr lang="en-US" sz="2400" dirty="0"/>
          </a:p>
          <a:p>
            <a:endParaRPr lang="en-US" sz="2400" dirty="0"/>
          </a:p>
        </p:txBody>
      </p:sp>
      <p:pic>
        <p:nvPicPr>
          <p:cNvPr id="4" name="Picture 2" descr="Egg Falling Breaking On Kitchen Floor Stock Footage Video (100%  Royalty-free) 1015370518 | Shutterstock">
            <a:extLst>
              <a:ext uri="{FF2B5EF4-FFF2-40B4-BE49-F238E27FC236}">
                <a16:creationId xmlns:a16="http://schemas.microsoft.com/office/drawing/2014/main" id="{CBF645CE-151F-E147-2177-A453EE44E24A}"/>
              </a:ext>
            </a:extLst>
          </p:cNvPr>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9596320" y="4492448"/>
            <a:ext cx="2352874" cy="1325563"/>
          </a:xfrm>
          <a:prstGeom prst="rect">
            <a:avLst/>
          </a:prstGeom>
          <a:noFill/>
          <a:extLst>
            <a:ext uri="{909E8E84-426E-40DD-AFC4-6F175D3DCCD1}">
              <a14:hiddenFill xmlns:a14="http://schemas.microsoft.com/office/drawing/2010/main">
                <a:solidFill>
                  <a:srgbClr val="FFFFFF"/>
                </a:solidFill>
              </a14:hiddenFill>
            </a:ext>
          </a:extLst>
        </p:spPr>
      </p:pic>
      <p:pic>
        <p:nvPicPr>
          <p:cNvPr id="5" name="Picture 4" descr="White egg on wooden table stock image. Image of health - 25730361">
            <a:extLst>
              <a:ext uri="{FF2B5EF4-FFF2-40B4-BE49-F238E27FC236}">
                <a16:creationId xmlns:a16="http://schemas.microsoft.com/office/drawing/2014/main" id="{F492BF16-DCC6-60D9-4D87-28276C22256F}"/>
              </a:ext>
            </a:extLst>
          </p:cNvPr>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9777963" y="1833473"/>
            <a:ext cx="1989588" cy="1325563"/>
          </a:xfrm>
          <a:prstGeom prst="rect">
            <a:avLst/>
          </a:prstGeom>
          <a:noFill/>
          <a:extLst>
            <a:ext uri="{909E8E84-426E-40DD-AFC4-6F175D3DCCD1}">
              <a14:hiddenFill xmlns:a14="http://schemas.microsoft.com/office/drawing/2010/main">
                <a:solidFill>
                  <a:srgbClr val="FFFFFF"/>
                </a:solidFill>
              </a14:hiddenFill>
            </a:ext>
          </a:extLst>
        </p:spPr>
      </p:pic>
      <p:sp>
        <p:nvSpPr>
          <p:cNvPr id="6" name="Right Arrow 5">
            <a:extLst>
              <a:ext uri="{FF2B5EF4-FFF2-40B4-BE49-F238E27FC236}">
                <a16:creationId xmlns:a16="http://schemas.microsoft.com/office/drawing/2014/main" id="{E69915FD-15D9-4E00-DEA6-E0B4F68CA4E7}"/>
              </a:ext>
            </a:extLst>
          </p:cNvPr>
          <p:cNvSpPr/>
          <p:nvPr/>
        </p:nvSpPr>
        <p:spPr>
          <a:xfrm rot="5400000">
            <a:off x="10058304" y="3702225"/>
            <a:ext cx="1038577" cy="270933"/>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Right Arrow 6">
            <a:extLst>
              <a:ext uri="{FF2B5EF4-FFF2-40B4-BE49-F238E27FC236}">
                <a16:creationId xmlns:a16="http://schemas.microsoft.com/office/drawing/2014/main" id="{0AFF3306-A326-759E-E0E0-6FF4C99DE829}"/>
              </a:ext>
            </a:extLst>
          </p:cNvPr>
          <p:cNvSpPr/>
          <p:nvPr/>
        </p:nvSpPr>
        <p:spPr>
          <a:xfrm rot="16200000">
            <a:off x="10395632" y="3702226"/>
            <a:ext cx="1038577" cy="270933"/>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284273927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9016CE8-357C-1AD9-097B-AA09B4C085CF}"/>
              </a:ext>
            </a:extLst>
          </p:cNvPr>
          <p:cNvSpPr>
            <a:spLocks noGrp="1"/>
          </p:cNvSpPr>
          <p:nvPr>
            <p:ph type="title"/>
          </p:nvPr>
        </p:nvSpPr>
        <p:spPr/>
        <p:txBody>
          <a:bodyPr/>
          <a:lstStyle/>
          <a:p>
            <a:r>
              <a:rPr lang="en-US" dirty="0"/>
              <a:t>Reversibility of computation</a:t>
            </a:r>
          </a:p>
        </p:txBody>
      </p:sp>
      <p:sp>
        <p:nvSpPr>
          <p:cNvPr id="3" name="Content Placeholder 2">
            <a:extLst>
              <a:ext uri="{FF2B5EF4-FFF2-40B4-BE49-F238E27FC236}">
                <a16:creationId xmlns:a16="http://schemas.microsoft.com/office/drawing/2014/main" id="{70A08C29-F1B9-B859-F70A-9FF063EAF87C}"/>
              </a:ext>
            </a:extLst>
          </p:cNvPr>
          <p:cNvSpPr>
            <a:spLocks noGrp="1"/>
          </p:cNvSpPr>
          <p:nvPr>
            <p:ph idx="1"/>
          </p:nvPr>
        </p:nvSpPr>
        <p:spPr/>
        <p:txBody>
          <a:bodyPr>
            <a:normAutofit/>
          </a:bodyPr>
          <a:lstStyle/>
          <a:p>
            <a:r>
              <a:rPr lang="en-US" sz="2400" dirty="0"/>
              <a:t>In </a:t>
            </a:r>
            <a:r>
              <a:rPr lang="en-US" sz="2400" dirty="0" smtClean="0"/>
              <a:t>1960s, a physicist </a:t>
            </a:r>
            <a:r>
              <a:rPr lang="en-US" sz="2400" dirty="0" err="1" smtClean="0"/>
              <a:t>Landauer</a:t>
            </a:r>
            <a:r>
              <a:rPr lang="en-US" sz="2400" dirty="0" smtClean="0"/>
              <a:t> </a:t>
            </a:r>
            <a:r>
              <a:rPr lang="en-US" sz="2400" dirty="0"/>
              <a:t>had a simple but powerful observation:</a:t>
            </a:r>
          </a:p>
          <a:p>
            <a:endParaRPr lang="en-US" sz="2000" dirty="0"/>
          </a:p>
          <a:p>
            <a:pPr marL="914400" lvl="1" indent="-457200">
              <a:buFont typeface="+mj-lt"/>
              <a:buAutoNum type="arabicPeriod"/>
            </a:pPr>
            <a:r>
              <a:rPr lang="en-US" sz="2000" dirty="0"/>
              <a:t>Computation is a physical process.</a:t>
            </a:r>
          </a:p>
          <a:p>
            <a:pPr marL="914400" lvl="1" indent="-457200">
              <a:buFont typeface="+mj-lt"/>
              <a:buAutoNum type="arabicPeriod"/>
            </a:pPr>
            <a:r>
              <a:rPr lang="en-US" sz="2000" dirty="0"/>
              <a:t>Physical processes are fundamentally reversible.</a:t>
            </a:r>
            <a:endParaRPr lang="en-US" sz="2800" dirty="0"/>
          </a:p>
          <a:p>
            <a:pPr marL="914400" lvl="1" indent="-457200">
              <a:buFont typeface="+mj-lt"/>
              <a:buAutoNum type="arabicPeriod"/>
            </a:pPr>
            <a:r>
              <a:rPr lang="en-US" sz="2000" dirty="0"/>
              <a:t>Therefore, </a:t>
            </a:r>
            <a:r>
              <a:rPr lang="en-US" sz="2000" i="1" dirty="0">
                <a:solidFill>
                  <a:srgbClr val="C00000"/>
                </a:solidFill>
              </a:rPr>
              <a:t>computation can be performed reversibly</a:t>
            </a:r>
            <a:r>
              <a:rPr lang="en-US" sz="2000" dirty="0">
                <a:solidFill>
                  <a:srgbClr val="C00000"/>
                </a:solidFill>
              </a:rPr>
              <a:t>. </a:t>
            </a:r>
          </a:p>
          <a:p>
            <a:endParaRPr lang="en-US" sz="2400" i="1" dirty="0"/>
          </a:p>
          <a:p>
            <a:r>
              <a:rPr lang="en-US" sz="2400" dirty="0"/>
              <a:t>This observation led to study of </a:t>
            </a:r>
            <a:r>
              <a:rPr lang="en-US" sz="2400" i="1" dirty="0"/>
              <a:t>reversible</a:t>
            </a:r>
            <a:br>
              <a:rPr lang="en-US" sz="2400" i="1" dirty="0"/>
            </a:br>
            <a:r>
              <a:rPr lang="en-US" sz="2400" i="1" dirty="0"/>
              <a:t>computing</a:t>
            </a:r>
            <a:r>
              <a:rPr lang="en-US" sz="2400" dirty="0"/>
              <a:t>, which later influenced the </a:t>
            </a:r>
            <a:br>
              <a:rPr lang="en-US" sz="2400" dirty="0"/>
            </a:br>
            <a:r>
              <a:rPr lang="en-US" sz="2400" dirty="0"/>
              <a:t>study of quantum computing.</a:t>
            </a:r>
          </a:p>
        </p:txBody>
      </p:sp>
      <p:pic>
        <p:nvPicPr>
          <p:cNvPr id="4" name="Picture 3">
            <a:extLst>
              <a:ext uri="{FF2B5EF4-FFF2-40B4-BE49-F238E27FC236}">
                <a16:creationId xmlns:a16="http://schemas.microsoft.com/office/drawing/2014/main" id="{B82D1460-50AE-F2D8-F79B-FE1E0DC844D0}"/>
              </a:ext>
            </a:extLst>
          </p:cNvPr>
          <p:cNvPicPr>
            <a:picLocks noChangeAspect="1"/>
          </p:cNvPicPr>
          <p:nvPr/>
        </p:nvPicPr>
        <p:blipFill>
          <a:blip r:embed="rId2"/>
          <a:stretch>
            <a:fillRect/>
          </a:stretch>
        </p:blipFill>
        <p:spPr>
          <a:xfrm>
            <a:off x="7100711" y="4108837"/>
            <a:ext cx="4735689" cy="2384038"/>
          </a:xfrm>
          <a:prstGeom prst="rect">
            <a:avLst/>
          </a:prstGeom>
          <a:ln>
            <a:solidFill>
              <a:schemeClr val="tx1"/>
            </a:solidFill>
          </a:ln>
        </p:spPr>
      </p:pic>
    </p:spTree>
    <p:extLst>
      <p:ext uri="{BB962C8B-B14F-4D97-AF65-F5344CB8AC3E}">
        <p14:creationId xmlns:p14="http://schemas.microsoft.com/office/powerpoint/2010/main" val="355596726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6" end="6"/>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5EA996C-B5F6-B594-B19D-FDB3BDDBA4D7}"/>
              </a:ext>
            </a:extLst>
          </p:cNvPr>
          <p:cNvSpPr>
            <a:spLocks noGrp="1"/>
          </p:cNvSpPr>
          <p:nvPr>
            <p:ph type="title"/>
          </p:nvPr>
        </p:nvSpPr>
        <p:spPr/>
        <p:txBody>
          <a:bodyPr>
            <a:normAutofit/>
          </a:bodyPr>
          <a:lstStyle/>
          <a:p>
            <a:r>
              <a:rPr lang="en-US" sz="4000" dirty="0"/>
              <a:t>Reversible classical information processing</a:t>
            </a:r>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61AA8FCB-12CC-692A-1B75-ED3ACF8A8CF2}"/>
                  </a:ext>
                </a:extLst>
              </p:cNvPr>
              <p:cNvSpPr>
                <a:spLocks noGrp="1"/>
              </p:cNvSpPr>
              <p:nvPr>
                <p:ph idx="1"/>
              </p:nvPr>
            </p:nvSpPr>
            <p:spPr/>
            <p:txBody>
              <a:bodyPr>
                <a:normAutofit/>
              </a:bodyPr>
              <a:lstStyle/>
              <a:p>
                <a:r>
                  <a:rPr lang="en-US" sz="2400" dirty="0"/>
                  <a:t>Consider a physical system </a:t>
                </a:r>
                <a14:m>
                  <m:oMath xmlns:m="http://schemas.openxmlformats.org/officeDocument/2006/math">
                    <m:r>
                      <a:rPr lang="en-CA" sz="2400" i="1">
                        <a:latin typeface="Cambria Math" panose="02040503050406030204" pitchFamily="18" charset="0"/>
                      </a:rPr>
                      <m:t>𝑆</m:t>
                    </m:r>
                    <m:r>
                      <a:rPr lang="en-CA" sz="2400" i="1">
                        <a:latin typeface="Cambria Math" panose="02040503050406030204" pitchFamily="18" charset="0"/>
                      </a:rPr>
                      <m:t> </m:t>
                    </m:r>
                  </m:oMath>
                </a14:m>
                <a:r>
                  <a:rPr lang="en-US" sz="2400" dirty="0"/>
                  <a:t>with </a:t>
                </a:r>
                <a:r>
                  <a:rPr lang="en-US" sz="2400" i="1" dirty="0"/>
                  <a:t>d</a:t>
                </a:r>
                <a:r>
                  <a:rPr lang="en-US" sz="2400" dirty="0"/>
                  <a:t> distinguishable states </a:t>
                </a:r>
                <a14:m>
                  <m:oMath xmlns:m="http://schemas.openxmlformats.org/officeDocument/2006/math">
                    <m:d>
                      <m:dPr>
                        <m:begChr m:val="|"/>
                        <m:endChr m:val="⟩"/>
                        <m:ctrlPr>
                          <a:rPr lang="en-CA" sz="2400" b="0" i="1" smtClean="0">
                            <a:latin typeface="Cambria Math" panose="02040503050406030204" pitchFamily="18" charset="0"/>
                          </a:rPr>
                        </m:ctrlPr>
                      </m:dPr>
                      <m:e>
                        <m:r>
                          <a:rPr lang="en-CA" sz="2400" b="0" i="1" smtClean="0">
                            <a:latin typeface="Cambria Math" panose="02040503050406030204" pitchFamily="18" charset="0"/>
                          </a:rPr>
                          <m:t>0</m:t>
                        </m:r>
                      </m:e>
                    </m:d>
                    <m:r>
                      <a:rPr lang="en-CA" sz="2400" b="0" i="1" smtClean="0">
                        <a:latin typeface="Cambria Math" panose="02040503050406030204" pitchFamily="18" charset="0"/>
                      </a:rPr>
                      <m:t>,…,|</m:t>
                    </m:r>
                    <m:r>
                      <a:rPr lang="en-CA" sz="2400" b="0" i="1" smtClean="0">
                        <a:latin typeface="Cambria Math" panose="02040503050406030204" pitchFamily="18" charset="0"/>
                      </a:rPr>
                      <m:t>𝑑</m:t>
                    </m:r>
                    <m:r>
                      <a:rPr lang="en-CA" sz="2400" b="0" i="1" smtClean="0">
                        <a:latin typeface="Cambria Math" panose="02040503050406030204" pitchFamily="18" charset="0"/>
                      </a:rPr>
                      <m:t>−1⟩</m:t>
                    </m:r>
                  </m:oMath>
                </a14:m>
                <a:endParaRPr lang="en-CA" sz="2400" dirty="0"/>
              </a:p>
              <a:p>
                <a:endParaRPr lang="en-CA" sz="2400" dirty="0"/>
              </a:p>
              <a:p>
                <a:r>
                  <a:rPr lang="en-CA" sz="2400" dirty="0"/>
                  <a:t>The information of the system is stored in its state.</a:t>
                </a:r>
                <a:br>
                  <a:rPr lang="en-CA" sz="2400" dirty="0"/>
                </a:br>
                <a:endParaRPr lang="en-CA" sz="2400" dirty="0"/>
              </a:p>
              <a:p>
                <a:endParaRPr lang="en-US" sz="2400" dirty="0"/>
              </a:p>
            </p:txBody>
          </p:sp>
        </mc:Choice>
        <mc:Fallback xmlns="">
          <p:sp>
            <p:nvSpPr>
              <p:cNvPr id="3" name="Content Placeholder 2">
                <a:extLst>
                  <a:ext uri="{FF2B5EF4-FFF2-40B4-BE49-F238E27FC236}">
                    <a16:creationId xmlns:a16="http://schemas.microsoft.com/office/drawing/2014/main" id="{61AA8FCB-12CC-692A-1B75-ED3ACF8A8CF2}"/>
                  </a:ext>
                </a:extLst>
              </p:cNvPr>
              <p:cNvSpPr>
                <a:spLocks noGrp="1" noRot="1" noChangeAspect="1" noMove="1" noResize="1" noEditPoints="1" noAdjustHandles="1" noChangeArrowheads="1" noChangeShapeType="1" noTextEdit="1"/>
              </p:cNvSpPr>
              <p:nvPr>
                <p:ph idx="1"/>
              </p:nvPr>
            </p:nvSpPr>
            <p:spPr>
              <a:blipFill>
                <a:blip r:embed="rId2"/>
                <a:stretch>
                  <a:fillRect l="-844" t="-1744"/>
                </a:stretch>
              </a:blipFill>
            </p:spPr>
            <p:txBody>
              <a:bodyPr/>
              <a:lstStyle/>
              <a:p>
                <a:r>
                  <a:rPr lang="en-US">
                    <a:noFill/>
                  </a:rPr>
                  <a:t> </a:t>
                </a:r>
              </a:p>
            </p:txBody>
          </p:sp>
        </mc:Fallback>
      </mc:AlternateContent>
      <p:sp>
        <p:nvSpPr>
          <p:cNvPr id="4" name="Cube 3">
            <a:extLst>
              <a:ext uri="{FF2B5EF4-FFF2-40B4-BE49-F238E27FC236}">
                <a16:creationId xmlns:a16="http://schemas.microsoft.com/office/drawing/2014/main" id="{A3DB8FBF-DDA5-EF19-6A06-4B6073251B82}"/>
              </a:ext>
            </a:extLst>
          </p:cNvPr>
          <p:cNvSpPr/>
          <p:nvPr/>
        </p:nvSpPr>
        <p:spPr>
          <a:xfrm>
            <a:off x="9729749" y="4492591"/>
            <a:ext cx="1165473" cy="1185033"/>
          </a:xfrm>
          <a:prstGeom prst="cub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mc:AlternateContent xmlns:mc="http://schemas.openxmlformats.org/markup-compatibility/2006" xmlns:a14="http://schemas.microsoft.com/office/drawing/2010/main">
        <mc:Choice Requires="a14">
          <p:sp>
            <p:nvSpPr>
              <p:cNvPr id="5" name="Rectangle 4">
                <a:extLst>
                  <a:ext uri="{FF2B5EF4-FFF2-40B4-BE49-F238E27FC236}">
                    <a16:creationId xmlns:a16="http://schemas.microsoft.com/office/drawing/2014/main" id="{7F19ADC0-6961-8176-452B-9E6239B70570}"/>
                  </a:ext>
                </a:extLst>
              </p:cNvPr>
              <p:cNvSpPr/>
              <p:nvPr/>
            </p:nvSpPr>
            <p:spPr>
              <a:xfrm>
                <a:off x="10014885" y="5942568"/>
                <a:ext cx="363881" cy="369332"/>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r>
                        <a:rPr lang="en-CA" i="1">
                          <a:latin typeface="Cambria Math" panose="02040503050406030204" pitchFamily="18" charset="0"/>
                        </a:rPr>
                        <m:t>𝑆</m:t>
                      </m:r>
                    </m:oMath>
                  </m:oMathPara>
                </a14:m>
                <a:endParaRPr lang="en-US" dirty="0"/>
              </a:p>
            </p:txBody>
          </p:sp>
        </mc:Choice>
        <mc:Fallback xmlns="">
          <p:sp>
            <p:nvSpPr>
              <p:cNvPr id="5" name="Rectangle 4">
                <a:extLst>
                  <a:ext uri="{FF2B5EF4-FFF2-40B4-BE49-F238E27FC236}">
                    <a16:creationId xmlns:a16="http://schemas.microsoft.com/office/drawing/2014/main" id="{7F19ADC0-6961-8176-452B-9E6239B70570}"/>
                  </a:ext>
                </a:extLst>
              </p:cNvPr>
              <p:cNvSpPr>
                <a:spLocks noRot="1" noChangeAspect="1" noMove="1" noResize="1" noEditPoints="1" noAdjustHandles="1" noChangeArrowheads="1" noChangeShapeType="1" noTextEdit="1"/>
              </p:cNvSpPr>
              <p:nvPr/>
            </p:nvSpPr>
            <p:spPr>
              <a:xfrm>
                <a:off x="10014885" y="5942568"/>
                <a:ext cx="363881" cy="369332"/>
              </a:xfrm>
              <a:prstGeom prst="rect">
                <a:avLst/>
              </a:prstGeom>
              <a:blipFill>
                <a:blip r:embed="rId3"/>
                <a:stretch>
                  <a:fillRect/>
                </a:stretch>
              </a:blipFill>
            </p:spPr>
            <p:txBody>
              <a:bodyPr/>
              <a:lstStyle/>
              <a:p>
                <a:r>
                  <a:rPr lang="en-US">
                    <a:noFill/>
                  </a:rPr>
                  <a:t> </a:t>
                </a:r>
              </a:p>
            </p:txBody>
          </p:sp>
        </mc:Fallback>
      </mc:AlternateContent>
      <p:sp>
        <p:nvSpPr>
          <p:cNvPr id="6" name="사각형 설명선 5"/>
          <p:cNvSpPr/>
          <p:nvPr/>
        </p:nvSpPr>
        <p:spPr>
          <a:xfrm>
            <a:off x="9236279" y="2684477"/>
            <a:ext cx="2117521" cy="494951"/>
          </a:xfrm>
          <a:prstGeom prst="wedgeRectCallout">
            <a:avLst>
              <a:gd name="adj1" fmla="val -38264"/>
              <a:gd name="adj2" fmla="val -118856"/>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ko-KR" dirty="0" smtClean="0"/>
              <a:t>We call it “</a:t>
            </a:r>
            <a:r>
              <a:rPr lang="en-US" altLang="ko-KR" dirty="0" err="1" smtClean="0"/>
              <a:t>ket</a:t>
            </a:r>
            <a:r>
              <a:rPr lang="en-US" altLang="ko-KR" dirty="0" smtClean="0"/>
              <a:t>”</a:t>
            </a:r>
            <a:endParaRPr lang="ko-KR" altLang="en-US" dirty="0"/>
          </a:p>
        </p:txBody>
      </p:sp>
    </p:spTree>
    <p:extLst>
      <p:ext uri="{BB962C8B-B14F-4D97-AF65-F5344CB8AC3E}">
        <p14:creationId xmlns:p14="http://schemas.microsoft.com/office/powerpoint/2010/main" val="124461989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animBg="1"/>
    </p:bld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5EA996C-B5F6-B594-B19D-FDB3BDDBA4D7}"/>
              </a:ext>
            </a:extLst>
          </p:cNvPr>
          <p:cNvSpPr>
            <a:spLocks noGrp="1"/>
          </p:cNvSpPr>
          <p:nvPr>
            <p:ph type="title"/>
          </p:nvPr>
        </p:nvSpPr>
        <p:spPr/>
        <p:txBody>
          <a:bodyPr>
            <a:normAutofit/>
          </a:bodyPr>
          <a:lstStyle/>
          <a:p>
            <a:r>
              <a:rPr lang="en-US" sz="4000" dirty="0"/>
              <a:t>Reversible classical information processing</a:t>
            </a:r>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61AA8FCB-12CC-692A-1B75-ED3ACF8A8CF2}"/>
                  </a:ext>
                </a:extLst>
              </p:cNvPr>
              <p:cNvSpPr>
                <a:spLocks noGrp="1"/>
              </p:cNvSpPr>
              <p:nvPr>
                <p:ph idx="1"/>
              </p:nvPr>
            </p:nvSpPr>
            <p:spPr/>
            <p:txBody>
              <a:bodyPr>
                <a:normAutofit/>
              </a:bodyPr>
              <a:lstStyle/>
              <a:p>
                <a:r>
                  <a:rPr lang="en-US" sz="2400" dirty="0"/>
                  <a:t>Consider a physical system </a:t>
                </a:r>
                <a14:m>
                  <m:oMath xmlns:m="http://schemas.openxmlformats.org/officeDocument/2006/math">
                    <m:r>
                      <a:rPr lang="en-CA" sz="2400" i="1">
                        <a:latin typeface="Cambria Math" panose="02040503050406030204" pitchFamily="18" charset="0"/>
                      </a:rPr>
                      <m:t>𝑆</m:t>
                    </m:r>
                    <m:r>
                      <a:rPr lang="en-CA" sz="2400" i="1">
                        <a:latin typeface="Cambria Math" panose="02040503050406030204" pitchFamily="18" charset="0"/>
                      </a:rPr>
                      <m:t> </m:t>
                    </m:r>
                  </m:oMath>
                </a14:m>
                <a:r>
                  <a:rPr lang="en-US" sz="2400" dirty="0"/>
                  <a:t>with </a:t>
                </a:r>
                <a:r>
                  <a:rPr lang="en-US" sz="2400" i="1" dirty="0"/>
                  <a:t>d</a:t>
                </a:r>
                <a:r>
                  <a:rPr lang="en-US" sz="2400" dirty="0"/>
                  <a:t> distinguishable states </a:t>
                </a:r>
                <a14:m>
                  <m:oMath xmlns:m="http://schemas.openxmlformats.org/officeDocument/2006/math">
                    <m:d>
                      <m:dPr>
                        <m:begChr m:val="|"/>
                        <m:endChr m:val="⟩"/>
                        <m:ctrlPr>
                          <a:rPr lang="en-CA" sz="2400" b="0" i="1" smtClean="0">
                            <a:latin typeface="Cambria Math" panose="02040503050406030204" pitchFamily="18" charset="0"/>
                          </a:rPr>
                        </m:ctrlPr>
                      </m:dPr>
                      <m:e>
                        <m:r>
                          <a:rPr lang="en-CA" sz="2400" b="0" i="1" smtClean="0">
                            <a:latin typeface="Cambria Math" panose="02040503050406030204" pitchFamily="18" charset="0"/>
                          </a:rPr>
                          <m:t>0</m:t>
                        </m:r>
                      </m:e>
                    </m:d>
                    <m:r>
                      <a:rPr lang="en-CA" sz="2400" b="0" i="1" smtClean="0">
                        <a:latin typeface="Cambria Math" panose="02040503050406030204" pitchFamily="18" charset="0"/>
                      </a:rPr>
                      <m:t>,…,|</m:t>
                    </m:r>
                    <m:r>
                      <a:rPr lang="en-CA" sz="2400" b="0" i="1" smtClean="0">
                        <a:latin typeface="Cambria Math" panose="02040503050406030204" pitchFamily="18" charset="0"/>
                      </a:rPr>
                      <m:t>𝑑</m:t>
                    </m:r>
                    <m:r>
                      <a:rPr lang="en-CA" sz="2400" b="0" i="1" smtClean="0">
                        <a:latin typeface="Cambria Math" panose="02040503050406030204" pitchFamily="18" charset="0"/>
                      </a:rPr>
                      <m:t>−1⟩</m:t>
                    </m:r>
                  </m:oMath>
                </a14:m>
                <a:endParaRPr lang="en-CA" sz="2400" dirty="0"/>
              </a:p>
              <a:p>
                <a:endParaRPr lang="en-CA" sz="2400" dirty="0"/>
              </a:p>
              <a:p>
                <a:r>
                  <a:rPr lang="en-CA" sz="2400" dirty="0"/>
                  <a:t>The information of the system is stored in its state.</a:t>
                </a:r>
                <a:br>
                  <a:rPr lang="en-CA" sz="2400" dirty="0"/>
                </a:br>
                <a:endParaRPr lang="en-CA" sz="2400" dirty="0"/>
              </a:p>
              <a:p>
                <a:endParaRPr lang="en-US" sz="2400" dirty="0"/>
              </a:p>
            </p:txBody>
          </p:sp>
        </mc:Choice>
        <mc:Fallback xmlns="">
          <p:sp>
            <p:nvSpPr>
              <p:cNvPr id="3" name="Content Placeholder 2">
                <a:extLst>
                  <a:ext uri="{FF2B5EF4-FFF2-40B4-BE49-F238E27FC236}">
                    <a16:creationId xmlns:a16="http://schemas.microsoft.com/office/drawing/2014/main" id="{61AA8FCB-12CC-692A-1B75-ED3ACF8A8CF2}"/>
                  </a:ext>
                </a:extLst>
              </p:cNvPr>
              <p:cNvSpPr>
                <a:spLocks noGrp="1" noRot="1" noChangeAspect="1" noMove="1" noResize="1" noEditPoints="1" noAdjustHandles="1" noChangeArrowheads="1" noChangeShapeType="1" noTextEdit="1"/>
              </p:cNvSpPr>
              <p:nvPr>
                <p:ph idx="1"/>
              </p:nvPr>
            </p:nvSpPr>
            <p:spPr>
              <a:blipFill>
                <a:blip r:embed="rId2"/>
                <a:stretch>
                  <a:fillRect l="-844" t="-1744"/>
                </a:stretch>
              </a:blipFill>
            </p:spPr>
            <p:txBody>
              <a:bodyPr/>
              <a:lstStyle/>
              <a:p>
                <a:r>
                  <a:rPr lang="en-US">
                    <a:noFill/>
                  </a:rPr>
                  <a:t> </a:t>
                </a:r>
              </a:p>
            </p:txBody>
          </p:sp>
        </mc:Fallback>
      </mc:AlternateContent>
      <p:sp>
        <p:nvSpPr>
          <p:cNvPr id="4" name="Cube 3">
            <a:extLst>
              <a:ext uri="{FF2B5EF4-FFF2-40B4-BE49-F238E27FC236}">
                <a16:creationId xmlns:a16="http://schemas.microsoft.com/office/drawing/2014/main" id="{A3DB8FBF-DDA5-EF19-6A06-4B6073251B82}"/>
              </a:ext>
            </a:extLst>
          </p:cNvPr>
          <p:cNvSpPr/>
          <p:nvPr/>
        </p:nvSpPr>
        <p:spPr>
          <a:xfrm>
            <a:off x="9729749" y="4492591"/>
            <a:ext cx="1165473" cy="1185033"/>
          </a:xfrm>
          <a:prstGeom prst="cub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mc:AlternateContent xmlns:mc="http://schemas.openxmlformats.org/markup-compatibility/2006" xmlns:a14="http://schemas.microsoft.com/office/drawing/2010/main">
        <mc:Choice Requires="a14">
          <p:sp>
            <p:nvSpPr>
              <p:cNvPr id="5" name="Rectangle 4">
                <a:extLst>
                  <a:ext uri="{FF2B5EF4-FFF2-40B4-BE49-F238E27FC236}">
                    <a16:creationId xmlns:a16="http://schemas.microsoft.com/office/drawing/2014/main" id="{7F19ADC0-6961-8176-452B-9E6239B70570}"/>
                  </a:ext>
                </a:extLst>
              </p:cNvPr>
              <p:cNvSpPr/>
              <p:nvPr/>
            </p:nvSpPr>
            <p:spPr>
              <a:xfrm>
                <a:off x="10014885" y="5942568"/>
                <a:ext cx="363881" cy="369332"/>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r>
                        <a:rPr lang="en-CA" i="1">
                          <a:latin typeface="Cambria Math" panose="02040503050406030204" pitchFamily="18" charset="0"/>
                        </a:rPr>
                        <m:t>𝑆</m:t>
                      </m:r>
                    </m:oMath>
                  </m:oMathPara>
                </a14:m>
                <a:endParaRPr lang="en-US" dirty="0"/>
              </a:p>
            </p:txBody>
          </p:sp>
        </mc:Choice>
        <mc:Fallback xmlns="">
          <p:sp>
            <p:nvSpPr>
              <p:cNvPr id="5" name="Rectangle 4">
                <a:extLst>
                  <a:ext uri="{FF2B5EF4-FFF2-40B4-BE49-F238E27FC236}">
                    <a16:creationId xmlns:a16="http://schemas.microsoft.com/office/drawing/2014/main" id="{7F19ADC0-6961-8176-452B-9E6239B70570}"/>
                  </a:ext>
                </a:extLst>
              </p:cNvPr>
              <p:cNvSpPr>
                <a:spLocks noRot="1" noChangeAspect="1" noMove="1" noResize="1" noEditPoints="1" noAdjustHandles="1" noChangeArrowheads="1" noChangeShapeType="1" noTextEdit="1"/>
              </p:cNvSpPr>
              <p:nvPr/>
            </p:nvSpPr>
            <p:spPr>
              <a:xfrm>
                <a:off x="10014885" y="5942568"/>
                <a:ext cx="363881" cy="369332"/>
              </a:xfrm>
              <a:prstGeom prst="rect">
                <a:avLst/>
              </a:prstGeom>
              <a:blipFill>
                <a:blip r:embed="rId3"/>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6" name="TextBox 5">
                <a:extLst>
                  <a:ext uri="{FF2B5EF4-FFF2-40B4-BE49-F238E27FC236}">
                    <a16:creationId xmlns:a16="http://schemas.microsoft.com/office/drawing/2014/main" id="{1F78921B-E35D-EB8C-C4B9-72C07F1B2145}"/>
                  </a:ext>
                </a:extLst>
              </p:cNvPr>
              <p:cNvSpPr txBox="1"/>
              <p:nvPr/>
            </p:nvSpPr>
            <p:spPr>
              <a:xfrm>
                <a:off x="9875911" y="5085107"/>
                <a:ext cx="641827" cy="369332"/>
              </a:xfrm>
              <a:prstGeom prst="rect">
                <a:avLst/>
              </a:prstGeom>
              <a:solidFill>
                <a:schemeClr val="bg1"/>
              </a:solidFill>
            </p:spPr>
            <p:txBody>
              <a:bodyPr wrap="square" rtlCol="0">
                <a:spAutoFit/>
              </a:bodyPr>
              <a:lstStyle/>
              <a:p>
                <a:pPr/>
                <a14:m>
                  <m:oMathPara xmlns:m="http://schemas.openxmlformats.org/officeDocument/2006/math">
                    <m:oMathParaPr>
                      <m:jc m:val="centerGroup"/>
                    </m:oMathParaPr>
                    <m:oMath xmlns:m="http://schemas.openxmlformats.org/officeDocument/2006/math">
                      <m:r>
                        <a:rPr lang="en-CA" b="0" i="1" smtClean="0">
                          <a:latin typeface="Cambria Math" panose="02040503050406030204" pitchFamily="18" charset="0"/>
                        </a:rPr>
                        <m:t>|0⟩</m:t>
                      </m:r>
                    </m:oMath>
                  </m:oMathPara>
                </a14:m>
                <a:endParaRPr lang="en-US" dirty="0"/>
              </a:p>
            </p:txBody>
          </p:sp>
        </mc:Choice>
        <mc:Fallback xmlns="">
          <p:sp>
            <p:nvSpPr>
              <p:cNvPr id="6" name="TextBox 5">
                <a:extLst>
                  <a:ext uri="{FF2B5EF4-FFF2-40B4-BE49-F238E27FC236}">
                    <a16:creationId xmlns:a16="http://schemas.microsoft.com/office/drawing/2014/main" id="{1F78921B-E35D-EB8C-C4B9-72C07F1B2145}"/>
                  </a:ext>
                </a:extLst>
              </p:cNvPr>
              <p:cNvSpPr txBox="1">
                <a:spLocks noRot="1" noChangeAspect="1" noMove="1" noResize="1" noEditPoints="1" noAdjustHandles="1" noChangeArrowheads="1" noChangeShapeType="1" noTextEdit="1"/>
              </p:cNvSpPr>
              <p:nvPr/>
            </p:nvSpPr>
            <p:spPr>
              <a:xfrm>
                <a:off x="9875911" y="5085107"/>
                <a:ext cx="641827" cy="369332"/>
              </a:xfrm>
              <a:prstGeom prst="rect">
                <a:avLst/>
              </a:prstGeom>
              <a:blipFill>
                <a:blip r:embed="rId4"/>
                <a:stretch>
                  <a:fillRect b="-13333"/>
                </a:stretch>
              </a:blipFill>
            </p:spPr>
            <p:txBody>
              <a:bodyPr/>
              <a:lstStyle/>
              <a:p>
                <a:r>
                  <a:rPr lang="en-US">
                    <a:noFill/>
                  </a:rPr>
                  <a:t> </a:t>
                </a:r>
              </a:p>
            </p:txBody>
          </p:sp>
        </mc:Fallback>
      </mc:AlternateContent>
      <p:sp>
        <p:nvSpPr>
          <p:cNvPr id="8" name="사각형 설명선 7"/>
          <p:cNvSpPr/>
          <p:nvPr/>
        </p:nvSpPr>
        <p:spPr>
          <a:xfrm>
            <a:off x="9236279" y="2684477"/>
            <a:ext cx="2117521" cy="494951"/>
          </a:xfrm>
          <a:prstGeom prst="wedgeRectCallout">
            <a:avLst>
              <a:gd name="adj1" fmla="val -38264"/>
              <a:gd name="adj2" fmla="val -118856"/>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ko-KR" dirty="0" smtClean="0"/>
              <a:t>We call it “</a:t>
            </a:r>
            <a:r>
              <a:rPr lang="en-US" altLang="ko-KR" dirty="0" err="1" smtClean="0"/>
              <a:t>ket</a:t>
            </a:r>
            <a:r>
              <a:rPr lang="en-US" altLang="ko-KR" dirty="0" smtClean="0"/>
              <a:t>”</a:t>
            </a:r>
            <a:endParaRPr lang="ko-KR" altLang="en-US" dirty="0"/>
          </a:p>
        </p:txBody>
      </p:sp>
    </p:spTree>
    <p:extLst>
      <p:ext uri="{BB962C8B-B14F-4D97-AF65-F5344CB8AC3E}">
        <p14:creationId xmlns:p14="http://schemas.microsoft.com/office/powerpoint/2010/main" val="206795029"/>
      </p:ext>
    </p:extLst>
  </p:cSld>
  <p:clrMapOvr>
    <a:masterClrMapping/>
  </p:clrMapOvr>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5EA996C-B5F6-B594-B19D-FDB3BDDBA4D7}"/>
              </a:ext>
            </a:extLst>
          </p:cNvPr>
          <p:cNvSpPr>
            <a:spLocks noGrp="1"/>
          </p:cNvSpPr>
          <p:nvPr>
            <p:ph type="title"/>
          </p:nvPr>
        </p:nvSpPr>
        <p:spPr/>
        <p:txBody>
          <a:bodyPr>
            <a:normAutofit/>
          </a:bodyPr>
          <a:lstStyle/>
          <a:p>
            <a:r>
              <a:rPr lang="en-US" sz="4000" dirty="0"/>
              <a:t>Reversible classical information processing</a:t>
            </a:r>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61AA8FCB-12CC-692A-1B75-ED3ACF8A8CF2}"/>
                  </a:ext>
                </a:extLst>
              </p:cNvPr>
              <p:cNvSpPr>
                <a:spLocks noGrp="1"/>
              </p:cNvSpPr>
              <p:nvPr>
                <p:ph idx="1"/>
              </p:nvPr>
            </p:nvSpPr>
            <p:spPr/>
            <p:txBody>
              <a:bodyPr>
                <a:normAutofit/>
              </a:bodyPr>
              <a:lstStyle/>
              <a:p>
                <a:r>
                  <a:rPr lang="en-US" sz="2400" dirty="0"/>
                  <a:t>Consider a physical system </a:t>
                </a:r>
                <a14:m>
                  <m:oMath xmlns:m="http://schemas.openxmlformats.org/officeDocument/2006/math">
                    <m:r>
                      <a:rPr lang="en-CA" sz="2400" i="1">
                        <a:latin typeface="Cambria Math" panose="02040503050406030204" pitchFamily="18" charset="0"/>
                      </a:rPr>
                      <m:t>𝑆</m:t>
                    </m:r>
                    <m:r>
                      <a:rPr lang="en-CA" sz="2400" i="1">
                        <a:latin typeface="Cambria Math" panose="02040503050406030204" pitchFamily="18" charset="0"/>
                      </a:rPr>
                      <m:t> </m:t>
                    </m:r>
                  </m:oMath>
                </a14:m>
                <a:r>
                  <a:rPr lang="en-US" sz="2400" dirty="0"/>
                  <a:t>with </a:t>
                </a:r>
                <a:r>
                  <a:rPr lang="en-US" sz="2400" i="1" dirty="0"/>
                  <a:t>d</a:t>
                </a:r>
                <a:r>
                  <a:rPr lang="en-US" sz="2400" dirty="0"/>
                  <a:t> distinguishable states </a:t>
                </a:r>
                <a14:m>
                  <m:oMath xmlns:m="http://schemas.openxmlformats.org/officeDocument/2006/math">
                    <m:d>
                      <m:dPr>
                        <m:begChr m:val="|"/>
                        <m:endChr m:val="⟩"/>
                        <m:ctrlPr>
                          <a:rPr lang="en-CA" sz="2400" b="0" i="1" smtClean="0">
                            <a:latin typeface="Cambria Math" panose="02040503050406030204" pitchFamily="18" charset="0"/>
                          </a:rPr>
                        </m:ctrlPr>
                      </m:dPr>
                      <m:e>
                        <m:r>
                          <a:rPr lang="en-CA" sz="2400" b="0" i="1" smtClean="0">
                            <a:latin typeface="Cambria Math" panose="02040503050406030204" pitchFamily="18" charset="0"/>
                          </a:rPr>
                          <m:t>0</m:t>
                        </m:r>
                      </m:e>
                    </m:d>
                    <m:r>
                      <a:rPr lang="en-CA" sz="2400" b="0" i="1" smtClean="0">
                        <a:latin typeface="Cambria Math" panose="02040503050406030204" pitchFamily="18" charset="0"/>
                      </a:rPr>
                      <m:t>,…,|</m:t>
                    </m:r>
                    <m:r>
                      <a:rPr lang="en-CA" sz="2400" b="0" i="1" smtClean="0">
                        <a:latin typeface="Cambria Math" panose="02040503050406030204" pitchFamily="18" charset="0"/>
                      </a:rPr>
                      <m:t>𝑑</m:t>
                    </m:r>
                    <m:r>
                      <a:rPr lang="en-CA" sz="2400" b="0" i="1" smtClean="0">
                        <a:latin typeface="Cambria Math" panose="02040503050406030204" pitchFamily="18" charset="0"/>
                      </a:rPr>
                      <m:t>−1⟩</m:t>
                    </m:r>
                  </m:oMath>
                </a14:m>
                <a:endParaRPr lang="en-CA" sz="2400" dirty="0"/>
              </a:p>
              <a:p>
                <a:endParaRPr lang="en-CA" sz="2400" dirty="0"/>
              </a:p>
              <a:p>
                <a:r>
                  <a:rPr lang="en-CA" sz="2400" dirty="0"/>
                  <a:t>The information of the system is stored in its state.</a:t>
                </a:r>
                <a:br>
                  <a:rPr lang="en-CA" sz="2400" dirty="0"/>
                </a:br>
                <a:endParaRPr lang="en-CA" sz="2400" dirty="0"/>
              </a:p>
              <a:p>
                <a:endParaRPr lang="en-US" sz="2400" dirty="0"/>
              </a:p>
            </p:txBody>
          </p:sp>
        </mc:Choice>
        <mc:Fallback xmlns="">
          <p:sp>
            <p:nvSpPr>
              <p:cNvPr id="3" name="Content Placeholder 2">
                <a:extLst>
                  <a:ext uri="{FF2B5EF4-FFF2-40B4-BE49-F238E27FC236}">
                    <a16:creationId xmlns:a16="http://schemas.microsoft.com/office/drawing/2014/main" id="{61AA8FCB-12CC-692A-1B75-ED3ACF8A8CF2}"/>
                  </a:ext>
                </a:extLst>
              </p:cNvPr>
              <p:cNvSpPr>
                <a:spLocks noGrp="1" noRot="1" noChangeAspect="1" noMove="1" noResize="1" noEditPoints="1" noAdjustHandles="1" noChangeArrowheads="1" noChangeShapeType="1" noTextEdit="1"/>
              </p:cNvSpPr>
              <p:nvPr>
                <p:ph idx="1"/>
              </p:nvPr>
            </p:nvSpPr>
            <p:spPr>
              <a:blipFill>
                <a:blip r:embed="rId2"/>
                <a:stretch>
                  <a:fillRect l="-844" t="-1744"/>
                </a:stretch>
              </a:blipFill>
            </p:spPr>
            <p:txBody>
              <a:bodyPr/>
              <a:lstStyle/>
              <a:p>
                <a:r>
                  <a:rPr lang="en-US">
                    <a:noFill/>
                  </a:rPr>
                  <a:t> </a:t>
                </a:r>
              </a:p>
            </p:txBody>
          </p:sp>
        </mc:Fallback>
      </mc:AlternateContent>
      <p:sp>
        <p:nvSpPr>
          <p:cNvPr id="4" name="Cube 3">
            <a:extLst>
              <a:ext uri="{FF2B5EF4-FFF2-40B4-BE49-F238E27FC236}">
                <a16:creationId xmlns:a16="http://schemas.microsoft.com/office/drawing/2014/main" id="{A3DB8FBF-DDA5-EF19-6A06-4B6073251B82}"/>
              </a:ext>
            </a:extLst>
          </p:cNvPr>
          <p:cNvSpPr/>
          <p:nvPr/>
        </p:nvSpPr>
        <p:spPr>
          <a:xfrm>
            <a:off x="9729749" y="4492591"/>
            <a:ext cx="1165473" cy="1185033"/>
          </a:xfrm>
          <a:prstGeom prst="cub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mc:AlternateContent xmlns:mc="http://schemas.openxmlformats.org/markup-compatibility/2006" xmlns:a14="http://schemas.microsoft.com/office/drawing/2010/main">
        <mc:Choice Requires="a14">
          <p:sp>
            <p:nvSpPr>
              <p:cNvPr id="5" name="Rectangle 4">
                <a:extLst>
                  <a:ext uri="{FF2B5EF4-FFF2-40B4-BE49-F238E27FC236}">
                    <a16:creationId xmlns:a16="http://schemas.microsoft.com/office/drawing/2014/main" id="{7F19ADC0-6961-8176-452B-9E6239B70570}"/>
                  </a:ext>
                </a:extLst>
              </p:cNvPr>
              <p:cNvSpPr/>
              <p:nvPr/>
            </p:nvSpPr>
            <p:spPr>
              <a:xfrm>
                <a:off x="10014885" y="5942568"/>
                <a:ext cx="363881" cy="369332"/>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r>
                        <a:rPr lang="en-CA" i="1">
                          <a:latin typeface="Cambria Math" panose="02040503050406030204" pitchFamily="18" charset="0"/>
                        </a:rPr>
                        <m:t>𝑆</m:t>
                      </m:r>
                    </m:oMath>
                  </m:oMathPara>
                </a14:m>
                <a:endParaRPr lang="en-US" dirty="0"/>
              </a:p>
            </p:txBody>
          </p:sp>
        </mc:Choice>
        <mc:Fallback xmlns="">
          <p:sp>
            <p:nvSpPr>
              <p:cNvPr id="5" name="Rectangle 4">
                <a:extLst>
                  <a:ext uri="{FF2B5EF4-FFF2-40B4-BE49-F238E27FC236}">
                    <a16:creationId xmlns:a16="http://schemas.microsoft.com/office/drawing/2014/main" id="{7F19ADC0-6961-8176-452B-9E6239B70570}"/>
                  </a:ext>
                </a:extLst>
              </p:cNvPr>
              <p:cNvSpPr>
                <a:spLocks noRot="1" noChangeAspect="1" noMove="1" noResize="1" noEditPoints="1" noAdjustHandles="1" noChangeArrowheads="1" noChangeShapeType="1" noTextEdit="1"/>
              </p:cNvSpPr>
              <p:nvPr/>
            </p:nvSpPr>
            <p:spPr>
              <a:xfrm>
                <a:off x="10014885" y="5942568"/>
                <a:ext cx="363881" cy="369332"/>
              </a:xfrm>
              <a:prstGeom prst="rect">
                <a:avLst/>
              </a:prstGeom>
              <a:blipFill>
                <a:blip r:embed="rId3"/>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6" name="TextBox 5">
                <a:extLst>
                  <a:ext uri="{FF2B5EF4-FFF2-40B4-BE49-F238E27FC236}">
                    <a16:creationId xmlns:a16="http://schemas.microsoft.com/office/drawing/2014/main" id="{1F78921B-E35D-EB8C-C4B9-72C07F1B2145}"/>
                  </a:ext>
                </a:extLst>
              </p:cNvPr>
              <p:cNvSpPr txBox="1"/>
              <p:nvPr/>
            </p:nvSpPr>
            <p:spPr>
              <a:xfrm>
                <a:off x="9875911" y="5085107"/>
                <a:ext cx="641827" cy="369332"/>
              </a:xfrm>
              <a:prstGeom prst="rect">
                <a:avLst/>
              </a:prstGeom>
              <a:solidFill>
                <a:schemeClr val="bg1"/>
              </a:solidFill>
            </p:spPr>
            <p:txBody>
              <a:bodyPr wrap="square" rtlCol="0">
                <a:spAutoFit/>
              </a:bodyPr>
              <a:lstStyle/>
              <a:p>
                <a:pPr/>
                <a14:m>
                  <m:oMathPara xmlns:m="http://schemas.openxmlformats.org/officeDocument/2006/math">
                    <m:oMathParaPr>
                      <m:jc m:val="centerGroup"/>
                    </m:oMathParaPr>
                    <m:oMath xmlns:m="http://schemas.openxmlformats.org/officeDocument/2006/math">
                      <m:r>
                        <a:rPr lang="en-CA" b="0" i="1" smtClean="0">
                          <a:latin typeface="Cambria Math" panose="02040503050406030204" pitchFamily="18" charset="0"/>
                        </a:rPr>
                        <m:t>|5⟩</m:t>
                      </m:r>
                    </m:oMath>
                  </m:oMathPara>
                </a14:m>
                <a:endParaRPr lang="en-US" dirty="0"/>
              </a:p>
            </p:txBody>
          </p:sp>
        </mc:Choice>
        <mc:Fallback xmlns="">
          <p:sp>
            <p:nvSpPr>
              <p:cNvPr id="6" name="TextBox 5">
                <a:extLst>
                  <a:ext uri="{FF2B5EF4-FFF2-40B4-BE49-F238E27FC236}">
                    <a16:creationId xmlns:a16="http://schemas.microsoft.com/office/drawing/2014/main" id="{1F78921B-E35D-EB8C-C4B9-72C07F1B2145}"/>
                  </a:ext>
                </a:extLst>
              </p:cNvPr>
              <p:cNvSpPr txBox="1">
                <a:spLocks noRot="1" noChangeAspect="1" noMove="1" noResize="1" noEditPoints="1" noAdjustHandles="1" noChangeArrowheads="1" noChangeShapeType="1" noTextEdit="1"/>
              </p:cNvSpPr>
              <p:nvPr/>
            </p:nvSpPr>
            <p:spPr>
              <a:xfrm>
                <a:off x="9875911" y="5085107"/>
                <a:ext cx="641827" cy="369332"/>
              </a:xfrm>
              <a:prstGeom prst="rect">
                <a:avLst/>
              </a:prstGeom>
              <a:blipFill>
                <a:blip r:embed="rId4"/>
                <a:stretch>
                  <a:fillRect b="-13333"/>
                </a:stretch>
              </a:blipFill>
            </p:spPr>
            <p:txBody>
              <a:bodyPr/>
              <a:lstStyle/>
              <a:p>
                <a:r>
                  <a:rPr lang="en-US">
                    <a:noFill/>
                  </a:rPr>
                  <a:t> </a:t>
                </a:r>
              </a:p>
            </p:txBody>
          </p:sp>
        </mc:Fallback>
      </mc:AlternateContent>
      <p:sp>
        <p:nvSpPr>
          <p:cNvPr id="7" name="사각형 설명선 6"/>
          <p:cNvSpPr/>
          <p:nvPr/>
        </p:nvSpPr>
        <p:spPr>
          <a:xfrm>
            <a:off x="9236279" y="2684477"/>
            <a:ext cx="2117521" cy="494951"/>
          </a:xfrm>
          <a:prstGeom prst="wedgeRectCallout">
            <a:avLst>
              <a:gd name="adj1" fmla="val -38264"/>
              <a:gd name="adj2" fmla="val -118856"/>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ko-KR" dirty="0" smtClean="0"/>
              <a:t>We call it “</a:t>
            </a:r>
            <a:r>
              <a:rPr lang="en-US" altLang="ko-KR" dirty="0" err="1" smtClean="0"/>
              <a:t>ket</a:t>
            </a:r>
            <a:r>
              <a:rPr lang="en-US" altLang="ko-KR" dirty="0" smtClean="0"/>
              <a:t>”</a:t>
            </a:r>
            <a:endParaRPr lang="ko-KR" altLang="en-US" dirty="0"/>
          </a:p>
        </p:txBody>
      </p:sp>
    </p:spTree>
    <p:extLst>
      <p:ext uri="{BB962C8B-B14F-4D97-AF65-F5344CB8AC3E}">
        <p14:creationId xmlns:p14="http://schemas.microsoft.com/office/powerpoint/2010/main" val="1112260624"/>
      </p:ext>
    </p:extLst>
  </p:cSld>
  <p:clrMapOvr>
    <a:masterClrMapping/>
  </p:clrMapOvr>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5EA996C-B5F6-B594-B19D-FDB3BDDBA4D7}"/>
              </a:ext>
            </a:extLst>
          </p:cNvPr>
          <p:cNvSpPr>
            <a:spLocks noGrp="1"/>
          </p:cNvSpPr>
          <p:nvPr>
            <p:ph type="title"/>
          </p:nvPr>
        </p:nvSpPr>
        <p:spPr/>
        <p:txBody>
          <a:bodyPr>
            <a:normAutofit/>
          </a:bodyPr>
          <a:lstStyle/>
          <a:p>
            <a:r>
              <a:rPr lang="en-US" sz="4000" dirty="0"/>
              <a:t>Reversible </a:t>
            </a:r>
            <a:r>
              <a:rPr lang="en-US" sz="4000" dirty="0" smtClean="0"/>
              <a:t>classical information </a:t>
            </a:r>
            <a:r>
              <a:rPr lang="en-US" sz="4000" dirty="0"/>
              <a:t>processing</a:t>
            </a:r>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61AA8FCB-12CC-692A-1B75-ED3ACF8A8CF2}"/>
                  </a:ext>
                </a:extLst>
              </p:cNvPr>
              <p:cNvSpPr>
                <a:spLocks noGrp="1"/>
              </p:cNvSpPr>
              <p:nvPr>
                <p:ph idx="1"/>
              </p:nvPr>
            </p:nvSpPr>
            <p:spPr/>
            <p:txBody>
              <a:bodyPr>
                <a:normAutofit/>
              </a:bodyPr>
              <a:lstStyle/>
              <a:p>
                <a:r>
                  <a:rPr lang="en-US" sz="2400" dirty="0"/>
                  <a:t>Consider a physical system </a:t>
                </a:r>
                <a14:m>
                  <m:oMath xmlns:m="http://schemas.openxmlformats.org/officeDocument/2006/math">
                    <m:r>
                      <a:rPr lang="en-CA" sz="2400" i="1">
                        <a:latin typeface="Cambria Math" panose="02040503050406030204" pitchFamily="18" charset="0"/>
                      </a:rPr>
                      <m:t>𝑆</m:t>
                    </m:r>
                    <m:r>
                      <a:rPr lang="en-CA" sz="2400" i="1">
                        <a:latin typeface="Cambria Math" panose="02040503050406030204" pitchFamily="18" charset="0"/>
                      </a:rPr>
                      <m:t> </m:t>
                    </m:r>
                  </m:oMath>
                </a14:m>
                <a:r>
                  <a:rPr lang="en-US" sz="2400" dirty="0"/>
                  <a:t>with </a:t>
                </a:r>
                <a:r>
                  <a:rPr lang="en-US" sz="2400" i="1" dirty="0"/>
                  <a:t>d</a:t>
                </a:r>
                <a:r>
                  <a:rPr lang="en-US" sz="2400" dirty="0"/>
                  <a:t> distinguishable states </a:t>
                </a:r>
                <a14:m>
                  <m:oMath xmlns:m="http://schemas.openxmlformats.org/officeDocument/2006/math">
                    <m:d>
                      <m:dPr>
                        <m:begChr m:val="|"/>
                        <m:endChr m:val="⟩"/>
                        <m:ctrlPr>
                          <a:rPr lang="en-CA" sz="2400" b="0" i="1" smtClean="0">
                            <a:latin typeface="Cambria Math" panose="02040503050406030204" pitchFamily="18" charset="0"/>
                          </a:rPr>
                        </m:ctrlPr>
                      </m:dPr>
                      <m:e>
                        <m:r>
                          <a:rPr lang="en-CA" sz="2400" b="0" i="1" smtClean="0">
                            <a:latin typeface="Cambria Math" panose="02040503050406030204" pitchFamily="18" charset="0"/>
                          </a:rPr>
                          <m:t>0</m:t>
                        </m:r>
                      </m:e>
                    </m:d>
                    <m:r>
                      <a:rPr lang="en-CA" sz="2400" b="0" i="1" smtClean="0">
                        <a:latin typeface="Cambria Math" panose="02040503050406030204" pitchFamily="18" charset="0"/>
                      </a:rPr>
                      <m:t>,…,|</m:t>
                    </m:r>
                    <m:r>
                      <a:rPr lang="en-CA" sz="2400" b="0" i="1" smtClean="0">
                        <a:latin typeface="Cambria Math" panose="02040503050406030204" pitchFamily="18" charset="0"/>
                      </a:rPr>
                      <m:t>𝑑</m:t>
                    </m:r>
                    <m:r>
                      <a:rPr lang="en-CA" sz="2400" b="0" i="1" smtClean="0">
                        <a:latin typeface="Cambria Math" panose="02040503050406030204" pitchFamily="18" charset="0"/>
                      </a:rPr>
                      <m:t>−1⟩</m:t>
                    </m:r>
                  </m:oMath>
                </a14:m>
                <a:endParaRPr lang="en-CA" sz="2400" dirty="0"/>
              </a:p>
              <a:p>
                <a:endParaRPr lang="en-CA" sz="2400" dirty="0"/>
              </a:p>
              <a:p>
                <a:r>
                  <a:rPr lang="en-CA" sz="2400" dirty="0"/>
                  <a:t>The information of the system is stored in its state.</a:t>
                </a:r>
              </a:p>
              <a:p>
                <a:endParaRPr lang="en-CA" sz="2400" dirty="0"/>
              </a:p>
              <a:p>
                <a:r>
                  <a:rPr lang="en-CA" sz="2400" dirty="0"/>
                  <a:t>We write labels like </a:t>
                </a:r>
                <a14:m>
                  <m:oMath xmlns:m="http://schemas.openxmlformats.org/officeDocument/2006/math">
                    <m:d>
                      <m:dPr>
                        <m:begChr m:val="|"/>
                        <m:endChr m:val="⟩"/>
                        <m:ctrlPr>
                          <a:rPr lang="en-CA" sz="2400" b="0" i="1" smtClean="0">
                            <a:latin typeface="Cambria Math" panose="02040503050406030204" pitchFamily="18" charset="0"/>
                          </a:rPr>
                        </m:ctrlPr>
                      </m:dPr>
                      <m:e>
                        <m:r>
                          <a:rPr lang="en-CA" sz="2400" b="0" i="1" smtClean="0">
                            <a:latin typeface="Cambria Math" panose="02040503050406030204" pitchFamily="18" charset="0"/>
                          </a:rPr>
                          <m:t>0</m:t>
                        </m:r>
                      </m:e>
                    </m:d>
                  </m:oMath>
                </a14:m>
                <a:r>
                  <a:rPr lang="en-CA" sz="2400" dirty="0"/>
                  <a:t> or </a:t>
                </a:r>
                <a14:m>
                  <m:oMath xmlns:m="http://schemas.openxmlformats.org/officeDocument/2006/math">
                    <m:d>
                      <m:dPr>
                        <m:begChr m:val="|"/>
                        <m:endChr m:val="⟩"/>
                        <m:ctrlPr>
                          <a:rPr lang="en-CA" sz="2400" b="0" i="1" smtClean="0">
                            <a:latin typeface="Cambria Math" panose="02040503050406030204" pitchFamily="18" charset="0"/>
                          </a:rPr>
                        </m:ctrlPr>
                      </m:dPr>
                      <m:e>
                        <m:r>
                          <a:rPr lang="en-CA" sz="2400" b="0" i="1" smtClean="0">
                            <a:latin typeface="Cambria Math" panose="02040503050406030204" pitchFamily="18" charset="0"/>
                          </a:rPr>
                          <m:t>5</m:t>
                        </m:r>
                      </m:e>
                    </m:d>
                  </m:oMath>
                </a14:m>
                <a:r>
                  <a:rPr lang="en-CA" sz="2400" dirty="0"/>
                  <a:t> to indicate specific states, and</a:t>
                </a:r>
                <a:br>
                  <a:rPr lang="en-CA" sz="2400" dirty="0"/>
                </a:br>
                <a:r>
                  <a:rPr lang="en-CA" sz="2400" dirty="0"/>
                  <a:t>write </a:t>
                </a:r>
                <a14:m>
                  <m:oMath xmlns:m="http://schemas.openxmlformats.org/officeDocument/2006/math">
                    <m:d>
                      <m:dPr>
                        <m:begChr m:val="|"/>
                        <m:endChr m:val="⟩"/>
                        <m:ctrlPr>
                          <a:rPr lang="en-CA" sz="2400" b="0" i="1" smtClean="0">
                            <a:latin typeface="Cambria Math" panose="02040503050406030204" pitchFamily="18" charset="0"/>
                          </a:rPr>
                        </m:ctrlPr>
                      </m:dPr>
                      <m:e>
                        <m:r>
                          <a:rPr lang="en-CA" sz="2400" b="0" i="1" smtClean="0">
                            <a:latin typeface="Cambria Math" panose="02040503050406030204" pitchFamily="18" charset="0"/>
                          </a:rPr>
                          <m:t>𝑥</m:t>
                        </m:r>
                      </m:e>
                    </m:d>
                  </m:oMath>
                </a14:m>
                <a:r>
                  <a:rPr lang="en-CA" sz="2400" dirty="0"/>
                  <a:t> to indicate state is specified by variable </a:t>
                </a:r>
                <a14:m>
                  <m:oMath xmlns:m="http://schemas.openxmlformats.org/officeDocument/2006/math">
                    <m:r>
                      <a:rPr lang="en-CA" sz="2400" b="0" i="1" smtClean="0">
                        <a:latin typeface="Cambria Math" panose="02040503050406030204" pitchFamily="18" charset="0"/>
                      </a:rPr>
                      <m:t>𝑥</m:t>
                    </m:r>
                    <m:r>
                      <a:rPr lang="en-CA" sz="2400" b="0" i="1" smtClean="0">
                        <a:latin typeface="Cambria Math" panose="02040503050406030204" pitchFamily="18" charset="0"/>
                      </a:rPr>
                      <m:t>∈{0,1,…,</m:t>
                    </m:r>
                    <m:r>
                      <a:rPr lang="en-CA" sz="2400" b="0" i="1" smtClean="0">
                        <a:latin typeface="Cambria Math" panose="02040503050406030204" pitchFamily="18" charset="0"/>
                      </a:rPr>
                      <m:t>𝑑</m:t>
                    </m:r>
                    <m:r>
                      <a:rPr lang="en-CA" sz="2400" b="0" i="1" smtClean="0">
                        <a:latin typeface="Cambria Math" panose="02040503050406030204" pitchFamily="18" charset="0"/>
                      </a:rPr>
                      <m:t>−1}</m:t>
                    </m:r>
                  </m:oMath>
                </a14:m>
                <a:r>
                  <a:rPr lang="en-CA" sz="2400" dirty="0"/>
                  <a:t> </a:t>
                </a:r>
                <a:br>
                  <a:rPr lang="en-CA" sz="2400" dirty="0"/>
                </a:br>
                <a:endParaRPr lang="en-CA" sz="2400" dirty="0"/>
              </a:p>
              <a:p>
                <a:endParaRPr lang="en-US" sz="2400" dirty="0"/>
              </a:p>
            </p:txBody>
          </p:sp>
        </mc:Choice>
        <mc:Fallback xmlns="">
          <p:sp>
            <p:nvSpPr>
              <p:cNvPr id="3" name="Content Placeholder 2">
                <a:extLst>
                  <a:ext uri="{FF2B5EF4-FFF2-40B4-BE49-F238E27FC236}">
                    <a16:creationId xmlns:a16="http://schemas.microsoft.com/office/drawing/2014/main" id="{61AA8FCB-12CC-692A-1B75-ED3ACF8A8CF2}"/>
                  </a:ext>
                </a:extLst>
              </p:cNvPr>
              <p:cNvSpPr>
                <a:spLocks noGrp="1" noRot="1" noChangeAspect="1" noMove="1" noResize="1" noEditPoints="1" noAdjustHandles="1" noChangeArrowheads="1" noChangeShapeType="1" noTextEdit="1"/>
              </p:cNvSpPr>
              <p:nvPr>
                <p:ph idx="1"/>
              </p:nvPr>
            </p:nvSpPr>
            <p:spPr>
              <a:blipFill>
                <a:blip r:embed="rId2"/>
                <a:stretch>
                  <a:fillRect l="-844" t="-1744"/>
                </a:stretch>
              </a:blipFill>
            </p:spPr>
            <p:txBody>
              <a:bodyPr/>
              <a:lstStyle/>
              <a:p>
                <a:r>
                  <a:rPr lang="en-US">
                    <a:noFill/>
                  </a:rPr>
                  <a:t> </a:t>
                </a:r>
              </a:p>
            </p:txBody>
          </p:sp>
        </mc:Fallback>
      </mc:AlternateContent>
      <p:sp>
        <p:nvSpPr>
          <p:cNvPr id="4" name="Cube 3">
            <a:extLst>
              <a:ext uri="{FF2B5EF4-FFF2-40B4-BE49-F238E27FC236}">
                <a16:creationId xmlns:a16="http://schemas.microsoft.com/office/drawing/2014/main" id="{A3DB8FBF-DDA5-EF19-6A06-4B6073251B82}"/>
              </a:ext>
            </a:extLst>
          </p:cNvPr>
          <p:cNvSpPr/>
          <p:nvPr/>
        </p:nvSpPr>
        <p:spPr>
          <a:xfrm>
            <a:off x="9729749" y="4492591"/>
            <a:ext cx="1165473" cy="1185033"/>
          </a:xfrm>
          <a:prstGeom prst="cub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mc:AlternateContent xmlns:mc="http://schemas.openxmlformats.org/markup-compatibility/2006" xmlns:a14="http://schemas.microsoft.com/office/drawing/2010/main">
        <mc:Choice Requires="a14">
          <p:sp>
            <p:nvSpPr>
              <p:cNvPr id="5" name="Rectangle 4">
                <a:extLst>
                  <a:ext uri="{FF2B5EF4-FFF2-40B4-BE49-F238E27FC236}">
                    <a16:creationId xmlns:a16="http://schemas.microsoft.com/office/drawing/2014/main" id="{7F19ADC0-6961-8176-452B-9E6239B70570}"/>
                  </a:ext>
                </a:extLst>
              </p:cNvPr>
              <p:cNvSpPr/>
              <p:nvPr/>
            </p:nvSpPr>
            <p:spPr>
              <a:xfrm>
                <a:off x="10014885" y="5942568"/>
                <a:ext cx="363881" cy="369332"/>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r>
                        <a:rPr lang="en-CA" i="1">
                          <a:latin typeface="Cambria Math" panose="02040503050406030204" pitchFamily="18" charset="0"/>
                        </a:rPr>
                        <m:t>𝑆</m:t>
                      </m:r>
                    </m:oMath>
                  </m:oMathPara>
                </a14:m>
                <a:endParaRPr lang="en-US" dirty="0"/>
              </a:p>
            </p:txBody>
          </p:sp>
        </mc:Choice>
        <mc:Fallback xmlns="">
          <p:sp>
            <p:nvSpPr>
              <p:cNvPr id="5" name="Rectangle 4">
                <a:extLst>
                  <a:ext uri="{FF2B5EF4-FFF2-40B4-BE49-F238E27FC236}">
                    <a16:creationId xmlns:a16="http://schemas.microsoft.com/office/drawing/2014/main" id="{7F19ADC0-6961-8176-452B-9E6239B70570}"/>
                  </a:ext>
                </a:extLst>
              </p:cNvPr>
              <p:cNvSpPr>
                <a:spLocks noRot="1" noChangeAspect="1" noMove="1" noResize="1" noEditPoints="1" noAdjustHandles="1" noChangeArrowheads="1" noChangeShapeType="1" noTextEdit="1"/>
              </p:cNvSpPr>
              <p:nvPr/>
            </p:nvSpPr>
            <p:spPr>
              <a:xfrm>
                <a:off x="10014885" y="5942568"/>
                <a:ext cx="363881" cy="369332"/>
              </a:xfrm>
              <a:prstGeom prst="rect">
                <a:avLst/>
              </a:prstGeom>
              <a:blipFill>
                <a:blip r:embed="rId3"/>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6" name="TextBox 5">
                <a:extLst>
                  <a:ext uri="{FF2B5EF4-FFF2-40B4-BE49-F238E27FC236}">
                    <a16:creationId xmlns:a16="http://schemas.microsoft.com/office/drawing/2014/main" id="{1F78921B-E35D-EB8C-C4B9-72C07F1B2145}"/>
                  </a:ext>
                </a:extLst>
              </p:cNvPr>
              <p:cNvSpPr txBox="1"/>
              <p:nvPr/>
            </p:nvSpPr>
            <p:spPr>
              <a:xfrm>
                <a:off x="9895647" y="5085107"/>
                <a:ext cx="602356" cy="369332"/>
              </a:xfrm>
              <a:prstGeom prst="rect">
                <a:avLst/>
              </a:prstGeom>
              <a:solidFill>
                <a:schemeClr val="bg1"/>
              </a:solidFill>
            </p:spPr>
            <p:txBody>
              <a:bodyPr wrap="square" rtlCol="0">
                <a:spAutoFit/>
              </a:bodyPr>
              <a:lstStyle/>
              <a:p>
                <a:pPr/>
                <a14:m>
                  <m:oMathPara xmlns:m="http://schemas.openxmlformats.org/officeDocument/2006/math">
                    <m:oMathParaPr>
                      <m:jc m:val="centerGroup"/>
                    </m:oMathParaPr>
                    <m:oMath xmlns:m="http://schemas.openxmlformats.org/officeDocument/2006/math">
                      <m:r>
                        <a:rPr lang="en-CA" b="0" i="1" smtClean="0">
                          <a:latin typeface="Cambria Math" panose="02040503050406030204" pitchFamily="18" charset="0"/>
                        </a:rPr>
                        <m:t>|</m:t>
                      </m:r>
                      <m:r>
                        <a:rPr lang="en-CA" b="0" i="1" smtClean="0">
                          <a:latin typeface="Cambria Math" panose="02040503050406030204" pitchFamily="18" charset="0"/>
                        </a:rPr>
                        <m:t>𝑥</m:t>
                      </m:r>
                      <m:r>
                        <a:rPr lang="en-CA" b="0" i="1" smtClean="0">
                          <a:latin typeface="Cambria Math" panose="02040503050406030204" pitchFamily="18" charset="0"/>
                        </a:rPr>
                        <m:t>⟩</m:t>
                      </m:r>
                    </m:oMath>
                  </m:oMathPara>
                </a14:m>
                <a:endParaRPr lang="en-US" dirty="0"/>
              </a:p>
            </p:txBody>
          </p:sp>
        </mc:Choice>
        <mc:Fallback xmlns="">
          <p:sp>
            <p:nvSpPr>
              <p:cNvPr id="6" name="TextBox 5">
                <a:extLst>
                  <a:ext uri="{FF2B5EF4-FFF2-40B4-BE49-F238E27FC236}">
                    <a16:creationId xmlns:a16="http://schemas.microsoft.com/office/drawing/2014/main" id="{1F78921B-E35D-EB8C-C4B9-72C07F1B2145}"/>
                  </a:ext>
                </a:extLst>
              </p:cNvPr>
              <p:cNvSpPr txBox="1">
                <a:spLocks noRot="1" noChangeAspect="1" noMove="1" noResize="1" noEditPoints="1" noAdjustHandles="1" noChangeArrowheads="1" noChangeShapeType="1" noTextEdit="1"/>
              </p:cNvSpPr>
              <p:nvPr/>
            </p:nvSpPr>
            <p:spPr>
              <a:xfrm>
                <a:off x="9895647" y="5085107"/>
                <a:ext cx="602356" cy="369332"/>
              </a:xfrm>
              <a:prstGeom prst="rect">
                <a:avLst/>
              </a:prstGeom>
              <a:blipFill>
                <a:blip r:embed="rId4"/>
                <a:stretch>
                  <a:fillRect b="-13333"/>
                </a:stretch>
              </a:blipFill>
            </p:spPr>
            <p:txBody>
              <a:bodyPr/>
              <a:lstStyle/>
              <a:p>
                <a:r>
                  <a:rPr lang="en-US">
                    <a:noFill/>
                  </a:rPr>
                  <a:t> </a:t>
                </a:r>
              </a:p>
            </p:txBody>
          </p:sp>
        </mc:Fallback>
      </mc:AlternateContent>
      <p:sp>
        <p:nvSpPr>
          <p:cNvPr id="7" name="사각형 설명선 6"/>
          <p:cNvSpPr/>
          <p:nvPr/>
        </p:nvSpPr>
        <p:spPr>
          <a:xfrm>
            <a:off x="9236279" y="2684477"/>
            <a:ext cx="2117521" cy="494951"/>
          </a:xfrm>
          <a:prstGeom prst="wedgeRectCallout">
            <a:avLst>
              <a:gd name="adj1" fmla="val -38264"/>
              <a:gd name="adj2" fmla="val -118856"/>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ko-KR" dirty="0" smtClean="0"/>
              <a:t>We call it “</a:t>
            </a:r>
            <a:r>
              <a:rPr lang="en-US" altLang="ko-KR" dirty="0" err="1" smtClean="0"/>
              <a:t>ket</a:t>
            </a:r>
            <a:r>
              <a:rPr lang="en-US" altLang="ko-KR" dirty="0" smtClean="0"/>
              <a:t>”</a:t>
            </a:r>
            <a:endParaRPr lang="ko-KR" altLang="en-US" dirty="0"/>
          </a:p>
        </p:txBody>
      </p:sp>
    </p:spTree>
    <p:extLst>
      <p:ext uri="{BB962C8B-B14F-4D97-AF65-F5344CB8AC3E}">
        <p14:creationId xmlns:p14="http://schemas.microsoft.com/office/powerpoint/2010/main" val="1962506694"/>
      </p:ext>
    </p:extLst>
  </p:cSld>
  <p:clrMapOvr>
    <a:masterClrMapping/>
  </p:clrMapOvr>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5EA996C-B5F6-B594-B19D-FDB3BDDBA4D7}"/>
              </a:ext>
            </a:extLst>
          </p:cNvPr>
          <p:cNvSpPr>
            <a:spLocks noGrp="1"/>
          </p:cNvSpPr>
          <p:nvPr>
            <p:ph type="title"/>
          </p:nvPr>
        </p:nvSpPr>
        <p:spPr/>
        <p:txBody>
          <a:bodyPr>
            <a:normAutofit/>
          </a:bodyPr>
          <a:lstStyle/>
          <a:p>
            <a:r>
              <a:rPr lang="en-US" sz="4000" dirty="0"/>
              <a:t>Reversible </a:t>
            </a:r>
            <a:r>
              <a:rPr lang="en-US" sz="4000" dirty="0" smtClean="0"/>
              <a:t>classical information </a:t>
            </a:r>
            <a:r>
              <a:rPr lang="en-US" sz="4000" dirty="0"/>
              <a:t>processing</a:t>
            </a:r>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61AA8FCB-12CC-692A-1B75-ED3ACF8A8CF2}"/>
                  </a:ext>
                </a:extLst>
              </p:cNvPr>
              <p:cNvSpPr>
                <a:spLocks noGrp="1"/>
              </p:cNvSpPr>
              <p:nvPr>
                <p:ph idx="1"/>
              </p:nvPr>
            </p:nvSpPr>
            <p:spPr/>
            <p:txBody>
              <a:bodyPr>
                <a:normAutofit/>
              </a:bodyPr>
              <a:lstStyle/>
              <a:p>
                <a:r>
                  <a:rPr lang="en-US" sz="2400" dirty="0"/>
                  <a:t>The system </a:t>
                </a:r>
                <a14:m>
                  <m:oMath xmlns:m="http://schemas.openxmlformats.org/officeDocument/2006/math">
                    <m:r>
                      <a:rPr lang="en-CA" sz="2400" i="1">
                        <a:latin typeface="Cambria Math" panose="02040503050406030204" pitchFamily="18" charset="0"/>
                      </a:rPr>
                      <m:t>𝑆</m:t>
                    </m:r>
                    <m:r>
                      <a:rPr lang="en-CA" sz="2400" i="1">
                        <a:latin typeface="Cambria Math" panose="02040503050406030204" pitchFamily="18" charset="0"/>
                      </a:rPr>
                      <m:t> </m:t>
                    </m:r>
                  </m:oMath>
                </a14:m>
                <a:r>
                  <a:rPr lang="en-CA" sz="2400" dirty="0"/>
                  <a:t>can undergo transformations, which can change the state.</a:t>
                </a:r>
              </a:p>
            </p:txBody>
          </p:sp>
        </mc:Choice>
        <mc:Fallback xmlns="">
          <p:sp>
            <p:nvSpPr>
              <p:cNvPr id="3" name="Content Placeholder 2">
                <a:extLst>
                  <a:ext uri="{FF2B5EF4-FFF2-40B4-BE49-F238E27FC236}">
                    <a16:creationId xmlns:a16="http://schemas.microsoft.com/office/drawing/2014/main" id="{61AA8FCB-12CC-692A-1B75-ED3ACF8A8CF2}"/>
                  </a:ext>
                </a:extLst>
              </p:cNvPr>
              <p:cNvSpPr>
                <a:spLocks noGrp="1" noRot="1" noChangeAspect="1" noMove="1" noResize="1" noEditPoints="1" noAdjustHandles="1" noChangeArrowheads="1" noChangeShapeType="1" noTextEdit="1"/>
              </p:cNvSpPr>
              <p:nvPr>
                <p:ph idx="1"/>
              </p:nvPr>
            </p:nvSpPr>
            <p:spPr>
              <a:blipFill>
                <a:blip r:embed="rId2"/>
                <a:stretch>
                  <a:fillRect l="-844" t="-1744"/>
                </a:stretch>
              </a:blipFill>
            </p:spPr>
            <p:txBody>
              <a:bodyPr/>
              <a:lstStyle/>
              <a:p>
                <a:r>
                  <a:rPr lang="en-US">
                    <a:noFill/>
                  </a:rPr>
                  <a:t> </a:t>
                </a:r>
              </a:p>
            </p:txBody>
          </p:sp>
        </mc:Fallback>
      </mc:AlternateContent>
      <p:sp>
        <p:nvSpPr>
          <p:cNvPr id="4" name="Cube 3">
            <a:extLst>
              <a:ext uri="{FF2B5EF4-FFF2-40B4-BE49-F238E27FC236}">
                <a16:creationId xmlns:a16="http://schemas.microsoft.com/office/drawing/2014/main" id="{A3DB8FBF-DDA5-EF19-6A06-4B6073251B82}"/>
              </a:ext>
            </a:extLst>
          </p:cNvPr>
          <p:cNvSpPr/>
          <p:nvPr/>
        </p:nvSpPr>
        <p:spPr>
          <a:xfrm>
            <a:off x="9729749" y="4492591"/>
            <a:ext cx="1165473" cy="1185033"/>
          </a:xfrm>
          <a:prstGeom prst="cub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mc:AlternateContent xmlns:mc="http://schemas.openxmlformats.org/markup-compatibility/2006" xmlns:a14="http://schemas.microsoft.com/office/drawing/2010/main">
        <mc:Choice Requires="a14">
          <p:sp>
            <p:nvSpPr>
              <p:cNvPr id="5" name="Rectangle 4">
                <a:extLst>
                  <a:ext uri="{FF2B5EF4-FFF2-40B4-BE49-F238E27FC236}">
                    <a16:creationId xmlns:a16="http://schemas.microsoft.com/office/drawing/2014/main" id="{7F19ADC0-6961-8176-452B-9E6239B70570}"/>
                  </a:ext>
                </a:extLst>
              </p:cNvPr>
              <p:cNvSpPr/>
              <p:nvPr/>
            </p:nvSpPr>
            <p:spPr>
              <a:xfrm>
                <a:off x="10014885" y="5942568"/>
                <a:ext cx="363881" cy="369332"/>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r>
                        <a:rPr lang="en-CA" i="1">
                          <a:latin typeface="Cambria Math" panose="02040503050406030204" pitchFamily="18" charset="0"/>
                        </a:rPr>
                        <m:t>𝑆</m:t>
                      </m:r>
                    </m:oMath>
                  </m:oMathPara>
                </a14:m>
                <a:endParaRPr lang="en-US" dirty="0"/>
              </a:p>
            </p:txBody>
          </p:sp>
        </mc:Choice>
        <mc:Fallback xmlns="">
          <p:sp>
            <p:nvSpPr>
              <p:cNvPr id="5" name="Rectangle 4">
                <a:extLst>
                  <a:ext uri="{FF2B5EF4-FFF2-40B4-BE49-F238E27FC236}">
                    <a16:creationId xmlns:a16="http://schemas.microsoft.com/office/drawing/2014/main" id="{7F19ADC0-6961-8176-452B-9E6239B70570}"/>
                  </a:ext>
                </a:extLst>
              </p:cNvPr>
              <p:cNvSpPr>
                <a:spLocks noRot="1" noChangeAspect="1" noMove="1" noResize="1" noEditPoints="1" noAdjustHandles="1" noChangeArrowheads="1" noChangeShapeType="1" noTextEdit="1"/>
              </p:cNvSpPr>
              <p:nvPr/>
            </p:nvSpPr>
            <p:spPr>
              <a:xfrm>
                <a:off x="10014885" y="5942568"/>
                <a:ext cx="363881" cy="369332"/>
              </a:xfrm>
              <a:prstGeom prst="rect">
                <a:avLst/>
              </a:prstGeom>
              <a:blipFill>
                <a:blip r:embed="rId3"/>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8" name="TextBox 7">
                <a:extLst>
                  <a:ext uri="{FF2B5EF4-FFF2-40B4-BE49-F238E27FC236}">
                    <a16:creationId xmlns:a16="http://schemas.microsoft.com/office/drawing/2014/main" id="{19768C4C-C4E6-1097-6A7D-CB469C0E8D4D}"/>
                  </a:ext>
                </a:extLst>
              </p:cNvPr>
              <p:cNvSpPr txBox="1"/>
              <p:nvPr/>
            </p:nvSpPr>
            <p:spPr>
              <a:xfrm>
                <a:off x="9875911" y="5085107"/>
                <a:ext cx="641827" cy="369332"/>
              </a:xfrm>
              <a:prstGeom prst="rect">
                <a:avLst/>
              </a:prstGeom>
              <a:solidFill>
                <a:schemeClr val="bg1"/>
              </a:solidFill>
            </p:spPr>
            <p:txBody>
              <a:bodyPr wrap="square" rtlCol="0">
                <a:spAutoFit/>
              </a:bodyPr>
              <a:lstStyle/>
              <a:p>
                <a:pPr/>
                <a14:m>
                  <m:oMathPara xmlns:m="http://schemas.openxmlformats.org/officeDocument/2006/math">
                    <m:oMathParaPr>
                      <m:jc m:val="centerGroup"/>
                    </m:oMathParaPr>
                    <m:oMath xmlns:m="http://schemas.openxmlformats.org/officeDocument/2006/math">
                      <m:r>
                        <a:rPr lang="en-CA" b="0" i="1" smtClean="0">
                          <a:latin typeface="Cambria Math" panose="02040503050406030204" pitchFamily="18" charset="0"/>
                        </a:rPr>
                        <m:t>|</m:t>
                      </m:r>
                      <m:r>
                        <a:rPr lang="en-CA" b="0" i="1" smtClean="0">
                          <a:latin typeface="Cambria Math" panose="02040503050406030204" pitchFamily="18" charset="0"/>
                        </a:rPr>
                        <m:t>𝑥</m:t>
                      </m:r>
                      <m:r>
                        <a:rPr lang="en-CA" b="0" i="1" smtClean="0">
                          <a:latin typeface="Cambria Math" panose="02040503050406030204" pitchFamily="18" charset="0"/>
                        </a:rPr>
                        <m:t>⟩</m:t>
                      </m:r>
                    </m:oMath>
                  </m:oMathPara>
                </a14:m>
                <a:endParaRPr lang="en-US" dirty="0"/>
              </a:p>
            </p:txBody>
          </p:sp>
        </mc:Choice>
        <mc:Fallback xmlns="">
          <p:sp>
            <p:nvSpPr>
              <p:cNvPr id="8" name="TextBox 7">
                <a:extLst>
                  <a:ext uri="{FF2B5EF4-FFF2-40B4-BE49-F238E27FC236}">
                    <a16:creationId xmlns:a16="http://schemas.microsoft.com/office/drawing/2014/main" id="{19768C4C-C4E6-1097-6A7D-CB469C0E8D4D}"/>
                  </a:ext>
                </a:extLst>
              </p:cNvPr>
              <p:cNvSpPr txBox="1">
                <a:spLocks noRot="1" noChangeAspect="1" noMove="1" noResize="1" noEditPoints="1" noAdjustHandles="1" noChangeArrowheads="1" noChangeShapeType="1" noTextEdit="1"/>
              </p:cNvSpPr>
              <p:nvPr/>
            </p:nvSpPr>
            <p:spPr>
              <a:xfrm>
                <a:off x="9875911" y="5085107"/>
                <a:ext cx="641827" cy="369332"/>
              </a:xfrm>
              <a:prstGeom prst="rect">
                <a:avLst/>
              </a:prstGeom>
              <a:blipFill>
                <a:blip r:embed="rId4"/>
                <a:stretch>
                  <a:fillRect b="-13333"/>
                </a:stretch>
              </a:blipFill>
            </p:spPr>
            <p:txBody>
              <a:bodyPr/>
              <a:lstStyle/>
              <a:p>
                <a:r>
                  <a:rPr lang="en-US">
                    <a:noFill/>
                  </a:rPr>
                  <a:t> </a:t>
                </a:r>
              </a:p>
            </p:txBody>
          </p:sp>
        </mc:Fallback>
      </mc:AlternateContent>
    </p:spTree>
    <p:extLst>
      <p:ext uri="{BB962C8B-B14F-4D97-AF65-F5344CB8AC3E}">
        <p14:creationId xmlns:p14="http://schemas.microsoft.com/office/powerpoint/2010/main" val="1951570288"/>
      </p:ext>
    </p:extLst>
  </p:cSld>
  <p:clrMapOvr>
    <a:masterClrMapping/>
  </p:clrMapOvr>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5EA996C-B5F6-B594-B19D-FDB3BDDBA4D7}"/>
              </a:ext>
            </a:extLst>
          </p:cNvPr>
          <p:cNvSpPr>
            <a:spLocks noGrp="1"/>
          </p:cNvSpPr>
          <p:nvPr>
            <p:ph type="title"/>
          </p:nvPr>
        </p:nvSpPr>
        <p:spPr/>
        <p:txBody>
          <a:bodyPr>
            <a:normAutofit/>
          </a:bodyPr>
          <a:lstStyle/>
          <a:p>
            <a:r>
              <a:rPr lang="en-US" sz="4000" dirty="0"/>
              <a:t>Reversible classical information processing</a:t>
            </a:r>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61AA8FCB-12CC-692A-1B75-ED3ACF8A8CF2}"/>
                  </a:ext>
                </a:extLst>
              </p:cNvPr>
              <p:cNvSpPr>
                <a:spLocks noGrp="1"/>
              </p:cNvSpPr>
              <p:nvPr>
                <p:ph idx="1"/>
              </p:nvPr>
            </p:nvSpPr>
            <p:spPr/>
            <p:txBody>
              <a:bodyPr>
                <a:normAutofit/>
              </a:bodyPr>
              <a:lstStyle/>
              <a:p>
                <a:r>
                  <a:rPr lang="en-US" sz="2400" dirty="0"/>
                  <a:t>The system </a:t>
                </a:r>
                <a14:m>
                  <m:oMath xmlns:m="http://schemas.openxmlformats.org/officeDocument/2006/math">
                    <m:r>
                      <a:rPr lang="en-CA" sz="2400" i="1">
                        <a:latin typeface="Cambria Math" panose="02040503050406030204" pitchFamily="18" charset="0"/>
                      </a:rPr>
                      <m:t>𝑆</m:t>
                    </m:r>
                    <m:r>
                      <a:rPr lang="en-CA" sz="2400" i="1">
                        <a:latin typeface="Cambria Math" panose="02040503050406030204" pitchFamily="18" charset="0"/>
                      </a:rPr>
                      <m:t> </m:t>
                    </m:r>
                  </m:oMath>
                </a14:m>
                <a:r>
                  <a:rPr lang="en-CA" sz="2400" dirty="0"/>
                  <a:t>can undergo transformations, which can change the state.</a:t>
                </a:r>
              </a:p>
            </p:txBody>
          </p:sp>
        </mc:Choice>
        <mc:Fallback xmlns="">
          <p:sp>
            <p:nvSpPr>
              <p:cNvPr id="3" name="Content Placeholder 2">
                <a:extLst>
                  <a:ext uri="{FF2B5EF4-FFF2-40B4-BE49-F238E27FC236}">
                    <a16:creationId xmlns:a16="http://schemas.microsoft.com/office/drawing/2014/main" id="{61AA8FCB-12CC-692A-1B75-ED3ACF8A8CF2}"/>
                  </a:ext>
                </a:extLst>
              </p:cNvPr>
              <p:cNvSpPr>
                <a:spLocks noGrp="1" noRot="1" noChangeAspect="1" noMove="1" noResize="1" noEditPoints="1" noAdjustHandles="1" noChangeArrowheads="1" noChangeShapeType="1" noTextEdit="1"/>
              </p:cNvSpPr>
              <p:nvPr>
                <p:ph idx="1"/>
              </p:nvPr>
            </p:nvSpPr>
            <p:spPr>
              <a:blipFill>
                <a:blip r:embed="rId2"/>
                <a:stretch>
                  <a:fillRect l="-844" t="-1744"/>
                </a:stretch>
              </a:blipFill>
            </p:spPr>
            <p:txBody>
              <a:bodyPr/>
              <a:lstStyle/>
              <a:p>
                <a:r>
                  <a:rPr lang="en-US">
                    <a:noFill/>
                  </a:rPr>
                  <a:t> </a:t>
                </a:r>
              </a:p>
            </p:txBody>
          </p:sp>
        </mc:Fallback>
      </mc:AlternateContent>
      <p:sp>
        <p:nvSpPr>
          <p:cNvPr id="4" name="Cube 3">
            <a:extLst>
              <a:ext uri="{FF2B5EF4-FFF2-40B4-BE49-F238E27FC236}">
                <a16:creationId xmlns:a16="http://schemas.microsoft.com/office/drawing/2014/main" id="{A3DB8FBF-DDA5-EF19-6A06-4B6073251B82}"/>
              </a:ext>
            </a:extLst>
          </p:cNvPr>
          <p:cNvSpPr/>
          <p:nvPr/>
        </p:nvSpPr>
        <p:spPr>
          <a:xfrm>
            <a:off x="9729749" y="4492591"/>
            <a:ext cx="1165473" cy="1185033"/>
          </a:xfrm>
          <a:prstGeom prst="cub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mc:AlternateContent xmlns:mc="http://schemas.openxmlformats.org/markup-compatibility/2006" xmlns:a14="http://schemas.microsoft.com/office/drawing/2010/main">
        <mc:Choice Requires="a14">
          <p:sp>
            <p:nvSpPr>
              <p:cNvPr id="5" name="Rectangle 4">
                <a:extLst>
                  <a:ext uri="{FF2B5EF4-FFF2-40B4-BE49-F238E27FC236}">
                    <a16:creationId xmlns:a16="http://schemas.microsoft.com/office/drawing/2014/main" id="{7F19ADC0-6961-8176-452B-9E6239B70570}"/>
                  </a:ext>
                </a:extLst>
              </p:cNvPr>
              <p:cNvSpPr/>
              <p:nvPr/>
            </p:nvSpPr>
            <p:spPr>
              <a:xfrm>
                <a:off x="10014885" y="5942568"/>
                <a:ext cx="363881" cy="369332"/>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r>
                        <a:rPr lang="en-CA" i="1">
                          <a:latin typeface="Cambria Math" panose="02040503050406030204" pitchFamily="18" charset="0"/>
                        </a:rPr>
                        <m:t>𝑆</m:t>
                      </m:r>
                    </m:oMath>
                  </m:oMathPara>
                </a14:m>
                <a:endParaRPr lang="en-US" dirty="0"/>
              </a:p>
            </p:txBody>
          </p:sp>
        </mc:Choice>
        <mc:Fallback xmlns="">
          <p:sp>
            <p:nvSpPr>
              <p:cNvPr id="5" name="Rectangle 4">
                <a:extLst>
                  <a:ext uri="{FF2B5EF4-FFF2-40B4-BE49-F238E27FC236}">
                    <a16:creationId xmlns:a16="http://schemas.microsoft.com/office/drawing/2014/main" id="{7F19ADC0-6961-8176-452B-9E6239B70570}"/>
                  </a:ext>
                </a:extLst>
              </p:cNvPr>
              <p:cNvSpPr>
                <a:spLocks noRot="1" noChangeAspect="1" noMove="1" noResize="1" noEditPoints="1" noAdjustHandles="1" noChangeArrowheads="1" noChangeShapeType="1" noTextEdit="1"/>
              </p:cNvSpPr>
              <p:nvPr/>
            </p:nvSpPr>
            <p:spPr>
              <a:xfrm>
                <a:off x="10014885" y="5942568"/>
                <a:ext cx="363881" cy="369332"/>
              </a:xfrm>
              <a:prstGeom prst="rect">
                <a:avLst/>
              </a:prstGeom>
              <a:blipFill>
                <a:blip r:embed="rId3"/>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8" name="TextBox 7">
                <a:extLst>
                  <a:ext uri="{FF2B5EF4-FFF2-40B4-BE49-F238E27FC236}">
                    <a16:creationId xmlns:a16="http://schemas.microsoft.com/office/drawing/2014/main" id="{19768C4C-C4E6-1097-6A7D-CB469C0E8D4D}"/>
                  </a:ext>
                </a:extLst>
              </p:cNvPr>
              <p:cNvSpPr txBox="1"/>
              <p:nvPr/>
            </p:nvSpPr>
            <p:spPr>
              <a:xfrm>
                <a:off x="9875911" y="5085107"/>
                <a:ext cx="641827" cy="369332"/>
              </a:xfrm>
              <a:prstGeom prst="rect">
                <a:avLst/>
              </a:prstGeom>
              <a:solidFill>
                <a:schemeClr val="bg1"/>
              </a:solidFill>
            </p:spPr>
            <p:txBody>
              <a:bodyPr wrap="square" rtlCol="0">
                <a:spAutoFit/>
              </a:bodyPr>
              <a:lstStyle/>
              <a:p>
                <a:pPr/>
                <a14:m>
                  <m:oMathPara xmlns:m="http://schemas.openxmlformats.org/officeDocument/2006/math">
                    <m:oMathParaPr>
                      <m:jc m:val="centerGroup"/>
                    </m:oMathParaPr>
                    <m:oMath xmlns:m="http://schemas.openxmlformats.org/officeDocument/2006/math">
                      <m:r>
                        <a:rPr lang="en-CA" b="0" i="1" smtClean="0">
                          <a:latin typeface="Cambria Math" panose="02040503050406030204" pitchFamily="18" charset="0"/>
                        </a:rPr>
                        <m:t>|</m:t>
                      </m:r>
                      <m:r>
                        <a:rPr lang="en-CA" b="0" i="1" smtClean="0">
                          <a:latin typeface="Cambria Math" panose="02040503050406030204" pitchFamily="18" charset="0"/>
                        </a:rPr>
                        <m:t>𝑥</m:t>
                      </m:r>
                      <m:r>
                        <a:rPr lang="en-CA" b="0" i="1" smtClean="0">
                          <a:latin typeface="Cambria Math" panose="02040503050406030204" pitchFamily="18" charset="0"/>
                        </a:rPr>
                        <m:t>⟩</m:t>
                      </m:r>
                    </m:oMath>
                  </m:oMathPara>
                </a14:m>
                <a:endParaRPr lang="en-US" dirty="0"/>
              </a:p>
            </p:txBody>
          </p:sp>
        </mc:Choice>
        <mc:Fallback xmlns="">
          <p:sp>
            <p:nvSpPr>
              <p:cNvPr id="8" name="TextBox 7">
                <a:extLst>
                  <a:ext uri="{FF2B5EF4-FFF2-40B4-BE49-F238E27FC236}">
                    <a16:creationId xmlns:a16="http://schemas.microsoft.com/office/drawing/2014/main" id="{19768C4C-C4E6-1097-6A7D-CB469C0E8D4D}"/>
                  </a:ext>
                </a:extLst>
              </p:cNvPr>
              <p:cNvSpPr txBox="1">
                <a:spLocks noRot="1" noChangeAspect="1" noMove="1" noResize="1" noEditPoints="1" noAdjustHandles="1" noChangeArrowheads="1" noChangeShapeType="1" noTextEdit="1"/>
              </p:cNvSpPr>
              <p:nvPr/>
            </p:nvSpPr>
            <p:spPr>
              <a:xfrm>
                <a:off x="9875911" y="5085107"/>
                <a:ext cx="641827" cy="369332"/>
              </a:xfrm>
              <a:prstGeom prst="rect">
                <a:avLst/>
              </a:prstGeom>
              <a:blipFill>
                <a:blip r:embed="rId4"/>
                <a:stretch>
                  <a:fillRect b="-13333"/>
                </a:stretch>
              </a:blipFill>
            </p:spPr>
            <p:txBody>
              <a:bodyPr/>
              <a:lstStyle/>
              <a:p>
                <a:r>
                  <a:rPr lang="en-US">
                    <a:noFill/>
                  </a:rPr>
                  <a:t> </a:t>
                </a:r>
              </a:p>
            </p:txBody>
          </p:sp>
        </mc:Fallback>
      </mc:AlternateContent>
      <p:sp>
        <p:nvSpPr>
          <p:cNvPr id="6" name="Lightning Bolt 5">
            <a:extLst>
              <a:ext uri="{FF2B5EF4-FFF2-40B4-BE49-F238E27FC236}">
                <a16:creationId xmlns:a16="http://schemas.microsoft.com/office/drawing/2014/main" id="{23A1A6D0-1651-81C4-EE60-B01E399776C6}"/>
              </a:ext>
            </a:extLst>
          </p:cNvPr>
          <p:cNvSpPr/>
          <p:nvPr/>
        </p:nvSpPr>
        <p:spPr>
          <a:xfrm>
            <a:off x="8466667" y="3273778"/>
            <a:ext cx="1409244" cy="1693333"/>
          </a:xfrm>
          <a:prstGeom prst="lightningBolt">
            <a:avLst/>
          </a:prstGeom>
          <a:solidFill>
            <a:srgbClr val="92D05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mc:AlternateContent xmlns:mc="http://schemas.openxmlformats.org/markup-compatibility/2006" xmlns:a14="http://schemas.microsoft.com/office/drawing/2010/main">
        <mc:Choice Requires="a14">
          <p:sp>
            <p:nvSpPr>
              <p:cNvPr id="9" name="TextBox 8">
                <a:extLst>
                  <a:ext uri="{FF2B5EF4-FFF2-40B4-BE49-F238E27FC236}">
                    <a16:creationId xmlns:a16="http://schemas.microsoft.com/office/drawing/2014/main" id="{8EE396DE-71EE-7227-B552-F9CBC9F70072}"/>
                  </a:ext>
                </a:extLst>
              </p:cNvPr>
              <p:cNvSpPr txBox="1"/>
              <p:nvPr/>
            </p:nvSpPr>
            <p:spPr>
              <a:xfrm>
                <a:off x="8003822" y="3156312"/>
                <a:ext cx="677334" cy="646331"/>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r>
                        <a:rPr lang="en-CA" sz="3600" b="0" i="1" smtClean="0">
                          <a:latin typeface="Cambria Math" panose="02040503050406030204" pitchFamily="18" charset="0"/>
                        </a:rPr>
                        <m:t>𝑅</m:t>
                      </m:r>
                    </m:oMath>
                  </m:oMathPara>
                </a14:m>
                <a:endParaRPr lang="en-US" sz="3600" dirty="0"/>
              </a:p>
            </p:txBody>
          </p:sp>
        </mc:Choice>
        <mc:Fallback xmlns="">
          <p:sp>
            <p:nvSpPr>
              <p:cNvPr id="9" name="TextBox 8">
                <a:extLst>
                  <a:ext uri="{FF2B5EF4-FFF2-40B4-BE49-F238E27FC236}">
                    <a16:creationId xmlns:a16="http://schemas.microsoft.com/office/drawing/2014/main" id="{8EE396DE-71EE-7227-B552-F9CBC9F70072}"/>
                  </a:ext>
                </a:extLst>
              </p:cNvPr>
              <p:cNvSpPr txBox="1">
                <a:spLocks noRot="1" noChangeAspect="1" noMove="1" noResize="1" noEditPoints="1" noAdjustHandles="1" noChangeArrowheads="1" noChangeShapeType="1" noTextEdit="1"/>
              </p:cNvSpPr>
              <p:nvPr/>
            </p:nvSpPr>
            <p:spPr>
              <a:xfrm>
                <a:off x="8003822" y="3156312"/>
                <a:ext cx="677334" cy="646331"/>
              </a:xfrm>
              <a:prstGeom prst="rect">
                <a:avLst/>
              </a:prstGeom>
              <a:blipFill>
                <a:blip r:embed="rId5"/>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0" name="TextBox 9">
                <a:extLst>
                  <a:ext uri="{FF2B5EF4-FFF2-40B4-BE49-F238E27FC236}">
                    <a16:creationId xmlns:a16="http://schemas.microsoft.com/office/drawing/2014/main" id="{19768C4C-C4E6-1097-6A7D-CB469C0E8D4D}"/>
                  </a:ext>
                </a:extLst>
              </p:cNvPr>
              <p:cNvSpPr txBox="1"/>
              <p:nvPr/>
            </p:nvSpPr>
            <p:spPr>
              <a:xfrm>
                <a:off x="9875908" y="5085107"/>
                <a:ext cx="630728" cy="369332"/>
              </a:xfrm>
              <a:prstGeom prst="rect">
                <a:avLst/>
              </a:prstGeom>
              <a:solidFill>
                <a:schemeClr val="bg1"/>
              </a:solidFill>
            </p:spPr>
            <p:txBody>
              <a:bodyPr wrap="square" rtlCol="0">
                <a:spAutoFit/>
              </a:bodyPr>
              <a:lstStyle/>
              <a:p>
                <a:pPr/>
                <a14:m>
                  <m:oMathPara xmlns:m="http://schemas.openxmlformats.org/officeDocument/2006/math">
                    <m:oMathParaPr>
                      <m:jc m:val="centerGroup"/>
                    </m:oMathParaPr>
                    <m:oMath xmlns:m="http://schemas.openxmlformats.org/officeDocument/2006/math">
                      <m:r>
                        <a:rPr lang="en-CA" b="0" i="1" smtClean="0">
                          <a:latin typeface="Cambria Math" panose="02040503050406030204" pitchFamily="18" charset="0"/>
                        </a:rPr>
                        <m:t>|</m:t>
                      </m:r>
                      <m:r>
                        <a:rPr lang="en-CA" b="0" i="1" smtClean="0">
                          <a:latin typeface="Cambria Math" panose="02040503050406030204" pitchFamily="18" charset="0"/>
                        </a:rPr>
                        <m:t>𝑦</m:t>
                      </m:r>
                      <m:r>
                        <a:rPr lang="en-CA" b="0" i="1" smtClean="0">
                          <a:latin typeface="Cambria Math" panose="02040503050406030204" pitchFamily="18" charset="0"/>
                        </a:rPr>
                        <m:t>⟩</m:t>
                      </m:r>
                    </m:oMath>
                  </m:oMathPara>
                </a14:m>
                <a:endParaRPr lang="en-US" dirty="0"/>
              </a:p>
            </p:txBody>
          </p:sp>
        </mc:Choice>
        <mc:Fallback xmlns="">
          <p:sp>
            <p:nvSpPr>
              <p:cNvPr id="10" name="TextBox 9">
                <a:extLst>
                  <a:ext uri="{FF2B5EF4-FFF2-40B4-BE49-F238E27FC236}">
                    <a16:creationId xmlns:a16="http://schemas.microsoft.com/office/drawing/2014/main" id="{19768C4C-C4E6-1097-6A7D-CB469C0E8D4D}"/>
                  </a:ext>
                </a:extLst>
              </p:cNvPr>
              <p:cNvSpPr txBox="1">
                <a:spLocks noRot="1" noChangeAspect="1" noMove="1" noResize="1" noEditPoints="1" noAdjustHandles="1" noChangeArrowheads="1" noChangeShapeType="1" noTextEdit="1"/>
              </p:cNvSpPr>
              <p:nvPr/>
            </p:nvSpPr>
            <p:spPr>
              <a:xfrm>
                <a:off x="9875908" y="5085107"/>
                <a:ext cx="630728" cy="369332"/>
              </a:xfrm>
              <a:prstGeom prst="rect">
                <a:avLst/>
              </a:prstGeom>
              <a:blipFill>
                <a:blip r:embed="rId6"/>
                <a:stretch>
                  <a:fillRect b="-16393"/>
                </a:stretch>
              </a:blipFill>
            </p:spPr>
            <p:txBody>
              <a:bodyPr/>
              <a:lstStyle/>
              <a:p>
                <a:r>
                  <a:rPr lang="ko-KR" altLang="en-US">
                    <a:noFill/>
                  </a:rPr>
                  <a:t> </a:t>
                </a:r>
              </a:p>
            </p:txBody>
          </p:sp>
        </mc:Fallback>
      </mc:AlternateContent>
    </p:spTree>
    <p:extLst>
      <p:ext uri="{BB962C8B-B14F-4D97-AF65-F5344CB8AC3E}">
        <p14:creationId xmlns:p14="http://schemas.microsoft.com/office/powerpoint/2010/main" val="359013019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0" presetClass="exit" presetSubtype="0" accel="100000" fill="hold" grpId="0" nodeType="clickEffect">
                                  <p:stCondLst>
                                    <p:cond delay="0"/>
                                  </p:stCondLst>
                                  <p:childTnLst>
                                    <p:anim calcmode="lin" valueType="num">
                                      <p:cBhvr>
                                        <p:cTn id="6" dur="1000"/>
                                        <p:tgtEl>
                                          <p:spTgt spid="6"/>
                                        </p:tgtEl>
                                        <p:attrNameLst>
                                          <p:attrName>ppt_w</p:attrName>
                                        </p:attrNameLst>
                                      </p:cBhvr>
                                      <p:tavLst>
                                        <p:tav tm="0">
                                          <p:val>
                                            <p:strVal val="ppt_w"/>
                                          </p:val>
                                        </p:tav>
                                        <p:tav tm="100000">
                                          <p:val>
                                            <p:strVal val="ppt_w+.3"/>
                                          </p:val>
                                        </p:tav>
                                      </p:tavLst>
                                    </p:anim>
                                    <p:anim calcmode="lin" valueType="num">
                                      <p:cBhvr>
                                        <p:cTn id="7" dur="1000"/>
                                        <p:tgtEl>
                                          <p:spTgt spid="6"/>
                                        </p:tgtEl>
                                        <p:attrNameLst>
                                          <p:attrName>ppt_h</p:attrName>
                                        </p:attrNameLst>
                                      </p:cBhvr>
                                      <p:tavLst>
                                        <p:tav tm="0">
                                          <p:val>
                                            <p:strVal val="ppt_h"/>
                                          </p:val>
                                        </p:tav>
                                        <p:tav tm="100000">
                                          <p:val>
                                            <p:strVal val="ppt_h"/>
                                          </p:val>
                                        </p:tav>
                                      </p:tavLst>
                                    </p:anim>
                                    <p:animEffect transition="out" filter="fade">
                                      <p:cBhvr>
                                        <p:cTn id="8" dur="1000"/>
                                        <p:tgtEl>
                                          <p:spTgt spid="6"/>
                                        </p:tgtEl>
                                      </p:cBhvr>
                                    </p:animEffect>
                                    <p:set>
                                      <p:cBhvr>
                                        <p:cTn id="9" dur="1" fill="hold">
                                          <p:stCondLst>
                                            <p:cond delay="999"/>
                                          </p:stCondLst>
                                        </p:cTn>
                                        <p:tgtEl>
                                          <p:spTgt spid="6"/>
                                        </p:tgtEl>
                                        <p:attrNameLst>
                                          <p:attrName>style.visibility</p:attrName>
                                        </p:attrNameLst>
                                      </p:cBhvr>
                                      <p:to>
                                        <p:strVal val="hidden"/>
                                      </p:to>
                                    </p:set>
                                  </p:childTnLst>
                                </p:cTn>
                              </p:par>
                              <p:par>
                                <p:cTn id="10" presetID="50" presetClass="exit" presetSubtype="0" accel="100000" fill="hold" grpId="0" nodeType="withEffect">
                                  <p:stCondLst>
                                    <p:cond delay="0"/>
                                  </p:stCondLst>
                                  <p:childTnLst>
                                    <p:anim calcmode="lin" valueType="num">
                                      <p:cBhvr>
                                        <p:cTn id="11" dur="1000"/>
                                        <p:tgtEl>
                                          <p:spTgt spid="9"/>
                                        </p:tgtEl>
                                        <p:attrNameLst>
                                          <p:attrName>ppt_w</p:attrName>
                                        </p:attrNameLst>
                                      </p:cBhvr>
                                      <p:tavLst>
                                        <p:tav tm="0">
                                          <p:val>
                                            <p:strVal val="ppt_w"/>
                                          </p:val>
                                        </p:tav>
                                        <p:tav tm="100000">
                                          <p:val>
                                            <p:strVal val="ppt_w+.3"/>
                                          </p:val>
                                        </p:tav>
                                      </p:tavLst>
                                    </p:anim>
                                    <p:anim calcmode="lin" valueType="num">
                                      <p:cBhvr>
                                        <p:cTn id="12" dur="1000"/>
                                        <p:tgtEl>
                                          <p:spTgt spid="9"/>
                                        </p:tgtEl>
                                        <p:attrNameLst>
                                          <p:attrName>ppt_h</p:attrName>
                                        </p:attrNameLst>
                                      </p:cBhvr>
                                      <p:tavLst>
                                        <p:tav tm="0">
                                          <p:val>
                                            <p:strVal val="ppt_h"/>
                                          </p:val>
                                        </p:tav>
                                        <p:tav tm="100000">
                                          <p:val>
                                            <p:strVal val="ppt_h"/>
                                          </p:val>
                                        </p:tav>
                                      </p:tavLst>
                                    </p:anim>
                                    <p:animEffect transition="out" filter="fade">
                                      <p:cBhvr>
                                        <p:cTn id="13" dur="1000"/>
                                        <p:tgtEl>
                                          <p:spTgt spid="9"/>
                                        </p:tgtEl>
                                      </p:cBhvr>
                                    </p:animEffect>
                                    <p:set>
                                      <p:cBhvr>
                                        <p:cTn id="14" dur="1" fill="hold">
                                          <p:stCondLst>
                                            <p:cond delay="999"/>
                                          </p:stCondLst>
                                        </p:cTn>
                                        <p:tgtEl>
                                          <p:spTgt spid="9"/>
                                        </p:tgtEl>
                                        <p:attrNameLst>
                                          <p:attrName>style.visibility</p:attrName>
                                        </p:attrNameLst>
                                      </p:cBhvr>
                                      <p:to>
                                        <p:strVal val="hidden"/>
                                      </p:to>
                                    </p:set>
                                  </p:childTnLst>
                                </p:cTn>
                              </p:par>
                            </p:childTnLst>
                          </p:cTn>
                        </p:par>
                        <p:par>
                          <p:cTn id="15" fill="hold">
                            <p:stCondLst>
                              <p:cond delay="1000"/>
                            </p:stCondLst>
                            <p:childTnLst>
                              <p:par>
                                <p:cTn id="16" presetID="1" presetClass="entr" presetSubtype="0" fill="hold" grpId="0" nodeType="afterEffect">
                                  <p:stCondLst>
                                    <p:cond delay="0"/>
                                  </p:stCondLst>
                                  <p:childTnLst>
                                    <p:set>
                                      <p:cBhvr>
                                        <p:cTn id="17" dur="1" fill="hold">
                                          <p:stCondLst>
                                            <p:cond delay="0"/>
                                          </p:stCondLst>
                                        </p:cTn>
                                        <p:tgtEl>
                                          <p:spTgt spid="10"/>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animBg="1"/>
      <p:bldP spid="9" grpId="0"/>
      <p:bldP spid="10" grpId="0" animBg="1"/>
    </p:bld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5EA996C-B5F6-B594-B19D-FDB3BDDBA4D7}"/>
              </a:ext>
            </a:extLst>
          </p:cNvPr>
          <p:cNvSpPr>
            <a:spLocks noGrp="1"/>
          </p:cNvSpPr>
          <p:nvPr>
            <p:ph type="title"/>
          </p:nvPr>
        </p:nvSpPr>
        <p:spPr/>
        <p:txBody>
          <a:bodyPr>
            <a:normAutofit/>
          </a:bodyPr>
          <a:lstStyle/>
          <a:p>
            <a:r>
              <a:rPr lang="en-US" sz="4000" dirty="0"/>
              <a:t>Reversible classical information processing</a:t>
            </a:r>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61AA8FCB-12CC-692A-1B75-ED3ACF8A8CF2}"/>
                  </a:ext>
                </a:extLst>
              </p:cNvPr>
              <p:cNvSpPr>
                <a:spLocks noGrp="1"/>
              </p:cNvSpPr>
              <p:nvPr>
                <p:ph idx="1"/>
              </p:nvPr>
            </p:nvSpPr>
            <p:spPr>
              <a:xfrm>
                <a:off x="838200" y="1825625"/>
                <a:ext cx="10515600" cy="4832350"/>
              </a:xfrm>
            </p:spPr>
            <p:txBody>
              <a:bodyPr>
                <a:normAutofit/>
              </a:bodyPr>
              <a:lstStyle/>
              <a:p>
                <a:r>
                  <a:rPr lang="en-US" sz="2400" dirty="0"/>
                  <a:t>The system </a:t>
                </a:r>
                <a14:m>
                  <m:oMath xmlns:m="http://schemas.openxmlformats.org/officeDocument/2006/math">
                    <m:r>
                      <a:rPr lang="en-CA" sz="2400" i="1">
                        <a:latin typeface="Cambria Math" panose="02040503050406030204" pitchFamily="18" charset="0"/>
                      </a:rPr>
                      <m:t>𝑆</m:t>
                    </m:r>
                    <m:r>
                      <a:rPr lang="en-CA" sz="2400" i="1">
                        <a:latin typeface="Cambria Math" panose="02040503050406030204" pitchFamily="18" charset="0"/>
                      </a:rPr>
                      <m:t> </m:t>
                    </m:r>
                  </m:oMath>
                </a14:m>
                <a:r>
                  <a:rPr lang="en-CA" sz="2400" dirty="0"/>
                  <a:t>can undergo transformations, which can change the state.</a:t>
                </a:r>
              </a:p>
              <a:p>
                <a:endParaRPr lang="en-CA" sz="1100" dirty="0"/>
              </a:p>
              <a:p>
                <a:r>
                  <a:rPr lang="en-CA" sz="2400" dirty="0"/>
                  <a:t>The transformation </a:t>
                </a:r>
                <a14:m>
                  <m:oMath xmlns:m="http://schemas.openxmlformats.org/officeDocument/2006/math">
                    <m:r>
                      <a:rPr lang="en-CA" sz="2400" b="0" i="1" smtClean="0">
                        <a:latin typeface="Cambria Math" panose="02040503050406030204" pitchFamily="18" charset="0"/>
                      </a:rPr>
                      <m:t>𝑅</m:t>
                    </m:r>
                  </m:oMath>
                </a14:m>
                <a:r>
                  <a:rPr lang="en-CA" sz="2400" dirty="0"/>
                  <a:t> </a:t>
                </a:r>
                <a:r>
                  <a:rPr lang="en-CA" sz="2400" b="1" i="1" dirty="0"/>
                  <a:t>acts</a:t>
                </a:r>
                <a:r>
                  <a:rPr lang="en-CA" sz="2400" dirty="0"/>
                  <a:t> on the state </a:t>
                </a:r>
                <a14:m>
                  <m:oMath xmlns:m="http://schemas.openxmlformats.org/officeDocument/2006/math">
                    <m:r>
                      <a:rPr lang="en-CA" sz="2400" b="0" i="1" smtClean="0">
                        <a:latin typeface="Cambria Math" panose="02040503050406030204" pitchFamily="18" charset="0"/>
                      </a:rPr>
                      <m:t>|</m:t>
                    </m:r>
                    <m:r>
                      <a:rPr lang="en-CA" sz="2400" b="0" i="1" smtClean="0">
                        <a:latin typeface="Cambria Math" panose="02040503050406030204" pitchFamily="18" charset="0"/>
                      </a:rPr>
                      <m:t>𝑥</m:t>
                    </m:r>
                    <m:r>
                      <a:rPr lang="en-CA" sz="2400" b="0" i="1" smtClean="0">
                        <a:latin typeface="Cambria Math" panose="02040503050406030204" pitchFamily="18" charset="0"/>
                      </a:rPr>
                      <m:t>⟩</m:t>
                    </m:r>
                  </m:oMath>
                </a14:m>
                <a:r>
                  <a:rPr lang="en-CA" sz="2400" dirty="0"/>
                  <a:t> to yield updated state </a:t>
                </a:r>
                <a14:m>
                  <m:oMath xmlns:m="http://schemas.openxmlformats.org/officeDocument/2006/math">
                    <m:d>
                      <m:dPr>
                        <m:begChr m:val="|"/>
                        <m:endChr m:val="⟩"/>
                        <m:ctrlPr>
                          <a:rPr lang="en-CA" sz="2400" b="0" i="1" smtClean="0">
                            <a:latin typeface="Cambria Math" panose="02040503050406030204" pitchFamily="18" charset="0"/>
                          </a:rPr>
                        </m:ctrlPr>
                      </m:dPr>
                      <m:e>
                        <m:r>
                          <a:rPr lang="en-CA" sz="2400" b="0" i="1" smtClean="0">
                            <a:latin typeface="Cambria Math" panose="02040503050406030204" pitchFamily="18" charset="0"/>
                          </a:rPr>
                          <m:t>𝑦</m:t>
                        </m:r>
                      </m:e>
                    </m:d>
                  </m:oMath>
                </a14:m>
                <a:r>
                  <a:rPr lang="en-CA" sz="2400" dirty="0"/>
                  <a:t/>
                </a:r>
                <a:br>
                  <a:rPr lang="en-CA" sz="2400" dirty="0"/>
                </a:br>
                <a:r>
                  <a:rPr lang="en-CA" sz="1200" dirty="0"/>
                  <a:t/>
                </a:r>
                <a:br>
                  <a:rPr lang="en-CA" sz="1200" dirty="0"/>
                </a:br>
                <a14:m>
                  <m:oMath xmlns:m="http://schemas.openxmlformats.org/officeDocument/2006/math">
                    <m:d>
                      <m:dPr>
                        <m:begChr m:val="|"/>
                        <m:endChr m:val="⟩"/>
                        <m:ctrlPr>
                          <a:rPr lang="en-CA" sz="2400" b="0" i="1" smtClean="0">
                            <a:latin typeface="Cambria Math" panose="02040503050406030204" pitchFamily="18" charset="0"/>
                          </a:rPr>
                        </m:ctrlPr>
                      </m:dPr>
                      <m:e>
                        <m:r>
                          <a:rPr lang="en-CA" sz="2400" b="0" i="1" smtClean="0">
                            <a:latin typeface="Cambria Math" panose="02040503050406030204" pitchFamily="18" charset="0"/>
                          </a:rPr>
                          <m:t>𝑦</m:t>
                        </m:r>
                      </m:e>
                    </m:d>
                    <m:r>
                      <a:rPr lang="en-CA" sz="2400" b="0" i="1" smtClean="0">
                        <a:latin typeface="Cambria Math" panose="02040503050406030204" pitchFamily="18" charset="0"/>
                      </a:rPr>
                      <m:t>=</m:t>
                    </m:r>
                    <m:r>
                      <a:rPr lang="en-CA" sz="2400" b="0" i="1" smtClean="0">
                        <a:latin typeface="Cambria Math" panose="02040503050406030204" pitchFamily="18" charset="0"/>
                      </a:rPr>
                      <m:t>𝑅</m:t>
                    </m:r>
                    <m:r>
                      <a:rPr lang="en-CA" sz="2400" b="0" i="1" smtClean="0">
                        <a:latin typeface="Cambria Math" panose="02040503050406030204" pitchFamily="18" charset="0"/>
                      </a:rPr>
                      <m:t>|</m:t>
                    </m:r>
                    <m:r>
                      <a:rPr lang="en-CA" sz="2400" b="0" i="1" smtClean="0">
                        <a:latin typeface="Cambria Math" panose="02040503050406030204" pitchFamily="18" charset="0"/>
                      </a:rPr>
                      <m:t>𝑥</m:t>
                    </m:r>
                    <m:r>
                      <a:rPr lang="en-CA" sz="2400" b="0" i="1" smtClean="0">
                        <a:latin typeface="Cambria Math" panose="02040503050406030204" pitchFamily="18" charset="0"/>
                      </a:rPr>
                      <m:t>⟩</m:t>
                    </m:r>
                  </m:oMath>
                </a14:m>
                <a:endParaRPr lang="en-CA" sz="2400" dirty="0"/>
              </a:p>
              <a:p>
                <a:endParaRPr lang="en-CA" sz="1000" dirty="0"/>
              </a:p>
              <a:p>
                <a:r>
                  <a:rPr lang="en-CA" sz="2400" dirty="0"/>
                  <a:t>There exists </a:t>
                </a:r>
                <a:r>
                  <a:rPr lang="en-CA" sz="2400" dirty="0" smtClean="0"/>
                  <a:t>the </a:t>
                </a:r>
                <a:r>
                  <a:rPr lang="en-CA" sz="2400" b="1" i="1" dirty="0" smtClean="0"/>
                  <a:t>identity </a:t>
                </a:r>
                <a:r>
                  <a:rPr lang="en-CA" sz="2400" dirty="0"/>
                  <a:t>transformation </a:t>
                </a:r>
                <a14:m>
                  <m:oMath xmlns:m="http://schemas.openxmlformats.org/officeDocument/2006/math">
                    <m:r>
                      <a:rPr lang="en-CA" sz="2400" b="0" i="1" smtClean="0">
                        <a:latin typeface="Cambria Math" panose="02040503050406030204" pitchFamily="18" charset="0"/>
                      </a:rPr>
                      <m:t>𝐼</m:t>
                    </m:r>
                  </m:oMath>
                </a14:m>
                <a:r>
                  <a:rPr lang="en-CA" sz="2400" dirty="0"/>
                  <a:t> that leaves state unchanged:</a:t>
                </a:r>
                <a:br>
                  <a:rPr lang="en-CA" sz="2400" dirty="0"/>
                </a:br>
                <a:r>
                  <a:rPr lang="en-CA" sz="2400" dirty="0"/>
                  <a:t/>
                </a:r>
                <a:br>
                  <a:rPr lang="en-CA" sz="2400" dirty="0"/>
                </a:br>
                <a14:m>
                  <m:oMath xmlns:m="http://schemas.openxmlformats.org/officeDocument/2006/math">
                    <m:d>
                      <m:dPr>
                        <m:begChr m:val="|"/>
                        <m:endChr m:val="⟩"/>
                        <m:ctrlPr>
                          <a:rPr lang="en-CA" sz="2400" b="0" i="1" smtClean="0">
                            <a:latin typeface="Cambria Math" panose="02040503050406030204" pitchFamily="18" charset="0"/>
                          </a:rPr>
                        </m:ctrlPr>
                      </m:dPr>
                      <m:e>
                        <m:r>
                          <a:rPr lang="en-CA" sz="2400" b="0" i="1" smtClean="0">
                            <a:latin typeface="Cambria Math" panose="02040503050406030204" pitchFamily="18" charset="0"/>
                          </a:rPr>
                          <m:t>𝑥</m:t>
                        </m:r>
                      </m:e>
                    </m:d>
                    <m:r>
                      <a:rPr lang="en-CA" sz="2400" b="0" i="1" smtClean="0">
                        <a:latin typeface="Cambria Math" panose="02040503050406030204" pitchFamily="18" charset="0"/>
                      </a:rPr>
                      <m:t>=</m:t>
                    </m:r>
                    <m:r>
                      <a:rPr lang="en-CA" sz="2400" b="0" i="1" smtClean="0">
                        <a:latin typeface="Cambria Math" panose="02040503050406030204" pitchFamily="18" charset="0"/>
                      </a:rPr>
                      <m:t>𝐼</m:t>
                    </m:r>
                    <m:d>
                      <m:dPr>
                        <m:begChr m:val="|"/>
                        <m:endChr m:val="⟩"/>
                        <m:ctrlPr>
                          <a:rPr lang="en-CA" sz="2400" b="0" i="1" smtClean="0">
                            <a:latin typeface="Cambria Math" panose="02040503050406030204" pitchFamily="18" charset="0"/>
                          </a:rPr>
                        </m:ctrlPr>
                      </m:dPr>
                      <m:e>
                        <m:r>
                          <a:rPr lang="en-CA" sz="2400" b="0" i="1" smtClean="0">
                            <a:latin typeface="Cambria Math" panose="02040503050406030204" pitchFamily="18" charset="0"/>
                          </a:rPr>
                          <m:t>𝑥</m:t>
                        </m:r>
                      </m:e>
                    </m:d>
                  </m:oMath>
                </a14:m>
                <a:r>
                  <a:rPr lang="en-CA" sz="2400" dirty="0"/>
                  <a:t/>
                </a:r>
                <a:br>
                  <a:rPr lang="en-CA" sz="2400" dirty="0"/>
                </a:br>
                <a:r>
                  <a:rPr lang="en-CA" sz="400" dirty="0"/>
                  <a:t/>
                </a:r>
                <a:br>
                  <a:rPr lang="en-CA" sz="400" dirty="0"/>
                </a:br>
                <a:endParaRPr lang="en-CA" sz="2400" dirty="0"/>
              </a:p>
              <a:p>
                <a:r>
                  <a:rPr lang="en-CA" sz="2400" dirty="0"/>
                  <a:t>Can combine transformations </a:t>
                </a:r>
                <a14:m>
                  <m:oMath xmlns:m="http://schemas.openxmlformats.org/officeDocument/2006/math">
                    <m:r>
                      <a:rPr lang="en-CA" sz="2400" b="0" i="1" smtClean="0">
                        <a:latin typeface="Cambria Math" panose="02040503050406030204" pitchFamily="18" charset="0"/>
                      </a:rPr>
                      <m:t>𝑅</m:t>
                    </m:r>
                  </m:oMath>
                </a14:m>
                <a:r>
                  <a:rPr lang="en-CA" sz="2400" dirty="0"/>
                  <a:t> and </a:t>
                </a:r>
                <a14:m>
                  <m:oMath xmlns:m="http://schemas.openxmlformats.org/officeDocument/2006/math">
                    <m:r>
                      <a:rPr lang="en-CA" sz="2400" b="0" i="1" smtClean="0">
                        <a:latin typeface="Cambria Math" panose="02040503050406030204" pitchFamily="18" charset="0"/>
                      </a:rPr>
                      <m:t>𝑈</m:t>
                    </m:r>
                  </m:oMath>
                </a14:m>
                <a:r>
                  <a:rPr lang="en-CA" sz="2400" dirty="0"/>
                  <a:t> to get transformation </a:t>
                </a:r>
                <a14:m>
                  <m:oMath xmlns:m="http://schemas.openxmlformats.org/officeDocument/2006/math">
                    <m:r>
                      <a:rPr lang="en-CA" sz="2400" b="0" i="1" smtClean="0">
                        <a:latin typeface="Cambria Math" panose="02040503050406030204" pitchFamily="18" charset="0"/>
                      </a:rPr>
                      <m:t>𝑈𝑅</m:t>
                    </m:r>
                  </m:oMath>
                </a14:m>
                <a:r>
                  <a:rPr lang="en-CA" sz="2400" dirty="0"/>
                  <a:t/>
                </a:r>
                <a:br>
                  <a:rPr lang="en-CA" sz="2400" dirty="0"/>
                </a:br>
                <a:r>
                  <a:rPr lang="en-CA" sz="2400" dirty="0"/>
                  <a:t/>
                </a:r>
                <a:br>
                  <a:rPr lang="en-CA" sz="2400" dirty="0"/>
                </a:br>
                <a14:m>
                  <m:oMath xmlns:m="http://schemas.openxmlformats.org/officeDocument/2006/math">
                    <m:d>
                      <m:dPr>
                        <m:begChr m:val="|"/>
                        <m:endChr m:val="⟩"/>
                        <m:ctrlPr>
                          <a:rPr lang="en-CA" sz="2400" b="0" i="1" smtClean="0">
                            <a:latin typeface="Cambria Math" panose="02040503050406030204" pitchFamily="18" charset="0"/>
                          </a:rPr>
                        </m:ctrlPr>
                      </m:dPr>
                      <m:e>
                        <m:r>
                          <m:rPr>
                            <m:sty m:val="p"/>
                          </m:rPr>
                          <a:rPr lang="en-CA" sz="2400" b="0" i="0" smtClean="0">
                            <a:latin typeface="Cambria Math" panose="02040503050406030204" pitchFamily="18" charset="0"/>
                          </a:rPr>
                          <m:t>z</m:t>
                        </m:r>
                      </m:e>
                    </m:d>
                    <m:r>
                      <a:rPr lang="en-CA" sz="2400" b="0" i="1" smtClean="0">
                        <a:latin typeface="Cambria Math" panose="02040503050406030204" pitchFamily="18" charset="0"/>
                      </a:rPr>
                      <m:t>=</m:t>
                    </m:r>
                    <m:r>
                      <a:rPr lang="en-CA" sz="2400" b="0" i="1" smtClean="0">
                        <a:latin typeface="Cambria Math" panose="02040503050406030204" pitchFamily="18" charset="0"/>
                      </a:rPr>
                      <m:t>𝑈𝑅</m:t>
                    </m:r>
                    <m:d>
                      <m:dPr>
                        <m:begChr m:val="|"/>
                        <m:endChr m:val="⟩"/>
                        <m:ctrlPr>
                          <a:rPr lang="en-CA" sz="2400" b="0" i="1" smtClean="0">
                            <a:latin typeface="Cambria Math" panose="02040503050406030204" pitchFamily="18" charset="0"/>
                          </a:rPr>
                        </m:ctrlPr>
                      </m:dPr>
                      <m:e>
                        <m:r>
                          <a:rPr lang="en-CA" sz="2400" b="0" i="1" smtClean="0">
                            <a:latin typeface="Cambria Math" panose="02040503050406030204" pitchFamily="18" charset="0"/>
                          </a:rPr>
                          <m:t>𝑥</m:t>
                        </m:r>
                      </m:e>
                    </m:d>
                    <m:r>
                      <a:rPr lang="en-CA" sz="2400" b="0" i="1" smtClean="0">
                        <a:latin typeface="Cambria Math" panose="02040503050406030204" pitchFamily="18" charset="0"/>
                      </a:rPr>
                      <m:t>=</m:t>
                    </m:r>
                    <m:r>
                      <a:rPr lang="en-CA" sz="2400" b="0" i="1" smtClean="0">
                        <a:latin typeface="Cambria Math" panose="02040503050406030204" pitchFamily="18" charset="0"/>
                      </a:rPr>
                      <m:t>𝑈</m:t>
                    </m:r>
                    <m:d>
                      <m:dPr>
                        <m:ctrlPr>
                          <a:rPr lang="en-CA" sz="2400" b="0" i="1" smtClean="0">
                            <a:latin typeface="Cambria Math" panose="02040503050406030204" pitchFamily="18" charset="0"/>
                          </a:rPr>
                        </m:ctrlPr>
                      </m:dPr>
                      <m:e>
                        <m:r>
                          <a:rPr lang="en-CA" sz="2400" b="0" i="1" smtClean="0">
                            <a:latin typeface="Cambria Math" panose="02040503050406030204" pitchFamily="18" charset="0"/>
                          </a:rPr>
                          <m:t>𝑅</m:t>
                        </m:r>
                        <m:r>
                          <a:rPr lang="en-CA" sz="2400" b="0" i="1" smtClean="0">
                            <a:latin typeface="Cambria Math" panose="02040503050406030204" pitchFamily="18" charset="0"/>
                          </a:rPr>
                          <m:t>|</m:t>
                        </m:r>
                        <m:r>
                          <a:rPr lang="en-CA" sz="2400" b="0" i="1" smtClean="0">
                            <a:latin typeface="Cambria Math" panose="02040503050406030204" pitchFamily="18" charset="0"/>
                          </a:rPr>
                          <m:t>𝑥</m:t>
                        </m:r>
                        <m:r>
                          <a:rPr lang="en-CA" sz="2400" b="0" i="1" smtClean="0">
                            <a:latin typeface="Cambria Math" panose="02040503050406030204" pitchFamily="18" charset="0"/>
                          </a:rPr>
                          <m:t>⟩</m:t>
                        </m:r>
                      </m:e>
                    </m:d>
                    <m:r>
                      <a:rPr lang="en-CA" sz="2400" b="0" i="1" smtClean="0">
                        <a:latin typeface="Cambria Math" panose="02040503050406030204" pitchFamily="18" charset="0"/>
                      </a:rPr>
                      <m:t>=</m:t>
                    </m:r>
                    <m:r>
                      <a:rPr lang="en-CA" sz="2400" b="0" i="1" smtClean="0">
                        <a:latin typeface="Cambria Math" panose="02040503050406030204" pitchFamily="18" charset="0"/>
                      </a:rPr>
                      <m:t>𝑈</m:t>
                    </m:r>
                    <m:r>
                      <a:rPr lang="en-CA" sz="2400" b="0" i="1" smtClean="0">
                        <a:latin typeface="Cambria Math" panose="02040503050406030204" pitchFamily="18" charset="0"/>
                      </a:rPr>
                      <m:t>|</m:t>
                    </m:r>
                    <m:r>
                      <a:rPr lang="en-CA" sz="2400" b="0" i="1" smtClean="0">
                        <a:latin typeface="Cambria Math" panose="02040503050406030204" pitchFamily="18" charset="0"/>
                      </a:rPr>
                      <m:t>𝑦</m:t>
                    </m:r>
                    <m:r>
                      <a:rPr lang="en-CA" sz="2400" b="0" i="1" smtClean="0">
                        <a:latin typeface="Cambria Math" panose="02040503050406030204" pitchFamily="18" charset="0"/>
                      </a:rPr>
                      <m:t>⟩</m:t>
                    </m:r>
                  </m:oMath>
                </a14:m>
                <a:endParaRPr lang="en-CA" sz="2400" dirty="0"/>
              </a:p>
            </p:txBody>
          </p:sp>
        </mc:Choice>
        <mc:Fallback xmlns="">
          <p:sp>
            <p:nvSpPr>
              <p:cNvPr id="3" name="Content Placeholder 2">
                <a:extLst>
                  <a:ext uri="{FF2B5EF4-FFF2-40B4-BE49-F238E27FC236}">
                    <a16:creationId xmlns:a16="http://schemas.microsoft.com/office/drawing/2014/main" id="{61AA8FCB-12CC-692A-1B75-ED3ACF8A8CF2}"/>
                  </a:ext>
                </a:extLst>
              </p:cNvPr>
              <p:cNvSpPr>
                <a:spLocks noGrp="1" noRot="1" noChangeAspect="1" noMove="1" noResize="1" noEditPoints="1" noAdjustHandles="1" noChangeArrowheads="1" noChangeShapeType="1" noTextEdit="1"/>
              </p:cNvSpPr>
              <p:nvPr>
                <p:ph idx="1"/>
              </p:nvPr>
            </p:nvSpPr>
            <p:spPr>
              <a:xfrm>
                <a:off x="838200" y="1825625"/>
                <a:ext cx="10515600" cy="4832350"/>
              </a:xfrm>
              <a:blipFill>
                <a:blip r:embed="rId2"/>
                <a:stretch>
                  <a:fillRect l="-812" t="-1765"/>
                </a:stretch>
              </a:blipFill>
            </p:spPr>
            <p:txBody>
              <a:bodyPr/>
              <a:lstStyle/>
              <a:p>
                <a:r>
                  <a:rPr lang="ko-KR" altLang="en-US">
                    <a:noFill/>
                  </a:rPr>
                  <a:t> </a:t>
                </a:r>
              </a:p>
            </p:txBody>
          </p:sp>
        </mc:Fallback>
      </mc:AlternateContent>
      <p:sp>
        <p:nvSpPr>
          <p:cNvPr id="4" name="Cube 3">
            <a:extLst>
              <a:ext uri="{FF2B5EF4-FFF2-40B4-BE49-F238E27FC236}">
                <a16:creationId xmlns:a16="http://schemas.microsoft.com/office/drawing/2014/main" id="{A3DB8FBF-DDA5-EF19-6A06-4B6073251B82}"/>
              </a:ext>
            </a:extLst>
          </p:cNvPr>
          <p:cNvSpPr/>
          <p:nvPr/>
        </p:nvSpPr>
        <p:spPr>
          <a:xfrm>
            <a:off x="9729749" y="4492591"/>
            <a:ext cx="1165473" cy="1185033"/>
          </a:xfrm>
          <a:prstGeom prst="cub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mc:AlternateContent xmlns:mc="http://schemas.openxmlformats.org/markup-compatibility/2006" xmlns:a14="http://schemas.microsoft.com/office/drawing/2010/main">
        <mc:Choice Requires="a14">
          <p:sp>
            <p:nvSpPr>
              <p:cNvPr id="5" name="Rectangle 4">
                <a:extLst>
                  <a:ext uri="{FF2B5EF4-FFF2-40B4-BE49-F238E27FC236}">
                    <a16:creationId xmlns:a16="http://schemas.microsoft.com/office/drawing/2014/main" id="{7F19ADC0-6961-8176-452B-9E6239B70570}"/>
                  </a:ext>
                </a:extLst>
              </p:cNvPr>
              <p:cNvSpPr/>
              <p:nvPr/>
            </p:nvSpPr>
            <p:spPr>
              <a:xfrm>
                <a:off x="10014885" y="5942568"/>
                <a:ext cx="363881" cy="369332"/>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r>
                        <a:rPr lang="en-CA" i="1">
                          <a:latin typeface="Cambria Math" panose="02040503050406030204" pitchFamily="18" charset="0"/>
                        </a:rPr>
                        <m:t>𝑆</m:t>
                      </m:r>
                    </m:oMath>
                  </m:oMathPara>
                </a14:m>
                <a:endParaRPr lang="en-US" dirty="0"/>
              </a:p>
            </p:txBody>
          </p:sp>
        </mc:Choice>
        <mc:Fallback xmlns="">
          <p:sp>
            <p:nvSpPr>
              <p:cNvPr id="5" name="Rectangle 4">
                <a:extLst>
                  <a:ext uri="{FF2B5EF4-FFF2-40B4-BE49-F238E27FC236}">
                    <a16:creationId xmlns:a16="http://schemas.microsoft.com/office/drawing/2014/main" id="{7F19ADC0-6961-8176-452B-9E6239B70570}"/>
                  </a:ext>
                </a:extLst>
              </p:cNvPr>
              <p:cNvSpPr>
                <a:spLocks noRot="1" noChangeAspect="1" noMove="1" noResize="1" noEditPoints="1" noAdjustHandles="1" noChangeArrowheads="1" noChangeShapeType="1" noTextEdit="1"/>
              </p:cNvSpPr>
              <p:nvPr/>
            </p:nvSpPr>
            <p:spPr>
              <a:xfrm>
                <a:off x="10014885" y="5942568"/>
                <a:ext cx="363881" cy="369332"/>
              </a:xfrm>
              <a:prstGeom prst="rect">
                <a:avLst/>
              </a:prstGeom>
              <a:blipFill>
                <a:blip r:embed="rId3"/>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8" name="TextBox 7">
                <a:extLst>
                  <a:ext uri="{FF2B5EF4-FFF2-40B4-BE49-F238E27FC236}">
                    <a16:creationId xmlns:a16="http://schemas.microsoft.com/office/drawing/2014/main" id="{19768C4C-C4E6-1097-6A7D-CB469C0E8D4D}"/>
                  </a:ext>
                </a:extLst>
              </p:cNvPr>
              <p:cNvSpPr txBox="1"/>
              <p:nvPr/>
            </p:nvSpPr>
            <p:spPr>
              <a:xfrm>
                <a:off x="9875911" y="5085107"/>
                <a:ext cx="641827" cy="369332"/>
              </a:xfrm>
              <a:prstGeom prst="rect">
                <a:avLst/>
              </a:prstGeom>
              <a:solidFill>
                <a:schemeClr val="bg1"/>
              </a:solidFill>
            </p:spPr>
            <p:txBody>
              <a:bodyPr wrap="square" rtlCol="0">
                <a:spAutoFit/>
              </a:bodyPr>
              <a:lstStyle/>
              <a:p>
                <a:pPr/>
                <a14:m>
                  <m:oMathPara xmlns:m="http://schemas.openxmlformats.org/officeDocument/2006/math">
                    <m:oMathParaPr>
                      <m:jc m:val="centerGroup"/>
                    </m:oMathParaPr>
                    <m:oMath xmlns:m="http://schemas.openxmlformats.org/officeDocument/2006/math">
                      <m:r>
                        <a:rPr lang="en-CA" b="0" i="1" smtClean="0">
                          <a:latin typeface="Cambria Math" panose="02040503050406030204" pitchFamily="18" charset="0"/>
                        </a:rPr>
                        <m:t>|</m:t>
                      </m:r>
                      <m:r>
                        <a:rPr lang="en-CA" b="0" i="1" smtClean="0">
                          <a:latin typeface="Cambria Math" panose="02040503050406030204" pitchFamily="18" charset="0"/>
                        </a:rPr>
                        <m:t>𝑦</m:t>
                      </m:r>
                      <m:r>
                        <a:rPr lang="en-CA" b="0" i="1" smtClean="0">
                          <a:latin typeface="Cambria Math" panose="02040503050406030204" pitchFamily="18" charset="0"/>
                        </a:rPr>
                        <m:t>⟩</m:t>
                      </m:r>
                    </m:oMath>
                  </m:oMathPara>
                </a14:m>
                <a:endParaRPr lang="en-US" dirty="0"/>
              </a:p>
            </p:txBody>
          </p:sp>
        </mc:Choice>
        <mc:Fallback xmlns="">
          <p:sp>
            <p:nvSpPr>
              <p:cNvPr id="8" name="TextBox 7">
                <a:extLst>
                  <a:ext uri="{FF2B5EF4-FFF2-40B4-BE49-F238E27FC236}">
                    <a16:creationId xmlns:a16="http://schemas.microsoft.com/office/drawing/2014/main" id="{19768C4C-C4E6-1097-6A7D-CB469C0E8D4D}"/>
                  </a:ext>
                </a:extLst>
              </p:cNvPr>
              <p:cNvSpPr txBox="1">
                <a:spLocks noRot="1" noChangeAspect="1" noMove="1" noResize="1" noEditPoints="1" noAdjustHandles="1" noChangeArrowheads="1" noChangeShapeType="1" noTextEdit="1"/>
              </p:cNvSpPr>
              <p:nvPr/>
            </p:nvSpPr>
            <p:spPr>
              <a:xfrm>
                <a:off x="9875911" y="5085107"/>
                <a:ext cx="641827" cy="369332"/>
              </a:xfrm>
              <a:prstGeom prst="rect">
                <a:avLst/>
              </a:prstGeom>
              <a:blipFill>
                <a:blip r:embed="rId4"/>
                <a:stretch>
                  <a:fillRect b="-13333"/>
                </a:stretch>
              </a:blipFill>
            </p:spPr>
            <p:txBody>
              <a:bodyPr/>
              <a:lstStyle/>
              <a:p>
                <a:r>
                  <a:rPr lang="en-US">
                    <a:noFill/>
                  </a:rPr>
                  <a:t> </a:t>
                </a:r>
              </a:p>
            </p:txBody>
          </p:sp>
        </mc:Fallback>
      </mc:AlternateContent>
    </p:spTree>
    <p:extLst>
      <p:ext uri="{BB962C8B-B14F-4D97-AF65-F5344CB8AC3E}">
        <p14:creationId xmlns:p14="http://schemas.microsoft.com/office/powerpoint/2010/main" val="332131096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5EA996C-B5F6-B594-B19D-FDB3BDDBA4D7}"/>
              </a:ext>
            </a:extLst>
          </p:cNvPr>
          <p:cNvSpPr>
            <a:spLocks noGrp="1"/>
          </p:cNvSpPr>
          <p:nvPr>
            <p:ph type="title"/>
          </p:nvPr>
        </p:nvSpPr>
        <p:spPr/>
        <p:txBody>
          <a:bodyPr>
            <a:normAutofit/>
          </a:bodyPr>
          <a:lstStyle/>
          <a:p>
            <a:r>
              <a:rPr lang="en-US" sz="4000" dirty="0"/>
              <a:t>Reversible classical information processing</a:t>
            </a:r>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61AA8FCB-12CC-692A-1B75-ED3ACF8A8CF2}"/>
                  </a:ext>
                </a:extLst>
              </p:cNvPr>
              <p:cNvSpPr>
                <a:spLocks noGrp="1"/>
              </p:cNvSpPr>
              <p:nvPr>
                <p:ph idx="1"/>
              </p:nvPr>
            </p:nvSpPr>
            <p:spPr>
              <a:xfrm>
                <a:off x="838200" y="1825625"/>
                <a:ext cx="10515600" cy="4832350"/>
              </a:xfrm>
            </p:spPr>
            <p:txBody>
              <a:bodyPr>
                <a:normAutofit/>
              </a:bodyPr>
              <a:lstStyle/>
              <a:p>
                <a:r>
                  <a:rPr lang="en-CA" sz="2400" dirty="0"/>
                  <a:t>All transformations </a:t>
                </a:r>
                <a14:m>
                  <m:oMath xmlns:m="http://schemas.openxmlformats.org/officeDocument/2006/math">
                    <m:r>
                      <a:rPr lang="en-CA" sz="2400" b="0" i="1" smtClean="0">
                        <a:latin typeface="Cambria Math" panose="02040503050406030204" pitchFamily="18" charset="0"/>
                      </a:rPr>
                      <m:t>𝑅</m:t>
                    </m:r>
                    <m:r>
                      <a:rPr lang="en-CA" sz="2400" i="1" smtClean="0">
                        <a:latin typeface="Cambria Math" panose="02040503050406030204" pitchFamily="18" charset="0"/>
                      </a:rPr>
                      <m:t> </m:t>
                    </m:r>
                  </m:oMath>
                </a14:m>
                <a:r>
                  <a:rPr lang="en-CA" sz="2400" dirty="0"/>
                  <a:t>must be </a:t>
                </a:r>
                <a:r>
                  <a:rPr lang="en-CA" sz="2400" b="1" dirty="0"/>
                  <a:t>reversible</a:t>
                </a:r>
                <a:r>
                  <a:rPr lang="en-CA" sz="2400" dirty="0"/>
                  <a:t>. </a:t>
                </a:r>
              </a:p>
              <a:p>
                <a:r>
                  <a:rPr lang="en-CA" sz="2400" dirty="0"/>
                  <a:t>Equivalently: </a:t>
                </a:r>
                <a14:m>
                  <m:oMath xmlns:m="http://schemas.openxmlformats.org/officeDocument/2006/math">
                    <m:r>
                      <a:rPr lang="en-CA" sz="2400" b="0" i="1" smtClean="0">
                        <a:latin typeface="Cambria Math" panose="02040503050406030204" pitchFamily="18" charset="0"/>
                      </a:rPr>
                      <m:t>𝑅</m:t>
                    </m:r>
                  </m:oMath>
                </a14:m>
                <a:r>
                  <a:rPr lang="en-CA" sz="2400" dirty="0"/>
                  <a:t> is a bijection between </a:t>
                </a:r>
                <a14:m>
                  <m:oMath xmlns:m="http://schemas.openxmlformats.org/officeDocument/2006/math">
                    <m:r>
                      <a:rPr lang="en-CA" sz="2400" b="0" i="1" smtClean="0">
                        <a:latin typeface="Cambria Math" panose="02040503050406030204" pitchFamily="18" charset="0"/>
                      </a:rPr>
                      <m:t>{0,1,…,</m:t>
                    </m:r>
                    <m:r>
                      <a:rPr lang="en-CA" sz="2400" b="0" i="1" smtClean="0">
                        <a:latin typeface="Cambria Math" panose="02040503050406030204" pitchFamily="18" charset="0"/>
                      </a:rPr>
                      <m:t>𝑑</m:t>
                    </m:r>
                    <m:r>
                      <a:rPr lang="en-CA" sz="2400" b="0" i="1" smtClean="0">
                        <a:latin typeface="Cambria Math" panose="02040503050406030204" pitchFamily="18" charset="0"/>
                      </a:rPr>
                      <m:t>−1}</m:t>
                    </m:r>
                  </m:oMath>
                </a14:m>
                <a:endParaRPr lang="en-CA" b="0" i="1" dirty="0">
                  <a:latin typeface="Cambria Math" panose="02040503050406030204" pitchFamily="18" charset="0"/>
                </a:endParaRPr>
              </a:p>
              <a:p>
                <a:r>
                  <a:rPr lang="en-CA" sz="2400" dirty="0"/>
                  <a:t>Equivalently: </a:t>
                </a:r>
                <a14:m>
                  <m:oMath xmlns:m="http://schemas.openxmlformats.org/officeDocument/2006/math">
                    <m:r>
                      <a:rPr lang="en-CA" sz="2400" b="0" i="1" smtClean="0">
                        <a:latin typeface="Cambria Math" panose="02040503050406030204" pitchFamily="18" charset="0"/>
                      </a:rPr>
                      <m:t>𝑅</m:t>
                    </m:r>
                  </m:oMath>
                </a14:m>
                <a:r>
                  <a:rPr lang="en-CA" sz="2400" dirty="0"/>
                  <a:t> is a permutation</a:t>
                </a:r>
                <a:endParaRPr lang="en-CA" b="0" dirty="0"/>
              </a:p>
              <a:p>
                <a:r>
                  <a:rPr lang="en-CA" sz="2400" dirty="0"/>
                  <a:t>Equivalently: </a:t>
                </a:r>
                <a:r>
                  <a:rPr lang="en-CA" sz="2400" b="0" dirty="0"/>
                  <a:t>there exists </a:t>
                </a:r>
                <a:r>
                  <a:rPr lang="en-CA" sz="2400" b="1" dirty="0"/>
                  <a:t>inverse </a:t>
                </a:r>
                <a14:m>
                  <m:oMath xmlns:m="http://schemas.openxmlformats.org/officeDocument/2006/math">
                    <m:sSup>
                      <m:sSupPr>
                        <m:ctrlPr>
                          <a:rPr lang="en-CA" sz="2400" b="0" i="1" smtClean="0">
                            <a:latin typeface="Cambria Math" panose="02040503050406030204" pitchFamily="18" charset="0"/>
                          </a:rPr>
                        </m:ctrlPr>
                      </m:sSupPr>
                      <m:e>
                        <m:r>
                          <a:rPr lang="en-CA" sz="2400" b="0" i="1" smtClean="0">
                            <a:latin typeface="Cambria Math" panose="02040503050406030204" pitchFamily="18" charset="0"/>
                          </a:rPr>
                          <m:t>𝑅</m:t>
                        </m:r>
                      </m:e>
                      <m:sup>
                        <m:r>
                          <a:rPr lang="en-CA" sz="2400" b="0" i="1" smtClean="0">
                            <a:latin typeface="Cambria Math" panose="02040503050406030204" pitchFamily="18" charset="0"/>
                          </a:rPr>
                          <m:t>−1</m:t>
                        </m:r>
                      </m:sup>
                    </m:sSup>
                  </m:oMath>
                </a14:m>
                <a:r>
                  <a:rPr lang="en-CA" sz="2400" dirty="0"/>
                  <a:t> so that </a:t>
                </a:r>
                <a14:m>
                  <m:oMath xmlns:m="http://schemas.openxmlformats.org/officeDocument/2006/math">
                    <m:sSup>
                      <m:sSupPr>
                        <m:ctrlPr>
                          <a:rPr lang="en-CA" sz="2400" b="0" i="1" smtClean="0">
                            <a:latin typeface="Cambria Math" panose="02040503050406030204" pitchFamily="18" charset="0"/>
                          </a:rPr>
                        </m:ctrlPr>
                      </m:sSupPr>
                      <m:e>
                        <m:r>
                          <a:rPr lang="en-CA" sz="2400" b="0" i="1" smtClean="0">
                            <a:latin typeface="Cambria Math" panose="02040503050406030204" pitchFamily="18" charset="0"/>
                          </a:rPr>
                          <m:t>𝑅</m:t>
                        </m:r>
                      </m:e>
                      <m:sup>
                        <m:r>
                          <a:rPr lang="en-CA" sz="2400" b="0" i="1" smtClean="0">
                            <a:latin typeface="Cambria Math" panose="02040503050406030204" pitchFamily="18" charset="0"/>
                          </a:rPr>
                          <m:t>−1</m:t>
                        </m:r>
                      </m:sup>
                    </m:sSup>
                    <m:r>
                      <a:rPr lang="en-CA" sz="2400" b="0" i="1" smtClean="0">
                        <a:latin typeface="Cambria Math" panose="02040503050406030204" pitchFamily="18" charset="0"/>
                      </a:rPr>
                      <m:t>𝑅</m:t>
                    </m:r>
                    <m:r>
                      <a:rPr lang="en-CA" sz="2400" b="0" i="0" smtClean="0">
                        <a:latin typeface="Cambria Math" panose="02040503050406030204" pitchFamily="18" charset="0"/>
                      </a:rPr>
                      <m:t>=</m:t>
                    </m:r>
                    <m:r>
                      <a:rPr lang="en-CA" sz="2400" b="0" i="1" smtClean="0">
                        <a:latin typeface="Cambria Math" panose="02040503050406030204" pitchFamily="18" charset="0"/>
                      </a:rPr>
                      <m:t>𝑅</m:t>
                    </m:r>
                    <m:sSup>
                      <m:sSupPr>
                        <m:ctrlPr>
                          <a:rPr lang="en-CA" sz="2400" b="0" i="1" smtClean="0">
                            <a:latin typeface="Cambria Math" panose="02040503050406030204" pitchFamily="18" charset="0"/>
                          </a:rPr>
                        </m:ctrlPr>
                      </m:sSupPr>
                      <m:e>
                        <m:r>
                          <a:rPr lang="en-CA" sz="2400" b="0" i="1" smtClean="0">
                            <a:latin typeface="Cambria Math" panose="02040503050406030204" pitchFamily="18" charset="0"/>
                          </a:rPr>
                          <m:t>𝑅</m:t>
                        </m:r>
                      </m:e>
                      <m:sup>
                        <m:r>
                          <a:rPr lang="en-CA" sz="2400" b="0" i="1" smtClean="0">
                            <a:latin typeface="Cambria Math" panose="02040503050406030204" pitchFamily="18" charset="0"/>
                          </a:rPr>
                          <m:t>−1</m:t>
                        </m:r>
                      </m:sup>
                    </m:sSup>
                    <m:r>
                      <a:rPr lang="en-CA" sz="2400" b="0" i="1" smtClean="0">
                        <a:latin typeface="Cambria Math" panose="02040503050406030204" pitchFamily="18" charset="0"/>
                      </a:rPr>
                      <m:t>=</m:t>
                    </m:r>
                    <m:r>
                      <a:rPr lang="en-CA" sz="2400" b="0" i="1" smtClean="0">
                        <a:latin typeface="Cambria Math" panose="02040503050406030204" pitchFamily="18" charset="0"/>
                      </a:rPr>
                      <m:t>𝐼</m:t>
                    </m:r>
                  </m:oMath>
                </a14:m>
                <a:r>
                  <a:rPr lang="en-CA" sz="2400" dirty="0"/>
                  <a:t>:</a:t>
                </a:r>
                <a:br>
                  <a:rPr lang="en-CA" sz="2400" dirty="0"/>
                </a:br>
                <a:r>
                  <a:rPr lang="en-CA" sz="2400" dirty="0"/>
                  <a:t/>
                </a:r>
                <a:br>
                  <a:rPr lang="en-CA" sz="2400" dirty="0"/>
                </a:br>
                <a14:m>
                  <m:oMath xmlns:m="http://schemas.openxmlformats.org/officeDocument/2006/math">
                    <m:d>
                      <m:dPr>
                        <m:begChr m:val="|"/>
                        <m:endChr m:val="⟩"/>
                        <m:ctrlPr>
                          <a:rPr lang="en-CA" sz="2400" b="0" i="1" smtClean="0">
                            <a:latin typeface="Cambria Math" panose="02040503050406030204" pitchFamily="18" charset="0"/>
                          </a:rPr>
                        </m:ctrlPr>
                      </m:dPr>
                      <m:e>
                        <m:r>
                          <a:rPr lang="en-CA" sz="2400" b="0" i="1" smtClean="0">
                            <a:latin typeface="Cambria Math" panose="02040503050406030204" pitchFamily="18" charset="0"/>
                          </a:rPr>
                          <m:t>𝑥</m:t>
                        </m:r>
                      </m:e>
                    </m:d>
                    <m:r>
                      <a:rPr lang="en-CA" sz="2400" b="0" i="1" smtClean="0">
                        <a:latin typeface="Cambria Math" panose="02040503050406030204" pitchFamily="18" charset="0"/>
                      </a:rPr>
                      <m:t>=</m:t>
                    </m:r>
                    <m:sSup>
                      <m:sSupPr>
                        <m:ctrlPr>
                          <a:rPr lang="en-CA" sz="2400" b="0" i="1" smtClean="0">
                            <a:latin typeface="Cambria Math" panose="02040503050406030204" pitchFamily="18" charset="0"/>
                          </a:rPr>
                        </m:ctrlPr>
                      </m:sSupPr>
                      <m:e>
                        <m:r>
                          <a:rPr lang="en-CA" sz="2400" b="0" i="1" smtClean="0">
                            <a:latin typeface="Cambria Math" panose="02040503050406030204" pitchFamily="18" charset="0"/>
                          </a:rPr>
                          <m:t>𝑅</m:t>
                        </m:r>
                      </m:e>
                      <m:sup>
                        <m:r>
                          <a:rPr lang="en-CA" sz="2400" b="0" i="1" smtClean="0">
                            <a:latin typeface="Cambria Math" panose="02040503050406030204" pitchFamily="18" charset="0"/>
                          </a:rPr>
                          <m:t>−1</m:t>
                        </m:r>
                      </m:sup>
                    </m:sSup>
                    <m:r>
                      <a:rPr lang="en-CA" sz="2400" b="0" i="1" smtClean="0">
                        <a:latin typeface="Cambria Math" panose="02040503050406030204" pitchFamily="18" charset="0"/>
                      </a:rPr>
                      <m:t>𝑅</m:t>
                    </m:r>
                    <m:d>
                      <m:dPr>
                        <m:begChr m:val="|"/>
                        <m:endChr m:val="⟩"/>
                        <m:ctrlPr>
                          <a:rPr lang="en-CA" sz="2400" b="0" i="1" smtClean="0">
                            <a:latin typeface="Cambria Math" panose="02040503050406030204" pitchFamily="18" charset="0"/>
                          </a:rPr>
                        </m:ctrlPr>
                      </m:dPr>
                      <m:e>
                        <m:r>
                          <a:rPr lang="en-CA" sz="2400" b="0" i="1" smtClean="0">
                            <a:latin typeface="Cambria Math" panose="02040503050406030204" pitchFamily="18" charset="0"/>
                          </a:rPr>
                          <m:t>𝑥</m:t>
                        </m:r>
                      </m:e>
                    </m:d>
                    <m:r>
                      <a:rPr lang="en-CA" sz="2400" b="0" i="1" smtClean="0">
                        <a:latin typeface="Cambria Math" panose="02040503050406030204" pitchFamily="18" charset="0"/>
                      </a:rPr>
                      <m:t>=</m:t>
                    </m:r>
                    <m:r>
                      <a:rPr lang="en-CA" sz="2400" b="0" i="1" smtClean="0">
                        <a:latin typeface="Cambria Math" panose="02040503050406030204" pitchFamily="18" charset="0"/>
                      </a:rPr>
                      <m:t>𝑅</m:t>
                    </m:r>
                    <m:sSup>
                      <m:sSupPr>
                        <m:ctrlPr>
                          <a:rPr lang="en-CA" sz="2400" b="0" i="1" smtClean="0">
                            <a:latin typeface="Cambria Math" panose="02040503050406030204" pitchFamily="18" charset="0"/>
                          </a:rPr>
                        </m:ctrlPr>
                      </m:sSupPr>
                      <m:e>
                        <m:r>
                          <a:rPr lang="en-CA" sz="2400" b="0" i="1" smtClean="0">
                            <a:latin typeface="Cambria Math" panose="02040503050406030204" pitchFamily="18" charset="0"/>
                          </a:rPr>
                          <m:t>𝑅</m:t>
                        </m:r>
                      </m:e>
                      <m:sup>
                        <m:r>
                          <a:rPr lang="en-CA" sz="2400" b="0" i="1" smtClean="0">
                            <a:latin typeface="Cambria Math" panose="02040503050406030204" pitchFamily="18" charset="0"/>
                          </a:rPr>
                          <m:t>−1</m:t>
                        </m:r>
                      </m:sup>
                    </m:sSup>
                    <m:r>
                      <a:rPr lang="en-CA" sz="2400" b="0" i="1" smtClean="0">
                        <a:latin typeface="Cambria Math" panose="02040503050406030204" pitchFamily="18" charset="0"/>
                      </a:rPr>
                      <m:t>|</m:t>
                    </m:r>
                    <m:r>
                      <a:rPr lang="en-CA" sz="2400" b="0" i="1" smtClean="0">
                        <a:latin typeface="Cambria Math" panose="02040503050406030204" pitchFamily="18" charset="0"/>
                      </a:rPr>
                      <m:t>𝑥</m:t>
                    </m:r>
                    <m:r>
                      <a:rPr lang="en-CA" sz="2400" b="0" i="1" smtClean="0">
                        <a:latin typeface="Cambria Math" panose="02040503050406030204" pitchFamily="18" charset="0"/>
                      </a:rPr>
                      <m:t>⟩</m:t>
                    </m:r>
                  </m:oMath>
                </a14:m>
                <a:r>
                  <a:rPr lang="en-CA" sz="2400" dirty="0"/>
                  <a:t/>
                </a:r>
                <a:br>
                  <a:rPr lang="en-CA" sz="2400" dirty="0"/>
                </a:br>
                <a:endParaRPr lang="en-CA" sz="2400" dirty="0"/>
              </a:p>
              <a:p>
                <a:endParaRPr lang="en-CA" sz="2400" dirty="0"/>
              </a:p>
            </p:txBody>
          </p:sp>
        </mc:Choice>
        <mc:Fallback xmlns="">
          <p:sp>
            <p:nvSpPr>
              <p:cNvPr id="3" name="Content Placeholder 2">
                <a:extLst>
                  <a:ext uri="{FF2B5EF4-FFF2-40B4-BE49-F238E27FC236}">
                    <a16:creationId xmlns:a16="http://schemas.microsoft.com/office/drawing/2014/main" id="{61AA8FCB-12CC-692A-1B75-ED3ACF8A8CF2}"/>
                  </a:ext>
                </a:extLst>
              </p:cNvPr>
              <p:cNvSpPr>
                <a:spLocks noGrp="1" noRot="1" noChangeAspect="1" noMove="1" noResize="1" noEditPoints="1" noAdjustHandles="1" noChangeArrowheads="1" noChangeShapeType="1" noTextEdit="1"/>
              </p:cNvSpPr>
              <p:nvPr>
                <p:ph idx="1"/>
              </p:nvPr>
            </p:nvSpPr>
            <p:spPr>
              <a:xfrm>
                <a:off x="838200" y="1825625"/>
                <a:ext cx="10515600" cy="4832350"/>
              </a:xfrm>
              <a:blipFill>
                <a:blip r:embed="rId2"/>
                <a:stretch>
                  <a:fillRect l="-844" t="-1571"/>
                </a:stretch>
              </a:blipFill>
            </p:spPr>
            <p:txBody>
              <a:bodyPr/>
              <a:lstStyle/>
              <a:p>
                <a:r>
                  <a:rPr lang="en-US">
                    <a:noFill/>
                  </a:rPr>
                  <a:t> </a:t>
                </a:r>
              </a:p>
            </p:txBody>
          </p:sp>
        </mc:Fallback>
      </mc:AlternateContent>
      <p:sp>
        <p:nvSpPr>
          <p:cNvPr id="4" name="Cube 3">
            <a:extLst>
              <a:ext uri="{FF2B5EF4-FFF2-40B4-BE49-F238E27FC236}">
                <a16:creationId xmlns:a16="http://schemas.microsoft.com/office/drawing/2014/main" id="{A3DB8FBF-DDA5-EF19-6A06-4B6073251B82}"/>
              </a:ext>
            </a:extLst>
          </p:cNvPr>
          <p:cNvSpPr/>
          <p:nvPr/>
        </p:nvSpPr>
        <p:spPr>
          <a:xfrm>
            <a:off x="9729749" y="4492591"/>
            <a:ext cx="1165473" cy="1185033"/>
          </a:xfrm>
          <a:prstGeom prst="cub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mc:AlternateContent xmlns:mc="http://schemas.openxmlformats.org/markup-compatibility/2006" xmlns:a14="http://schemas.microsoft.com/office/drawing/2010/main">
        <mc:Choice Requires="a14">
          <p:sp>
            <p:nvSpPr>
              <p:cNvPr id="5" name="Rectangle 4">
                <a:extLst>
                  <a:ext uri="{FF2B5EF4-FFF2-40B4-BE49-F238E27FC236}">
                    <a16:creationId xmlns:a16="http://schemas.microsoft.com/office/drawing/2014/main" id="{7F19ADC0-6961-8176-452B-9E6239B70570}"/>
                  </a:ext>
                </a:extLst>
              </p:cNvPr>
              <p:cNvSpPr/>
              <p:nvPr/>
            </p:nvSpPr>
            <p:spPr>
              <a:xfrm>
                <a:off x="10014885" y="5942568"/>
                <a:ext cx="363881" cy="369332"/>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r>
                        <a:rPr lang="en-CA" i="1">
                          <a:latin typeface="Cambria Math" panose="02040503050406030204" pitchFamily="18" charset="0"/>
                        </a:rPr>
                        <m:t>𝑆</m:t>
                      </m:r>
                    </m:oMath>
                  </m:oMathPara>
                </a14:m>
                <a:endParaRPr lang="en-US" dirty="0"/>
              </a:p>
            </p:txBody>
          </p:sp>
        </mc:Choice>
        <mc:Fallback xmlns="">
          <p:sp>
            <p:nvSpPr>
              <p:cNvPr id="5" name="Rectangle 4">
                <a:extLst>
                  <a:ext uri="{FF2B5EF4-FFF2-40B4-BE49-F238E27FC236}">
                    <a16:creationId xmlns:a16="http://schemas.microsoft.com/office/drawing/2014/main" id="{7F19ADC0-6961-8176-452B-9E6239B70570}"/>
                  </a:ext>
                </a:extLst>
              </p:cNvPr>
              <p:cNvSpPr>
                <a:spLocks noRot="1" noChangeAspect="1" noMove="1" noResize="1" noEditPoints="1" noAdjustHandles="1" noChangeArrowheads="1" noChangeShapeType="1" noTextEdit="1"/>
              </p:cNvSpPr>
              <p:nvPr/>
            </p:nvSpPr>
            <p:spPr>
              <a:xfrm>
                <a:off x="10014885" y="5942568"/>
                <a:ext cx="363881" cy="369332"/>
              </a:xfrm>
              <a:prstGeom prst="rect">
                <a:avLst/>
              </a:prstGeom>
              <a:blipFill>
                <a:blip r:embed="rId3"/>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8" name="TextBox 7">
                <a:extLst>
                  <a:ext uri="{FF2B5EF4-FFF2-40B4-BE49-F238E27FC236}">
                    <a16:creationId xmlns:a16="http://schemas.microsoft.com/office/drawing/2014/main" id="{19768C4C-C4E6-1097-6A7D-CB469C0E8D4D}"/>
                  </a:ext>
                </a:extLst>
              </p:cNvPr>
              <p:cNvSpPr txBox="1"/>
              <p:nvPr/>
            </p:nvSpPr>
            <p:spPr>
              <a:xfrm>
                <a:off x="9875911" y="5085107"/>
                <a:ext cx="641827" cy="369332"/>
              </a:xfrm>
              <a:prstGeom prst="rect">
                <a:avLst/>
              </a:prstGeom>
              <a:solidFill>
                <a:schemeClr val="bg1"/>
              </a:solidFill>
            </p:spPr>
            <p:txBody>
              <a:bodyPr wrap="square" rtlCol="0">
                <a:spAutoFit/>
              </a:bodyPr>
              <a:lstStyle/>
              <a:p>
                <a:pPr/>
                <a14:m>
                  <m:oMathPara xmlns:m="http://schemas.openxmlformats.org/officeDocument/2006/math">
                    <m:oMathParaPr>
                      <m:jc m:val="centerGroup"/>
                    </m:oMathParaPr>
                    <m:oMath xmlns:m="http://schemas.openxmlformats.org/officeDocument/2006/math">
                      <m:r>
                        <a:rPr lang="en-CA" b="0" i="1" smtClean="0">
                          <a:latin typeface="Cambria Math" panose="02040503050406030204" pitchFamily="18" charset="0"/>
                        </a:rPr>
                        <m:t>|</m:t>
                      </m:r>
                      <m:r>
                        <a:rPr lang="en-CA" b="0" i="1" smtClean="0">
                          <a:latin typeface="Cambria Math" panose="02040503050406030204" pitchFamily="18" charset="0"/>
                        </a:rPr>
                        <m:t>𝑦</m:t>
                      </m:r>
                      <m:r>
                        <a:rPr lang="en-CA" b="0" i="1" smtClean="0">
                          <a:latin typeface="Cambria Math" panose="02040503050406030204" pitchFamily="18" charset="0"/>
                        </a:rPr>
                        <m:t>⟩</m:t>
                      </m:r>
                    </m:oMath>
                  </m:oMathPara>
                </a14:m>
                <a:endParaRPr lang="en-US" dirty="0"/>
              </a:p>
            </p:txBody>
          </p:sp>
        </mc:Choice>
        <mc:Fallback xmlns="">
          <p:sp>
            <p:nvSpPr>
              <p:cNvPr id="8" name="TextBox 7">
                <a:extLst>
                  <a:ext uri="{FF2B5EF4-FFF2-40B4-BE49-F238E27FC236}">
                    <a16:creationId xmlns:a16="http://schemas.microsoft.com/office/drawing/2014/main" id="{19768C4C-C4E6-1097-6A7D-CB469C0E8D4D}"/>
                  </a:ext>
                </a:extLst>
              </p:cNvPr>
              <p:cNvSpPr txBox="1">
                <a:spLocks noRot="1" noChangeAspect="1" noMove="1" noResize="1" noEditPoints="1" noAdjustHandles="1" noChangeArrowheads="1" noChangeShapeType="1" noTextEdit="1"/>
              </p:cNvSpPr>
              <p:nvPr/>
            </p:nvSpPr>
            <p:spPr>
              <a:xfrm>
                <a:off x="9875911" y="5085107"/>
                <a:ext cx="641827" cy="369332"/>
              </a:xfrm>
              <a:prstGeom prst="rect">
                <a:avLst/>
              </a:prstGeom>
              <a:blipFill>
                <a:blip r:embed="rId4"/>
                <a:stretch>
                  <a:fillRect b="-13333"/>
                </a:stretch>
              </a:blipFill>
            </p:spPr>
            <p:txBody>
              <a:bodyPr/>
              <a:lstStyle/>
              <a:p>
                <a:r>
                  <a:rPr lang="en-US">
                    <a:noFill/>
                  </a:rPr>
                  <a:t> </a:t>
                </a:r>
              </a:p>
            </p:txBody>
          </p:sp>
        </mc:Fallback>
      </mc:AlternateContent>
      <p:sp>
        <p:nvSpPr>
          <p:cNvPr id="6" name="Rectangle 5">
            <a:extLst>
              <a:ext uri="{FF2B5EF4-FFF2-40B4-BE49-F238E27FC236}">
                <a16:creationId xmlns:a16="http://schemas.microsoft.com/office/drawing/2014/main" id="{EF10A2EC-ACAA-C128-C3A9-F08807D410CB}"/>
              </a:ext>
            </a:extLst>
          </p:cNvPr>
          <p:cNvSpPr/>
          <p:nvPr/>
        </p:nvSpPr>
        <p:spPr>
          <a:xfrm>
            <a:off x="838200" y="4521167"/>
            <a:ext cx="8587829" cy="1217434"/>
          </a:xfrm>
          <a:prstGeom prst="rect">
            <a:avLst/>
          </a:prstGeom>
          <a:solidFill>
            <a:schemeClr val="accent5">
              <a:lumMod val="20000"/>
              <a:lumOff val="80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mc:AlternateContent xmlns:mc="http://schemas.openxmlformats.org/markup-compatibility/2006" xmlns:a14="http://schemas.microsoft.com/office/drawing/2010/main">
        <mc:Choice Requires="a14">
          <p:sp>
            <p:nvSpPr>
              <p:cNvPr id="7" name="TextBox 6">
                <a:extLst>
                  <a:ext uri="{FF2B5EF4-FFF2-40B4-BE49-F238E27FC236}">
                    <a16:creationId xmlns:a16="http://schemas.microsoft.com/office/drawing/2014/main" id="{E2E1F01A-EA7A-1C93-7459-1EC7FC66C995}"/>
                  </a:ext>
                </a:extLst>
              </p:cNvPr>
              <p:cNvSpPr txBox="1"/>
              <p:nvPr/>
            </p:nvSpPr>
            <p:spPr>
              <a:xfrm>
                <a:off x="956776" y="4527197"/>
                <a:ext cx="1905977" cy="1077218"/>
              </a:xfrm>
              <a:prstGeom prst="rect">
                <a:avLst/>
              </a:prstGeom>
              <a:noFill/>
            </p:spPr>
            <p:txBody>
              <a:bodyPr wrap="square" rtlCol="0">
                <a:spAutoFit/>
              </a:bodyPr>
              <a:lstStyle/>
              <a:p>
                <a:r>
                  <a:rPr lang="en-CA" sz="2400" b="1" dirty="0">
                    <a:solidFill>
                      <a:srgbClr val="C00000"/>
                    </a:solidFill>
                  </a:rPr>
                  <a:t>NO: </a:t>
                </a:r>
              </a:p>
              <a:p>
                <a:pPr lvl="1"/>
                <a14:m>
                  <m:oMathPara xmlns:m="http://schemas.openxmlformats.org/officeDocument/2006/math">
                    <m:oMathParaPr>
                      <m:jc m:val="centerGroup"/>
                    </m:oMathParaPr>
                    <m:oMath xmlns:m="http://schemas.openxmlformats.org/officeDocument/2006/math">
                      <m:d>
                        <m:dPr>
                          <m:begChr m:val="|"/>
                          <m:endChr m:val="⟩"/>
                          <m:ctrlPr>
                            <a:rPr lang="en-CA" sz="2000" b="0" i="1" smtClean="0">
                              <a:latin typeface="Cambria Math" panose="02040503050406030204" pitchFamily="18" charset="0"/>
                            </a:rPr>
                          </m:ctrlPr>
                        </m:dPr>
                        <m:e>
                          <m:r>
                            <a:rPr lang="en-CA" sz="2000" b="0" i="1" smtClean="0">
                              <a:latin typeface="Cambria Math" panose="02040503050406030204" pitchFamily="18" charset="0"/>
                            </a:rPr>
                            <m:t>0</m:t>
                          </m:r>
                        </m:e>
                      </m:d>
                      <m:r>
                        <a:rPr lang="en-CA" sz="2000" b="0" i="1" smtClean="0">
                          <a:latin typeface="Cambria Math" panose="02040503050406030204" pitchFamily="18" charset="0"/>
                        </a:rPr>
                        <m:t>↦</m:t>
                      </m:r>
                      <m:d>
                        <m:dPr>
                          <m:begChr m:val="|"/>
                          <m:endChr m:val="⟩"/>
                          <m:ctrlPr>
                            <a:rPr lang="en-CA" sz="2000" b="0" i="1" smtClean="0">
                              <a:latin typeface="Cambria Math" panose="02040503050406030204" pitchFamily="18" charset="0"/>
                            </a:rPr>
                          </m:ctrlPr>
                        </m:dPr>
                        <m:e>
                          <m:r>
                            <a:rPr lang="en-CA" sz="2000" b="0" i="1" smtClean="0">
                              <a:latin typeface="Cambria Math" panose="02040503050406030204" pitchFamily="18" charset="0"/>
                            </a:rPr>
                            <m:t>0</m:t>
                          </m:r>
                        </m:e>
                      </m:d>
                    </m:oMath>
                  </m:oMathPara>
                </a14:m>
                <a:endParaRPr lang="en-CA" sz="2000" b="0" dirty="0"/>
              </a:p>
              <a:p>
                <a:pPr lvl="1"/>
                <a14:m>
                  <m:oMathPara xmlns:m="http://schemas.openxmlformats.org/officeDocument/2006/math">
                    <m:oMathParaPr>
                      <m:jc m:val="centerGroup"/>
                    </m:oMathParaPr>
                    <m:oMath xmlns:m="http://schemas.openxmlformats.org/officeDocument/2006/math">
                      <m:d>
                        <m:dPr>
                          <m:begChr m:val="|"/>
                          <m:endChr m:val="⟩"/>
                          <m:ctrlPr>
                            <a:rPr lang="en-CA" sz="2000" b="0" i="1" smtClean="0">
                              <a:latin typeface="Cambria Math" panose="02040503050406030204" pitchFamily="18" charset="0"/>
                            </a:rPr>
                          </m:ctrlPr>
                        </m:dPr>
                        <m:e>
                          <m:r>
                            <a:rPr lang="en-CA" sz="2000" b="0" i="1" smtClean="0">
                              <a:latin typeface="Cambria Math" panose="02040503050406030204" pitchFamily="18" charset="0"/>
                            </a:rPr>
                            <m:t>1</m:t>
                          </m:r>
                        </m:e>
                      </m:d>
                      <m:r>
                        <a:rPr lang="en-CA" sz="2000" b="0" i="1" smtClean="0">
                          <a:latin typeface="Cambria Math" panose="02040503050406030204" pitchFamily="18" charset="0"/>
                        </a:rPr>
                        <m:t>↦</m:t>
                      </m:r>
                      <m:d>
                        <m:dPr>
                          <m:begChr m:val="|"/>
                          <m:endChr m:val="⟩"/>
                          <m:ctrlPr>
                            <a:rPr lang="en-CA" sz="2000" b="0" i="1" smtClean="0">
                              <a:latin typeface="Cambria Math" panose="02040503050406030204" pitchFamily="18" charset="0"/>
                            </a:rPr>
                          </m:ctrlPr>
                        </m:dPr>
                        <m:e>
                          <m:r>
                            <a:rPr lang="en-CA" sz="2000" b="0" i="1" smtClean="0">
                              <a:latin typeface="Cambria Math" panose="02040503050406030204" pitchFamily="18" charset="0"/>
                            </a:rPr>
                            <m:t>0</m:t>
                          </m:r>
                        </m:e>
                      </m:d>
                    </m:oMath>
                  </m:oMathPara>
                </a14:m>
                <a:endParaRPr lang="en-CA" b="1" dirty="0">
                  <a:solidFill>
                    <a:srgbClr val="C00000"/>
                  </a:solidFill>
                </a:endParaRPr>
              </a:p>
            </p:txBody>
          </p:sp>
        </mc:Choice>
        <mc:Fallback xmlns="">
          <p:sp>
            <p:nvSpPr>
              <p:cNvPr id="7" name="TextBox 6">
                <a:extLst>
                  <a:ext uri="{FF2B5EF4-FFF2-40B4-BE49-F238E27FC236}">
                    <a16:creationId xmlns:a16="http://schemas.microsoft.com/office/drawing/2014/main" id="{E2E1F01A-EA7A-1C93-7459-1EC7FC66C995}"/>
                  </a:ext>
                </a:extLst>
              </p:cNvPr>
              <p:cNvSpPr txBox="1">
                <a:spLocks noRot="1" noChangeAspect="1" noMove="1" noResize="1" noEditPoints="1" noAdjustHandles="1" noChangeArrowheads="1" noChangeShapeType="1" noTextEdit="1"/>
              </p:cNvSpPr>
              <p:nvPr/>
            </p:nvSpPr>
            <p:spPr>
              <a:xfrm>
                <a:off x="956776" y="4527197"/>
                <a:ext cx="1905977" cy="1077218"/>
              </a:xfrm>
              <a:prstGeom prst="rect">
                <a:avLst/>
              </a:prstGeom>
              <a:blipFill>
                <a:blip r:embed="rId5"/>
                <a:stretch>
                  <a:fillRect l="-5298" t="-4651"/>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9" name="TextBox 8">
                <a:extLst>
                  <a:ext uri="{FF2B5EF4-FFF2-40B4-BE49-F238E27FC236}">
                    <a16:creationId xmlns:a16="http://schemas.microsoft.com/office/drawing/2014/main" id="{2F6A8B72-0DD3-EB3B-FCFA-12B9E4BF366B}"/>
                  </a:ext>
                </a:extLst>
              </p:cNvPr>
              <p:cNvSpPr txBox="1"/>
              <p:nvPr/>
            </p:nvSpPr>
            <p:spPr>
              <a:xfrm>
                <a:off x="3427509" y="4535455"/>
                <a:ext cx="6621517" cy="1354217"/>
              </a:xfrm>
              <a:prstGeom prst="rect">
                <a:avLst/>
              </a:prstGeom>
              <a:noFill/>
            </p:spPr>
            <p:txBody>
              <a:bodyPr wrap="square" rtlCol="0">
                <a:spAutoFit/>
              </a:bodyPr>
              <a:lstStyle/>
              <a:p>
                <a:r>
                  <a:rPr lang="en-CA" sz="2400" b="1" dirty="0">
                    <a:solidFill>
                      <a:srgbClr val="00B050"/>
                    </a:solidFill>
                  </a:rPr>
                  <a:t>YES:</a:t>
                </a:r>
              </a:p>
              <a:p>
                <a:pPr marL="800100" lvl="1" indent="-342900">
                  <a:buFont typeface="Arial" panose="020B0604020202020204" pitchFamily="34" charset="0"/>
                  <a:buChar char="•"/>
                </a:pPr>
                <a:r>
                  <a:rPr lang="en-CA" sz="2000" b="0" dirty="0"/>
                  <a:t>Shift: </a:t>
                </a:r>
                <a14:m>
                  <m:oMath xmlns:m="http://schemas.openxmlformats.org/officeDocument/2006/math">
                    <m:d>
                      <m:dPr>
                        <m:begChr m:val="|"/>
                        <m:endChr m:val="⟩"/>
                        <m:ctrlPr>
                          <a:rPr lang="en-CA" sz="2000" b="0" i="1" smtClean="0">
                            <a:latin typeface="Cambria Math" panose="02040503050406030204" pitchFamily="18" charset="0"/>
                          </a:rPr>
                        </m:ctrlPr>
                      </m:dPr>
                      <m:e>
                        <m:r>
                          <a:rPr lang="en-CA" sz="2000" b="0" i="1" smtClean="0">
                            <a:latin typeface="Cambria Math" panose="02040503050406030204" pitchFamily="18" charset="0"/>
                          </a:rPr>
                          <m:t>𝑎</m:t>
                        </m:r>
                      </m:e>
                    </m:d>
                    <m:r>
                      <a:rPr lang="en-CA" sz="2000" b="0" i="1" smtClean="0">
                        <a:latin typeface="Cambria Math" panose="02040503050406030204" pitchFamily="18" charset="0"/>
                      </a:rPr>
                      <m:t>↦</m:t>
                    </m:r>
                    <m:d>
                      <m:dPr>
                        <m:begChr m:val="|"/>
                        <m:endChr m:val="⟩"/>
                        <m:ctrlPr>
                          <a:rPr lang="en-CA" sz="2000" b="0" i="1" smtClean="0">
                            <a:latin typeface="Cambria Math" panose="02040503050406030204" pitchFamily="18" charset="0"/>
                          </a:rPr>
                        </m:ctrlPr>
                      </m:dPr>
                      <m:e>
                        <m:r>
                          <a:rPr lang="en-CA" sz="2000" b="0" i="1" smtClean="0">
                            <a:latin typeface="Cambria Math" panose="02040503050406030204" pitchFamily="18" charset="0"/>
                          </a:rPr>
                          <m:t>𝑎</m:t>
                        </m:r>
                        <m:r>
                          <a:rPr lang="en-CA" sz="2000" b="0" i="1" smtClean="0">
                            <a:latin typeface="Cambria Math" panose="02040503050406030204" pitchFamily="18" charset="0"/>
                          </a:rPr>
                          <m:t>+1 </m:t>
                        </m:r>
                        <m:r>
                          <a:rPr lang="en-CA" sz="2000" b="0" i="1" smtClean="0">
                            <a:latin typeface="Cambria Math" panose="02040503050406030204" pitchFamily="18" charset="0"/>
                          </a:rPr>
                          <m:t>𝑚𝑜𝑑</m:t>
                        </m:r>
                        <m:r>
                          <a:rPr lang="en-CA" sz="2000" b="0" i="1" smtClean="0">
                            <a:latin typeface="Cambria Math" panose="02040503050406030204" pitchFamily="18" charset="0"/>
                          </a:rPr>
                          <m:t>  </m:t>
                        </m:r>
                        <m:r>
                          <a:rPr lang="en-CA" sz="2000" b="0" i="1" smtClean="0">
                            <a:latin typeface="Cambria Math" panose="02040503050406030204" pitchFamily="18" charset="0"/>
                          </a:rPr>
                          <m:t>𝑑</m:t>
                        </m:r>
                      </m:e>
                    </m:d>
                    <m:r>
                      <a:rPr lang="en-CA" sz="2000" b="0" i="1" smtClean="0">
                        <a:latin typeface="Cambria Math" panose="02040503050406030204" pitchFamily="18" charset="0"/>
                      </a:rPr>
                      <m:t> </m:t>
                    </m:r>
                  </m:oMath>
                </a14:m>
                <a:endParaRPr lang="en-CA" sz="2000" b="0" dirty="0"/>
              </a:p>
              <a:p>
                <a:pPr marL="800100" lvl="1" indent="-342900">
                  <a:buFont typeface="Arial" panose="020B0604020202020204" pitchFamily="34" charset="0"/>
                  <a:buChar char="•"/>
                </a:pPr>
                <a:r>
                  <a:rPr lang="en-CA" sz="2000" dirty="0"/>
                  <a:t>Identity: </a:t>
                </a:r>
                <a14:m>
                  <m:oMath xmlns:m="http://schemas.openxmlformats.org/officeDocument/2006/math">
                    <m:d>
                      <m:dPr>
                        <m:begChr m:val="|"/>
                        <m:endChr m:val="⟩"/>
                        <m:ctrlPr>
                          <a:rPr lang="en-CA" sz="2000" b="0" i="1" smtClean="0">
                            <a:latin typeface="Cambria Math" panose="02040503050406030204" pitchFamily="18" charset="0"/>
                          </a:rPr>
                        </m:ctrlPr>
                      </m:dPr>
                      <m:e>
                        <m:r>
                          <a:rPr lang="en-CA" sz="2000" b="0" i="1" smtClean="0">
                            <a:latin typeface="Cambria Math" panose="02040503050406030204" pitchFamily="18" charset="0"/>
                          </a:rPr>
                          <m:t>𝑎</m:t>
                        </m:r>
                      </m:e>
                    </m:d>
                    <m:r>
                      <a:rPr lang="en-CA" sz="2000" b="0" i="1" smtClean="0">
                        <a:latin typeface="Cambria Math" panose="02040503050406030204" pitchFamily="18" charset="0"/>
                      </a:rPr>
                      <m:t>↦</m:t>
                    </m:r>
                    <m:d>
                      <m:dPr>
                        <m:begChr m:val="|"/>
                        <m:endChr m:val="⟩"/>
                        <m:ctrlPr>
                          <a:rPr lang="en-CA" sz="2000" b="0" i="1" smtClean="0">
                            <a:latin typeface="Cambria Math" panose="02040503050406030204" pitchFamily="18" charset="0"/>
                          </a:rPr>
                        </m:ctrlPr>
                      </m:dPr>
                      <m:e>
                        <m:r>
                          <a:rPr lang="en-CA" sz="2000" b="0" i="1" smtClean="0">
                            <a:latin typeface="Cambria Math" panose="02040503050406030204" pitchFamily="18" charset="0"/>
                          </a:rPr>
                          <m:t>𝑎</m:t>
                        </m:r>
                      </m:e>
                    </m:d>
                    <m:r>
                      <a:rPr lang="en-CA" sz="2000" b="0" i="1" smtClean="0">
                        <a:latin typeface="Cambria Math" panose="02040503050406030204" pitchFamily="18" charset="0"/>
                      </a:rPr>
                      <m:t> </m:t>
                    </m:r>
                  </m:oMath>
                </a14:m>
                <a:endParaRPr lang="en-CA" sz="2000" b="0" dirty="0"/>
              </a:p>
              <a:p>
                <a:endParaRPr lang="en-US" dirty="0"/>
              </a:p>
            </p:txBody>
          </p:sp>
        </mc:Choice>
        <mc:Fallback xmlns="">
          <p:sp>
            <p:nvSpPr>
              <p:cNvPr id="9" name="TextBox 8">
                <a:extLst>
                  <a:ext uri="{FF2B5EF4-FFF2-40B4-BE49-F238E27FC236}">
                    <a16:creationId xmlns:a16="http://schemas.microsoft.com/office/drawing/2014/main" id="{2F6A8B72-0DD3-EB3B-FCFA-12B9E4BF366B}"/>
                  </a:ext>
                </a:extLst>
              </p:cNvPr>
              <p:cNvSpPr txBox="1">
                <a:spLocks noRot="1" noChangeAspect="1" noMove="1" noResize="1" noEditPoints="1" noAdjustHandles="1" noChangeArrowheads="1" noChangeShapeType="1" noTextEdit="1"/>
              </p:cNvSpPr>
              <p:nvPr/>
            </p:nvSpPr>
            <p:spPr>
              <a:xfrm>
                <a:off x="3427509" y="4535455"/>
                <a:ext cx="6621517" cy="1354217"/>
              </a:xfrm>
              <a:prstGeom prst="rect">
                <a:avLst/>
              </a:prstGeom>
              <a:blipFill>
                <a:blip r:embed="rId6"/>
                <a:stretch>
                  <a:fillRect l="-1338" t="-3738"/>
                </a:stretch>
              </a:blipFill>
            </p:spPr>
            <p:txBody>
              <a:bodyPr/>
              <a:lstStyle/>
              <a:p>
                <a:r>
                  <a:rPr lang="en-US">
                    <a:noFill/>
                  </a:rPr>
                  <a:t> </a:t>
                </a:r>
              </a:p>
            </p:txBody>
          </p:sp>
        </mc:Fallback>
      </mc:AlternateContent>
    </p:spTree>
    <p:extLst>
      <p:ext uri="{BB962C8B-B14F-4D97-AF65-F5344CB8AC3E}">
        <p14:creationId xmlns:p14="http://schemas.microsoft.com/office/powerpoint/2010/main" val="241503049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6"/>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7"/>
                                        </p:tgtEl>
                                        <p:attrNameLst>
                                          <p:attrName>style.visibility</p:attrName>
                                        </p:attrNameLst>
                                      </p:cBhvr>
                                      <p:to>
                                        <p:strVal val="visible"/>
                                      </p:to>
                                    </p:set>
                                  </p:childTnLst>
                                </p:cTn>
                              </p:par>
                              <p:par>
                                <p:cTn id="21" presetID="1" presetClass="entr" presetSubtype="0" fill="hold" grpId="0" nodeType="withEffect">
                                  <p:stCondLst>
                                    <p:cond delay="0"/>
                                  </p:stCondLst>
                                  <p:childTnLst>
                                    <p:set>
                                      <p:cBhvr>
                                        <p:cTn id="22" dur="1" fill="hold">
                                          <p:stCondLst>
                                            <p:cond delay="0"/>
                                          </p:stCondLst>
                                        </p:cTn>
                                        <p:tgtEl>
                                          <p:spTgt spid="9"/>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animBg="1"/>
      <p:bldP spid="7" grpId="0"/>
      <p:bldP spid="9" grpId="0"/>
    </p:bld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제목 1"/>
          <p:cNvSpPr>
            <a:spLocks noGrp="1"/>
          </p:cNvSpPr>
          <p:nvPr>
            <p:ph type="title"/>
          </p:nvPr>
        </p:nvSpPr>
        <p:spPr/>
        <p:txBody>
          <a:bodyPr/>
          <a:lstStyle/>
          <a:p>
            <a:r>
              <a:rPr lang="en-US" altLang="ko-KR" dirty="0" smtClean="0"/>
              <a:t>Summary for the single system</a:t>
            </a:r>
            <a:endParaRPr lang="ko-KR" altLang="en-US" dirty="0"/>
          </a:p>
        </p:txBody>
      </p:sp>
      <mc:AlternateContent xmlns:mc="http://schemas.openxmlformats.org/markup-compatibility/2006" xmlns:a14="http://schemas.microsoft.com/office/drawing/2010/main">
        <mc:Choice Requires="a14">
          <p:sp>
            <p:nvSpPr>
              <p:cNvPr id="3" name="내용 개체 틀 2"/>
              <p:cNvSpPr>
                <a:spLocks noGrp="1"/>
              </p:cNvSpPr>
              <p:nvPr>
                <p:ph idx="1"/>
              </p:nvPr>
            </p:nvSpPr>
            <p:spPr/>
            <p:txBody>
              <a:bodyPr>
                <a:normAutofit/>
              </a:bodyPr>
              <a:lstStyle/>
              <a:p>
                <a:r>
                  <a:rPr lang="en-US" altLang="ko-KR" sz="2400" dirty="0" smtClean="0"/>
                  <a:t>A </a:t>
                </a:r>
                <a14:m>
                  <m:oMath xmlns:m="http://schemas.openxmlformats.org/officeDocument/2006/math">
                    <m:r>
                      <a:rPr lang="en-CA" altLang="ko-KR" sz="2400" i="1">
                        <a:latin typeface="Cambria Math" panose="02040503050406030204" pitchFamily="18" charset="0"/>
                      </a:rPr>
                      <m:t>𝑑</m:t>
                    </m:r>
                  </m:oMath>
                </a14:m>
                <a:r>
                  <a:rPr lang="en-US" altLang="ko-KR" sz="2400" dirty="0" smtClean="0"/>
                  <a:t>-</a:t>
                </a:r>
                <a:r>
                  <a:rPr lang="en-US" altLang="ko-KR" sz="2400" dirty="0" err="1" smtClean="0"/>
                  <a:t>dimsional</a:t>
                </a:r>
                <a:r>
                  <a:rPr lang="en-US" altLang="ko-KR" sz="2400" dirty="0" smtClean="0"/>
                  <a:t> system </a:t>
                </a:r>
                <a14:m>
                  <m:oMath xmlns:m="http://schemas.openxmlformats.org/officeDocument/2006/math">
                    <m:r>
                      <a:rPr lang="en-US" altLang="ko-KR" sz="2400" b="0" i="1" smtClean="0">
                        <a:latin typeface="Cambria Math" panose="02040503050406030204" pitchFamily="18" charset="0"/>
                      </a:rPr>
                      <m:t>𝑆</m:t>
                    </m:r>
                  </m:oMath>
                </a14:m>
                <a:r>
                  <a:rPr lang="en-US" altLang="ko-KR" sz="2400" dirty="0" smtClean="0"/>
                  <a:t> stores one of the states </a:t>
                </a:r>
                <a:endParaRPr lang="en-US" altLang="ko-KR" sz="2400" i="1" dirty="0" smtClean="0">
                  <a:latin typeface="Cambria Math" panose="02040503050406030204" pitchFamily="18" charset="0"/>
                </a:endParaRPr>
              </a:p>
              <a:p>
                <a:pPr marL="0" indent="0">
                  <a:buNone/>
                </a:pPr>
                <a14:m>
                  <m:oMathPara xmlns:m="http://schemas.openxmlformats.org/officeDocument/2006/math">
                    <m:oMathParaPr>
                      <m:jc m:val="centerGroup"/>
                    </m:oMathParaPr>
                    <m:oMath xmlns:m="http://schemas.openxmlformats.org/officeDocument/2006/math">
                      <m:d>
                        <m:dPr>
                          <m:begChr m:val="|"/>
                          <m:endChr m:val="⟩"/>
                          <m:ctrlPr>
                            <a:rPr lang="en-CA" altLang="ko-KR" sz="2400" i="1">
                              <a:latin typeface="Cambria Math" panose="02040503050406030204" pitchFamily="18" charset="0"/>
                            </a:rPr>
                          </m:ctrlPr>
                        </m:dPr>
                        <m:e>
                          <m:r>
                            <a:rPr lang="en-CA" altLang="ko-KR" sz="2400" i="1">
                              <a:latin typeface="Cambria Math" panose="02040503050406030204" pitchFamily="18" charset="0"/>
                            </a:rPr>
                            <m:t>0</m:t>
                          </m:r>
                        </m:e>
                      </m:d>
                      <m:r>
                        <a:rPr lang="en-CA" altLang="ko-KR" sz="2400" i="1">
                          <a:latin typeface="Cambria Math" panose="02040503050406030204" pitchFamily="18" charset="0"/>
                        </a:rPr>
                        <m:t>,…,|</m:t>
                      </m:r>
                      <m:r>
                        <a:rPr lang="en-CA" altLang="ko-KR" sz="2400" i="1">
                          <a:latin typeface="Cambria Math" panose="02040503050406030204" pitchFamily="18" charset="0"/>
                        </a:rPr>
                        <m:t>𝑑</m:t>
                      </m:r>
                      <m:r>
                        <a:rPr lang="en-CA" altLang="ko-KR" sz="2400" i="1">
                          <a:latin typeface="Cambria Math" panose="02040503050406030204" pitchFamily="18" charset="0"/>
                        </a:rPr>
                        <m:t>−1⟩</m:t>
                      </m:r>
                    </m:oMath>
                  </m:oMathPara>
                </a14:m>
                <a:endParaRPr lang="en-US" altLang="ko-KR" sz="2400" dirty="0" smtClean="0"/>
              </a:p>
              <a:p>
                <a:pPr marL="0" indent="0">
                  <a:buNone/>
                </a:pPr>
                <a:r>
                  <a:rPr lang="en-US" altLang="ko-KR" sz="2400" dirty="0" smtClean="0"/>
                  <a:t>which is sometimes denoted by </a:t>
                </a:r>
                <a14:m>
                  <m:oMath xmlns:m="http://schemas.openxmlformats.org/officeDocument/2006/math">
                    <m:sSub>
                      <m:sSubPr>
                        <m:ctrlPr>
                          <a:rPr lang="en-US" altLang="ko-KR" sz="2400" b="0" i="1" smtClean="0">
                            <a:latin typeface="Cambria Math" panose="02040503050406030204" pitchFamily="18" charset="0"/>
                          </a:rPr>
                        </m:ctrlPr>
                      </m:sSubPr>
                      <m:e>
                        <m:d>
                          <m:dPr>
                            <m:begChr m:val="|"/>
                            <m:endChr m:val="⟩"/>
                            <m:ctrlPr>
                              <a:rPr lang="en-US" altLang="ko-KR" sz="2400" b="0" i="1" smtClean="0">
                                <a:latin typeface="Cambria Math" panose="02040503050406030204" pitchFamily="18" charset="0"/>
                              </a:rPr>
                            </m:ctrlPr>
                          </m:dPr>
                          <m:e>
                            <m:r>
                              <a:rPr lang="en-US" altLang="ko-KR" sz="2400" b="0" i="1" smtClean="0">
                                <a:latin typeface="Cambria Math" panose="02040503050406030204" pitchFamily="18" charset="0"/>
                              </a:rPr>
                              <m:t>𝑥</m:t>
                            </m:r>
                          </m:e>
                        </m:d>
                      </m:e>
                      <m:sub>
                        <m:r>
                          <a:rPr lang="en-US" altLang="ko-KR" sz="2400" b="0" i="1" smtClean="0">
                            <a:latin typeface="Cambria Math" panose="02040503050406030204" pitchFamily="18" charset="0"/>
                          </a:rPr>
                          <m:t>𝑆</m:t>
                        </m:r>
                      </m:sub>
                    </m:sSub>
                    <m:r>
                      <a:rPr lang="en-US" altLang="ko-KR" sz="2400" b="0" i="1" smtClean="0">
                        <a:latin typeface="Cambria Math" panose="02040503050406030204" pitchFamily="18" charset="0"/>
                      </a:rPr>
                      <m:t> </m:t>
                    </m:r>
                  </m:oMath>
                </a14:m>
                <a:r>
                  <a:rPr lang="en-US" altLang="ko-KR" sz="2400" dirty="0" smtClean="0"/>
                  <a:t> for </a:t>
                </a:r>
                <a14:m>
                  <m:oMath xmlns:m="http://schemas.openxmlformats.org/officeDocument/2006/math">
                    <m:r>
                      <a:rPr lang="en-US" altLang="ko-KR" sz="2400" b="0" i="1" smtClean="0">
                        <a:latin typeface="Cambria Math" panose="02040503050406030204" pitchFamily="18" charset="0"/>
                      </a:rPr>
                      <m:t>𝑥</m:t>
                    </m:r>
                    <m:r>
                      <a:rPr lang="en-US" altLang="ko-KR" sz="2400" b="0" i="1" smtClean="0">
                        <a:latin typeface="Cambria Math" panose="02040503050406030204" pitchFamily="18" charset="0"/>
                      </a:rPr>
                      <m:t>∈{0,…,</m:t>
                    </m:r>
                    <m:r>
                      <a:rPr lang="en-US" altLang="ko-KR" sz="2400" b="0" i="1" smtClean="0">
                        <a:latin typeface="Cambria Math" panose="02040503050406030204" pitchFamily="18" charset="0"/>
                      </a:rPr>
                      <m:t>𝑑</m:t>
                    </m:r>
                    <m:r>
                      <a:rPr lang="en-US" altLang="ko-KR" sz="2400" b="0" i="1" smtClean="0">
                        <a:latin typeface="Cambria Math" panose="02040503050406030204" pitchFamily="18" charset="0"/>
                      </a:rPr>
                      <m:t>−1}</m:t>
                    </m:r>
                  </m:oMath>
                </a14:m>
                <a:endParaRPr lang="en-US" altLang="ko-KR" sz="2400" dirty="0" smtClean="0"/>
              </a:p>
              <a:p>
                <a:endParaRPr lang="en-US" altLang="ko-KR" sz="2400" dirty="0" smtClean="0"/>
              </a:p>
              <a:p>
                <a:r>
                  <a:rPr lang="en-US" altLang="ko-KR" sz="2400" dirty="0" smtClean="0"/>
                  <a:t>A transformation </a:t>
                </a:r>
                <a14:m>
                  <m:oMath xmlns:m="http://schemas.openxmlformats.org/officeDocument/2006/math">
                    <m:r>
                      <a:rPr lang="en-US" altLang="ko-KR" sz="2400" b="0" i="1" smtClean="0">
                        <a:latin typeface="Cambria Math" panose="02040503050406030204" pitchFamily="18" charset="0"/>
                      </a:rPr>
                      <m:t>𝑅</m:t>
                    </m:r>
                  </m:oMath>
                </a14:m>
                <a:r>
                  <a:rPr lang="en-US" altLang="ko-KR" sz="2400" dirty="0" smtClean="0"/>
                  <a:t> on the system S is described by a permutation </a:t>
                </a:r>
                <a14:m>
                  <m:oMath xmlns:m="http://schemas.openxmlformats.org/officeDocument/2006/math">
                    <m:r>
                      <a:rPr lang="en-US" altLang="ko-KR" sz="2400" b="0" i="1" smtClean="0">
                        <a:latin typeface="Cambria Math" panose="02040503050406030204" pitchFamily="18" charset="0"/>
                      </a:rPr>
                      <m:t>𝜋</m:t>
                    </m:r>
                  </m:oMath>
                </a14:m>
                <a:r>
                  <a:rPr lang="en-US" altLang="ko-KR" sz="2400" dirty="0" smtClean="0"/>
                  <a:t> on </a:t>
                </a:r>
                <a14:m>
                  <m:oMath xmlns:m="http://schemas.openxmlformats.org/officeDocument/2006/math">
                    <m:r>
                      <a:rPr lang="en-US" altLang="ko-KR" sz="2400" i="1">
                        <a:latin typeface="Cambria Math" panose="02040503050406030204" pitchFamily="18" charset="0"/>
                      </a:rPr>
                      <m:t>{0,…,</m:t>
                    </m:r>
                    <m:r>
                      <a:rPr lang="en-US" altLang="ko-KR" sz="2400" i="1">
                        <a:latin typeface="Cambria Math" panose="02040503050406030204" pitchFamily="18" charset="0"/>
                      </a:rPr>
                      <m:t>𝑑</m:t>
                    </m:r>
                    <m:r>
                      <a:rPr lang="en-US" altLang="ko-KR" sz="2400" i="1">
                        <a:latin typeface="Cambria Math" panose="02040503050406030204" pitchFamily="18" charset="0"/>
                      </a:rPr>
                      <m:t>−1}</m:t>
                    </m:r>
                  </m:oMath>
                </a14:m>
                <a:r>
                  <a:rPr lang="ko-KR" altLang="en-US" sz="2400" dirty="0" smtClean="0"/>
                  <a:t> </a:t>
                </a:r>
                <a:r>
                  <a:rPr lang="en-US" altLang="ko-KR" sz="2400" dirty="0" smtClean="0"/>
                  <a:t>that acts as</a:t>
                </a:r>
              </a:p>
              <a:p>
                <a:pPr marL="0" indent="0">
                  <a:buNone/>
                </a:pPr>
                <a14:m>
                  <m:oMathPara xmlns:m="http://schemas.openxmlformats.org/officeDocument/2006/math">
                    <m:oMathParaPr>
                      <m:jc m:val="centerGroup"/>
                    </m:oMathParaPr>
                    <m:oMath xmlns:m="http://schemas.openxmlformats.org/officeDocument/2006/math">
                      <m:sSub>
                        <m:sSubPr>
                          <m:ctrlPr>
                            <a:rPr lang="en-US" altLang="ko-KR" sz="2400" b="0" i="1" smtClean="0">
                              <a:latin typeface="Cambria Math" panose="02040503050406030204" pitchFamily="18" charset="0"/>
                            </a:rPr>
                          </m:ctrlPr>
                        </m:sSubPr>
                        <m:e>
                          <m:r>
                            <a:rPr lang="en-US" altLang="ko-KR" sz="2400" b="0" i="1" smtClean="0">
                              <a:latin typeface="Cambria Math" panose="02040503050406030204" pitchFamily="18" charset="0"/>
                            </a:rPr>
                            <m:t>𝑅</m:t>
                          </m:r>
                          <m:d>
                            <m:dPr>
                              <m:begChr m:val="|"/>
                              <m:endChr m:val="⟩"/>
                              <m:ctrlPr>
                                <a:rPr lang="en-US" altLang="ko-KR" sz="2400" b="0" i="1" smtClean="0">
                                  <a:latin typeface="Cambria Math" panose="02040503050406030204" pitchFamily="18" charset="0"/>
                                </a:rPr>
                              </m:ctrlPr>
                            </m:dPr>
                            <m:e>
                              <m:r>
                                <a:rPr lang="en-US" altLang="ko-KR" sz="2400" b="0" i="1" smtClean="0">
                                  <a:latin typeface="Cambria Math" panose="02040503050406030204" pitchFamily="18" charset="0"/>
                                </a:rPr>
                                <m:t>𝑥</m:t>
                              </m:r>
                            </m:e>
                          </m:d>
                        </m:e>
                        <m:sub>
                          <m:r>
                            <a:rPr lang="en-US" altLang="ko-KR" sz="2400" b="0" i="1" smtClean="0">
                              <a:latin typeface="Cambria Math" panose="02040503050406030204" pitchFamily="18" charset="0"/>
                            </a:rPr>
                            <m:t>𝑆</m:t>
                          </m:r>
                        </m:sub>
                      </m:sSub>
                      <m:r>
                        <a:rPr lang="en-US" altLang="ko-KR" sz="2400" b="0" i="1" smtClean="0">
                          <a:latin typeface="Cambria Math" panose="02040503050406030204" pitchFamily="18" charset="0"/>
                        </a:rPr>
                        <m:t>=</m:t>
                      </m:r>
                      <m:sSub>
                        <m:sSubPr>
                          <m:ctrlPr>
                            <a:rPr lang="en-US" altLang="ko-KR" sz="2400" b="0" i="1" smtClean="0">
                              <a:latin typeface="Cambria Math" panose="02040503050406030204" pitchFamily="18" charset="0"/>
                            </a:rPr>
                          </m:ctrlPr>
                        </m:sSubPr>
                        <m:e>
                          <m:d>
                            <m:dPr>
                              <m:begChr m:val="|"/>
                              <m:endChr m:val="⟩"/>
                              <m:ctrlPr>
                                <a:rPr lang="en-US" altLang="ko-KR" sz="2400" b="0" i="1" smtClean="0">
                                  <a:latin typeface="Cambria Math" panose="02040503050406030204" pitchFamily="18" charset="0"/>
                                </a:rPr>
                              </m:ctrlPr>
                            </m:dPr>
                            <m:e>
                              <m:r>
                                <a:rPr lang="en-US" altLang="ko-KR" sz="2400" b="0" i="1" smtClean="0">
                                  <a:latin typeface="Cambria Math" panose="02040503050406030204" pitchFamily="18" charset="0"/>
                                </a:rPr>
                                <m:t>𝜋</m:t>
                              </m:r>
                              <m:d>
                                <m:dPr>
                                  <m:ctrlPr>
                                    <a:rPr lang="en-US" altLang="ko-KR" sz="2400" b="0" i="1" smtClean="0">
                                      <a:latin typeface="Cambria Math" panose="02040503050406030204" pitchFamily="18" charset="0"/>
                                    </a:rPr>
                                  </m:ctrlPr>
                                </m:dPr>
                                <m:e>
                                  <m:r>
                                    <a:rPr lang="en-US" altLang="ko-KR" sz="2400" b="0" i="1" smtClean="0">
                                      <a:latin typeface="Cambria Math" panose="02040503050406030204" pitchFamily="18" charset="0"/>
                                    </a:rPr>
                                    <m:t>𝑥</m:t>
                                  </m:r>
                                </m:e>
                              </m:d>
                            </m:e>
                          </m:d>
                        </m:e>
                        <m:sub>
                          <m:r>
                            <a:rPr lang="en-US" altLang="ko-KR" sz="2400" b="0" i="1" smtClean="0">
                              <a:latin typeface="Cambria Math" panose="02040503050406030204" pitchFamily="18" charset="0"/>
                            </a:rPr>
                            <m:t>𝑆</m:t>
                          </m:r>
                        </m:sub>
                      </m:sSub>
                    </m:oMath>
                  </m:oMathPara>
                </a14:m>
                <a:endParaRPr lang="en-US" altLang="ko-KR" sz="2400" dirty="0" smtClean="0"/>
              </a:p>
              <a:p>
                <a:pPr marL="0" indent="0">
                  <a:buNone/>
                </a:pPr>
                <a:r>
                  <a:rPr lang="en-US" altLang="ko-KR" sz="2400" dirty="0"/>
                  <a:t> </a:t>
                </a:r>
                <a:r>
                  <a:rPr lang="en-US" altLang="ko-KR" sz="2400" dirty="0" smtClean="0"/>
                  <a:t> and the composition of </a:t>
                </a:r>
                <a14:m>
                  <m:oMath xmlns:m="http://schemas.openxmlformats.org/officeDocument/2006/math">
                    <m:sSub>
                      <m:sSubPr>
                        <m:ctrlPr>
                          <a:rPr lang="en-US" altLang="ko-KR" sz="2400" b="0" i="1" smtClean="0">
                            <a:latin typeface="Cambria Math" panose="02040503050406030204" pitchFamily="18" charset="0"/>
                          </a:rPr>
                        </m:ctrlPr>
                      </m:sSubPr>
                      <m:e>
                        <m:r>
                          <a:rPr lang="en-US" altLang="ko-KR" sz="2400" b="0" i="1" smtClean="0">
                            <a:latin typeface="Cambria Math" panose="02040503050406030204" pitchFamily="18" charset="0"/>
                          </a:rPr>
                          <m:t>𝑅</m:t>
                        </m:r>
                      </m:e>
                      <m:sub>
                        <m:r>
                          <a:rPr lang="en-US" altLang="ko-KR" sz="2400" b="0" i="1" smtClean="0">
                            <a:latin typeface="Cambria Math" panose="02040503050406030204" pitchFamily="18" charset="0"/>
                          </a:rPr>
                          <m:t>1</m:t>
                        </m:r>
                      </m:sub>
                    </m:sSub>
                    <m:r>
                      <a:rPr lang="en-US" altLang="ko-KR" sz="2400" b="0" i="1" smtClean="0">
                        <a:latin typeface="Cambria Math" panose="02040503050406030204" pitchFamily="18" charset="0"/>
                      </a:rPr>
                      <m:t>,</m:t>
                    </m:r>
                    <m:sSub>
                      <m:sSubPr>
                        <m:ctrlPr>
                          <a:rPr lang="en-US" altLang="ko-KR" sz="2400" b="0" i="1" smtClean="0">
                            <a:latin typeface="Cambria Math" panose="02040503050406030204" pitchFamily="18" charset="0"/>
                          </a:rPr>
                        </m:ctrlPr>
                      </m:sSubPr>
                      <m:e>
                        <m:r>
                          <a:rPr lang="en-US" altLang="ko-KR" sz="2400" b="0" i="1" smtClean="0">
                            <a:latin typeface="Cambria Math" panose="02040503050406030204" pitchFamily="18" charset="0"/>
                          </a:rPr>
                          <m:t>𝑅</m:t>
                        </m:r>
                      </m:e>
                      <m:sub>
                        <m:r>
                          <a:rPr lang="en-US" altLang="ko-KR" sz="2400" b="0" i="1" smtClean="0">
                            <a:latin typeface="Cambria Math" panose="02040503050406030204" pitchFamily="18" charset="0"/>
                          </a:rPr>
                          <m:t>2</m:t>
                        </m:r>
                      </m:sub>
                    </m:sSub>
                  </m:oMath>
                </a14:m>
                <a:r>
                  <a:rPr lang="en-US" altLang="ko-KR" sz="2400" dirty="0" smtClean="0"/>
                  <a:t> that are described by </a:t>
                </a:r>
                <a14:m>
                  <m:oMath xmlns:m="http://schemas.openxmlformats.org/officeDocument/2006/math">
                    <m:sSub>
                      <m:sSubPr>
                        <m:ctrlPr>
                          <a:rPr lang="en-US" altLang="ko-KR" sz="2400" b="0" i="1" smtClean="0">
                            <a:latin typeface="Cambria Math" panose="02040503050406030204" pitchFamily="18" charset="0"/>
                          </a:rPr>
                        </m:ctrlPr>
                      </m:sSubPr>
                      <m:e>
                        <m:r>
                          <a:rPr lang="en-US" altLang="ko-KR" sz="2400" b="0" i="1" smtClean="0">
                            <a:latin typeface="Cambria Math" panose="02040503050406030204" pitchFamily="18" charset="0"/>
                          </a:rPr>
                          <m:t>𝜋</m:t>
                        </m:r>
                      </m:e>
                      <m:sub>
                        <m:r>
                          <a:rPr lang="en-US" altLang="ko-KR" sz="2400" b="0" i="1" smtClean="0">
                            <a:latin typeface="Cambria Math" panose="02040503050406030204" pitchFamily="18" charset="0"/>
                          </a:rPr>
                          <m:t>1</m:t>
                        </m:r>
                      </m:sub>
                    </m:sSub>
                    <m:r>
                      <a:rPr lang="en-US" altLang="ko-KR" sz="2400" b="0" i="0" smtClean="0">
                        <a:latin typeface="Cambria Math" panose="02040503050406030204" pitchFamily="18" charset="0"/>
                      </a:rPr>
                      <m:t>,</m:t>
                    </m:r>
                    <m:sSub>
                      <m:sSubPr>
                        <m:ctrlPr>
                          <a:rPr lang="en-US" altLang="ko-KR" sz="2400" b="0" i="1" smtClean="0">
                            <a:latin typeface="Cambria Math" panose="02040503050406030204" pitchFamily="18" charset="0"/>
                          </a:rPr>
                        </m:ctrlPr>
                      </m:sSubPr>
                      <m:e>
                        <m:r>
                          <a:rPr lang="en-US" altLang="ko-KR" sz="2400" b="0" i="1" smtClean="0">
                            <a:latin typeface="Cambria Math" panose="02040503050406030204" pitchFamily="18" charset="0"/>
                          </a:rPr>
                          <m:t>𝜋</m:t>
                        </m:r>
                      </m:e>
                      <m:sub>
                        <m:r>
                          <a:rPr lang="en-US" altLang="ko-KR" sz="2400" b="0" i="1" smtClean="0">
                            <a:latin typeface="Cambria Math" panose="02040503050406030204" pitchFamily="18" charset="0"/>
                          </a:rPr>
                          <m:t>2</m:t>
                        </m:r>
                      </m:sub>
                    </m:sSub>
                  </m:oMath>
                </a14:m>
                <a:r>
                  <a:rPr lang="en-US" altLang="ko-KR" sz="2400" dirty="0" smtClean="0"/>
                  <a:t> is</a:t>
                </a:r>
              </a:p>
              <a:p>
                <a:pPr marL="0" indent="0">
                  <a:buNone/>
                </a:pPr>
                <a14:m>
                  <m:oMathPara xmlns:m="http://schemas.openxmlformats.org/officeDocument/2006/math">
                    <m:oMathParaPr>
                      <m:jc m:val="centerGroup"/>
                    </m:oMathParaPr>
                    <m:oMath xmlns:m="http://schemas.openxmlformats.org/officeDocument/2006/math">
                      <m:sSub>
                        <m:sSubPr>
                          <m:ctrlPr>
                            <a:rPr lang="en-US" altLang="ko-KR" sz="2400" b="0" i="1" smtClean="0">
                              <a:latin typeface="Cambria Math" panose="02040503050406030204" pitchFamily="18" charset="0"/>
                            </a:rPr>
                          </m:ctrlPr>
                        </m:sSubPr>
                        <m:e>
                          <m:r>
                            <a:rPr lang="en-US" altLang="ko-KR" sz="2400" b="0" i="1" smtClean="0">
                              <a:latin typeface="Cambria Math" panose="02040503050406030204" pitchFamily="18" charset="0"/>
                            </a:rPr>
                            <m:t>𝑅</m:t>
                          </m:r>
                        </m:e>
                        <m:sub>
                          <m:r>
                            <a:rPr lang="en-US" altLang="ko-KR" sz="2400" b="0" i="1" smtClean="0">
                              <a:latin typeface="Cambria Math" panose="02040503050406030204" pitchFamily="18" charset="0"/>
                            </a:rPr>
                            <m:t>2</m:t>
                          </m:r>
                        </m:sub>
                      </m:sSub>
                      <m:sSub>
                        <m:sSubPr>
                          <m:ctrlPr>
                            <a:rPr lang="en-US" altLang="ko-KR" sz="2400" b="0" i="1" smtClean="0">
                              <a:latin typeface="Cambria Math" panose="02040503050406030204" pitchFamily="18" charset="0"/>
                            </a:rPr>
                          </m:ctrlPr>
                        </m:sSubPr>
                        <m:e>
                          <m:r>
                            <a:rPr lang="en-US" altLang="ko-KR" sz="2400" b="0" i="1" smtClean="0">
                              <a:latin typeface="Cambria Math" panose="02040503050406030204" pitchFamily="18" charset="0"/>
                            </a:rPr>
                            <m:t>𝑅</m:t>
                          </m:r>
                        </m:e>
                        <m:sub>
                          <m:r>
                            <a:rPr lang="en-US" altLang="ko-KR" sz="2400" b="0" i="1" smtClean="0">
                              <a:latin typeface="Cambria Math" panose="02040503050406030204" pitchFamily="18" charset="0"/>
                            </a:rPr>
                            <m:t>1</m:t>
                          </m:r>
                        </m:sub>
                      </m:sSub>
                      <m:sSub>
                        <m:sSubPr>
                          <m:ctrlPr>
                            <a:rPr lang="en-US" altLang="ko-KR" sz="2400" b="0" i="1" smtClean="0">
                              <a:latin typeface="Cambria Math" panose="02040503050406030204" pitchFamily="18" charset="0"/>
                            </a:rPr>
                          </m:ctrlPr>
                        </m:sSubPr>
                        <m:e>
                          <m:d>
                            <m:dPr>
                              <m:begChr m:val="|"/>
                              <m:endChr m:val="⟩"/>
                              <m:ctrlPr>
                                <a:rPr lang="en-US" altLang="ko-KR" sz="2400" b="0" i="1" smtClean="0">
                                  <a:latin typeface="Cambria Math" panose="02040503050406030204" pitchFamily="18" charset="0"/>
                                </a:rPr>
                              </m:ctrlPr>
                            </m:dPr>
                            <m:e>
                              <m:r>
                                <a:rPr lang="en-US" altLang="ko-KR" sz="2400" b="0" i="1" smtClean="0">
                                  <a:latin typeface="Cambria Math" panose="02040503050406030204" pitchFamily="18" charset="0"/>
                                </a:rPr>
                                <m:t>𝑥</m:t>
                              </m:r>
                            </m:e>
                          </m:d>
                        </m:e>
                        <m:sub>
                          <m:r>
                            <a:rPr lang="en-US" altLang="ko-KR" sz="2400" b="0" i="1" smtClean="0">
                              <a:latin typeface="Cambria Math" panose="02040503050406030204" pitchFamily="18" charset="0"/>
                            </a:rPr>
                            <m:t>𝑠</m:t>
                          </m:r>
                        </m:sub>
                      </m:sSub>
                      <m:r>
                        <a:rPr lang="en-US" altLang="ko-KR" sz="2400" b="0" i="1" smtClean="0">
                          <a:latin typeface="Cambria Math" panose="02040503050406030204" pitchFamily="18" charset="0"/>
                        </a:rPr>
                        <m:t>=</m:t>
                      </m:r>
                      <m:sSub>
                        <m:sSubPr>
                          <m:ctrlPr>
                            <a:rPr lang="en-US" altLang="ko-KR" sz="2400" b="0" i="1" smtClean="0">
                              <a:latin typeface="Cambria Math" panose="02040503050406030204" pitchFamily="18" charset="0"/>
                            </a:rPr>
                          </m:ctrlPr>
                        </m:sSubPr>
                        <m:e>
                          <m:r>
                            <a:rPr lang="en-US" altLang="ko-KR" sz="2400" b="0" i="1" smtClean="0">
                              <a:latin typeface="Cambria Math" panose="02040503050406030204" pitchFamily="18" charset="0"/>
                            </a:rPr>
                            <m:t>𝑅</m:t>
                          </m:r>
                        </m:e>
                        <m:sub>
                          <m:r>
                            <a:rPr lang="en-US" altLang="ko-KR" sz="2400" b="0" i="1" smtClean="0">
                              <a:latin typeface="Cambria Math" panose="02040503050406030204" pitchFamily="18" charset="0"/>
                            </a:rPr>
                            <m:t>2</m:t>
                          </m:r>
                        </m:sub>
                      </m:sSub>
                      <m:sSub>
                        <m:sSubPr>
                          <m:ctrlPr>
                            <a:rPr lang="en-US" altLang="ko-KR" sz="2400" b="0" i="1" smtClean="0">
                              <a:latin typeface="Cambria Math" panose="02040503050406030204" pitchFamily="18" charset="0"/>
                            </a:rPr>
                          </m:ctrlPr>
                        </m:sSubPr>
                        <m:e>
                          <m:d>
                            <m:dPr>
                              <m:endChr m:val="⟩"/>
                              <m:ctrlPr>
                                <a:rPr lang="en-US" altLang="ko-KR" sz="2400" b="0" i="1" smtClean="0">
                                  <a:latin typeface="Cambria Math" panose="02040503050406030204" pitchFamily="18" charset="0"/>
                                </a:rPr>
                              </m:ctrlPr>
                            </m:dPr>
                            <m:e>
                              <m:sSub>
                                <m:sSubPr>
                                  <m:ctrlPr>
                                    <a:rPr lang="en-US" altLang="ko-KR" sz="2400" b="0" i="1" smtClean="0">
                                      <a:latin typeface="Cambria Math" panose="02040503050406030204" pitchFamily="18" charset="0"/>
                                    </a:rPr>
                                  </m:ctrlPr>
                                </m:sSubPr>
                                <m:e>
                                  <m:r>
                                    <a:rPr lang="en-US" altLang="ko-KR" sz="2400" b="0" i="1" smtClean="0">
                                      <a:latin typeface="Cambria Math" panose="02040503050406030204" pitchFamily="18" charset="0"/>
                                    </a:rPr>
                                    <m:t>𝑅</m:t>
                                  </m:r>
                                </m:e>
                                <m:sub>
                                  <m:r>
                                    <a:rPr lang="en-US" altLang="ko-KR" sz="2400" b="0" i="1" smtClean="0">
                                      <a:latin typeface="Cambria Math" panose="02040503050406030204" pitchFamily="18" charset="0"/>
                                    </a:rPr>
                                    <m:t>1</m:t>
                                  </m:r>
                                </m:sub>
                              </m:sSub>
                            </m:e>
                            <m:e>
                              <m:r>
                                <a:rPr lang="en-US" altLang="ko-KR" sz="2400" b="0" i="1" smtClean="0">
                                  <a:latin typeface="Cambria Math" panose="02040503050406030204" pitchFamily="18" charset="0"/>
                                </a:rPr>
                                <m:t>𝑥</m:t>
                              </m:r>
                            </m:e>
                          </m:d>
                        </m:e>
                        <m:sub>
                          <m:r>
                            <a:rPr lang="en-US" altLang="ko-KR" sz="2400" b="0" i="1" smtClean="0">
                              <a:latin typeface="Cambria Math" panose="02040503050406030204" pitchFamily="18" charset="0"/>
                            </a:rPr>
                            <m:t>𝑆</m:t>
                          </m:r>
                        </m:sub>
                      </m:sSub>
                      <m:r>
                        <a:rPr lang="en-US" altLang="ko-KR" sz="2400" b="0" i="1" smtClean="0">
                          <a:latin typeface="Cambria Math" panose="02040503050406030204" pitchFamily="18" charset="0"/>
                        </a:rPr>
                        <m:t>)=</m:t>
                      </m:r>
                      <m:sSub>
                        <m:sSubPr>
                          <m:ctrlPr>
                            <a:rPr lang="en-US" altLang="ko-KR" sz="2400" b="0" i="1" smtClean="0">
                              <a:latin typeface="Cambria Math" panose="02040503050406030204" pitchFamily="18" charset="0"/>
                            </a:rPr>
                          </m:ctrlPr>
                        </m:sSubPr>
                        <m:e>
                          <m:r>
                            <a:rPr lang="en-US" altLang="ko-KR" sz="2400" b="0" i="1" smtClean="0">
                              <a:latin typeface="Cambria Math" panose="02040503050406030204" pitchFamily="18" charset="0"/>
                            </a:rPr>
                            <m:t>𝑅</m:t>
                          </m:r>
                        </m:e>
                        <m:sub>
                          <m:r>
                            <a:rPr lang="en-US" altLang="ko-KR" sz="2400" b="0" i="1" smtClean="0">
                              <a:latin typeface="Cambria Math" panose="02040503050406030204" pitchFamily="18" charset="0"/>
                            </a:rPr>
                            <m:t>2</m:t>
                          </m:r>
                        </m:sub>
                      </m:sSub>
                      <m:sSub>
                        <m:sSubPr>
                          <m:ctrlPr>
                            <a:rPr lang="en-US" altLang="ko-KR" sz="2400" b="0" i="1" smtClean="0">
                              <a:latin typeface="Cambria Math" panose="02040503050406030204" pitchFamily="18" charset="0"/>
                            </a:rPr>
                          </m:ctrlPr>
                        </m:sSubPr>
                        <m:e>
                          <m:d>
                            <m:dPr>
                              <m:begChr m:val="|"/>
                              <m:endChr m:val="⟩"/>
                              <m:ctrlPr>
                                <a:rPr lang="en-US" altLang="ko-KR" sz="2400" b="0" i="1" smtClean="0">
                                  <a:latin typeface="Cambria Math" panose="02040503050406030204" pitchFamily="18" charset="0"/>
                                </a:rPr>
                              </m:ctrlPr>
                            </m:dPr>
                            <m:e>
                              <m:sSub>
                                <m:sSubPr>
                                  <m:ctrlPr>
                                    <a:rPr lang="en-US" altLang="ko-KR" sz="2400" b="0" i="1" smtClean="0">
                                      <a:latin typeface="Cambria Math" panose="02040503050406030204" pitchFamily="18" charset="0"/>
                                    </a:rPr>
                                  </m:ctrlPr>
                                </m:sSubPr>
                                <m:e>
                                  <m:r>
                                    <a:rPr lang="en-US" altLang="ko-KR" sz="2400" b="0" i="1" smtClean="0">
                                      <a:latin typeface="Cambria Math" panose="02040503050406030204" pitchFamily="18" charset="0"/>
                                    </a:rPr>
                                    <m:t>𝜋</m:t>
                                  </m:r>
                                </m:e>
                                <m:sub>
                                  <m:r>
                                    <a:rPr lang="en-US" altLang="ko-KR" sz="2400" b="0" i="1" smtClean="0">
                                      <a:latin typeface="Cambria Math" panose="02040503050406030204" pitchFamily="18" charset="0"/>
                                    </a:rPr>
                                    <m:t>1</m:t>
                                  </m:r>
                                </m:sub>
                              </m:sSub>
                              <m:d>
                                <m:dPr>
                                  <m:ctrlPr>
                                    <a:rPr lang="en-US" altLang="ko-KR" sz="2400" b="0" i="1" smtClean="0">
                                      <a:latin typeface="Cambria Math" panose="02040503050406030204" pitchFamily="18" charset="0"/>
                                    </a:rPr>
                                  </m:ctrlPr>
                                </m:dPr>
                                <m:e>
                                  <m:r>
                                    <a:rPr lang="en-US" altLang="ko-KR" sz="2400" b="0" i="1" smtClean="0">
                                      <a:latin typeface="Cambria Math" panose="02040503050406030204" pitchFamily="18" charset="0"/>
                                    </a:rPr>
                                    <m:t>𝑥</m:t>
                                  </m:r>
                                </m:e>
                              </m:d>
                            </m:e>
                          </m:d>
                        </m:e>
                        <m:sub>
                          <m:r>
                            <a:rPr lang="en-US" altLang="ko-KR" sz="2400" b="0" i="1" smtClean="0">
                              <a:latin typeface="Cambria Math" panose="02040503050406030204" pitchFamily="18" charset="0"/>
                            </a:rPr>
                            <m:t>𝑆</m:t>
                          </m:r>
                        </m:sub>
                      </m:sSub>
                      <m:r>
                        <a:rPr lang="en-US" altLang="ko-KR" sz="2400" b="0" i="1" smtClean="0">
                          <a:latin typeface="Cambria Math" panose="02040503050406030204" pitchFamily="18" charset="0"/>
                        </a:rPr>
                        <m:t>=</m:t>
                      </m:r>
                      <m:sSub>
                        <m:sSubPr>
                          <m:ctrlPr>
                            <a:rPr lang="en-US" altLang="ko-KR" sz="2400" b="0" i="1" smtClean="0">
                              <a:latin typeface="Cambria Math" panose="02040503050406030204" pitchFamily="18" charset="0"/>
                            </a:rPr>
                          </m:ctrlPr>
                        </m:sSubPr>
                        <m:e>
                          <m:d>
                            <m:dPr>
                              <m:begChr m:val="|"/>
                              <m:endChr m:val="⟩"/>
                              <m:ctrlPr>
                                <a:rPr lang="en-US" altLang="ko-KR" sz="2400" b="0" i="1" smtClean="0">
                                  <a:latin typeface="Cambria Math" panose="02040503050406030204" pitchFamily="18" charset="0"/>
                                </a:rPr>
                              </m:ctrlPr>
                            </m:dPr>
                            <m:e>
                              <m:sSub>
                                <m:sSubPr>
                                  <m:ctrlPr>
                                    <a:rPr lang="en-US" altLang="ko-KR" sz="2400" b="0" i="1" smtClean="0">
                                      <a:latin typeface="Cambria Math" panose="02040503050406030204" pitchFamily="18" charset="0"/>
                                    </a:rPr>
                                  </m:ctrlPr>
                                </m:sSubPr>
                                <m:e>
                                  <m:r>
                                    <a:rPr lang="en-US" altLang="ko-KR" sz="2400" b="0" i="1" smtClean="0">
                                      <a:latin typeface="Cambria Math" panose="02040503050406030204" pitchFamily="18" charset="0"/>
                                    </a:rPr>
                                    <m:t>𝜋</m:t>
                                  </m:r>
                                </m:e>
                                <m:sub>
                                  <m:r>
                                    <a:rPr lang="en-US" altLang="ko-KR" sz="2400" b="0" i="1" smtClean="0">
                                      <a:latin typeface="Cambria Math" panose="02040503050406030204" pitchFamily="18" charset="0"/>
                                    </a:rPr>
                                    <m:t>2</m:t>
                                  </m:r>
                                </m:sub>
                              </m:sSub>
                              <m:d>
                                <m:dPr>
                                  <m:ctrlPr>
                                    <a:rPr lang="en-US" altLang="ko-KR" sz="2400" b="0" i="1" smtClean="0">
                                      <a:latin typeface="Cambria Math" panose="02040503050406030204" pitchFamily="18" charset="0"/>
                                    </a:rPr>
                                  </m:ctrlPr>
                                </m:dPr>
                                <m:e>
                                  <m:sSub>
                                    <m:sSubPr>
                                      <m:ctrlPr>
                                        <a:rPr lang="en-US" altLang="ko-KR" sz="2400" b="0" i="1" smtClean="0">
                                          <a:latin typeface="Cambria Math" panose="02040503050406030204" pitchFamily="18" charset="0"/>
                                        </a:rPr>
                                      </m:ctrlPr>
                                    </m:sSubPr>
                                    <m:e>
                                      <m:r>
                                        <a:rPr lang="en-US" altLang="ko-KR" sz="2400" b="0" i="1" smtClean="0">
                                          <a:latin typeface="Cambria Math" panose="02040503050406030204" pitchFamily="18" charset="0"/>
                                        </a:rPr>
                                        <m:t>𝜋</m:t>
                                      </m:r>
                                    </m:e>
                                    <m:sub>
                                      <m:r>
                                        <a:rPr lang="en-US" altLang="ko-KR" sz="2400" b="0" i="1" smtClean="0">
                                          <a:latin typeface="Cambria Math" panose="02040503050406030204" pitchFamily="18" charset="0"/>
                                        </a:rPr>
                                        <m:t>1</m:t>
                                      </m:r>
                                    </m:sub>
                                  </m:sSub>
                                  <m:d>
                                    <m:dPr>
                                      <m:ctrlPr>
                                        <a:rPr lang="en-US" altLang="ko-KR" sz="2400" b="0" i="1" smtClean="0">
                                          <a:latin typeface="Cambria Math" panose="02040503050406030204" pitchFamily="18" charset="0"/>
                                        </a:rPr>
                                      </m:ctrlPr>
                                    </m:dPr>
                                    <m:e>
                                      <m:r>
                                        <a:rPr lang="en-US" altLang="ko-KR" sz="2400" b="0" i="1" smtClean="0">
                                          <a:latin typeface="Cambria Math" panose="02040503050406030204" pitchFamily="18" charset="0"/>
                                        </a:rPr>
                                        <m:t>𝑥</m:t>
                                      </m:r>
                                    </m:e>
                                  </m:d>
                                </m:e>
                              </m:d>
                            </m:e>
                          </m:d>
                        </m:e>
                        <m:sub>
                          <m:r>
                            <a:rPr lang="en-US" altLang="ko-KR" sz="2400" b="0" i="1" smtClean="0">
                              <a:latin typeface="Cambria Math" panose="02040503050406030204" pitchFamily="18" charset="0"/>
                            </a:rPr>
                            <m:t>𝑆</m:t>
                          </m:r>
                        </m:sub>
                      </m:sSub>
                    </m:oMath>
                  </m:oMathPara>
                </a14:m>
                <a:endParaRPr lang="en-US" altLang="ko-KR" sz="2400" dirty="0"/>
              </a:p>
              <a:p>
                <a:pPr marL="0" indent="0">
                  <a:buNone/>
                </a:pPr>
                <a:endParaRPr lang="ko-KR" altLang="en-US" sz="2400" dirty="0"/>
              </a:p>
            </p:txBody>
          </p:sp>
        </mc:Choice>
        <mc:Fallback xmlns="">
          <p:sp>
            <p:nvSpPr>
              <p:cNvPr id="3" name="내용 개체 틀 2"/>
              <p:cNvSpPr>
                <a:spLocks noGrp="1" noRot="1" noChangeAspect="1" noMove="1" noResize="1" noEditPoints="1" noAdjustHandles="1" noChangeArrowheads="1" noChangeShapeType="1" noTextEdit="1"/>
              </p:cNvSpPr>
              <p:nvPr>
                <p:ph idx="1"/>
              </p:nvPr>
            </p:nvSpPr>
            <p:spPr>
              <a:blipFill>
                <a:blip r:embed="rId2"/>
                <a:stretch>
                  <a:fillRect l="-928" t="-1961" r="-1275"/>
                </a:stretch>
              </a:blipFill>
            </p:spPr>
            <p:txBody>
              <a:bodyPr/>
              <a:lstStyle/>
              <a:p>
                <a:r>
                  <a:rPr lang="ko-KR" altLang="en-US">
                    <a:noFill/>
                  </a:rPr>
                  <a:t> </a:t>
                </a:r>
              </a:p>
            </p:txBody>
          </p:sp>
        </mc:Fallback>
      </mc:AlternateContent>
    </p:spTree>
    <p:extLst>
      <p:ext uri="{BB962C8B-B14F-4D97-AF65-F5344CB8AC3E}">
        <p14:creationId xmlns:p14="http://schemas.microsoft.com/office/powerpoint/2010/main" val="2441847604"/>
      </p:ext>
    </p:extLst>
  </p:cSld>
  <p:clrMapOvr>
    <a:masterClrMapping/>
  </p:clrMapOvr>
  <p:timing>
    <p:tnLst>
      <p:par>
        <p:cTn id="1" dur="indefinite" restart="never" nodeType="tmRoot"/>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085A39C-3CCE-D03A-56AD-C516BF87B847}"/>
              </a:ext>
            </a:extLst>
          </p:cNvPr>
          <p:cNvSpPr>
            <a:spLocks noGrp="1"/>
          </p:cNvSpPr>
          <p:nvPr>
            <p:ph type="title"/>
          </p:nvPr>
        </p:nvSpPr>
        <p:spPr/>
        <p:txBody>
          <a:bodyPr/>
          <a:lstStyle/>
          <a:p>
            <a:r>
              <a:rPr lang="en-US" dirty="0"/>
              <a:t>Composite systems</a:t>
            </a:r>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1A003183-B0E7-AF0C-FBD6-E1D750599BB8}"/>
                  </a:ext>
                </a:extLst>
              </p:cNvPr>
              <p:cNvSpPr>
                <a:spLocks noGrp="1"/>
              </p:cNvSpPr>
              <p:nvPr>
                <p:ph idx="1"/>
              </p:nvPr>
            </p:nvSpPr>
            <p:spPr>
              <a:xfrm>
                <a:off x="838200" y="1825624"/>
                <a:ext cx="10515600" cy="4800187"/>
              </a:xfrm>
            </p:spPr>
            <p:txBody>
              <a:bodyPr>
                <a:normAutofit/>
              </a:bodyPr>
              <a:lstStyle/>
              <a:p>
                <a:r>
                  <a:rPr lang="en-US" sz="2400" dirty="0"/>
                  <a:t>Putting two </a:t>
                </a:r>
                <a14:m>
                  <m:oMath xmlns:m="http://schemas.openxmlformats.org/officeDocument/2006/math">
                    <m:r>
                      <a:rPr lang="en-CA" sz="2400" b="0" i="1" smtClean="0">
                        <a:latin typeface="Cambria Math" panose="02040503050406030204" pitchFamily="18" charset="0"/>
                      </a:rPr>
                      <m:t>𝑑</m:t>
                    </m:r>
                  </m:oMath>
                </a14:m>
                <a:r>
                  <a:rPr lang="en-US" sz="2400" dirty="0"/>
                  <a:t>-dimensional systems </a:t>
                </a:r>
                <a14:m>
                  <m:oMath xmlns:m="http://schemas.openxmlformats.org/officeDocument/2006/math">
                    <m:sSub>
                      <m:sSubPr>
                        <m:ctrlPr>
                          <a:rPr lang="en-CA" sz="2400" b="0" i="1" smtClean="0">
                            <a:latin typeface="Cambria Math" panose="02040503050406030204" pitchFamily="18" charset="0"/>
                          </a:rPr>
                        </m:ctrlPr>
                      </m:sSubPr>
                      <m:e>
                        <m:r>
                          <a:rPr lang="en-CA" sz="2400" b="0" i="1" smtClean="0">
                            <a:latin typeface="Cambria Math" panose="02040503050406030204" pitchFamily="18" charset="0"/>
                          </a:rPr>
                          <m:t>𝑆</m:t>
                        </m:r>
                      </m:e>
                      <m:sub>
                        <m:r>
                          <a:rPr lang="en-CA" sz="2400" b="0" i="1" smtClean="0">
                            <a:latin typeface="Cambria Math" panose="02040503050406030204" pitchFamily="18" charset="0"/>
                          </a:rPr>
                          <m:t>1</m:t>
                        </m:r>
                      </m:sub>
                    </m:sSub>
                  </m:oMath>
                </a14:m>
                <a:r>
                  <a:rPr lang="en-US" sz="2400" dirty="0"/>
                  <a:t> and </a:t>
                </a:r>
                <a14:m>
                  <m:oMath xmlns:m="http://schemas.openxmlformats.org/officeDocument/2006/math">
                    <m:sSub>
                      <m:sSubPr>
                        <m:ctrlPr>
                          <a:rPr lang="en-CA" sz="2400" b="0" i="1" smtClean="0">
                            <a:latin typeface="Cambria Math" panose="02040503050406030204" pitchFamily="18" charset="0"/>
                          </a:rPr>
                        </m:ctrlPr>
                      </m:sSubPr>
                      <m:e>
                        <m:r>
                          <a:rPr lang="en-CA" sz="2400" b="0" i="1" smtClean="0">
                            <a:latin typeface="Cambria Math" panose="02040503050406030204" pitchFamily="18" charset="0"/>
                          </a:rPr>
                          <m:t>𝑆</m:t>
                        </m:r>
                      </m:e>
                      <m:sub>
                        <m:r>
                          <a:rPr lang="en-CA" sz="2400" b="0" i="1" smtClean="0">
                            <a:latin typeface="Cambria Math" panose="02040503050406030204" pitchFamily="18" charset="0"/>
                          </a:rPr>
                          <m:t>2</m:t>
                        </m:r>
                      </m:sub>
                    </m:sSub>
                  </m:oMath>
                </a14:m>
                <a:r>
                  <a:rPr lang="en-US" sz="2400" dirty="0"/>
                  <a:t> together yields a composite system</a:t>
                </a:r>
                <a:br>
                  <a:rPr lang="en-US" sz="2400" dirty="0"/>
                </a:br>
                <a:r>
                  <a:rPr lang="en-US" sz="2400" dirty="0"/>
                  <a:t/>
                </a:r>
                <a:br>
                  <a:rPr lang="en-US" sz="2400" dirty="0"/>
                </a:br>
                <a14:m>
                  <m:oMath xmlns:m="http://schemas.openxmlformats.org/officeDocument/2006/math">
                    <m:sSub>
                      <m:sSubPr>
                        <m:ctrlPr>
                          <a:rPr lang="en-CA" sz="2400" b="0" i="1" smtClean="0">
                            <a:latin typeface="Cambria Math" panose="02040503050406030204" pitchFamily="18" charset="0"/>
                          </a:rPr>
                        </m:ctrlPr>
                      </m:sSubPr>
                      <m:e>
                        <m:r>
                          <a:rPr lang="en-CA" sz="2400" b="0" i="1" smtClean="0">
                            <a:latin typeface="Cambria Math" panose="02040503050406030204" pitchFamily="18" charset="0"/>
                          </a:rPr>
                          <m:t>𝑆</m:t>
                        </m:r>
                      </m:e>
                      <m:sub>
                        <m:r>
                          <a:rPr lang="en-CA" sz="2400" b="0" i="1" smtClean="0">
                            <a:latin typeface="Cambria Math" panose="02040503050406030204" pitchFamily="18" charset="0"/>
                          </a:rPr>
                          <m:t>1</m:t>
                        </m:r>
                      </m:sub>
                    </m:sSub>
                    <m:r>
                      <a:rPr lang="en-CA" sz="2400" b="0" i="1" smtClean="0">
                        <a:latin typeface="Cambria Math" panose="02040503050406030204" pitchFamily="18" charset="0"/>
                      </a:rPr>
                      <m:t>⊗</m:t>
                    </m:r>
                    <m:sSub>
                      <m:sSubPr>
                        <m:ctrlPr>
                          <a:rPr lang="en-CA" sz="2400" b="0" i="1" smtClean="0">
                            <a:latin typeface="Cambria Math" panose="02040503050406030204" pitchFamily="18" charset="0"/>
                          </a:rPr>
                        </m:ctrlPr>
                      </m:sSubPr>
                      <m:e>
                        <m:r>
                          <a:rPr lang="en-CA" sz="2400" b="0" i="1" smtClean="0">
                            <a:latin typeface="Cambria Math" panose="02040503050406030204" pitchFamily="18" charset="0"/>
                          </a:rPr>
                          <m:t>𝑆</m:t>
                        </m:r>
                      </m:e>
                      <m:sub>
                        <m:r>
                          <a:rPr lang="en-CA" sz="2400" b="0" i="1" smtClean="0">
                            <a:latin typeface="Cambria Math" panose="02040503050406030204" pitchFamily="18" charset="0"/>
                          </a:rPr>
                          <m:t>2</m:t>
                        </m:r>
                      </m:sub>
                    </m:sSub>
                    <m:r>
                      <a:rPr lang="en-CA" sz="2400" b="0" i="1" smtClean="0">
                        <a:latin typeface="Cambria Math" panose="02040503050406030204" pitchFamily="18" charset="0"/>
                      </a:rPr>
                      <m:t> </m:t>
                    </m:r>
                  </m:oMath>
                </a14:m>
                <a:r>
                  <a:rPr lang="en-CA" sz="2400" dirty="0"/>
                  <a:t/>
                </a:r>
                <a:br>
                  <a:rPr lang="en-CA" sz="2400" dirty="0"/>
                </a:br>
                <a:r>
                  <a:rPr lang="en-CA" sz="2400" dirty="0"/>
                  <a:t/>
                </a:r>
                <a:br>
                  <a:rPr lang="en-CA" sz="2400" dirty="0"/>
                </a:br>
                <a:r>
                  <a:rPr lang="en-US" sz="2400" dirty="0"/>
                  <a:t>with </a:t>
                </a:r>
                <a14:m>
                  <m:oMath xmlns:m="http://schemas.openxmlformats.org/officeDocument/2006/math">
                    <m:r>
                      <a:rPr lang="en-CA" sz="2400" b="0" i="1" smtClean="0">
                        <a:latin typeface="Cambria Math" panose="02040503050406030204" pitchFamily="18" charset="0"/>
                      </a:rPr>
                      <m:t>𝑑</m:t>
                    </m:r>
                    <m:r>
                      <a:rPr lang="en-CA" sz="2400" b="0" i="1" smtClean="0">
                        <a:latin typeface="Cambria Math" panose="02040503050406030204" pitchFamily="18" charset="0"/>
                      </a:rPr>
                      <m:t>×</m:t>
                    </m:r>
                    <m:r>
                      <a:rPr lang="en-CA" sz="2400" b="0" i="1" smtClean="0">
                        <a:latin typeface="Cambria Math" panose="02040503050406030204" pitchFamily="18" charset="0"/>
                      </a:rPr>
                      <m:t>𝑑</m:t>
                    </m:r>
                  </m:oMath>
                </a14:m>
                <a:r>
                  <a:rPr lang="en-US" sz="2400" dirty="0"/>
                  <a:t> possible states </a:t>
                </a:r>
                <a14:m>
                  <m:oMath xmlns:m="http://schemas.openxmlformats.org/officeDocument/2006/math">
                    <m:d>
                      <m:dPr>
                        <m:begChr m:val="{"/>
                        <m:endChr m:val="}"/>
                        <m:ctrlPr>
                          <a:rPr lang="en-CA" sz="2400" b="0" i="1" smtClean="0">
                            <a:latin typeface="Cambria Math" panose="02040503050406030204" pitchFamily="18" charset="0"/>
                          </a:rPr>
                        </m:ctrlPr>
                      </m:dPr>
                      <m:e>
                        <m:d>
                          <m:dPr>
                            <m:ctrlPr>
                              <a:rPr lang="en-CA" sz="2400" b="0" i="1" smtClean="0">
                                <a:latin typeface="Cambria Math" panose="02040503050406030204" pitchFamily="18" charset="0"/>
                              </a:rPr>
                            </m:ctrlPr>
                          </m:dPr>
                          <m:e>
                            <m:r>
                              <a:rPr lang="en-CA" sz="2400" b="0" i="1" smtClean="0">
                                <a:latin typeface="Cambria Math" panose="02040503050406030204" pitchFamily="18" charset="0"/>
                              </a:rPr>
                              <m:t>0,0</m:t>
                            </m:r>
                          </m:e>
                        </m:d>
                        <m:r>
                          <a:rPr lang="en-CA" sz="2400" b="0" i="1" smtClean="0">
                            <a:latin typeface="Cambria Math" panose="02040503050406030204" pitchFamily="18" charset="0"/>
                          </a:rPr>
                          <m:t>,</m:t>
                        </m:r>
                        <m:d>
                          <m:dPr>
                            <m:ctrlPr>
                              <a:rPr lang="en-CA" sz="2400" b="0" i="1" smtClean="0">
                                <a:latin typeface="Cambria Math" panose="02040503050406030204" pitchFamily="18" charset="0"/>
                              </a:rPr>
                            </m:ctrlPr>
                          </m:dPr>
                          <m:e>
                            <m:r>
                              <a:rPr lang="en-CA" sz="2400" b="0" i="1" smtClean="0">
                                <a:latin typeface="Cambria Math" panose="02040503050406030204" pitchFamily="18" charset="0"/>
                              </a:rPr>
                              <m:t>0,1</m:t>
                            </m:r>
                          </m:e>
                        </m:d>
                        <m:r>
                          <a:rPr lang="en-CA" sz="2400" b="0" i="1" smtClean="0">
                            <a:latin typeface="Cambria Math" panose="02040503050406030204" pitchFamily="18" charset="0"/>
                          </a:rPr>
                          <m:t>,…,</m:t>
                        </m:r>
                        <m:d>
                          <m:dPr>
                            <m:ctrlPr>
                              <a:rPr lang="en-CA" sz="2400" b="0" i="1" smtClean="0">
                                <a:latin typeface="Cambria Math" panose="02040503050406030204" pitchFamily="18" charset="0"/>
                              </a:rPr>
                            </m:ctrlPr>
                          </m:dPr>
                          <m:e>
                            <m:r>
                              <a:rPr lang="en-CA" sz="2400" b="0" i="1" smtClean="0">
                                <a:latin typeface="Cambria Math" panose="02040503050406030204" pitchFamily="18" charset="0"/>
                              </a:rPr>
                              <m:t>𝑑</m:t>
                            </m:r>
                            <m:r>
                              <a:rPr lang="en-CA" sz="2400" b="0" i="1" smtClean="0">
                                <a:latin typeface="Cambria Math" panose="02040503050406030204" pitchFamily="18" charset="0"/>
                              </a:rPr>
                              <m:t>−2,</m:t>
                            </m:r>
                            <m:r>
                              <a:rPr lang="en-CA" sz="2400" b="0" i="1" smtClean="0">
                                <a:latin typeface="Cambria Math" panose="02040503050406030204" pitchFamily="18" charset="0"/>
                              </a:rPr>
                              <m:t>𝑑</m:t>
                            </m:r>
                            <m:r>
                              <a:rPr lang="en-CA" sz="2400" b="0" i="1" smtClean="0">
                                <a:latin typeface="Cambria Math" panose="02040503050406030204" pitchFamily="18" charset="0"/>
                              </a:rPr>
                              <m:t>−1</m:t>
                            </m:r>
                          </m:e>
                        </m:d>
                        <m:r>
                          <a:rPr lang="en-CA" sz="2400" b="0" i="1" smtClean="0">
                            <a:latin typeface="Cambria Math" panose="02040503050406030204" pitchFamily="18" charset="0"/>
                          </a:rPr>
                          <m:t>,(</m:t>
                        </m:r>
                        <m:r>
                          <a:rPr lang="en-CA" sz="2400" b="0" i="1" smtClean="0">
                            <a:latin typeface="Cambria Math" panose="02040503050406030204" pitchFamily="18" charset="0"/>
                          </a:rPr>
                          <m:t>𝑑</m:t>
                        </m:r>
                        <m:r>
                          <a:rPr lang="en-CA" sz="2400" b="0" i="1" smtClean="0">
                            <a:latin typeface="Cambria Math" panose="02040503050406030204" pitchFamily="18" charset="0"/>
                          </a:rPr>
                          <m:t>−1,</m:t>
                        </m:r>
                        <m:r>
                          <a:rPr lang="en-CA" sz="2400" b="0" i="1" smtClean="0">
                            <a:latin typeface="Cambria Math" panose="02040503050406030204" pitchFamily="18" charset="0"/>
                          </a:rPr>
                          <m:t>𝑑</m:t>
                        </m:r>
                        <m:r>
                          <a:rPr lang="en-CA" sz="2400" b="0" i="1" smtClean="0">
                            <a:latin typeface="Cambria Math" panose="02040503050406030204" pitchFamily="18" charset="0"/>
                          </a:rPr>
                          <m:t>−1)</m:t>
                        </m:r>
                      </m:e>
                    </m:d>
                  </m:oMath>
                </a14:m>
                <a:r>
                  <a:rPr lang="en-US" sz="2400" dirty="0"/>
                  <a:t>. </a:t>
                </a:r>
              </a:p>
              <a:p>
                <a:endParaRPr lang="en-US" sz="2400" dirty="0"/>
              </a:p>
              <a:p>
                <a:r>
                  <a:rPr lang="en-US" sz="2400" dirty="0"/>
                  <a:t>State of </a:t>
                </a:r>
                <a14:m>
                  <m:oMath xmlns:m="http://schemas.openxmlformats.org/officeDocument/2006/math">
                    <m:sSub>
                      <m:sSubPr>
                        <m:ctrlPr>
                          <a:rPr lang="en-CA" sz="2400" b="0" i="1" smtClean="0">
                            <a:latin typeface="Cambria Math" panose="02040503050406030204" pitchFamily="18" charset="0"/>
                          </a:rPr>
                        </m:ctrlPr>
                      </m:sSubPr>
                      <m:e>
                        <m:r>
                          <a:rPr lang="en-CA" sz="2400" b="0" i="1" smtClean="0">
                            <a:latin typeface="Cambria Math" panose="02040503050406030204" pitchFamily="18" charset="0"/>
                          </a:rPr>
                          <m:t>𝑆</m:t>
                        </m:r>
                      </m:e>
                      <m:sub>
                        <m:r>
                          <a:rPr lang="en-CA" sz="2400" b="0" i="1" smtClean="0">
                            <a:latin typeface="Cambria Math" panose="02040503050406030204" pitchFamily="18" charset="0"/>
                          </a:rPr>
                          <m:t>1</m:t>
                        </m:r>
                      </m:sub>
                    </m:sSub>
                    <m:r>
                      <a:rPr lang="en-CA" sz="2400" b="0" i="1" smtClean="0">
                        <a:latin typeface="Cambria Math" panose="02040503050406030204" pitchFamily="18" charset="0"/>
                      </a:rPr>
                      <m:t>⊗</m:t>
                    </m:r>
                    <m:sSub>
                      <m:sSubPr>
                        <m:ctrlPr>
                          <a:rPr lang="en-CA" sz="2400" b="0" i="1" smtClean="0">
                            <a:latin typeface="Cambria Math" panose="02040503050406030204" pitchFamily="18" charset="0"/>
                          </a:rPr>
                        </m:ctrlPr>
                      </m:sSubPr>
                      <m:e>
                        <m:r>
                          <a:rPr lang="en-CA" sz="2400" b="0" i="1" smtClean="0">
                            <a:latin typeface="Cambria Math" panose="02040503050406030204" pitchFamily="18" charset="0"/>
                          </a:rPr>
                          <m:t>𝑆</m:t>
                        </m:r>
                      </m:e>
                      <m:sub>
                        <m:r>
                          <a:rPr lang="en-CA" sz="2400" b="0" i="1" smtClean="0">
                            <a:latin typeface="Cambria Math" panose="02040503050406030204" pitchFamily="18" charset="0"/>
                          </a:rPr>
                          <m:t>2</m:t>
                        </m:r>
                      </m:sub>
                    </m:sSub>
                  </m:oMath>
                </a14:m>
                <a:r>
                  <a:rPr lang="en-US" sz="2400" dirty="0"/>
                  <a:t> is given by </a:t>
                </a:r>
                <a:r>
                  <a:rPr lang="en-US" sz="2400" i="1" dirty="0"/>
                  <a:t>tensor product </a:t>
                </a:r>
                <a14:m>
                  <m:oMath xmlns:m="http://schemas.openxmlformats.org/officeDocument/2006/math">
                    <m:d>
                      <m:dPr>
                        <m:begChr m:val="|"/>
                        <m:endChr m:val="⟩"/>
                        <m:ctrlPr>
                          <a:rPr lang="en-CA" sz="2400" b="0" i="1" smtClean="0">
                            <a:latin typeface="Cambria Math" panose="02040503050406030204" pitchFamily="18" charset="0"/>
                          </a:rPr>
                        </m:ctrlPr>
                      </m:dPr>
                      <m:e>
                        <m:r>
                          <a:rPr lang="en-CA" sz="2400" b="0" i="1" smtClean="0">
                            <a:latin typeface="Cambria Math" panose="02040503050406030204" pitchFamily="18" charset="0"/>
                          </a:rPr>
                          <m:t>𝑧</m:t>
                        </m:r>
                      </m:e>
                    </m:d>
                    <m:r>
                      <a:rPr lang="en-CA" sz="2400" b="0" i="1" smtClean="0">
                        <a:latin typeface="Cambria Math" panose="02040503050406030204" pitchFamily="18" charset="0"/>
                      </a:rPr>
                      <m:t>=</m:t>
                    </m:r>
                    <m:d>
                      <m:dPr>
                        <m:begChr m:val="|"/>
                        <m:endChr m:val="⟩"/>
                        <m:ctrlPr>
                          <a:rPr lang="en-CA" sz="2400" b="0" i="1" smtClean="0">
                            <a:latin typeface="Cambria Math" panose="02040503050406030204" pitchFamily="18" charset="0"/>
                          </a:rPr>
                        </m:ctrlPr>
                      </m:dPr>
                      <m:e>
                        <m:sSub>
                          <m:sSubPr>
                            <m:ctrlPr>
                              <a:rPr lang="en-CA" sz="2400" b="0" i="1" smtClean="0">
                                <a:latin typeface="Cambria Math" panose="02040503050406030204" pitchFamily="18" charset="0"/>
                              </a:rPr>
                            </m:ctrlPr>
                          </m:sSubPr>
                          <m:e>
                            <m:r>
                              <a:rPr lang="en-CA" sz="2400" b="0" i="1" smtClean="0">
                                <a:latin typeface="Cambria Math" panose="02040503050406030204" pitchFamily="18" charset="0"/>
                              </a:rPr>
                              <m:t>𝑥</m:t>
                            </m:r>
                          </m:e>
                          <m:sub>
                            <m:r>
                              <a:rPr lang="en-CA" sz="2400" b="0" i="1" smtClean="0">
                                <a:latin typeface="Cambria Math" panose="02040503050406030204" pitchFamily="18" charset="0"/>
                              </a:rPr>
                              <m:t>1</m:t>
                            </m:r>
                          </m:sub>
                        </m:sSub>
                      </m:e>
                    </m:d>
                    <m:r>
                      <a:rPr lang="en-CA" sz="2400" b="0" i="1" smtClean="0">
                        <a:latin typeface="Cambria Math" panose="02040503050406030204" pitchFamily="18" charset="0"/>
                      </a:rPr>
                      <m:t>⊗|</m:t>
                    </m:r>
                    <m:sSub>
                      <m:sSubPr>
                        <m:ctrlPr>
                          <a:rPr lang="en-CA" sz="2400" b="0" i="1" smtClean="0">
                            <a:latin typeface="Cambria Math" panose="02040503050406030204" pitchFamily="18" charset="0"/>
                          </a:rPr>
                        </m:ctrlPr>
                      </m:sSubPr>
                      <m:e>
                        <m:r>
                          <a:rPr lang="en-CA" sz="2400" b="0" i="1" smtClean="0">
                            <a:latin typeface="Cambria Math" panose="02040503050406030204" pitchFamily="18" charset="0"/>
                          </a:rPr>
                          <m:t>𝑥</m:t>
                        </m:r>
                      </m:e>
                      <m:sub>
                        <m:r>
                          <a:rPr lang="en-CA" sz="2400" b="0" i="1" smtClean="0">
                            <a:latin typeface="Cambria Math" panose="02040503050406030204" pitchFamily="18" charset="0"/>
                          </a:rPr>
                          <m:t>2</m:t>
                        </m:r>
                      </m:sub>
                    </m:sSub>
                    <m:r>
                      <a:rPr lang="en-CA" sz="2400" b="0" i="1" smtClean="0">
                        <a:latin typeface="Cambria Math" panose="02040503050406030204" pitchFamily="18" charset="0"/>
                      </a:rPr>
                      <m:t>⟩</m:t>
                    </m:r>
                  </m:oMath>
                </a14:m>
                <a:endParaRPr lang="en-US" sz="2400" dirty="0"/>
              </a:p>
              <a:p>
                <a:endParaRPr lang="en-US" sz="2400" dirty="0"/>
              </a:p>
              <a:p>
                <a:r>
                  <a:rPr lang="en-US" sz="2400" dirty="0"/>
                  <a:t>We often use abbreviations</a:t>
                </a:r>
                <a:br>
                  <a:rPr lang="en-US" sz="2400" dirty="0"/>
                </a:br>
                <a:r>
                  <a:rPr lang="en-US" sz="2400" dirty="0"/>
                  <a:t/>
                </a:r>
                <a:br>
                  <a:rPr lang="en-US" sz="2400" dirty="0"/>
                </a:br>
                <a14:m>
                  <m:oMath xmlns:m="http://schemas.openxmlformats.org/officeDocument/2006/math">
                    <m:d>
                      <m:dPr>
                        <m:begChr m:val="|"/>
                        <m:endChr m:val="⟩"/>
                        <m:ctrlPr>
                          <a:rPr lang="en-CA" sz="2400" b="0" i="1" smtClean="0">
                            <a:latin typeface="Cambria Math" panose="02040503050406030204" pitchFamily="18" charset="0"/>
                          </a:rPr>
                        </m:ctrlPr>
                      </m:dPr>
                      <m:e>
                        <m:sSub>
                          <m:sSubPr>
                            <m:ctrlPr>
                              <a:rPr lang="en-CA" sz="2400" b="0" i="1" smtClean="0">
                                <a:latin typeface="Cambria Math" panose="02040503050406030204" pitchFamily="18" charset="0"/>
                              </a:rPr>
                            </m:ctrlPr>
                          </m:sSubPr>
                          <m:e>
                            <m:r>
                              <a:rPr lang="en-CA" sz="2400" b="0" i="1" smtClean="0">
                                <a:latin typeface="Cambria Math" panose="02040503050406030204" pitchFamily="18" charset="0"/>
                              </a:rPr>
                              <m:t>𝑥</m:t>
                            </m:r>
                          </m:e>
                          <m:sub>
                            <m:r>
                              <a:rPr lang="en-CA" sz="2400" b="0" i="1" smtClean="0">
                                <a:latin typeface="Cambria Math" panose="02040503050406030204" pitchFamily="18" charset="0"/>
                              </a:rPr>
                              <m:t>1</m:t>
                            </m:r>
                          </m:sub>
                        </m:sSub>
                      </m:e>
                    </m:d>
                    <m:r>
                      <a:rPr lang="en-CA" sz="2400" b="0" i="1" smtClean="0">
                        <a:latin typeface="Cambria Math" panose="02040503050406030204" pitchFamily="18" charset="0"/>
                      </a:rPr>
                      <m:t>⊗</m:t>
                    </m:r>
                    <m:d>
                      <m:dPr>
                        <m:begChr m:val="|"/>
                        <m:endChr m:val="⟩"/>
                        <m:ctrlPr>
                          <a:rPr lang="en-CA" sz="2400" b="0" i="1" smtClean="0">
                            <a:latin typeface="Cambria Math" panose="02040503050406030204" pitchFamily="18" charset="0"/>
                          </a:rPr>
                        </m:ctrlPr>
                      </m:dPr>
                      <m:e>
                        <m:sSub>
                          <m:sSubPr>
                            <m:ctrlPr>
                              <a:rPr lang="en-CA" sz="2400" b="0" i="1" smtClean="0">
                                <a:latin typeface="Cambria Math" panose="02040503050406030204" pitchFamily="18" charset="0"/>
                              </a:rPr>
                            </m:ctrlPr>
                          </m:sSubPr>
                          <m:e>
                            <m:r>
                              <a:rPr lang="en-CA" sz="2400" b="0" i="1" smtClean="0">
                                <a:latin typeface="Cambria Math" panose="02040503050406030204" pitchFamily="18" charset="0"/>
                              </a:rPr>
                              <m:t>𝑥</m:t>
                            </m:r>
                          </m:e>
                          <m:sub>
                            <m:r>
                              <a:rPr lang="en-CA" sz="2400" b="0" i="1" smtClean="0">
                                <a:latin typeface="Cambria Math" panose="02040503050406030204" pitchFamily="18" charset="0"/>
                              </a:rPr>
                              <m:t>2</m:t>
                            </m:r>
                          </m:sub>
                        </m:sSub>
                      </m:e>
                    </m:d>
                    <m:r>
                      <a:rPr lang="en-CA" sz="2400" b="0" i="1" smtClean="0">
                        <a:latin typeface="Cambria Math" panose="02040503050406030204" pitchFamily="18" charset="0"/>
                      </a:rPr>
                      <m:t>=</m:t>
                    </m:r>
                    <m:d>
                      <m:dPr>
                        <m:begChr m:val="|"/>
                        <m:endChr m:val="⟩"/>
                        <m:ctrlPr>
                          <a:rPr lang="en-CA" sz="2400" b="0" i="1" smtClean="0">
                            <a:latin typeface="Cambria Math" panose="02040503050406030204" pitchFamily="18" charset="0"/>
                          </a:rPr>
                        </m:ctrlPr>
                      </m:dPr>
                      <m:e>
                        <m:sSub>
                          <m:sSubPr>
                            <m:ctrlPr>
                              <a:rPr lang="en-CA" sz="2400" b="0" i="1" smtClean="0">
                                <a:latin typeface="Cambria Math" panose="02040503050406030204" pitchFamily="18" charset="0"/>
                              </a:rPr>
                            </m:ctrlPr>
                          </m:sSubPr>
                          <m:e>
                            <m:r>
                              <a:rPr lang="en-CA" sz="2400" b="0" i="1" smtClean="0">
                                <a:latin typeface="Cambria Math" panose="02040503050406030204" pitchFamily="18" charset="0"/>
                              </a:rPr>
                              <m:t>𝑥</m:t>
                            </m:r>
                          </m:e>
                          <m:sub>
                            <m:r>
                              <a:rPr lang="en-CA" sz="2400" b="0" i="1" smtClean="0">
                                <a:latin typeface="Cambria Math" panose="02040503050406030204" pitchFamily="18" charset="0"/>
                              </a:rPr>
                              <m:t>1</m:t>
                            </m:r>
                          </m:sub>
                        </m:sSub>
                      </m:e>
                    </m:d>
                    <m:d>
                      <m:dPr>
                        <m:begChr m:val="|"/>
                        <m:endChr m:val="⟩"/>
                        <m:ctrlPr>
                          <a:rPr lang="en-CA" sz="2400" b="0" i="1" smtClean="0">
                            <a:latin typeface="Cambria Math" panose="02040503050406030204" pitchFamily="18" charset="0"/>
                          </a:rPr>
                        </m:ctrlPr>
                      </m:dPr>
                      <m:e>
                        <m:sSub>
                          <m:sSubPr>
                            <m:ctrlPr>
                              <a:rPr lang="en-CA" sz="2400" b="0" i="1" smtClean="0">
                                <a:latin typeface="Cambria Math" panose="02040503050406030204" pitchFamily="18" charset="0"/>
                              </a:rPr>
                            </m:ctrlPr>
                          </m:sSubPr>
                          <m:e>
                            <m:r>
                              <a:rPr lang="en-CA" sz="2400" b="0" i="1" smtClean="0">
                                <a:latin typeface="Cambria Math" panose="02040503050406030204" pitchFamily="18" charset="0"/>
                              </a:rPr>
                              <m:t>𝑥</m:t>
                            </m:r>
                          </m:e>
                          <m:sub>
                            <m:r>
                              <a:rPr lang="en-CA" sz="2400" b="0" i="1" smtClean="0">
                                <a:latin typeface="Cambria Math" panose="02040503050406030204" pitchFamily="18" charset="0"/>
                              </a:rPr>
                              <m:t>2</m:t>
                            </m:r>
                          </m:sub>
                        </m:sSub>
                      </m:e>
                    </m:d>
                    <m:r>
                      <a:rPr lang="en-CA" sz="2400" b="0" i="1" smtClean="0">
                        <a:latin typeface="Cambria Math" panose="02040503050406030204" pitchFamily="18" charset="0"/>
                      </a:rPr>
                      <m:t>=</m:t>
                    </m:r>
                    <m:d>
                      <m:dPr>
                        <m:begChr m:val="|"/>
                        <m:endChr m:val="⟩"/>
                        <m:ctrlPr>
                          <a:rPr lang="en-CA" sz="2400" b="0" i="1" smtClean="0">
                            <a:latin typeface="Cambria Math" panose="02040503050406030204" pitchFamily="18" charset="0"/>
                          </a:rPr>
                        </m:ctrlPr>
                      </m:dPr>
                      <m:e>
                        <m:sSub>
                          <m:sSubPr>
                            <m:ctrlPr>
                              <a:rPr lang="en-CA" sz="2400" b="0" i="1" smtClean="0">
                                <a:latin typeface="Cambria Math" panose="02040503050406030204" pitchFamily="18" charset="0"/>
                              </a:rPr>
                            </m:ctrlPr>
                          </m:sSubPr>
                          <m:e>
                            <m:r>
                              <a:rPr lang="en-CA" sz="2400" b="0" i="1" smtClean="0">
                                <a:latin typeface="Cambria Math" panose="02040503050406030204" pitchFamily="18" charset="0"/>
                              </a:rPr>
                              <m:t>𝑥</m:t>
                            </m:r>
                          </m:e>
                          <m:sub>
                            <m:r>
                              <a:rPr lang="en-CA" sz="2400" b="0" i="1" smtClean="0">
                                <a:latin typeface="Cambria Math" panose="02040503050406030204" pitchFamily="18" charset="0"/>
                              </a:rPr>
                              <m:t>1</m:t>
                            </m:r>
                          </m:sub>
                        </m:sSub>
                        <m:r>
                          <a:rPr lang="en-CA" sz="2400" b="0" i="1" smtClean="0">
                            <a:latin typeface="Cambria Math" panose="02040503050406030204" pitchFamily="18" charset="0"/>
                          </a:rPr>
                          <m:t>,</m:t>
                        </m:r>
                        <m:sSub>
                          <m:sSubPr>
                            <m:ctrlPr>
                              <a:rPr lang="en-CA" sz="2400" b="0" i="1" smtClean="0">
                                <a:latin typeface="Cambria Math" panose="02040503050406030204" pitchFamily="18" charset="0"/>
                              </a:rPr>
                            </m:ctrlPr>
                          </m:sSubPr>
                          <m:e>
                            <m:r>
                              <a:rPr lang="en-CA" sz="2400" b="0" i="1" smtClean="0">
                                <a:latin typeface="Cambria Math" panose="02040503050406030204" pitchFamily="18" charset="0"/>
                              </a:rPr>
                              <m:t>𝑥</m:t>
                            </m:r>
                          </m:e>
                          <m:sub>
                            <m:r>
                              <a:rPr lang="en-CA" sz="2400" b="0" i="1" smtClean="0">
                                <a:latin typeface="Cambria Math" panose="02040503050406030204" pitchFamily="18" charset="0"/>
                              </a:rPr>
                              <m:t>2</m:t>
                            </m:r>
                          </m:sub>
                        </m:sSub>
                      </m:e>
                    </m:d>
                    <m:r>
                      <a:rPr lang="en-CA" sz="2400" b="0" i="1" smtClean="0">
                        <a:latin typeface="Cambria Math" panose="02040503050406030204" pitchFamily="18" charset="0"/>
                      </a:rPr>
                      <m:t>=</m:t>
                    </m:r>
                    <m:d>
                      <m:dPr>
                        <m:begChr m:val="|"/>
                        <m:endChr m:val="⟩"/>
                        <m:ctrlPr>
                          <a:rPr lang="en-CA" sz="2400" b="0" i="1" smtClean="0">
                            <a:latin typeface="Cambria Math" panose="02040503050406030204" pitchFamily="18" charset="0"/>
                          </a:rPr>
                        </m:ctrlPr>
                      </m:dPr>
                      <m:e>
                        <m:sSub>
                          <m:sSubPr>
                            <m:ctrlPr>
                              <a:rPr lang="en-CA" sz="2400" b="0" i="1" smtClean="0">
                                <a:latin typeface="Cambria Math" panose="02040503050406030204" pitchFamily="18" charset="0"/>
                              </a:rPr>
                            </m:ctrlPr>
                          </m:sSubPr>
                          <m:e>
                            <m:r>
                              <a:rPr lang="en-CA" sz="2400" b="0" i="1" smtClean="0">
                                <a:latin typeface="Cambria Math" panose="02040503050406030204" pitchFamily="18" charset="0"/>
                              </a:rPr>
                              <m:t>𝑥</m:t>
                            </m:r>
                          </m:e>
                          <m:sub>
                            <m:r>
                              <a:rPr lang="en-CA" sz="2400" b="0" i="1" smtClean="0">
                                <a:latin typeface="Cambria Math" panose="02040503050406030204" pitchFamily="18" charset="0"/>
                              </a:rPr>
                              <m:t>1</m:t>
                            </m:r>
                          </m:sub>
                        </m:sSub>
                        <m:sSub>
                          <m:sSubPr>
                            <m:ctrlPr>
                              <a:rPr lang="en-CA" sz="2400" b="0" i="1" smtClean="0">
                                <a:latin typeface="Cambria Math" panose="02040503050406030204" pitchFamily="18" charset="0"/>
                              </a:rPr>
                            </m:ctrlPr>
                          </m:sSubPr>
                          <m:e>
                            <m:r>
                              <a:rPr lang="en-CA" sz="2400" b="0" i="1" smtClean="0">
                                <a:latin typeface="Cambria Math" panose="02040503050406030204" pitchFamily="18" charset="0"/>
                              </a:rPr>
                              <m:t>𝑥</m:t>
                            </m:r>
                          </m:e>
                          <m:sub>
                            <m:r>
                              <a:rPr lang="en-CA" sz="2400" b="0" i="1" smtClean="0">
                                <a:latin typeface="Cambria Math" panose="02040503050406030204" pitchFamily="18" charset="0"/>
                              </a:rPr>
                              <m:t>2</m:t>
                            </m:r>
                          </m:sub>
                        </m:sSub>
                      </m:e>
                    </m:d>
                  </m:oMath>
                </a14:m>
                <a:r>
                  <a:rPr lang="en-US" sz="2400" dirty="0"/>
                  <a:t> </a:t>
                </a:r>
              </a:p>
              <a:p>
                <a:endParaRPr lang="en-US" sz="2400" dirty="0"/>
              </a:p>
            </p:txBody>
          </p:sp>
        </mc:Choice>
        <mc:Fallback xmlns="">
          <p:sp>
            <p:nvSpPr>
              <p:cNvPr id="3" name="Content Placeholder 2">
                <a:extLst>
                  <a:ext uri="{FF2B5EF4-FFF2-40B4-BE49-F238E27FC236}">
                    <a16:creationId xmlns:a16="http://schemas.microsoft.com/office/drawing/2014/main" id="{1A003183-B0E7-AF0C-FBD6-E1D750599BB8}"/>
                  </a:ext>
                </a:extLst>
              </p:cNvPr>
              <p:cNvSpPr>
                <a:spLocks noGrp="1" noRot="1" noChangeAspect="1" noMove="1" noResize="1" noEditPoints="1" noAdjustHandles="1" noChangeArrowheads="1" noChangeShapeType="1" noTextEdit="1"/>
              </p:cNvSpPr>
              <p:nvPr>
                <p:ph idx="1"/>
              </p:nvPr>
            </p:nvSpPr>
            <p:spPr>
              <a:xfrm>
                <a:off x="838200" y="1825624"/>
                <a:ext cx="10515600" cy="4800187"/>
              </a:xfrm>
              <a:blipFill>
                <a:blip r:embed="rId2"/>
                <a:stretch>
                  <a:fillRect l="-844" t="-1583"/>
                </a:stretch>
              </a:blipFill>
            </p:spPr>
            <p:txBody>
              <a:bodyPr/>
              <a:lstStyle/>
              <a:p>
                <a:r>
                  <a:rPr lang="en-US">
                    <a:noFill/>
                  </a:rPr>
                  <a:t> </a:t>
                </a:r>
              </a:p>
            </p:txBody>
          </p:sp>
        </mc:Fallback>
      </mc:AlternateContent>
      <p:grpSp>
        <p:nvGrpSpPr>
          <p:cNvPr id="4" name="그룹 3"/>
          <p:cNvGrpSpPr/>
          <p:nvPr/>
        </p:nvGrpSpPr>
        <p:grpSpPr>
          <a:xfrm>
            <a:off x="7940841" y="4876800"/>
            <a:ext cx="4115931" cy="1749011"/>
            <a:chOff x="7346731" y="4398578"/>
            <a:chExt cx="4710042" cy="2227233"/>
          </a:xfrm>
        </p:grpSpPr>
        <p:sp>
          <p:nvSpPr>
            <p:cNvPr id="10" name="Oval 9">
              <a:extLst>
                <a:ext uri="{FF2B5EF4-FFF2-40B4-BE49-F238E27FC236}">
                  <a16:creationId xmlns:a16="http://schemas.microsoft.com/office/drawing/2014/main" id="{5778E041-885B-35C8-D810-C4A114360A54}"/>
                </a:ext>
              </a:extLst>
            </p:cNvPr>
            <p:cNvSpPr/>
            <p:nvPr/>
          </p:nvSpPr>
          <p:spPr>
            <a:xfrm>
              <a:off x="7346731" y="4398578"/>
              <a:ext cx="4710042" cy="2227233"/>
            </a:xfrm>
            <a:prstGeom prst="ellipse">
              <a:avLst/>
            </a:prstGeom>
            <a:noFill/>
            <a:ln w="28575">
              <a:solidFill>
                <a:srgbClr val="C00000"/>
              </a:solidFill>
              <a:prstDash val="dashDo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 name="Cube 16">
              <a:extLst>
                <a:ext uri="{FF2B5EF4-FFF2-40B4-BE49-F238E27FC236}">
                  <a16:creationId xmlns:a16="http://schemas.microsoft.com/office/drawing/2014/main" id="{88959A26-787A-1C97-76FB-AF711AD10186}"/>
                </a:ext>
              </a:extLst>
            </p:cNvPr>
            <p:cNvSpPr/>
            <p:nvPr/>
          </p:nvSpPr>
          <p:spPr>
            <a:xfrm>
              <a:off x="7847263" y="4673566"/>
              <a:ext cx="1165473" cy="1185033"/>
            </a:xfrm>
            <a:prstGeom prst="cub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mc:AlternateContent xmlns:mc="http://schemas.openxmlformats.org/markup-compatibility/2006" xmlns:a14="http://schemas.microsoft.com/office/drawing/2010/main">
          <mc:Choice Requires="a14">
            <p:sp>
              <p:nvSpPr>
                <p:cNvPr id="18" name="Rectangle 17">
                  <a:extLst>
                    <a:ext uri="{FF2B5EF4-FFF2-40B4-BE49-F238E27FC236}">
                      <a16:creationId xmlns:a16="http://schemas.microsoft.com/office/drawing/2014/main" id="{82CCBDC6-1B1A-4E02-A3F8-8A4EED66E98A}"/>
                    </a:ext>
                  </a:extLst>
                </p:cNvPr>
                <p:cNvSpPr/>
                <p:nvPr/>
              </p:nvSpPr>
              <p:spPr>
                <a:xfrm>
                  <a:off x="8132399" y="6123543"/>
                  <a:ext cx="451277" cy="369332"/>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sSub>
                          <m:sSubPr>
                            <m:ctrlPr>
                              <a:rPr lang="en-CA" b="0" i="1" smtClean="0">
                                <a:latin typeface="Cambria Math" panose="02040503050406030204" pitchFamily="18" charset="0"/>
                              </a:rPr>
                            </m:ctrlPr>
                          </m:sSubPr>
                          <m:e>
                            <m:r>
                              <a:rPr lang="en-CA" i="1" smtClean="0">
                                <a:latin typeface="Cambria Math" panose="02040503050406030204" pitchFamily="18" charset="0"/>
                              </a:rPr>
                              <m:t>𝑆</m:t>
                            </m:r>
                          </m:e>
                          <m:sub>
                            <m:r>
                              <a:rPr lang="en-CA" b="0" i="1" smtClean="0">
                                <a:latin typeface="Cambria Math" panose="02040503050406030204" pitchFamily="18" charset="0"/>
                              </a:rPr>
                              <m:t>1</m:t>
                            </m:r>
                          </m:sub>
                        </m:sSub>
                      </m:oMath>
                    </m:oMathPara>
                  </a14:m>
                  <a:endParaRPr lang="en-US" dirty="0"/>
                </a:p>
              </p:txBody>
            </p:sp>
          </mc:Choice>
          <mc:Fallback xmlns="">
            <p:sp>
              <p:nvSpPr>
                <p:cNvPr id="18" name="Rectangle 17">
                  <a:extLst>
                    <a:ext uri="{FF2B5EF4-FFF2-40B4-BE49-F238E27FC236}">
                      <a16:creationId xmlns:a16="http://schemas.microsoft.com/office/drawing/2014/main" id="{82CCBDC6-1B1A-4E02-A3F8-8A4EED66E98A}"/>
                    </a:ext>
                  </a:extLst>
                </p:cNvPr>
                <p:cNvSpPr>
                  <a:spLocks noRot="1" noChangeAspect="1" noMove="1" noResize="1" noEditPoints="1" noAdjustHandles="1" noChangeArrowheads="1" noChangeShapeType="1" noTextEdit="1"/>
                </p:cNvSpPr>
                <p:nvPr/>
              </p:nvSpPr>
              <p:spPr>
                <a:xfrm>
                  <a:off x="8132399" y="6123543"/>
                  <a:ext cx="451277" cy="369332"/>
                </a:xfrm>
                <a:prstGeom prst="rect">
                  <a:avLst/>
                </a:prstGeom>
                <a:blipFill>
                  <a:blip r:embed="rId3"/>
                  <a:stretch>
                    <a:fillRect b="-29167"/>
                  </a:stretch>
                </a:blipFill>
              </p:spPr>
              <p:txBody>
                <a:bodyPr/>
                <a:lstStyle/>
                <a:p>
                  <a:r>
                    <a:rPr lang="ko-KR" altLang="en-US">
                      <a:noFill/>
                    </a:rPr>
                    <a:t> </a:t>
                  </a:r>
                </a:p>
              </p:txBody>
            </p:sp>
          </mc:Fallback>
        </mc:AlternateContent>
        <p:sp>
          <p:nvSpPr>
            <p:cNvPr id="19" name="Cube 18">
              <a:extLst>
                <a:ext uri="{FF2B5EF4-FFF2-40B4-BE49-F238E27FC236}">
                  <a16:creationId xmlns:a16="http://schemas.microsoft.com/office/drawing/2014/main" id="{346B4BFA-9BA8-DEA8-B54B-005CEFE4149E}"/>
                </a:ext>
              </a:extLst>
            </p:cNvPr>
            <p:cNvSpPr/>
            <p:nvPr/>
          </p:nvSpPr>
          <p:spPr>
            <a:xfrm>
              <a:off x="10188327" y="4673566"/>
              <a:ext cx="1165473" cy="1185033"/>
            </a:xfrm>
            <a:prstGeom prst="cub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mc:AlternateContent xmlns:mc="http://schemas.openxmlformats.org/markup-compatibility/2006" xmlns:a14="http://schemas.microsoft.com/office/drawing/2010/main">
          <mc:Choice Requires="a14">
            <p:sp>
              <p:nvSpPr>
                <p:cNvPr id="20" name="Rectangle 19">
                  <a:extLst>
                    <a:ext uri="{FF2B5EF4-FFF2-40B4-BE49-F238E27FC236}">
                      <a16:creationId xmlns:a16="http://schemas.microsoft.com/office/drawing/2014/main" id="{ECC817EE-EF25-2C07-BE8E-EC4B64DCC2C0}"/>
                    </a:ext>
                  </a:extLst>
                </p:cNvPr>
                <p:cNvSpPr/>
                <p:nvPr/>
              </p:nvSpPr>
              <p:spPr>
                <a:xfrm>
                  <a:off x="10473463" y="6123543"/>
                  <a:ext cx="456600" cy="369332"/>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sSub>
                          <m:sSubPr>
                            <m:ctrlPr>
                              <a:rPr lang="en-CA" b="0" i="1" smtClean="0">
                                <a:latin typeface="Cambria Math" panose="02040503050406030204" pitchFamily="18" charset="0"/>
                              </a:rPr>
                            </m:ctrlPr>
                          </m:sSubPr>
                          <m:e>
                            <m:r>
                              <a:rPr lang="en-CA" i="1" smtClean="0">
                                <a:latin typeface="Cambria Math" panose="02040503050406030204" pitchFamily="18" charset="0"/>
                              </a:rPr>
                              <m:t>𝑆</m:t>
                            </m:r>
                          </m:e>
                          <m:sub>
                            <m:r>
                              <a:rPr lang="en-CA" b="0" i="1" smtClean="0">
                                <a:latin typeface="Cambria Math" panose="02040503050406030204" pitchFamily="18" charset="0"/>
                              </a:rPr>
                              <m:t>2</m:t>
                            </m:r>
                          </m:sub>
                        </m:sSub>
                      </m:oMath>
                    </m:oMathPara>
                  </a14:m>
                  <a:endParaRPr lang="en-US" dirty="0"/>
                </a:p>
              </p:txBody>
            </p:sp>
          </mc:Choice>
          <mc:Fallback xmlns="">
            <p:sp>
              <p:nvSpPr>
                <p:cNvPr id="20" name="Rectangle 19">
                  <a:extLst>
                    <a:ext uri="{FF2B5EF4-FFF2-40B4-BE49-F238E27FC236}">
                      <a16:creationId xmlns:a16="http://schemas.microsoft.com/office/drawing/2014/main" id="{ECC817EE-EF25-2C07-BE8E-EC4B64DCC2C0}"/>
                    </a:ext>
                  </a:extLst>
                </p:cNvPr>
                <p:cNvSpPr>
                  <a:spLocks noRot="1" noChangeAspect="1" noMove="1" noResize="1" noEditPoints="1" noAdjustHandles="1" noChangeArrowheads="1" noChangeShapeType="1" noTextEdit="1"/>
                </p:cNvSpPr>
                <p:nvPr/>
              </p:nvSpPr>
              <p:spPr>
                <a:xfrm>
                  <a:off x="10473463" y="6123543"/>
                  <a:ext cx="456600" cy="369332"/>
                </a:xfrm>
                <a:prstGeom prst="rect">
                  <a:avLst/>
                </a:prstGeom>
                <a:blipFill>
                  <a:blip r:embed="rId4"/>
                  <a:stretch>
                    <a:fillRect b="-29167"/>
                  </a:stretch>
                </a:blipFill>
              </p:spPr>
              <p:txBody>
                <a:bodyPr/>
                <a:lstStyle/>
                <a:p>
                  <a:r>
                    <a:rPr lang="ko-KR" altLang="en-US">
                      <a:noFill/>
                    </a:rPr>
                    <a:t> </a:t>
                  </a:r>
                </a:p>
              </p:txBody>
            </p:sp>
          </mc:Fallback>
        </mc:AlternateContent>
        <mc:AlternateContent xmlns:mc="http://schemas.openxmlformats.org/markup-compatibility/2006" xmlns:a14="http://schemas.microsoft.com/office/drawing/2010/main">
          <mc:Choice Requires="a14">
            <p:sp>
              <p:nvSpPr>
                <p:cNvPr id="21" name="TextBox 20">
                  <a:extLst>
                    <a:ext uri="{FF2B5EF4-FFF2-40B4-BE49-F238E27FC236}">
                      <a16:creationId xmlns:a16="http://schemas.microsoft.com/office/drawing/2014/main" id="{67EABDFC-A034-3A1E-95BF-F3F428DB5060}"/>
                    </a:ext>
                  </a:extLst>
                </p:cNvPr>
                <p:cNvSpPr txBox="1"/>
                <p:nvPr/>
              </p:nvSpPr>
              <p:spPr>
                <a:xfrm>
                  <a:off x="7941849" y="5187060"/>
                  <a:ext cx="641827" cy="369332"/>
                </a:xfrm>
                <a:prstGeom prst="rect">
                  <a:avLst/>
                </a:prstGeom>
                <a:solidFill>
                  <a:schemeClr val="bg1"/>
                </a:solidFill>
              </p:spPr>
              <p:txBody>
                <a:bodyPr wrap="square" rtlCol="0">
                  <a:spAutoFit/>
                </a:bodyPr>
                <a:lstStyle/>
                <a:p>
                  <a:pPr/>
                  <a14:m>
                    <m:oMathPara xmlns:m="http://schemas.openxmlformats.org/officeDocument/2006/math">
                      <m:oMathParaPr>
                        <m:jc m:val="centerGroup"/>
                      </m:oMathParaPr>
                      <m:oMath xmlns:m="http://schemas.openxmlformats.org/officeDocument/2006/math">
                        <m:r>
                          <a:rPr lang="en-CA" b="0" i="1" smtClean="0">
                            <a:latin typeface="Cambria Math" panose="02040503050406030204" pitchFamily="18" charset="0"/>
                          </a:rPr>
                          <m:t>|</m:t>
                        </m:r>
                        <m:sSub>
                          <m:sSubPr>
                            <m:ctrlPr>
                              <a:rPr lang="en-CA" b="0" i="1" smtClean="0">
                                <a:latin typeface="Cambria Math" panose="02040503050406030204" pitchFamily="18" charset="0"/>
                              </a:rPr>
                            </m:ctrlPr>
                          </m:sSubPr>
                          <m:e>
                            <m:r>
                              <a:rPr lang="en-CA" b="0" i="1" smtClean="0">
                                <a:latin typeface="Cambria Math" panose="02040503050406030204" pitchFamily="18" charset="0"/>
                              </a:rPr>
                              <m:t>𝑥</m:t>
                            </m:r>
                          </m:e>
                          <m:sub>
                            <m:r>
                              <a:rPr lang="en-CA" b="0" i="1" smtClean="0">
                                <a:latin typeface="Cambria Math" panose="02040503050406030204" pitchFamily="18" charset="0"/>
                              </a:rPr>
                              <m:t>1</m:t>
                            </m:r>
                          </m:sub>
                        </m:sSub>
                        <m:r>
                          <a:rPr lang="en-CA" b="0" i="1" smtClean="0">
                            <a:latin typeface="Cambria Math" panose="02040503050406030204" pitchFamily="18" charset="0"/>
                          </a:rPr>
                          <m:t>⟩</m:t>
                        </m:r>
                      </m:oMath>
                    </m:oMathPara>
                  </a14:m>
                  <a:endParaRPr lang="en-US" dirty="0"/>
                </a:p>
              </p:txBody>
            </p:sp>
          </mc:Choice>
          <mc:Fallback xmlns="">
            <p:sp>
              <p:nvSpPr>
                <p:cNvPr id="21" name="TextBox 20">
                  <a:extLst>
                    <a:ext uri="{FF2B5EF4-FFF2-40B4-BE49-F238E27FC236}">
                      <a16:creationId xmlns:a16="http://schemas.microsoft.com/office/drawing/2014/main" id="{67EABDFC-A034-3A1E-95BF-F3F428DB5060}"/>
                    </a:ext>
                  </a:extLst>
                </p:cNvPr>
                <p:cNvSpPr txBox="1">
                  <a:spLocks noRot="1" noChangeAspect="1" noMove="1" noResize="1" noEditPoints="1" noAdjustHandles="1" noChangeArrowheads="1" noChangeShapeType="1" noTextEdit="1"/>
                </p:cNvSpPr>
                <p:nvPr/>
              </p:nvSpPr>
              <p:spPr>
                <a:xfrm>
                  <a:off x="7941849" y="5187060"/>
                  <a:ext cx="641827" cy="369332"/>
                </a:xfrm>
                <a:prstGeom prst="rect">
                  <a:avLst/>
                </a:prstGeom>
                <a:blipFill>
                  <a:blip r:embed="rId5"/>
                  <a:stretch>
                    <a:fillRect l="-3261" r="-4348" b="-48936"/>
                  </a:stretch>
                </a:blipFill>
              </p:spPr>
              <p:txBody>
                <a:bodyPr/>
                <a:lstStyle/>
                <a:p>
                  <a:r>
                    <a:rPr lang="ko-KR" altLang="en-US">
                      <a:noFill/>
                    </a:rPr>
                    <a:t> </a:t>
                  </a:r>
                </a:p>
              </p:txBody>
            </p:sp>
          </mc:Fallback>
        </mc:AlternateContent>
        <mc:AlternateContent xmlns:mc="http://schemas.openxmlformats.org/markup-compatibility/2006" xmlns:a14="http://schemas.microsoft.com/office/drawing/2010/main">
          <mc:Choice Requires="a14">
            <p:sp>
              <p:nvSpPr>
                <p:cNvPr id="22" name="TextBox 21">
                  <a:extLst>
                    <a:ext uri="{FF2B5EF4-FFF2-40B4-BE49-F238E27FC236}">
                      <a16:creationId xmlns:a16="http://schemas.microsoft.com/office/drawing/2014/main" id="{01A14798-8868-DA85-F1D1-B195D12D97AD}"/>
                    </a:ext>
                  </a:extLst>
                </p:cNvPr>
                <p:cNvSpPr txBox="1"/>
                <p:nvPr/>
              </p:nvSpPr>
              <p:spPr>
                <a:xfrm>
                  <a:off x="10288236" y="5219318"/>
                  <a:ext cx="641827" cy="369332"/>
                </a:xfrm>
                <a:prstGeom prst="rect">
                  <a:avLst/>
                </a:prstGeom>
                <a:solidFill>
                  <a:schemeClr val="bg1"/>
                </a:solidFill>
              </p:spPr>
              <p:txBody>
                <a:bodyPr wrap="square" rtlCol="0">
                  <a:spAutoFit/>
                </a:bodyPr>
                <a:lstStyle/>
                <a:p>
                  <a:pPr/>
                  <a14:m>
                    <m:oMathPara xmlns:m="http://schemas.openxmlformats.org/officeDocument/2006/math">
                      <m:oMathParaPr>
                        <m:jc m:val="centerGroup"/>
                      </m:oMathParaPr>
                      <m:oMath xmlns:m="http://schemas.openxmlformats.org/officeDocument/2006/math">
                        <m:r>
                          <a:rPr lang="en-CA" b="0" i="1" smtClean="0">
                            <a:latin typeface="Cambria Math" panose="02040503050406030204" pitchFamily="18" charset="0"/>
                          </a:rPr>
                          <m:t>|</m:t>
                        </m:r>
                        <m:sSub>
                          <m:sSubPr>
                            <m:ctrlPr>
                              <a:rPr lang="en-CA" b="0" i="1" smtClean="0">
                                <a:latin typeface="Cambria Math" panose="02040503050406030204" pitchFamily="18" charset="0"/>
                              </a:rPr>
                            </m:ctrlPr>
                          </m:sSubPr>
                          <m:e>
                            <m:r>
                              <a:rPr lang="en-CA" b="0" i="1" smtClean="0">
                                <a:latin typeface="Cambria Math" panose="02040503050406030204" pitchFamily="18" charset="0"/>
                              </a:rPr>
                              <m:t>𝑥</m:t>
                            </m:r>
                          </m:e>
                          <m:sub>
                            <m:r>
                              <a:rPr lang="en-CA" b="0" i="1" smtClean="0">
                                <a:latin typeface="Cambria Math" panose="02040503050406030204" pitchFamily="18" charset="0"/>
                              </a:rPr>
                              <m:t>2</m:t>
                            </m:r>
                          </m:sub>
                        </m:sSub>
                        <m:r>
                          <a:rPr lang="en-CA" b="0" i="1" smtClean="0">
                            <a:latin typeface="Cambria Math" panose="02040503050406030204" pitchFamily="18" charset="0"/>
                          </a:rPr>
                          <m:t>⟩</m:t>
                        </m:r>
                      </m:oMath>
                    </m:oMathPara>
                  </a14:m>
                  <a:endParaRPr lang="en-US" dirty="0"/>
                </a:p>
              </p:txBody>
            </p:sp>
          </mc:Choice>
          <mc:Fallback xmlns="">
            <p:sp>
              <p:nvSpPr>
                <p:cNvPr id="22" name="TextBox 21">
                  <a:extLst>
                    <a:ext uri="{FF2B5EF4-FFF2-40B4-BE49-F238E27FC236}">
                      <a16:creationId xmlns:a16="http://schemas.microsoft.com/office/drawing/2014/main" id="{01A14798-8868-DA85-F1D1-B195D12D97AD}"/>
                    </a:ext>
                  </a:extLst>
                </p:cNvPr>
                <p:cNvSpPr txBox="1">
                  <a:spLocks noRot="1" noChangeAspect="1" noMove="1" noResize="1" noEditPoints="1" noAdjustHandles="1" noChangeArrowheads="1" noChangeShapeType="1" noTextEdit="1"/>
                </p:cNvSpPr>
                <p:nvPr/>
              </p:nvSpPr>
              <p:spPr>
                <a:xfrm>
                  <a:off x="10288236" y="5219318"/>
                  <a:ext cx="641827" cy="369332"/>
                </a:xfrm>
                <a:prstGeom prst="rect">
                  <a:avLst/>
                </a:prstGeom>
                <a:blipFill>
                  <a:blip r:embed="rId6"/>
                  <a:stretch>
                    <a:fillRect l="-3261" r="-5435" b="-48936"/>
                  </a:stretch>
                </a:blipFill>
              </p:spPr>
              <p:txBody>
                <a:bodyPr/>
                <a:lstStyle/>
                <a:p>
                  <a:r>
                    <a:rPr lang="ko-KR" altLang="en-US">
                      <a:noFill/>
                    </a:rPr>
                    <a:t> </a:t>
                  </a:r>
                </a:p>
              </p:txBody>
            </p:sp>
          </mc:Fallback>
        </mc:AlternateContent>
      </p:grpSp>
    </p:spTree>
    <p:extLst>
      <p:ext uri="{BB962C8B-B14F-4D97-AF65-F5344CB8AC3E}">
        <p14:creationId xmlns:p14="http://schemas.microsoft.com/office/powerpoint/2010/main" val="236452723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085A39C-3CCE-D03A-56AD-C516BF87B847}"/>
              </a:ext>
            </a:extLst>
          </p:cNvPr>
          <p:cNvSpPr>
            <a:spLocks noGrp="1"/>
          </p:cNvSpPr>
          <p:nvPr>
            <p:ph type="title"/>
          </p:nvPr>
        </p:nvSpPr>
        <p:spPr/>
        <p:txBody>
          <a:bodyPr/>
          <a:lstStyle/>
          <a:p>
            <a:r>
              <a:rPr lang="en-US" dirty="0"/>
              <a:t>Composite systems</a:t>
            </a:r>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1A003183-B0E7-AF0C-FBD6-E1D750599BB8}"/>
                  </a:ext>
                </a:extLst>
              </p:cNvPr>
              <p:cNvSpPr>
                <a:spLocks noGrp="1"/>
              </p:cNvSpPr>
              <p:nvPr>
                <p:ph idx="1"/>
              </p:nvPr>
            </p:nvSpPr>
            <p:spPr/>
            <p:txBody>
              <a:bodyPr>
                <a:normAutofit/>
              </a:bodyPr>
              <a:lstStyle/>
              <a:p>
                <a:r>
                  <a:rPr lang="en-US" sz="2400" dirty="0"/>
                  <a:t>If </a:t>
                </a:r>
                <a14:m>
                  <m:oMath xmlns:m="http://schemas.openxmlformats.org/officeDocument/2006/math">
                    <m:sSub>
                      <m:sSubPr>
                        <m:ctrlPr>
                          <a:rPr lang="en-CA" sz="2400" b="0" i="1" smtClean="0">
                            <a:latin typeface="Cambria Math" panose="02040503050406030204" pitchFamily="18" charset="0"/>
                          </a:rPr>
                        </m:ctrlPr>
                      </m:sSubPr>
                      <m:e>
                        <m:r>
                          <a:rPr lang="en-CA" sz="2400" b="0" i="1" smtClean="0">
                            <a:latin typeface="Cambria Math" panose="02040503050406030204" pitchFamily="18" charset="0"/>
                          </a:rPr>
                          <m:t>𝑅</m:t>
                        </m:r>
                      </m:e>
                      <m:sub>
                        <m:r>
                          <a:rPr lang="en-CA" sz="2400" b="0" i="1" smtClean="0">
                            <a:latin typeface="Cambria Math" panose="02040503050406030204" pitchFamily="18" charset="0"/>
                          </a:rPr>
                          <m:t>1</m:t>
                        </m:r>
                      </m:sub>
                    </m:sSub>
                  </m:oMath>
                </a14:m>
                <a:r>
                  <a:rPr lang="en-US" sz="2400" dirty="0"/>
                  <a:t> acts on system </a:t>
                </a:r>
                <a14:m>
                  <m:oMath xmlns:m="http://schemas.openxmlformats.org/officeDocument/2006/math">
                    <m:sSub>
                      <m:sSubPr>
                        <m:ctrlPr>
                          <a:rPr lang="en-CA" sz="2400" b="0" i="1" smtClean="0">
                            <a:latin typeface="Cambria Math" panose="02040503050406030204" pitchFamily="18" charset="0"/>
                          </a:rPr>
                        </m:ctrlPr>
                      </m:sSubPr>
                      <m:e>
                        <m:r>
                          <a:rPr lang="en-CA" sz="2400" b="0" i="1" smtClean="0">
                            <a:latin typeface="Cambria Math" panose="02040503050406030204" pitchFamily="18" charset="0"/>
                          </a:rPr>
                          <m:t>𝑆</m:t>
                        </m:r>
                      </m:e>
                      <m:sub>
                        <m:r>
                          <a:rPr lang="en-CA" sz="2400" b="0" i="1" smtClean="0">
                            <a:latin typeface="Cambria Math" panose="02040503050406030204" pitchFamily="18" charset="0"/>
                          </a:rPr>
                          <m:t>1</m:t>
                        </m:r>
                      </m:sub>
                    </m:sSub>
                  </m:oMath>
                </a14:m>
                <a:r>
                  <a:rPr lang="en-US" sz="2400" dirty="0"/>
                  <a:t> and </a:t>
                </a:r>
                <a14:m>
                  <m:oMath xmlns:m="http://schemas.openxmlformats.org/officeDocument/2006/math">
                    <m:sSub>
                      <m:sSubPr>
                        <m:ctrlPr>
                          <a:rPr lang="en-CA" sz="2400" b="0" i="1" smtClean="0">
                            <a:latin typeface="Cambria Math" panose="02040503050406030204" pitchFamily="18" charset="0"/>
                          </a:rPr>
                        </m:ctrlPr>
                      </m:sSubPr>
                      <m:e>
                        <m:r>
                          <a:rPr lang="en-CA" sz="2400" b="0" i="1" smtClean="0">
                            <a:latin typeface="Cambria Math" panose="02040503050406030204" pitchFamily="18" charset="0"/>
                          </a:rPr>
                          <m:t>𝑅</m:t>
                        </m:r>
                      </m:e>
                      <m:sub>
                        <m:r>
                          <a:rPr lang="en-CA" sz="2400" b="0" i="1" smtClean="0">
                            <a:latin typeface="Cambria Math" panose="02040503050406030204" pitchFamily="18" charset="0"/>
                          </a:rPr>
                          <m:t>2</m:t>
                        </m:r>
                      </m:sub>
                    </m:sSub>
                  </m:oMath>
                </a14:m>
                <a:r>
                  <a:rPr lang="en-US" sz="2400" dirty="0"/>
                  <a:t> acts on </a:t>
                </a:r>
                <a14:m>
                  <m:oMath xmlns:m="http://schemas.openxmlformats.org/officeDocument/2006/math">
                    <m:sSub>
                      <m:sSubPr>
                        <m:ctrlPr>
                          <a:rPr lang="en-CA" sz="2400" b="0" i="1" smtClean="0">
                            <a:latin typeface="Cambria Math" panose="02040503050406030204" pitchFamily="18" charset="0"/>
                          </a:rPr>
                        </m:ctrlPr>
                      </m:sSubPr>
                      <m:e>
                        <m:r>
                          <a:rPr lang="en-CA" sz="2400" b="0" i="1" smtClean="0">
                            <a:latin typeface="Cambria Math" panose="02040503050406030204" pitchFamily="18" charset="0"/>
                          </a:rPr>
                          <m:t>𝑆</m:t>
                        </m:r>
                      </m:e>
                      <m:sub>
                        <m:r>
                          <a:rPr lang="en-CA" sz="2400" b="0" i="1" smtClean="0">
                            <a:latin typeface="Cambria Math" panose="02040503050406030204" pitchFamily="18" charset="0"/>
                          </a:rPr>
                          <m:t>2</m:t>
                        </m:r>
                      </m:sub>
                    </m:sSub>
                  </m:oMath>
                </a14:m>
                <a:r>
                  <a:rPr lang="en-US" sz="2400" dirty="0"/>
                  <a:t>, then </a:t>
                </a:r>
                <a14:m>
                  <m:oMath xmlns:m="http://schemas.openxmlformats.org/officeDocument/2006/math">
                    <m:r>
                      <a:rPr lang="en-CA" sz="2400" b="0" i="1" smtClean="0">
                        <a:latin typeface="Cambria Math" panose="02040503050406030204" pitchFamily="18" charset="0"/>
                      </a:rPr>
                      <m:t>𝑅</m:t>
                    </m:r>
                    <m:r>
                      <a:rPr lang="en-CA" sz="2400" b="0" i="0" smtClean="0">
                        <a:latin typeface="Cambria Math" panose="02040503050406030204" pitchFamily="18" charset="0"/>
                      </a:rPr>
                      <m:t>=</m:t>
                    </m:r>
                    <m:sSub>
                      <m:sSubPr>
                        <m:ctrlPr>
                          <a:rPr lang="en-CA" sz="2400" b="0" i="1" smtClean="0">
                            <a:latin typeface="Cambria Math" panose="02040503050406030204" pitchFamily="18" charset="0"/>
                          </a:rPr>
                        </m:ctrlPr>
                      </m:sSubPr>
                      <m:e>
                        <m:r>
                          <a:rPr lang="en-CA" sz="2400" b="0" i="1" smtClean="0">
                            <a:latin typeface="Cambria Math" panose="02040503050406030204" pitchFamily="18" charset="0"/>
                          </a:rPr>
                          <m:t>𝑅</m:t>
                        </m:r>
                      </m:e>
                      <m:sub>
                        <m:r>
                          <a:rPr lang="en-CA" sz="2400" b="0" i="1" smtClean="0">
                            <a:latin typeface="Cambria Math" panose="02040503050406030204" pitchFamily="18" charset="0"/>
                          </a:rPr>
                          <m:t>1</m:t>
                        </m:r>
                      </m:sub>
                    </m:sSub>
                    <m:r>
                      <a:rPr lang="en-CA" sz="2400" b="0" i="1" smtClean="0">
                        <a:latin typeface="Cambria Math" panose="02040503050406030204" pitchFamily="18" charset="0"/>
                      </a:rPr>
                      <m:t>⊗</m:t>
                    </m:r>
                    <m:sSub>
                      <m:sSubPr>
                        <m:ctrlPr>
                          <a:rPr lang="en-CA" sz="2400" b="0" i="1" smtClean="0">
                            <a:latin typeface="Cambria Math" panose="02040503050406030204" pitchFamily="18" charset="0"/>
                          </a:rPr>
                        </m:ctrlPr>
                      </m:sSubPr>
                      <m:e>
                        <m:r>
                          <a:rPr lang="en-CA" sz="2400" b="0" i="1" smtClean="0">
                            <a:latin typeface="Cambria Math" panose="02040503050406030204" pitchFamily="18" charset="0"/>
                          </a:rPr>
                          <m:t>𝑅</m:t>
                        </m:r>
                      </m:e>
                      <m:sub>
                        <m:r>
                          <a:rPr lang="en-CA" sz="2400" b="0" i="1" smtClean="0">
                            <a:latin typeface="Cambria Math" panose="02040503050406030204" pitchFamily="18" charset="0"/>
                          </a:rPr>
                          <m:t>2</m:t>
                        </m:r>
                      </m:sub>
                    </m:sSub>
                  </m:oMath>
                </a14:m>
                <a:r>
                  <a:rPr lang="en-CA" sz="2400" dirty="0"/>
                  <a:t> is a </a:t>
                </a:r>
                <a:br>
                  <a:rPr lang="en-CA" sz="2400" dirty="0"/>
                </a:br>
                <a:r>
                  <a:rPr lang="en-CA" sz="2400" dirty="0"/>
                  <a:t/>
                </a:r>
                <a:br>
                  <a:rPr lang="en-CA" sz="2400" dirty="0"/>
                </a:br>
                <a:r>
                  <a:rPr lang="en-CA" sz="2400" dirty="0"/>
                  <a:t>transformation on </a:t>
                </a:r>
                <a14:m>
                  <m:oMath xmlns:m="http://schemas.openxmlformats.org/officeDocument/2006/math">
                    <m:sSub>
                      <m:sSubPr>
                        <m:ctrlPr>
                          <a:rPr lang="en-CA" sz="2400" b="0" i="1" smtClean="0">
                            <a:latin typeface="Cambria Math" panose="02040503050406030204" pitchFamily="18" charset="0"/>
                          </a:rPr>
                        </m:ctrlPr>
                      </m:sSubPr>
                      <m:e>
                        <m:r>
                          <a:rPr lang="en-CA" sz="2400" b="0" i="1" smtClean="0">
                            <a:latin typeface="Cambria Math" panose="02040503050406030204" pitchFamily="18" charset="0"/>
                          </a:rPr>
                          <m:t>𝑆</m:t>
                        </m:r>
                      </m:e>
                      <m:sub>
                        <m:r>
                          <a:rPr lang="en-CA" sz="2400" b="0" i="1" smtClean="0">
                            <a:latin typeface="Cambria Math" panose="02040503050406030204" pitchFamily="18" charset="0"/>
                          </a:rPr>
                          <m:t>1</m:t>
                        </m:r>
                      </m:sub>
                    </m:sSub>
                    <m:r>
                      <a:rPr lang="en-CA" sz="2400" b="0" i="1" smtClean="0">
                        <a:latin typeface="Cambria Math" panose="02040503050406030204" pitchFamily="18" charset="0"/>
                      </a:rPr>
                      <m:t>⊗</m:t>
                    </m:r>
                    <m:sSub>
                      <m:sSubPr>
                        <m:ctrlPr>
                          <a:rPr lang="en-CA" sz="2400" b="0" i="1" smtClean="0">
                            <a:latin typeface="Cambria Math" panose="02040503050406030204" pitchFamily="18" charset="0"/>
                          </a:rPr>
                        </m:ctrlPr>
                      </m:sSubPr>
                      <m:e>
                        <m:r>
                          <a:rPr lang="en-CA" sz="2400" b="0" i="1" smtClean="0">
                            <a:latin typeface="Cambria Math" panose="02040503050406030204" pitchFamily="18" charset="0"/>
                          </a:rPr>
                          <m:t>𝑆</m:t>
                        </m:r>
                      </m:e>
                      <m:sub>
                        <m:r>
                          <a:rPr lang="en-CA" sz="2400" b="0" i="1" smtClean="0">
                            <a:latin typeface="Cambria Math" panose="02040503050406030204" pitchFamily="18" charset="0"/>
                          </a:rPr>
                          <m:t>2</m:t>
                        </m:r>
                      </m:sub>
                    </m:sSub>
                  </m:oMath>
                </a14:m>
                <a:r>
                  <a:rPr lang="en-CA" sz="2400" dirty="0"/>
                  <a:t>.</a:t>
                </a:r>
                <a:endParaRPr lang="en-US" sz="2400" dirty="0"/>
              </a:p>
              <a:p>
                <a:endParaRPr lang="en-US" sz="2400" dirty="0"/>
              </a:p>
            </p:txBody>
          </p:sp>
        </mc:Choice>
        <mc:Fallback xmlns="">
          <p:sp>
            <p:nvSpPr>
              <p:cNvPr id="3" name="Content Placeholder 2">
                <a:extLst>
                  <a:ext uri="{FF2B5EF4-FFF2-40B4-BE49-F238E27FC236}">
                    <a16:creationId xmlns:a16="http://schemas.microsoft.com/office/drawing/2014/main" id="{1A003183-B0E7-AF0C-FBD6-E1D750599BB8}"/>
                  </a:ext>
                </a:extLst>
              </p:cNvPr>
              <p:cNvSpPr>
                <a:spLocks noGrp="1" noRot="1" noChangeAspect="1" noMove="1" noResize="1" noEditPoints="1" noAdjustHandles="1" noChangeArrowheads="1" noChangeShapeType="1" noTextEdit="1"/>
              </p:cNvSpPr>
              <p:nvPr>
                <p:ph idx="1"/>
              </p:nvPr>
            </p:nvSpPr>
            <p:spPr>
              <a:blipFill>
                <a:blip r:embed="rId2"/>
                <a:stretch>
                  <a:fillRect l="-844" t="-1744"/>
                </a:stretch>
              </a:blipFill>
            </p:spPr>
            <p:txBody>
              <a:bodyPr/>
              <a:lstStyle/>
              <a:p>
                <a:r>
                  <a:rPr lang="en-US">
                    <a:noFill/>
                  </a:rPr>
                  <a:t> </a:t>
                </a:r>
              </a:p>
            </p:txBody>
          </p:sp>
        </mc:Fallback>
      </mc:AlternateContent>
      <p:sp>
        <p:nvSpPr>
          <p:cNvPr id="4" name="Cube 3">
            <a:extLst>
              <a:ext uri="{FF2B5EF4-FFF2-40B4-BE49-F238E27FC236}">
                <a16:creationId xmlns:a16="http://schemas.microsoft.com/office/drawing/2014/main" id="{7F376318-FA62-E6A3-C53D-17621EF55631}"/>
              </a:ext>
            </a:extLst>
          </p:cNvPr>
          <p:cNvSpPr/>
          <p:nvPr/>
        </p:nvSpPr>
        <p:spPr>
          <a:xfrm>
            <a:off x="7895389" y="4673566"/>
            <a:ext cx="1165473" cy="1185033"/>
          </a:xfrm>
          <a:prstGeom prst="cub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mc:AlternateContent xmlns:mc="http://schemas.openxmlformats.org/markup-compatibility/2006" xmlns:a14="http://schemas.microsoft.com/office/drawing/2010/main">
        <mc:Choice Requires="a14">
          <p:sp>
            <p:nvSpPr>
              <p:cNvPr id="5" name="Rectangle 4">
                <a:extLst>
                  <a:ext uri="{FF2B5EF4-FFF2-40B4-BE49-F238E27FC236}">
                    <a16:creationId xmlns:a16="http://schemas.microsoft.com/office/drawing/2014/main" id="{0B3F0276-3F7B-D78B-9FA2-4E40CD4AB48C}"/>
                  </a:ext>
                </a:extLst>
              </p:cNvPr>
              <p:cNvSpPr/>
              <p:nvPr/>
            </p:nvSpPr>
            <p:spPr>
              <a:xfrm>
                <a:off x="8180525" y="6123543"/>
                <a:ext cx="451277" cy="369332"/>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sSub>
                        <m:sSubPr>
                          <m:ctrlPr>
                            <a:rPr lang="en-CA" b="0" i="1" smtClean="0">
                              <a:latin typeface="Cambria Math" panose="02040503050406030204" pitchFamily="18" charset="0"/>
                            </a:rPr>
                          </m:ctrlPr>
                        </m:sSubPr>
                        <m:e>
                          <m:r>
                            <a:rPr lang="en-CA" i="1" smtClean="0">
                              <a:latin typeface="Cambria Math" panose="02040503050406030204" pitchFamily="18" charset="0"/>
                            </a:rPr>
                            <m:t>𝑆</m:t>
                          </m:r>
                        </m:e>
                        <m:sub>
                          <m:r>
                            <a:rPr lang="en-CA" b="0" i="1" smtClean="0">
                              <a:latin typeface="Cambria Math" panose="02040503050406030204" pitchFamily="18" charset="0"/>
                            </a:rPr>
                            <m:t>1</m:t>
                          </m:r>
                        </m:sub>
                      </m:sSub>
                    </m:oMath>
                  </m:oMathPara>
                </a14:m>
                <a:endParaRPr lang="en-US" dirty="0"/>
              </a:p>
            </p:txBody>
          </p:sp>
        </mc:Choice>
        <mc:Fallback xmlns="">
          <p:sp>
            <p:nvSpPr>
              <p:cNvPr id="5" name="Rectangle 4">
                <a:extLst>
                  <a:ext uri="{FF2B5EF4-FFF2-40B4-BE49-F238E27FC236}">
                    <a16:creationId xmlns:a16="http://schemas.microsoft.com/office/drawing/2014/main" id="{0B3F0276-3F7B-D78B-9FA2-4E40CD4AB48C}"/>
                  </a:ext>
                </a:extLst>
              </p:cNvPr>
              <p:cNvSpPr>
                <a:spLocks noRot="1" noChangeAspect="1" noMove="1" noResize="1" noEditPoints="1" noAdjustHandles="1" noChangeArrowheads="1" noChangeShapeType="1" noTextEdit="1"/>
              </p:cNvSpPr>
              <p:nvPr/>
            </p:nvSpPr>
            <p:spPr>
              <a:xfrm>
                <a:off x="8180525" y="6123543"/>
                <a:ext cx="451277" cy="369332"/>
              </a:xfrm>
              <a:prstGeom prst="rect">
                <a:avLst/>
              </a:prstGeom>
              <a:blipFill>
                <a:blip r:embed="rId3"/>
                <a:stretch>
                  <a:fillRect b="-3333"/>
                </a:stretch>
              </a:blipFill>
            </p:spPr>
            <p:txBody>
              <a:bodyPr/>
              <a:lstStyle/>
              <a:p>
                <a:r>
                  <a:rPr lang="ko-KR" altLang="en-US">
                    <a:noFill/>
                  </a:rPr>
                  <a:t> </a:t>
                </a:r>
              </a:p>
            </p:txBody>
          </p:sp>
        </mc:Fallback>
      </mc:AlternateContent>
      <p:sp>
        <p:nvSpPr>
          <p:cNvPr id="6" name="Cube 5">
            <a:extLst>
              <a:ext uri="{FF2B5EF4-FFF2-40B4-BE49-F238E27FC236}">
                <a16:creationId xmlns:a16="http://schemas.microsoft.com/office/drawing/2014/main" id="{032BEDA7-75D2-A95F-CC81-C0C847F2466E}"/>
              </a:ext>
            </a:extLst>
          </p:cNvPr>
          <p:cNvSpPr/>
          <p:nvPr/>
        </p:nvSpPr>
        <p:spPr>
          <a:xfrm>
            <a:off x="10188327" y="4673566"/>
            <a:ext cx="1165473" cy="1185033"/>
          </a:xfrm>
          <a:prstGeom prst="cub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mc:AlternateContent xmlns:mc="http://schemas.openxmlformats.org/markup-compatibility/2006" xmlns:a14="http://schemas.microsoft.com/office/drawing/2010/main">
        <mc:Choice Requires="a14">
          <p:sp>
            <p:nvSpPr>
              <p:cNvPr id="7" name="Rectangle 6">
                <a:extLst>
                  <a:ext uri="{FF2B5EF4-FFF2-40B4-BE49-F238E27FC236}">
                    <a16:creationId xmlns:a16="http://schemas.microsoft.com/office/drawing/2014/main" id="{E1E05402-2A1C-565A-D2CC-219D1803EDEC}"/>
                  </a:ext>
                </a:extLst>
              </p:cNvPr>
              <p:cNvSpPr/>
              <p:nvPr/>
            </p:nvSpPr>
            <p:spPr>
              <a:xfrm>
                <a:off x="10473463" y="6123543"/>
                <a:ext cx="456600" cy="369332"/>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sSub>
                        <m:sSubPr>
                          <m:ctrlPr>
                            <a:rPr lang="en-CA" b="0" i="1" smtClean="0">
                              <a:latin typeface="Cambria Math" panose="02040503050406030204" pitchFamily="18" charset="0"/>
                            </a:rPr>
                          </m:ctrlPr>
                        </m:sSubPr>
                        <m:e>
                          <m:r>
                            <a:rPr lang="en-CA" i="1" smtClean="0">
                              <a:latin typeface="Cambria Math" panose="02040503050406030204" pitchFamily="18" charset="0"/>
                            </a:rPr>
                            <m:t>𝑆</m:t>
                          </m:r>
                        </m:e>
                        <m:sub>
                          <m:r>
                            <a:rPr lang="en-CA" b="0" i="1" smtClean="0">
                              <a:latin typeface="Cambria Math" panose="02040503050406030204" pitchFamily="18" charset="0"/>
                            </a:rPr>
                            <m:t>2</m:t>
                          </m:r>
                        </m:sub>
                      </m:sSub>
                    </m:oMath>
                  </m:oMathPara>
                </a14:m>
                <a:endParaRPr lang="en-US" dirty="0"/>
              </a:p>
            </p:txBody>
          </p:sp>
        </mc:Choice>
        <mc:Fallback xmlns="">
          <p:sp>
            <p:nvSpPr>
              <p:cNvPr id="7" name="Rectangle 6">
                <a:extLst>
                  <a:ext uri="{FF2B5EF4-FFF2-40B4-BE49-F238E27FC236}">
                    <a16:creationId xmlns:a16="http://schemas.microsoft.com/office/drawing/2014/main" id="{E1E05402-2A1C-565A-D2CC-219D1803EDEC}"/>
                  </a:ext>
                </a:extLst>
              </p:cNvPr>
              <p:cNvSpPr>
                <a:spLocks noRot="1" noChangeAspect="1" noMove="1" noResize="1" noEditPoints="1" noAdjustHandles="1" noChangeArrowheads="1" noChangeShapeType="1" noTextEdit="1"/>
              </p:cNvSpPr>
              <p:nvPr/>
            </p:nvSpPr>
            <p:spPr>
              <a:xfrm>
                <a:off x="10473463" y="6123543"/>
                <a:ext cx="456600" cy="369332"/>
              </a:xfrm>
              <a:prstGeom prst="rect">
                <a:avLst/>
              </a:prstGeom>
              <a:blipFill>
                <a:blip r:embed="rId4"/>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8" name="TextBox 7">
                <a:extLst>
                  <a:ext uri="{FF2B5EF4-FFF2-40B4-BE49-F238E27FC236}">
                    <a16:creationId xmlns:a16="http://schemas.microsoft.com/office/drawing/2014/main" id="{4FA1DB85-3027-06E7-C190-35EDB2CBE737}"/>
                  </a:ext>
                </a:extLst>
              </p:cNvPr>
              <p:cNvSpPr txBox="1"/>
              <p:nvPr/>
            </p:nvSpPr>
            <p:spPr>
              <a:xfrm>
                <a:off x="7989975" y="5187060"/>
                <a:ext cx="641827" cy="369332"/>
              </a:xfrm>
              <a:prstGeom prst="rect">
                <a:avLst/>
              </a:prstGeom>
              <a:solidFill>
                <a:schemeClr val="bg1"/>
              </a:solidFill>
            </p:spPr>
            <p:txBody>
              <a:bodyPr wrap="square" rtlCol="0">
                <a:spAutoFit/>
              </a:bodyPr>
              <a:lstStyle/>
              <a:p>
                <a:pPr/>
                <a14:m>
                  <m:oMathPara xmlns:m="http://schemas.openxmlformats.org/officeDocument/2006/math">
                    <m:oMathParaPr>
                      <m:jc m:val="centerGroup"/>
                    </m:oMathParaPr>
                    <m:oMath xmlns:m="http://schemas.openxmlformats.org/officeDocument/2006/math">
                      <m:r>
                        <a:rPr lang="en-CA" b="0" i="1" smtClean="0">
                          <a:latin typeface="Cambria Math" panose="02040503050406030204" pitchFamily="18" charset="0"/>
                        </a:rPr>
                        <m:t>|</m:t>
                      </m:r>
                      <m:sSub>
                        <m:sSubPr>
                          <m:ctrlPr>
                            <a:rPr lang="en-CA" b="0" i="1" smtClean="0">
                              <a:latin typeface="Cambria Math" panose="02040503050406030204" pitchFamily="18" charset="0"/>
                            </a:rPr>
                          </m:ctrlPr>
                        </m:sSubPr>
                        <m:e>
                          <m:r>
                            <a:rPr lang="en-CA" b="0" i="1" smtClean="0">
                              <a:latin typeface="Cambria Math" panose="02040503050406030204" pitchFamily="18" charset="0"/>
                            </a:rPr>
                            <m:t>𝑥</m:t>
                          </m:r>
                        </m:e>
                        <m:sub>
                          <m:r>
                            <a:rPr lang="en-CA" b="0" i="1" smtClean="0">
                              <a:latin typeface="Cambria Math" panose="02040503050406030204" pitchFamily="18" charset="0"/>
                            </a:rPr>
                            <m:t>1</m:t>
                          </m:r>
                        </m:sub>
                      </m:sSub>
                      <m:r>
                        <a:rPr lang="en-CA" b="0" i="1" smtClean="0">
                          <a:latin typeface="Cambria Math" panose="02040503050406030204" pitchFamily="18" charset="0"/>
                        </a:rPr>
                        <m:t>⟩</m:t>
                      </m:r>
                    </m:oMath>
                  </m:oMathPara>
                </a14:m>
                <a:endParaRPr lang="en-US" dirty="0"/>
              </a:p>
            </p:txBody>
          </p:sp>
        </mc:Choice>
        <mc:Fallback xmlns="">
          <p:sp>
            <p:nvSpPr>
              <p:cNvPr id="8" name="TextBox 7">
                <a:extLst>
                  <a:ext uri="{FF2B5EF4-FFF2-40B4-BE49-F238E27FC236}">
                    <a16:creationId xmlns:a16="http://schemas.microsoft.com/office/drawing/2014/main" id="{4FA1DB85-3027-06E7-C190-35EDB2CBE737}"/>
                  </a:ext>
                </a:extLst>
              </p:cNvPr>
              <p:cNvSpPr txBox="1">
                <a:spLocks noRot="1" noChangeAspect="1" noMove="1" noResize="1" noEditPoints="1" noAdjustHandles="1" noChangeArrowheads="1" noChangeShapeType="1" noTextEdit="1"/>
              </p:cNvSpPr>
              <p:nvPr/>
            </p:nvSpPr>
            <p:spPr>
              <a:xfrm>
                <a:off x="7989975" y="5187060"/>
                <a:ext cx="641827" cy="369332"/>
              </a:xfrm>
              <a:prstGeom prst="rect">
                <a:avLst/>
              </a:prstGeom>
              <a:blipFill>
                <a:blip r:embed="rId5"/>
                <a:stretch>
                  <a:fillRect b="-16667"/>
                </a:stretch>
              </a:blipFill>
            </p:spPr>
            <p:txBody>
              <a:bodyPr/>
              <a:lstStyle/>
              <a:p>
                <a:r>
                  <a:rPr lang="ko-KR" altLang="en-US">
                    <a:noFill/>
                  </a:rPr>
                  <a:t> </a:t>
                </a:r>
              </a:p>
            </p:txBody>
          </p:sp>
        </mc:Fallback>
      </mc:AlternateContent>
      <mc:AlternateContent xmlns:mc="http://schemas.openxmlformats.org/markup-compatibility/2006" xmlns:a14="http://schemas.microsoft.com/office/drawing/2010/main">
        <mc:Choice Requires="a14">
          <p:sp>
            <p:nvSpPr>
              <p:cNvPr id="9" name="TextBox 8">
                <a:extLst>
                  <a:ext uri="{FF2B5EF4-FFF2-40B4-BE49-F238E27FC236}">
                    <a16:creationId xmlns:a16="http://schemas.microsoft.com/office/drawing/2014/main" id="{4C5A68CD-6816-A0ED-BD09-99B7D28ABEEA}"/>
                  </a:ext>
                </a:extLst>
              </p:cNvPr>
              <p:cNvSpPr txBox="1"/>
              <p:nvPr/>
            </p:nvSpPr>
            <p:spPr>
              <a:xfrm>
                <a:off x="10288236" y="5219318"/>
                <a:ext cx="641827" cy="369332"/>
              </a:xfrm>
              <a:prstGeom prst="rect">
                <a:avLst/>
              </a:prstGeom>
              <a:solidFill>
                <a:schemeClr val="bg1"/>
              </a:solidFill>
            </p:spPr>
            <p:txBody>
              <a:bodyPr wrap="square" rtlCol="0">
                <a:spAutoFit/>
              </a:bodyPr>
              <a:lstStyle/>
              <a:p>
                <a:pPr/>
                <a14:m>
                  <m:oMathPara xmlns:m="http://schemas.openxmlformats.org/officeDocument/2006/math">
                    <m:oMathParaPr>
                      <m:jc m:val="centerGroup"/>
                    </m:oMathParaPr>
                    <m:oMath xmlns:m="http://schemas.openxmlformats.org/officeDocument/2006/math">
                      <m:r>
                        <a:rPr lang="en-CA" b="0" i="1" smtClean="0">
                          <a:latin typeface="Cambria Math" panose="02040503050406030204" pitchFamily="18" charset="0"/>
                        </a:rPr>
                        <m:t>|</m:t>
                      </m:r>
                      <m:sSub>
                        <m:sSubPr>
                          <m:ctrlPr>
                            <a:rPr lang="en-CA" b="0" i="1" smtClean="0">
                              <a:latin typeface="Cambria Math" panose="02040503050406030204" pitchFamily="18" charset="0"/>
                            </a:rPr>
                          </m:ctrlPr>
                        </m:sSubPr>
                        <m:e>
                          <m:r>
                            <a:rPr lang="en-CA" b="0" i="1" smtClean="0">
                              <a:latin typeface="Cambria Math" panose="02040503050406030204" pitchFamily="18" charset="0"/>
                            </a:rPr>
                            <m:t>𝑥</m:t>
                          </m:r>
                        </m:e>
                        <m:sub>
                          <m:r>
                            <a:rPr lang="en-CA" b="0" i="1" smtClean="0">
                              <a:latin typeface="Cambria Math" panose="02040503050406030204" pitchFamily="18" charset="0"/>
                            </a:rPr>
                            <m:t>2</m:t>
                          </m:r>
                        </m:sub>
                      </m:sSub>
                      <m:r>
                        <a:rPr lang="en-CA" b="0" i="1" smtClean="0">
                          <a:latin typeface="Cambria Math" panose="02040503050406030204" pitchFamily="18" charset="0"/>
                        </a:rPr>
                        <m:t>⟩</m:t>
                      </m:r>
                    </m:oMath>
                  </m:oMathPara>
                </a14:m>
                <a:endParaRPr lang="en-US" dirty="0"/>
              </a:p>
            </p:txBody>
          </p:sp>
        </mc:Choice>
        <mc:Fallback xmlns="">
          <p:sp>
            <p:nvSpPr>
              <p:cNvPr id="9" name="TextBox 8">
                <a:extLst>
                  <a:ext uri="{FF2B5EF4-FFF2-40B4-BE49-F238E27FC236}">
                    <a16:creationId xmlns:a16="http://schemas.microsoft.com/office/drawing/2014/main" id="{4C5A68CD-6816-A0ED-BD09-99B7D28ABEEA}"/>
                  </a:ext>
                </a:extLst>
              </p:cNvPr>
              <p:cNvSpPr txBox="1">
                <a:spLocks noRot="1" noChangeAspect="1" noMove="1" noResize="1" noEditPoints="1" noAdjustHandles="1" noChangeArrowheads="1" noChangeShapeType="1" noTextEdit="1"/>
              </p:cNvSpPr>
              <p:nvPr/>
            </p:nvSpPr>
            <p:spPr>
              <a:xfrm>
                <a:off x="10288236" y="5219318"/>
                <a:ext cx="641827" cy="369332"/>
              </a:xfrm>
              <a:prstGeom prst="rect">
                <a:avLst/>
              </a:prstGeom>
              <a:blipFill>
                <a:blip r:embed="rId6"/>
                <a:stretch>
                  <a:fillRect b="-12903"/>
                </a:stretch>
              </a:blipFill>
            </p:spPr>
            <p:txBody>
              <a:bodyPr/>
              <a:lstStyle/>
              <a:p>
                <a:r>
                  <a:rPr lang="en-US">
                    <a:noFill/>
                  </a:rPr>
                  <a:t> </a:t>
                </a:r>
              </a:p>
            </p:txBody>
          </p:sp>
        </mc:Fallback>
      </mc:AlternateContent>
      <p:sp>
        <p:nvSpPr>
          <p:cNvPr id="11" name="Lightning Bolt 10">
            <a:extLst>
              <a:ext uri="{FF2B5EF4-FFF2-40B4-BE49-F238E27FC236}">
                <a16:creationId xmlns:a16="http://schemas.microsoft.com/office/drawing/2014/main" id="{2FCFBDCF-C8E9-C7BA-D2B8-6044809BBE69}"/>
              </a:ext>
            </a:extLst>
          </p:cNvPr>
          <p:cNvSpPr/>
          <p:nvPr/>
        </p:nvSpPr>
        <p:spPr>
          <a:xfrm>
            <a:off x="6580731" y="3561955"/>
            <a:ext cx="1409244" cy="1693333"/>
          </a:xfrm>
          <a:prstGeom prst="lightningBolt">
            <a:avLst/>
          </a:prstGeom>
          <a:solidFill>
            <a:srgbClr val="92D05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mc:AlternateContent xmlns:mc="http://schemas.openxmlformats.org/markup-compatibility/2006" xmlns:a14="http://schemas.microsoft.com/office/drawing/2010/main">
        <mc:Choice Requires="a14">
          <p:sp>
            <p:nvSpPr>
              <p:cNvPr id="12" name="TextBox 11">
                <a:extLst>
                  <a:ext uri="{FF2B5EF4-FFF2-40B4-BE49-F238E27FC236}">
                    <a16:creationId xmlns:a16="http://schemas.microsoft.com/office/drawing/2014/main" id="{F8A94E92-EB54-FD7B-6929-975E47B3B316}"/>
                  </a:ext>
                </a:extLst>
              </p:cNvPr>
              <p:cNvSpPr txBox="1"/>
              <p:nvPr/>
            </p:nvSpPr>
            <p:spPr>
              <a:xfrm>
                <a:off x="6117886" y="3444489"/>
                <a:ext cx="677334" cy="646331"/>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sSub>
                        <m:sSubPr>
                          <m:ctrlPr>
                            <a:rPr lang="en-CA" sz="3600" b="0" i="1" smtClean="0">
                              <a:latin typeface="Cambria Math" panose="02040503050406030204" pitchFamily="18" charset="0"/>
                            </a:rPr>
                          </m:ctrlPr>
                        </m:sSubPr>
                        <m:e>
                          <m:r>
                            <a:rPr lang="en-CA" sz="3600" b="0" i="1" smtClean="0">
                              <a:latin typeface="Cambria Math" panose="02040503050406030204" pitchFamily="18" charset="0"/>
                            </a:rPr>
                            <m:t>𝑅</m:t>
                          </m:r>
                        </m:e>
                        <m:sub>
                          <m:r>
                            <a:rPr lang="en-CA" sz="3600" b="0" i="1" smtClean="0">
                              <a:latin typeface="Cambria Math" panose="02040503050406030204" pitchFamily="18" charset="0"/>
                            </a:rPr>
                            <m:t>1</m:t>
                          </m:r>
                        </m:sub>
                      </m:sSub>
                    </m:oMath>
                  </m:oMathPara>
                </a14:m>
                <a:endParaRPr lang="en-US" sz="3600" dirty="0"/>
              </a:p>
            </p:txBody>
          </p:sp>
        </mc:Choice>
        <mc:Fallback xmlns="">
          <p:sp>
            <p:nvSpPr>
              <p:cNvPr id="12" name="TextBox 11">
                <a:extLst>
                  <a:ext uri="{FF2B5EF4-FFF2-40B4-BE49-F238E27FC236}">
                    <a16:creationId xmlns:a16="http://schemas.microsoft.com/office/drawing/2014/main" id="{F8A94E92-EB54-FD7B-6929-975E47B3B316}"/>
                  </a:ext>
                </a:extLst>
              </p:cNvPr>
              <p:cNvSpPr txBox="1">
                <a:spLocks noRot="1" noChangeAspect="1" noMove="1" noResize="1" noEditPoints="1" noAdjustHandles="1" noChangeArrowheads="1" noChangeShapeType="1" noTextEdit="1"/>
              </p:cNvSpPr>
              <p:nvPr/>
            </p:nvSpPr>
            <p:spPr>
              <a:xfrm>
                <a:off x="6117886" y="3444489"/>
                <a:ext cx="677334" cy="646331"/>
              </a:xfrm>
              <a:prstGeom prst="rect">
                <a:avLst/>
              </a:prstGeom>
              <a:blipFill>
                <a:blip r:embed="rId7"/>
                <a:stretch>
                  <a:fillRect/>
                </a:stretch>
              </a:blipFill>
            </p:spPr>
            <p:txBody>
              <a:bodyPr/>
              <a:lstStyle/>
              <a:p>
                <a:r>
                  <a:rPr lang="ko-KR" altLang="en-US">
                    <a:noFill/>
                  </a:rPr>
                  <a:t> </a:t>
                </a:r>
              </a:p>
            </p:txBody>
          </p:sp>
        </mc:Fallback>
      </mc:AlternateContent>
      <p:sp>
        <p:nvSpPr>
          <p:cNvPr id="15" name="Lightning Bolt 14">
            <a:extLst>
              <a:ext uri="{FF2B5EF4-FFF2-40B4-BE49-F238E27FC236}">
                <a16:creationId xmlns:a16="http://schemas.microsoft.com/office/drawing/2014/main" id="{424B1144-A8DE-DC32-D45E-07527C7EF70E}"/>
              </a:ext>
            </a:extLst>
          </p:cNvPr>
          <p:cNvSpPr/>
          <p:nvPr/>
        </p:nvSpPr>
        <p:spPr>
          <a:xfrm>
            <a:off x="9139129" y="3194376"/>
            <a:ext cx="1409244" cy="1693333"/>
          </a:xfrm>
          <a:prstGeom prst="lightningBolt">
            <a:avLst/>
          </a:prstGeom>
          <a:solidFill>
            <a:srgbClr val="92D05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mc:AlternateContent xmlns:mc="http://schemas.openxmlformats.org/markup-compatibility/2006" xmlns:a14="http://schemas.microsoft.com/office/drawing/2010/main">
        <mc:Choice Requires="a14">
          <p:sp>
            <p:nvSpPr>
              <p:cNvPr id="16" name="TextBox 15">
                <a:extLst>
                  <a:ext uri="{FF2B5EF4-FFF2-40B4-BE49-F238E27FC236}">
                    <a16:creationId xmlns:a16="http://schemas.microsoft.com/office/drawing/2014/main" id="{9604EE85-3B5F-32B2-8840-860266AFA304}"/>
                  </a:ext>
                </a:extLst>
              </p:cNvPr>
              <p:cNvSpPr txBox="1"/>
              <p:nvPr/>
            </p:nvSpPr>
            <p:spPr>
              <a:xfrm>
                <a:off x="8676284" y="3076910"/>
                <a:ext cx="677334" cy="646331"/>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sSub>
                        <m:sSubPr>
                          <m:ctrlPr>
                            <a:rPr lang="en-CA" sz="3600" b="0" i="1" smtClean="0">
                              <a:latin typeface="Cambria Math" panose="02040503050406030204" pitchFamily="18" charset="0"/>
                            </a:rPr>
                          </m:ctrlPr>
                        </m:sSubPr>
                        <m:e>
                          <m:r>
                            <a:rPr lang="en-CA" sz="3600" b="0" i="1" smtClean="0">
                              <a:latin typeface="Cambria Math" panose="02040503050406030204" pitchFamily="18" charset="0"/>
                            </a:rPr>
                            <m:t>𝑅</m:t>
                          </m:r>
                        </m:e>
                        <m:sub>
                          <m:r>
                            <a:rPr lang="en-CA" sz="3600" b="0" i="1" smtClean="0">
                              <a:latin typeface="Cambria Math" panose="02040503050406030204" pitchFamily="18" charset="0"/>
                            </a:rPr>
                            <m:t>2</m:t>
                          </m:r>
                        </m:sub>
                      </m:sSub>
                    </m:oMath>
                  </m:oMathPara>
                </a14:m>
                <a:endParaRPr lang="en-US" sz="3600" dirty="0"/>
              </a:p>
            </p:txBody>
          </p:sp>
        </mc:Choice>
        <mc:Fallback xmlns="">
          <p:sp>
            <p:nvSpPr>
              <p:cNvPr id="16" name="TextBox 15">
                <a:extLst>
                  <a:ext uri="{FF2B5EF4-FFF2-40B4-BE49-F238E27FC236}">
                    <a16:creationId xmlns:a16="http://schemas.microsoft.com/office/drawing/2014/main" id="{9604EE85-3B5F-32B2-8840-860266AFA304}"/>
                  </a:ext>
                </a:extLst>
              </p:cNvPr>
              <p:cNvSpPr txBox="1">
                <a:spLocks noRot="1" noChangeAspect="1" noMove="1" noResize="1" noEditPoints="1" noAdjustHandles="1" noChangeArrowheads="1" noChangeShapeType="1" noTextEdit="1"/>
              </p:cNvSpPr>
              <p:nvPr/>
            </p:nvSpPr>
            <p:spPr>
              <a:xfrm>
                <a:off x="8676284" y="3076910"/>
                <a:ext cx="677334" cy="646331"/>
              </a:xfrm>
              <a:prstGeom prst="rect">
                <a:avLst/>
              </a:prstGeom>
              <a:blipFill>
                <a:blip r:embed="rId8"/>
                <a:stretch>
                  <a:fillRect l="-9259" b="-5769"/>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4" name="TextBox 13">
                <a:extLst>
                  <a:ext uri="{FF2B5EF4-FFF2-40B4-BE49-F238E27FC236}">
                    <a16:creationId xmlns:a16="http://schemas.microsoft.com/office/drawing/2014/main" id="{4FA1DB85-3027-06E7-C190-35EDB2CBE737}"/>
                  </a:ext>
                </a:extLst>
              </p:cNvPr>
              <p:cNvSpPr txBox="1"/>
              <p:nvPr/>
            </p:nvSpPr>
            <p:spPr>
              <a:xfrm>
                <a:off x="7987469" y="5219318"/>
                <a:ext cx="852089" cy="369332"/>
              </a:xfrm>
              <a:prstGeom prst="rect">
                <a:avLst/>
              </a:prstGeom>
              <a:solidFill>
                <a:schemeClr val="bg1"/>
              </a:solidFill>
            </p:spPr>
            <p:txBody>
              <a:bodyPr wrap="square" rtlCol="0">
                <a:spAutoFit/>
              </a:bodyPr>
              <a:lstStyle/>
              <a:p>
                <a:pPr/>
                <a14:m>
                  <m:oMathPara xmlns:m="http://schemas.openxmlformats.org/officeDocument/2006/math">
                    <m:oMathParaPr>
                      <m:jc m:val="centerGroup"/>
                    </m:oMathParaPr>
                    <m:oMath xmlns:m="http://schemas.openxmlformats.org/officeDocument/2006/math">
                      <m:sSub>
                        <m:sSubPr>
                          <m:ctrlPr>
                            <a:rPr lang="en-CA" b="0" i="1" smtClean="0">
                              <a:latin typeface="Cambria Math" panose="02040503050406030204" pitchFamily="18" charset="0"/>
                            </a:rPr>
                          </m:ctrlPr>
                        </m:sSubPr>
                        <m:e>
                          <m:r>
                            <a:rPr lang="en-CA" b="0" i="1" smtClean="0">
                              <a:latin typeface="Cambria Math" panose="02040503050406030204" pitchFamily="18" charset="0"/>
                            </a:rPr>
                            <m:t>𝑅</m:t>
                          </m:r>
                        </m:e>
                        <m:sub>
                          <m:r>
                            <a:rPr lang="en-CA" b="0" i="1" smtClean="0">
                              <a:latin typeface="Cambria Math" panose="02040503050406030204" pitchFamily="18" charset="0"/>
                            </a:rPr>
                            <m:t>1</m:t>
                          </m:r>
                        </m:sub>
                      </m:sSub>
                      <m:r>
                        <a:rPr lang="en-CA" b="0" i="1" smtClean="0">
                          <a:latin typeface="Cambria Math" panose="02040503050406030204" pitchFamily="18" charset="0"/>
                        </a:rPr>
                        <m:t>|</m:t>
                      </m:r>
                      <m:sSub>
                        <m:sSubPr>
                          <m:ctrlPr>
                            <a:rPr lang="en-CA" b="0" i="1" smtClean="0">
                              <a:latin typeface="Cambria Math" panose="02040503050406030204" pitchFamily="18" charset="0"/>
                            </a:rPr>
                          </m:ctrlPr>
                        </m:sSubPr>
                        <m:e>
                          <m:r>
                            <a:rPr lang="en-CA" b="0" i="1" smtClean="0">
                              <a:latin typeface="Cambria Math" panose="02040503050406030204" pitchFamily="18" charset="0"/>
                            </a:rPr>
                            <m:t>𝑥</m:t>
                          </m:r>
                        </m:e>
                        <m:sub>
                          <m:r>
                            <a:rPr lang="en-CA" b="0" i="1" smtClean="0">
                              <a:latin typeface="Cambria Math" panose="02040503050406030204" pitchFamily="18" charset="0"/>
                            </a:rPr>
                            <m:t>1</m:t>
                          </m:r>
                        </m:sub>
                      </m:sSub>
                      <m:r>
                        <a:rPr lang="en-CA" b="0" i="1" smtClean="0">
                          <a:latin typeface="Cambria Math" panose="02040503050406030204" pitchFamily="18" charset="0"/>
                        </a:rPr>
                        <m:t>⟩</m:t>
                      </m:r>
                    </m:oMath>
                  </m:oMathPara>
                </a14:m>
                <a:endParaRPr lang="en-US" dirty="0"/>
              </a:p>
            </p:txBody>
          </p:sp>
        </mc:Choice>
        <mc:Fallback xmlns="">
          <p:sp>
            <p:nvSpPr>
              <p:cNvPr id="14" name="TextBox 13">
                <a:extLst>
                  <a:ext uri="{FF2B5EF4-FFF2-40B4-BE49-F238E27FC236}">
                    <a16:creationId xmlns:a16="http://schemas.microsoft.com/office/drawing/2014/main" id="{4FA1DB85-3027-06E7-C190-35EDB2CBE737}"/>
                  </a:ext>
                </a:extLst>
              </p:cNvPr>
              <p:cNvSpPr txBox="1">
                <a:spLocks noRot="1" noChangeAspect="1" noMove="1" noResize="1" noEditPoints="1" noAdjustHandles="1" noChangeArrowheads="1" noChangeShapeType="1" noTextEdit="1"/>
              </p:cNvSpPr>
              <p:nvPr/>
            </p:nvSpPr>
            <p:spPr>
              <a:xfrm>
                <a:off x="7987469" y="5219318"/>
                <a:ext cx="852089" cy="369332"/>
              </a:xfrm>
              <a:prstGeom prst="rect">
                <a:avLst/>
              </a:prstGeom>
              <a:blipFill>
                <a:blip r:embed="rId9"/>
                <a:stretch>
                  <a:fillRect b="-16393"/>
                </a:stretch>
              </a:blipFill>
            </p:spPr>
            <p:txBody>
              <a:bodyPr/>
              <a:lstStyle/>
              <a:p>
                <a:r>
                  <a:rPr lang="ko-KR" altLang="en-US">
                    <a:noFill/>
                  </a:rPr>
                  <a:t> </a:t>
                </a:r>
              </a:p>
            </p:txBody>
          </p:sp>
        </mc:Fallback>
      </mc:AlternateContent>
      <mc:AlternateContent xmlns:mc="http://schemas.openxmlformats.org/markup-compatibility/2006" xmlns:a14="http://schemas.microsoft.com/office/drawing/2010/main">
        <mc:Choice Requires="a14">
          <p:sp>
            <p:nvSpPr>
              <p:cNvPr id="17" name="TextBox 16">
                <a:extLst>
                  <a:ext uri="{FF2B5EF4-FFF2-40B4-BE49-F238E27FC236}">
                    <a16:creationId xmlns:a16="http://schemas.microsoft.com/office/drawing/2014/main" id="{4C5A68CD-6816-A0ED-BD09-99B7D28ABEEA}"/>
                  </a:ext>
                </a:extLst>
              </p:cNvPr>
              <p:cNvSpPr txBox="1"/>
              <p:nvPr/>
            </p:nvSpPr>
            <p:spPr>
              <a:xfrm>
                <a:off x="10213566" y="5219318"/>
                <a:ext cx="869593" cy="369332"/>
              </a:xfrm>
              <a:prstGeom prst="rect">
                <a:avLst/>
              </a:prstGeom>
              <a:solidFill>
                <a:schemeClr val="bg1"/>
              </a:solidFill>
            </p:spPr>
            <p:txBody>
              <a:bodyPr wrap="square" rtlCol="0">
                <a:spAutoFit/>
              </a:bodyPr>
              <a:lstStyle/>
              <a:p>
                <a:pPr/>
                <a14:m>
                  <m:oMathPara xmlns:m="http://schemas.openxmlformats.org/officeDocument/2006/math">
                    <m:oMathParaPr>
                      <m:jc m:val="centerGroup"/>
                    </m:oMathParaPr>
                    <m:oMath xmlns:m="http://schemas.openxmlformats.org/officeDocument/2006/math">
                      <m:sSub>
                        <m:sSubPr>
                          <m:ctrlPr>
                            <a:rPr lang="en-CA" b="0" i="1" smtClean="0">
                              <a:latin typeface="Cambria Math" panose="02040503050406030204" pitchFamily="18" charset="0"/>
                            </a:rPr>
                          </m:ctrlPr>
                        </m:sSubPr>
                        <m:e>
                          <m:r>
                            <a:rPr lang="en-CA" b="0" i="1" smtClean="0">
                              <a:latin typeface="Cambria Math" panose="02040503050406030204" pitchFamily="18" charset="0"/>
                            </a:rPr>
                            <m:t>𝑅</m:t>
                          </m:r>
                        </m:e>
                        <m:sub>
                          <m:r>
                            <a:rPr lang="en-CA" b="0" i="1" smtClean="0">
                              <a:latin typeface="Cambria Math" panose="02040503050406030204" pitchFamily="18" charset="0"/>
                            </a:rPr>
                            <m:t>2</m:t>
                          </m:r>
                        </m:sub>
                      </m:sSub>
                      <m:r>
                        <a:rPr lang="en-CA" b="0" i="1" smtClean="0">
                          <a:latin typeface="Cambria Math" panose="02040503050406030204" pitchFamily="18" charset="0"/>
                        </a:rPr>
                        <m:t>|</m:t>
                      </m:r>
                      <m:sSub>
                        <m:sSubPr>
                          <m:ctrlPr>
                            <a:rPr lang="en-CA" b="0" i="1" smtClean="0">
                              <a:latin typeface="Cambria Math" panose="02040503050406030204" pitchFamily="18" charset="0"/>
                            </a:rPr>
                          </m:ctrlPr>
                        </m:sSubPr>
                        <m:e>
                          <m:r>
                            <a:rPr lang="en-CA" b="0" i="1" smtClean="0">
                              <a:latin typeface="Cambria Math" panose="02040503050406030204" pitchFamily="18" charset="0"/>
                            </a:rPr>
                            <m:t>𝑥</m:t>
                          </m:r>
                        </m:e>
                        <m:sub>
                          <m:r>
                            <a:rPr lang="en-CA" b="0" i="1" smtClean="0">
                              <a:latin typeface="Cambria Math" panose="02040503050406030204" pitchFamily="18" charset="0"/>
                            </a:rPr>
                            <m:t>2</m:t>
                          </m:r>
                        </m:sub>
                      </m:sSub>
                      <m:r>
                        <a:rPr lang="en-CA" b="0" i="1" smtClean="0">
                          <a:latin typeface="Cambria Math" panose="02040503050406030204" pitchFamily="18" charset="0"/>
                        </a:rPr>
                        <m:t>⟩</m:t>
                      </m:r>
                    </m:oMath>
                  </m:oMathPara>
                </a14:m>
                <a:endParaRPr lang="en-US" dirty="0"/>
              </a:p>
            </p:txBody>
          </p:sp>
        </mc:Choice>
        <mc:Fallback xmlns="">
          <p:sp>
            <p:nvSpPr>
              <p:cNvPr id="17" name="TextBox 16">
                <a:extLst>
                  <a:ext uri="{FF2B5EF4-FFF2-40B4-BE49-F238E27FC236}">
                    <a16:creationId xmlns:a16="http://schemas.microsoft.com/office/drawing/2014/main" id="{4C5A68CD-6816-A0ED-BD09-99B7D28ABEEA}"/>
                  </a:ext>
                </a:extLst>
              </p:cNvPr>
              <p:cNvSpPr txBox="1">
                <a:spLocks noRot="1" noChangeAspect="1" noMove="1" noResize="1" noEditPoints="1" noAdjustHandles="1" noChangeArrowheads="1" noChangeShapeType="1" noTextEdit="1"/>
              </p:cNvSpPr>
              <p:nvPr/>
            </p:nvSpPr>
            <p:spPr>
              <a:xfrm>
                <a:off x="10213566" y="5219318"/>
                <a:ext cx="869593" cy="369332"/>
              </a:xfrm>
              <a:prstGeom prst="rect">
                <a:avLst/>
              </a:prstGeom>
              <a:blipFill>
                <a:blip r:embed="rId10"/>
                <a:stretch>
                  <a:fillRect b="-16393"/>
                </a:stretch>
              </a:blipFill>
            </p:spPr>
            <p:txBody>
              <a:bodyPr/>
              <a:lstStyle/>
              <a:p>
                <a:r>
                  <a:rPr lang="ko-KR" altLang="en-US">
                    <a:noFill/>
                  </a:rPr>
                  <a:t> </a:t>
                </a:r>
              </a:p>
            </p:txBody>
          </p:sp>
        </mc:Fallback>
      </mc:AlternateContent>
    </p:spTree>
    <p:extLst>
      <p:ext uri="{BB962C8B-B14F-4D97-AF65-F5344CB8AC3E}">
        <p14:creationId xmlns:p14="http://schemas.microsoft.com/office/powerpoint/2010/main" val="276803512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1" nodeType="clickEffect">
                                  <p:stCondLst>
                                    <p:cond delay="0"/>
                                  </p:stCondLst>
                                  <p:childTnLst>
                                    <p:set>
                                      <p:cBhvr>
                                        <p:cTn id="6" dur="1" fill="hold">
                                          <p:stCondLst>
                                            <p:cond delay="0"/>
                                          </p:stCondLst>
                                        </p:cTn>
                                        <p:tgtEl>
                                          <p:spTgt spid="11"/>
                                        </p:tgtEl>
                                        <p:attrNameLst>
                                          <p:attrName>style.visibility</p:attrName>
                                        </p:attrNameLst>
                                      </p:cBhvr>
                                      <p:to>
                                        <p:strVal val="visible"/>
                                      </p:to>
                                    </p:set>
                                  </p:childTnLst>
                                </p:cTn>
                              </p:par>
                              <p:par>
                                <p:cTn id="7" presetID="1" presetClass="entr" presetSubtype="0" fill="hold" grpId="1" nodeType="withEffect">
                                  <p:stCondLst>
                                    <p:cond delay="0"/>
                                  </p:stCondLst>
                                  <p:childTnLst>
                                    <p:set>
                                      <p:cBhvr>
                                        <p:cTn id="8" dur="1" fill="hold">
                                          <p:stCondLst>
                                            <p:cond delay="0"/>
                                          </p:stCondLst>
                                        </p:cTn>
                                        <p:tgtEl>
                                          <p:spTgt spid="12"/>
                                        </p:tgtEl>
                                        <p:attrNameLst>
                                          <p:attrName>style.visibility</p:attrName>
                                        </p:attrNameLst>
                                      </p:cBhvr>
                                      <p:to>
                                        <p:strVal val="visible"/>
                                      </p:to>
                                    </p:set>
                                  </p:childTnLst>
                                </p:cTn>
                              </p:par>
                              <p:par>
                                <p:cTn id="9" presetID="1" presetClass="entr" presetSubtype="0" fill="hold" grpId="1" nodeType="withEffect">
                                  <p:stCondLst>
                                    <p:cond delay="0"/>
                                  </p:stCondLst>
                                  <p:childTnLst>
                                    <p:set>
                                      <p:cBhvr>
                                        <p:cTn id="10" dur="1" fill="hold">
                                          <p:stCondLst>
                                            <p:cond delay="0"/>
                                          </p:stCondLst>
                                        </p:cTn>
                                        <p:tgtEl>
                                          <p:spTgt spid="15"/>
                                        </p:tgtEl>
                                        <p:attrNameLst>
                                          <p:attrName>style.visibility</p:attrName>
                                        </p:attrNameLst>
                                      </p:cBhvr>
                                      <p:to>
                                        <p:strVal val="visible"/>
                                      </p:to>
                                    </p:set>
                                  </p:childTnLst>
                                </p:cTn>
                              </p:par>
                              <p:par>
                                <p:cTn id="11" presetID="1" presetClass="entr" presetSubtype="0" fill="hold" grpId="1" nodeType="withEffect">
                                  <p:stCondLst>
                                    <p:cond delay="0"/>
                                  </p:stCondLst>
                                  <p:childTnLst>
                                    <p:set>
                                      <p:cBhvr>
                                        <p:cTn id="12" dur="1" fill="hold">
                                          <p:stCondLst>
                                            <p:cond delay="0"/>
                                          </p:stCondLst>
                                        </p:cTn>
                                        <p:tgtEl>
                                          <p:spTgt spid="16"/>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50" presetClass="exit" presetSubtype="0" accel="100000" fill="hold" grpId="0" nodeType="clickEffect">
                                  <p:stCondLst>
                                    <p:cond delay="0"/>
                                  </p:stCondLst>
                                  <p:childTnLst>
                                    <p:anim calcmode="lin" valueType="num">
                                      <p:cBhvr>
                                        <p:cTn id="16" dur="1000"/>
                                        <p:tgtEl>
                                          <p:spTgt spid="11"/>
                                        </p:tgtEl>
                                        <p:attrNameLst>
                                          <p:attrName>ppt_w</p:attrName>
                                        </p:attrNameLst>
                                      </p:cBhvr>
                                      <p:tavLst>
                                        <p:tav tm="0">
                                          <p:val>
                                            <p:strVal val="ppt_w"/>
                                          </p:val>
                                        </p:tav>
                                        <p:tav tm="100000">
                                          <p:val>
                                            <p:strVal val="ppt_w+.3"/>
                                          </p:val>
                                        </p:tav>
                                      </p:tavLst>
                                    </p:anim>
                                    <p:anim calcmode="lin" valueType="num">
                                      <p:cBhvr>
                                        <p:cTn id="17" dur="1000"/>
                                        <p:tgtEl>
                                          <p:spTgt spid="11"/>
                                        </p:tgtEl>
                                        <p:attrNameLst>
                                          <p:attrName>ppt_h</p:attrName>
                                        </p:attrNameLst>
                                      </p:cBhvr>
                                      <p:tavLst>
                                        <p:tav tm="0">
                                          <p:val>
                                            <p:strVal val="ppt_h"/>
                                          </p:val>
                                        </p:tav>
                                        <p:tav tm="100000">
                                          <p:val>
                                            <p:strVal val="ppt_h"/>
                                          </p:val>
                                        </p:tav>
                                      </p:tavLst>
                                    </p:anim>
                                    <p:animEffect transition="out" filter="fade">
                                      <p:cBhvr>
                                        <p:cTn id="18" dur="1000"/>
                                        <p:tgtEl>
                                          <p:spTgt spid="11"/>
                                        </p:tgtEl>
                                      </p:cBhvr>
                                    </p:animEffect>
                                    <p:set>
                                      <p:cBhvr>
                                        <p:cTn id="19" dur="1" fill="hold">
                                          <p:stCondLst>
                                            <p:cond delay="999"/>
                                          </p:stCondLst>
                                        </p:cTn>
                                        <p:tgtEl>
                                          <p:spTgt spid="11"/>
                                        </p:tgtEl>
                                        <p:attrNameLst>
                                          <p:attrName>style.visibility</p:attrName>
                                        </p:attrNameLst>
                                      </p:cBhvr>
                                      <p:to>
                                        <p:strVal val="hidden"/>
                                      </p:to>
                                    </p:set>
                                  </p:childTnLst>
                                </p:cTn>
                              </p:par>
                              <p:par>
                                <p:cTn id="20" presetID="50" presetClass="exit" presetSubtype="0" accel="100000" fill="hold" grpId="0" nodeType="withEffect">
                                  <p:stCondLst>
                                    <p:cond delay="0"/>
                                  </p:stCondLst>
                                  <p:childTnLst>
                                    <p:anim calcmode="lin" valueType="num">
                                      <p:cBhvr>
                                        <p:cTn id="21" dur="1000"/>
                                        <p:tgtEl>
                                          <p:spTgt spid="12"/>
                                        </p:tgtEl>
                                        <p:attrNameLst>
                                          <p:attrName>ppt_w</p:attrName>
                                        </p:attrNameLst>
                                      </p:cBhvr>
                                      <p:tavLst>
                                        <p:tav tm="0">
                                          <p:val>
                                            <p:strVal val="ppt_w"/>
                                          </p:val>
                                        </p:tav>
                                        <p:tav tm="100000">
                                          <p:val>
                                            <p:strVal val="ppt_w+.3"/>
                                          </p:val>
                                        </p:tav>
                                      </p:tavLst>
                                    </p:anim>
                                    <p:anim calcmode="lin" valueType="num">
                                      <p:cBhvr>
                                        <p:cTn id="22" dur="1000"/>
                                        <p:tgtEl>
                                          <p:spTgt spid="12"/>
                                        </p:tgtEl>
                                        <p:attrNameLst>
                                          <p:attrName>ppt_h</p:attrName>
                                        </p:attrNameLst>
                                      </p:cBhvr>
                                      <p:tavLst>
                                        <p:tav tm="0">
                                          <p:val>
                                            <p:strVal val="ppt_h"/>
                                          </p:val>
                                        </p:tav>
                                        <p:tav tm="100000">
                                          <p:val>
                                            <p:strVal val="ppt_h"/>
                                          </p:val>
                                        </p:tav>
                                      </p:tavLst>
                                    </p:anim>
                                    <p:animEffect transition="out" filter="fade">
                                      <p:cBhvr>
                                        <p:cTn id="23" dur="1000"/>
                                        <p:tgtEl>
                                          <p:spTgt spid="12"/>
                                        </p:tgtEl>
                                      </p:cBhvr>
                                    </p:animEffect>
                                    <p:set>
                                      <p:cBhvr>
                                        <p:cTn id="24" dur="1" fill="hold">
                                          <p:stCondLst>
                                            <p:cond delay="999"/>
                                          </p:stCondLst>
                                        </p:cTn>
                                        <p:tgtEl>
                                          <p:spTgt spid="12"/>
                                        </p:tgtEl>
                                        <p:attrNameLst>
                                          <p:attrName>style.visibility</p:attrName>
                                        </p:attrNameLst>
                                      </p:cBhvr>
                                      <p:to>
                                        <p:strVal val="hidden"/>
                                      </p:to>
                                    </p:set>
                                  </p:childTnLst>
                                </p:cTn>
                              </p:par>
                              <p:par>
                                <p:cTn id="25" presetID="50" presetClass="exit" presetSubtype="0" accel="100000" fill="hold" grpId="0" nodeType="withEffect">
                                  <p:stCondLst>
                                    <p:cond delay="0"/>
                                  </p:stCondLst>
                                  <p:childTnLst>
                                    <p:anim calcmode="lin" valueType="num">
                                      <p:cBhvr>
                                        <p:cTn id="26" dur="1000"/>
                                        <p:tgtEl>
                                          <p:spTgt spid="15"/>
                                        </p:tgtEl>
                                        <p:attrNameLst>
                                          <p:attrName>ppt_w</p:attrName>
                                        </p:attrNameLst>
                                      </p:cBhvr>
                                      <p:tavLst>
                                        <p:tav tm="0">
                                          <p:val>
                                            <p:strVal val="ppt_w"/>
                                          </p:val>
                                        </p:tav>
                                        <p:tav tm="100000">
                                          <p:val>
                                            <p:strVal val="ppt_w+.3"/>
                                          </p:val>
                                        </p:tav>
                                      </p:tavLst>
                                    </p:anim>
                                    <p:anim calcmode="lin" valueType="num">
                                      <p:cBhvr>
                                        <p:cTn id="27" dur="1000"/>
                                        <p:tgtEl>
                                          <p:spTgt spid="15"/>
                                        </p:tgtEl>
                                        <p:attrNameLst>
                                          <p:attrName>ppt_h</p:attrName>
                                        </p:attrNameLst>
                                      </p:cBhvr>
                                      <p:tavLst>
                                        <p:tav tm="0">
                                          <p:val>
                                            <p:strVal val="ppt_h"/>
                                          </p:val>
                                        </p:tav>
                                        <p:tav tm="100000">
                                          <p:val>
                                            <p:strVal val="ppt_h"/>
                                          </p:val>
                                        </p:tav>
                                      </p:tavLst>
                                    </p:anim>
                                    <p:animEffect transition="out" filter="fade">
                                      <p:cBhvr>
                                        <p:cTn id="28" dur="1000"/>
                                        <p:tgtEl>
                                          <p:spTgt spid="15"/>
                                        </p:tgtEl>
                                      </p:cBhvr>
                                    </p:animEffect>
                                    <p:set>
                                      <p:cBhvr>
                                        <p:cTn id="29" dur="1" fill="hold">
                                          <p:stCondLst>
                                            <p:cond delay="999"/>
                                          </p:stCondLst>
                                        </p:cTn>
                                        <p:tgtEl>
                                          <p:spTgt spid="15"/>
                                        </p:tgtEl>
                                        <p:attrNameLst>
                                          <p:attrName>style.visibility</p:attrName>
                                        </p:attrNameLst>
                                      </p:cBhvr>
                                      <p:to>
                                        <p:strVal val="hidden"/>
                                      </p:to>
                                    </p:set>
                                  </p:childTnLst>
                                </p:cTn>
                              </p:par>
                              <p:par>
                                <p:cTn id="30" presetID="50" presetClass="exit" presetSubtype="0" accel="100000" fill="hold" grpId="0" nodeType="withEffect">
                                  <p:stCondLst>
                                    <p:cond delay="0"/>
                                  </p:stCondLst>
                                  <p:childTnLst>
                                    <p:anim calcmode="lin" valueType="num">
                                      <p:cBhvr>
                                        <p:cTn id="31" dur="1000"/>
                                        <p:tgtEl>
                                          <p:spTgt spid="16"/>
                                        </p:tgtEl>
                                        <p:attrNameLst>
                                          <p:attrName>ppt_w</p:attrName>
                                        </p:attrNameLst>
                                      </p:cBhvr>
                                      <p:tavLst>
                                        <p:tav tm="0">
                                          <p:val>
                                            <p:strVal val="ppt_w"/>
                                          </p:val>
                                        </p:tav>
                                        <p:tav tm="100000">
                                          <p:val>
                                            <p:strVal val="ppt_w+.3"/>
                                          </p:val>
                                        </p:tav>
                                      </p:tavLst>
                                    </p:anim>
                                    <p:anim calcmode="lin" valueType="num">
                                      <p:cBhvr>
                                        <p:cTn id="32" dur="1000"/>
                                        <p:tgtEl>
                                          <p:spTgt spid="16"/>
                                        </p:tgtEl>
                                        <p:attrNameLst>
                                          <p:attrName>ppt_h</p:attrName>
                                        </p:attrNameLst>
                                      </p:cBhvr>
                                      <p:tavLst>
                                        <p:tav tm="0">
                                          <p:val>
                                            <p:strVal val="ppt_h"/>
                                          </p:val>
                                        </p:tav>
                                        <p:tav tm="100000">
                                          <p:val>
                                            <p:strVal val="ppt_h"/>
                                          </p:val>
                                        </p:tav>
                                      </p:tavLst>
                                    </p:anim>
                                    <p:animEffect transition="out" filter="fade">
                                      <p:cBhvr>
                                        <p:cTn id="33" dur="1000"/>
                                        <p:tgtEl>
                                          <p:spTgt spid="16"/>
                                        </p:tgtEl>
                                      </p:cBhvr>
                                    </p:animEffect>
                                    <p:set>
                                      <p:cBhvr>
                                        <p:cTn id="34" dur="1" fill="hold">
                                          <p:stCondLst>
                                            <p:cond delay="999"/>
                                          </p:stCondLst>
                                        </p:cTn>
                                        <p:tgtEl>
                                          <p:spTgt spid="16"/>
                                        </p:tgtEl>
                                        <p:attrNameLst>
                                          <p:attrName>style.visibility</p:attrName>
                                        </p:attrNameLst>
                                      </p:cBhvr>
                                      <p:to>
                                        <p:strVal val="hidden"/>
                                      </p:to>
                                    </p:set>
                                  </p:childTnLst>
                                </p:cTn>
                              </p:par>
                            </p:childTnLst>
                          </p:cTn>
                        </p:par>
                        <p:par>
                          <p:cTn id="35" fill="hold">
                            <p:stCondLst>
                              <p:cond delay="1000"/>
                            </p:stCondLst>
                            <p:childTnLst>
                              <p:par>
                                <p:cTn id="36" presetID="1" presetClass="entr" presetSubtype="0" fill="hold" grpId="0" nodeType="afterEffect">
                                  <p:stCondLst>
                                    <p:cond delay="0"/>
                                  </p:stCondLst>
                                  <p:childTnLst>
                                    <p:set>
                                      <p:cBhvr>
                                        <p:cTn id="37" dur="1" fill="hold">
                                          <p:stCondLst>
                                            <p:cond delay="0"/>
                                          </p:stCondLst>
                                        </p:cTn>
                                        <p:tgtEl>
                                          <p:spTgt spid="14"/>
                                        </p:tgtEl>
                                        <p:attrNameLst>
                                          <p:attrName>style.visibility</p:attrName>
                                        </p:attrNameLst>
                                      </p:cBhvr>
                                      <p:to>
                                        <p:strVal val="visible"/>
                                      </p:to>
                                    </p:set>
                                  </p:childTnLst>
                                </p:cTn>
                              </p:par>
                            </p:childTnLst>
                          </p:cTn>
                        </p:par>
                        <p:par>
                          <p:cTn id="38" fill="hold">
                            <p:stCondLst>
                              <p:cond delay="1000"/>
                            </p:stCondLst>
                            <p:childTnLst>
                              <p:par>
                                <p:cTn id="39" presetID="1" presetClass="entr" presetSubtype="0" fill="hold" grpId="0" nodeType="afterEffect">
                                  <p:stCondLst>
                                    <p:cond delay="0"/>
                                  </p:stCondLst>
                                  <p:childTnLst>
                                    <p:set>
                                      <p:cBhvr>
                                        <p:cTn id="40" dur="1" fill="hold">
                                          <p:stCondLst>
                                            <p:cond delay="0"/>
                                          </p:stCondLst>
                                        </p:cTn>
                                        <p:tgtEl>
                                          <p:spTgt spid="1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 grpId="0" animBg="1"/>
      <p:bldP spid="11" grpId="1" animBg="1"/>
      <p:bldP spid="12" grpId="0"/>
      <p:bldP spid="12" grpId="1"/>
      <p:bldP spid="15" grpId="0" animBg="1"/>
      <p:bldP spid="15" grpId="1" animBg="1"/>
      <p:bldP spid="16" grpId="0"/>
      <p:bldP spid="16" grpId="1"/>
      <p:bldP spid="14" grpId="0" animBg="1"/>
      <p:bldP spid="17" grpId="0" animBg="1"/>
    </p:bld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085A39C-3CCE-D03A-56AD-C516BF87B847}"/>
              </a:ext>
            </a:extLst>
          </p:cNvPr>
          <p:cNvSpPr>
            <a:spLocks noGrp="1"/>
          </p:cNvSpPr>
          <p:nvPr>
            <p:ph type="title"/>
          </p:nvPr>
        </p:nvSpPr>
        <p:spPr/>
        <p:txBody>
          <a:bodyPr/>
          <a:lstStyle/>
          <a:p>
            <a:r>
              <a:rPr lang="en-US" dirty="0"/>
              <a:t>Composite systems</a:t>
            </a:r>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1A003183-B0E7-AF0C-FBD6-E1D750599BB8}"/>
                  </a:ext>
                </a:extLst>
              </p:cNvPr>
              <p:cNvSpPr>
                <a:spLocks noGrp="1"/>
              </p:cNvSpPr>
              <p:nvPr>
                <p:ph idx="1"/>
              </p:nvPr>
            </p:nvSpPr>
            <p:spPr>
              <a:xfrm>
                <a:off x="838200" y="1825625"/>
                <a:ext cx="10515600" cy="5232400"/>
              </a:xfrm>
            </p:spPr>
            <p:txBody>
              <a:bodyPr>
                <a:normAutofit/>
              </a:bodyPr>
              <a:lstStyle/>
              <a:p>
                <a:r>
                  <a:rPr lang="en-US" sz="2400" dirty="0"/>
                  <a:t>If </a:t>
                </a:r>
                <a14:m>
                  <m:oMath xmlns:m="http://schemas.openxmlformats.org/officeDocument/2006/math">
                    <m:sSub>
                      <m:sSubPr>
                        <m:ctrlPr>
                          <a:rPr lang="en-CA" sz="2400" b="0" i="1" smtClean="0">
                            <a:latin typeface="Cambria Math" panose="02040503050406030204" pitchFamily="18" charset="0"/>
                          </a:rPr>
                        </m:ctrlPr>
                      </m:sSubPr>
                      <m:e>
                        <m:r>
                          <a:rPr lang="en-CA" sz="2400" b="0" i="1" smtClean="0">
                            <a:latin typeface="Cambria Math" panose="02040503050406030204" pitchFamily="18" charset="0"/>
                          </a:rPr>
                          <m:t>𝑅</m:t>
                        </m:r>
                      </m:e>
                      <m:sub>
                        <m:r>
                          <a:rPr lang="en-CA" sz="2400" b="0" i="1" smtClean="0">
                            <a:latin typeface="Cambria Math" panose="02040503050406030204" pitchFamily="18" charset="0"/>
                          </a:rPr>
                          <m:t>1</m:t>
                        </m:r>
                      </m:sub>
                    </m:sSub>
                  </m:oMath>
                </a14:m>
                <a:r>
                  <a:rPr lang="en-US" sz="2400" dirty="0"/>
                  <a:t> acts on system </a:t>
                </a:r>
                <a14:m>
                  <m:oMath xmlns:m="http://schemas.openxmlformats.org/officeDocument/2006/math">
                    <m:sSub>
                      <m:sSubPr>
                        <m:ctrlPr>
                          <a:rPr lang="en-CA" sz="2400" b="0" i="1" smtClean="0">
                            <a:latin typeface="Cambria Math" panose="02040503050406030204" pitchFamily="18" charset="0"/>
                          </a:rPr>
                        </m:ctrlPr>
                      </m:sSubPr>
                      <m:e>
                        <m:r>
                          <a:rPr lang="en-CA" sz="2400" b="0" i="1" smtClean="0">
                            <a:latin typeface="Cambria Math" panose="02040503050406030204" pitchFamily="18" charset="0"/>
                          </a:rPr>
                          <m:t>𝑆</m:t>
                        </m:r>
                      </m:e>
                      <m:sub>
                        <m:r>
                          <a:rPr lang="en-CA" sz="2400" b="0" i="1" smtClean="0">
                            <a:latin typeface="Cambria Math" panose="02040503050406030204" pitchFamily="18" charset="0"/>
                          </a:rPr>
                          <m:t>1</m:t>
                        </m:r>
                      </m:sub>
                    </m:sSub>
                  </m:oMath>
                </a14:m>
                <a:r>
                  <a:rPr lang="en-US" sz="2400" dirty="0"/>
                  <a:t> and </a:t>
                </a:r>
                <a14:m>
                  <m:oMath xmlns:m="http://schemas.openxmlformats.org/officeDocument/2006/math">
                    <m:sSub>
                      <m:sSubPr>
                        <m:ctrlPr>
                          <a:rPr lang="en-CA" sz="2400" b="0" i="1" smtClean="0">
                            <a:latin typeface="Cambria Math" panose="02040503050406030204" pitchFamily="18" charset="0"/>
                          </a:rPr>
                        </m:ctrlPr>
                      </m:sSubPr>
                      <m:e>
                        <m:r>
                          <a:rPr lang="en-CA" sz="2400" b="0" i="1" smtClean="0">
                            <a:latin typeface="Cambria Math" panose="02040503050406030204" pitchFamily="18" charset="0"/>
                          </a:rPr>
                          <m:t>𝑅</m:t>
                        </m:r>
                      </m:e>
                      <m:sub>
                        <m:r>
                          <a:rPr lang="en-CA" sz="2400" b="0" i="1" smtClean="0">
                            <a:latin typeface="Cambria Math" panose="02040503050406030204" pitchFamily="18" charset="0"/>
                          </a:rPr>
                          <m:t>2</m:t>
                        </m:r>
                      </m:sub>
                    </m:sSub>
                  </m:oMath>
                </a14:m>
                <a:r>
                  <a:rPr lang="en-US" sz="2400" dirty="0"/>
                  <a:t> acts on </a:t>
                </a:r>
                <a14:m>
                  <m:oMath xmlns:m="http://schemas.openxmlformats.org/officeDocument/2006/math">
                    <m:sSub>
                      <m:sSubPr>
                        <m:ctrlPr>
                          <a:rPr lang="en-CA" sz="2400" b="0" i="1" smtClean="0">
                            <a:latin typeface="Cambria Math" panose="02040503050406030204" pitchFamily="18" charset="0"/>
                          </a:rPr>
                        </m:ctrlPr>
                      </m:sSubPr>
                      <m:e>
                        <m:r>
                          <a:rPr lang="en-CA" sz="2400" b="0" i="1" smtClean="0">
                            <a:latin typeface="Cambria Math" panose="02040503050406030204" pitchFamily="18" charset="0"/>
                          </a:rPr>
                          <m:t>𝑆</m:t>
                        </m:r>
                      </m:e>
                      <m:sub>
                        <m:r>
                          <a:rPr lang="en-CA" sz="2400" b="0" i="1" smtClean="0">
                            <a:latin typeface="Cambria Math" panose="02040503050406030204" pitchFamily="18" charset="0"/>
                          </a:rPr>
                          <m:t>2</m:t>
                        </m:r>
                      </m:sub>
                    </m:sSub>
                  </m:oMath>
                </a14:m>
                <a:r>
                  <a:rPr lang="en-US" sz="2400" dirty="0"/>
                  <a:t>, then </a:t>
                </a:r>
                <a14:m>
                  <m:oMath xmlns:m="http://schemas.openxmlformats.org/officeDocument/2006/math">
                    <m:r>
                      <a:rPr lang="en-CA" sz="2400" b="0" i="1" smtClean="0">
                        <a:latin typeface="Cambria Math" panose="02040503050406030204" pitchFamily="18" charset="0"/>
                      </a:rPr>
                      <m:t>𝑅</m:t>
                    </m:r>
                    <m:r>
                      <a:rPr lang="en-CA" sz="2400" b="0" i="0" smtClean="0">
                        <a:latin typeface="Cambria Math" panose="02040503050406030204" pitchFamily="18" charset="0"/>
                      </a:rPr>
                      <m:t>=</m:t>
                    </m:r>
                    <m:sSub>
                      <m:sSubPr>
                        <m:ctrlPr>
                          <a:rPr lang="en-CA" sz="2400" b="0" i="1" smtClean="0">
                            <a:latin typeface="Cambria Math" panose="02040503050406030204" pitchFamily="18" charset="0"/>
                          </a:rPr>
                        </m:ctrlPr>
                      </m:sSubPr>
                      <m:e>
                        <m:r>
                          <a:rPr lang="en-CA" sz="2400" b="0" i="1" smtClean="0">
                            <a:latin typeface="Cambria Math" panose="02040503050406030204" pitchFamily="18" charset="0"/>
                          </a:rPr>
                          <m:t>𝑅</m:t>
                        </m:r>
                      </m:e>
                      <m:sub>
                        <m:r>
                          <a:rPr lang="en-CA" sz="2400" b="0" i="1" smtClean="0">
                            <a:latin typeface="Cambria Math" panose="02040503050406030204" pitchFamily="18" charset="0"/>
                          </a:rPr>
                          <m:t>1</m:t>
                        </m:r>
                      </m:sub>
                    </m:sSub>
                    <m:r>
                      <a:rPr lang="en-CA" sz="2400" b="0" i="1" smtClean="0">
                        <a:latin typeface="Cambria Math" panose="02040503050406030204" pitchFamily="18" charset="0"/>
                      </a:rPr>
                      <m:t>⊗</m:t>
                    </m:r>
                    <m:sSub>
                      <m:sSubPr>
                        <m:ctrlPr>
                          <a:rPr lang="en-CA" sz="2400" b="0" i="1" smtClean="0">
                            <a:latin typeface="Cambria Math" panose="02040503050406030204" pitchFamily="18" charset="0"/>
                          </a:rPr>
                        </m:ctrlPr>
                      </m:sSubPr>
                      <m:e>
                        <m:r>
                          <a:rPr lang="en-CA" sz="2400" b="0" i="1" smtClean="0">
                            <a:latin typeface="Cambria Math" panose="02040503050406030204" pitchFamily="18" charset="0"/>
                          </a:rPr>
                          <m:t>𝑅</m:t>
                        </m:r>
                      </m:e>
                      <m:sub>
                        <m:r>
                          <a:rPr lang="en-CA" sz="2400" b="0" i="1" smtClean="0">
                            <a:latin typeface="Cambria Math" panose="02040503050406030204" pitchFamily="18" charset="0"/>
                          </a:rPr>
                          <m:t>2</m:t>
                        </m:r>
                      </m:sub>
                    </m:sSub>
                  </m:oMath>
                </a14:m>
                <a:r>
                  <a:rPr lang="en-CA" sz="2400" dirty="0"/>
                  <a:t> is a </a:t>
                </a:r>
                <a:br>
                  <a:rPr lang="en-CA" sz="2400" dirty="0"/>
                </a:br>
                <a:r>
                  <a:rPr lang="en-CA" sz="2400" dirty="0"/>
                  <a:t/>
                </a:r>
                <a:br>
                  <a:rPr lang="en-CA" sz="2400" dirty="0"/>
                </a:br>
                <a:r>
                  <a:rPr lang="en-CA" sz="2400" dirty="0"/>
                  <a:t>transformation on </a:t>
                </a:r>
                <a14:m>
                  <m:oMath xmlns:m="http://schemas.openxmlformats.org/officeDocument/2006/math">
                    <m:sSub>
                      <m:sSubPr>
                        <m:ctrlPr>
                          <a:rPr lang="en-CA" sz="2400" b="0" i="1" smtClean="0">
                            <a:latin typeface="Cambria Math" panose="02040503050406030204" pitchFamily="18" charset="0"/>
                          </a:rPr>
                        </m:ctrlPr>
                      </m:sSubPr>
                      <m:e>
                        <m:r>
                          <a:rPr lang="en-CA" sz="2400" b="0" i="1" smtClean="0">
                            <a:latin typeface="Cambria Math" panose="02040503050406030204" pitchFamily="18" charset="0"/>
                          </a:rPr>
                          <m:t>𝑆</m:t>
                        </m:r>
                      </m:e>
                      <m:sub>
                        <m:r>
                          <a:rPr lang="en-CA" sz="2400" b="0" i="1" smtClean="0">
                            <a:latin typeface="Cambria Math" panose="02040503050406030204" pitchFamily="18" charset="0"/>
                          </a:rPr>
                          <m:t>1</m:t>
                        </m:r>
                      </m:sub>
                    </m:sSub>
                    <m:r>
                      <a:rPr lang="en-CA" sz="2400" b="0" i="1" smtClean="0">
                        <a:latin typeface="Cambria Math" panose="02040503050406030204" pitchFamily="18" charset="0"/>
                      </a:rPr>
                      <m:t>⊗</m:t>
                    </m:r>
                    <m:sSub>
                      <m:sSubPr>
                        <m:ctrlPr>
                          <a:rPr lang="en-CA" sz="2400" b="0" i="1" smtClean="0">
                            <a:latin typeface="Cambria Math" panose="02040503050406030204" pitchFamily="18" charset="0"/>
                          </a:rPr>
                        </m:ctrlPr>
                      </m:sSubPr>
                      <m:e>
                        <m:r>
                          <a:rPr lang="en-CA" sz="2400" b="0" i="1" smtClean="0">
                            <a:latin typeface="Cambria Math" panose="02040503050406030204" pitchFamily="18" charset="0"/>
                          </a:rPr>
                          <m:t>𝑆</m:t>
                        </m:r>
                      </m:e>
                      <m:sub>
                        <m:r>
                          <a:rPr lang="en-CA" sz="2400" b="0" i="1" smtClean="0">
                            <a:latin typeface="Cambria Math" panose="02040503050406030204" pitchFamily="18" charset="0"/>
                          </a:rPr>
                          <m:t>2</m:t>
                        </m:r>
                      </m:sub>
                    </m:sSub>
                  </m:oMath>
                </a14:m>
                <a:r>
                  <a:rPr lang="en-CA" sz="2400" dirty="0"/>
                  <a:t>.</a:t>
                </a:r>
                <a:br>
                  <a:rPr lang="en-CA" sz="2400" dirty="0"/>
                </a:br>
                <a:r>
                  <a:rPr lang="en-CA" sz="2400" dirty="0"/>
                  <a:t/>
                </a:r>
                <a:br>
                  <a:rPr lang="en-CA" sz="2400" dirty="0"/>
                </a:br>
                <a:r>
                  <a:rPr lang="en-CA" sz="2400" dirty="0"/>
                  <a:t/>
                </a:r>
                <a:br>
                  <a:rPr lang="en-CA" sz="2400" dirty="0"/>
                </a:br>
                <a:endParaRPr lang="en-CA" sz="2400" dirty="0"/>
              </a:p>
              <a:p>
                <a:endParaRPr lang="en-CA" sz="2400" dirty="0"/>
              </a:p>
              <a:p>
                <a:endParaRPr lang="en-CA" sz="2400" dirty="0"/>
              </a:p>
              <a:p>
                <a:endParaRPr lang="en-CA" sz="2400" dirty="0"/>
              </a:p>
              <a:p>
                <a:r>
                  <a:rPr lang="en-CA" sz="2400" dirty="0"/>
                  <a:t>Applying </a:t>
                </a:r>
                <a14:m>
                  <m:oMath xmlns:m="http://schemas.openxmlformats.org/officeDocument/2006/math">
                    <m:sSub>
                      <m:sSubPr>
                        <m:ctrlPr>
                          <a:rPr lang="en-CA" sz="2400" b="0" i="1" smtClean="0">
                            <a:latin typeface="Cambria Math" panose="02040503050406030204" pitchFamily="18" charset="0"/>
                          </a:rPr>
                        </m:ctrlPr>
                      </m:sSubPr>
                      <m:e>
                        <m:r>
                          <a:rPr lang="en-CA" sz="2400" b="0" i="1" smtClean="0">
                            <a:latin typeface="Cambria Math" panose="02040503050406030204" pitchFamily="18" charset="0"/>
                          </a:rPr>
                          <m:t>𝑅</m:t>
                        </m:r>
                      </m:e>
                      <m:sub>
                        <m:r>
                          <a:rPr lang="en-CA" sz="2400" b="0" i="1" smtClean="0">
                            <a:latin typeface="Cambria Math" panose="02040503050406030204" pitchFamily="18" charset="0"/>
                          </a:rPr>
                          <m:t>1</m:t>
                        </m:r>
                      </m:sub>
                    </m:sSub>
                  </m:oMath>
                </a14:m>
                <a:r>
                  <a:rPr lang="en-CA" sz="2400" dirty="0"/>
                  <a:t> to </a:t>
                </a:r>
                <a14:m>
                  <m:oMath xmlns:m="http://schemas.openxmlformats.org/officeDocument/2006/math">
                    <m:sSub>
                      <m:sSubPr>
                        <m:ctrlPr>
                          <a:rPr lang="en-CA" sz="2400" b="0" i="1" smtClean="0">
                            <a:latin typeface="Cambria Math" panose="02040503050406030204" pitchFamily="18" charset="0"/>
                          </a:rPr>
                        </m:ctrlPr>
                      </m:sSubPr>
                      <m:e>
                        <m:r>
                          <a:rPr lang="en-CA" sz="2400" b="0" i="1" smtClean="0">
                            <a:latin typeface="Cambria Math" panose="02040503050406030204" pitchFamily="18" charset="0"/>
                          </a:rPr>
                          <m:t>𝑆</m:t>
                        </m:r>
                      </m:e>
                      <m:sub>
                        <m:r>
                          <a:rPr lang="en-CA" sz="2400" b="0" i="1" smtClean="0">
                            <a:latin typeface="Cambria Math" panose="02040503050406030204" pitchFamily="18" charset="0"/>
                          </a:rPr>
                          <m:t>1</m:t>
                        </m:r>
                      </m:sub>
                    </m:sSub>
                  </m:oMath>
                </a14:m>
                <a:r>
                  <a:rPr lang="en-CA" sz="2400" dirty="0"/>
                  <a:t> and nothing to </a:t>
                </a:r>
                <a14:m>
                  <m:oMath xmlns:m="http://schemas.openxmlformats.org/officeDocument/2006/math">
                    <m:sSub>
                      <m:sSubPr>
                        <m:ctrlPr>
                          <a:rPr lang="en-CA" sz="2400" b="0" i="1" smtClean="0">
                            <a:latin typeface="Cambria Math" panose="02040503050406030204" pitchFamily="18" charset="0"/>
                          </a:rPr>
                        </m:ctrlPr>
                      </m:sSubPr>
                      <m:e>
                        <m:r>
                          <a:rPr lang="en-CA" sz="2400" b="0" i="1" smtClean="0">
                            <a:latin typeface="Cambria Math" panose="02040503050406030204" pitchFamily="18" charset="0"/>
                          </a:rPr>
                          <m:t>𝑆</m:t>
                        </m:r>
                      </m:e>
                      <m:sub>
                        <m:r>
                          <a:rPr lang="en-CA" sz="2400" b="0" i="1" smtClean="0">
                            <a:latin typeface="Cambria Math" panose="02040503050406030204" pitchFamily="18" charset="0"/>
                          </a:rPr>
                          <m:t>2</m:t>
                        </m:r>
                      </m:sub>
                    </m:sSub>
                  </m:oMath>
                </a14:m>
                <a:r>
                  <a:rPr lang="en-CA" sz="2400" dirty="0"/>
                  <a:t> corresponds</a:t>
                </a:r>
                <a:br>
                  <a:rPr lang="en-CA" sz="2400" dirty="0"/>
                </a:br>
                <a:r>
                  <a:rPr lang="en-CA" sz="2400" dirty="0"/>
                  <a:t/>
                </a:r>
                <a:br>
                  <a:rPr lang="en-CA" sz="2400" dirty="0"/>
                </a:br>
                <a:r>
                  <a:rPr lang="en-CA" sz="2400" dirty="0"/>
                  <a:t>to the transformation </a:t>
                </a:r>
                <a14:m>
                  <m:oMath xmlns:m="http://schemas.openxmlformats.org/officeDocument/2006/math">
                    <m:sSub>
                      <m:sSubPr>
                        <m:ctrlPr>
                          <a:rPr lang="en-CA" sz="2400" b="0" i="1" smtClean="0">
                            <a:latin typeface="Cambria Math" panose="02040503050406030204" pitchFamily="18" charset="0"/>
                          </a:rPr>
                        </m:ctrlPr>
                      </m:sSubPr>
                      <m:e>
                        <m:r>
                          <a:rPr lang="en-CA" sz="2400" b="0" i="1" smtClean="0">
                            <a:latin typeface="Cambria Math" panose="02040503050406030204" pitchFamily="18" charset="0"/>
                          </a:rPr>
                          <m:t>𝑅</m:t>
                        </m:r>
                      </m:e>
                      <m:sub>
                        <m:r>
                          <a:rPr lang="en-CA" sz="2400" b="0" i="1" smtClean="0">
                            <a:latin typeface="Cambria Math" panose="02040503050406030204" pitchFamily="18" charset="0"/>
                          </a:rPr>
                          <m:t>1</m:t>
                        </m:r>
                      </m:sub>
                    </m:sSub>
                    <m:r>
                      <a:rPr lang="en-CA" sz="2400" b="0" i="1" smtClean="0">
                        <a:latin typeface="Cambria Math" panose="02040503050406030204" pitchFamily="18" charset="0"/>
                      </a:rPr>
                      <m:t>⊗</m:t>
                    </m:r>
                    <m:r>
                      <a:rPr lang="en-CA" sz="2400" b="0" i="1" smtClean="0">
                        <a:latin typeface="Cambria Math" panose="02040503050406030204" pitchFamily="18" charset="0"/>
                      </a:rPr>
                      <m:t>𝐼</m:t>
                    </m:r>
                  </m:oMath>
                </a14:m>
                <a:r>
                  <a:rPr lang="en-CA" sz="2400" dirty="0"/>
                  <a:t>.</a:t>
                </a:r>
              </a:p>
            </p:txBody>
          </p:sp>
        </mc:Choice>
        <mc:Fallback xmlns="">
          <p:sp>
            <p:nvSpPr>
              <p:cNvPr id="3" name="Content Placeholder 2">
                <a:extLst>
                  <a:ext uri="{FF2B5EF4-FFF2-40B4-BE49-F238E27FC236}">
                    <a16:creationId xmlns:a16="http://schemas.microsoft.com/office/drawing/2014/main" id="{1A003183-B0E7-AF0C-FBD6-E1D750599BB8}"/>
                  </a:ext>
                </a:extLst>
              </p:cNvPr>
              <p:cNvSpPr>
                <a:spLocks noGrp="1" noRot="1" noChangeAspect="1" noMove="1" noResize="1" noEditPoints="1" noAdjustHandles="1" noChangeArrowheads="1" noChangeShapeType="1" noTextEdit="1"/>
              </p:cNvSpPr>
              <p:nvPr>
                <p:ph idx="1"/>
              </p:nvPr>
            </p:nvSpPr>
            <p:spPr>
              <a:xfrm>
                <a:off x="838200" y="1825625"/>
                <a:ext cx="10515600" cy="5232400"/>
              </a:xfrm>
              <a:blipFill>
                <a:blip r:embed="rId2"/>
                <a:stretch>
                  <a:fillRect l="-812" t="-1630"/>
                </a:stretch>
              </a:blipFill>
            </p:spPr>
            <p:txBody>
              <a:bodyPr/>
              <a:lstStyle/>
              <a:p>
                <a:r>
                  <a:rPr lang="ko-KR" altLang="en-US">
                    <a:noFill/>
                  </a:rPr>
                  <a:t> </a:t>
                </a:r>
              </a:p>
            </p:txBody>
          </p:sp>
        </mc:Fallback>
      </mc:AlternateContent>
      <p:sp>
        <p:nvSpPr>
          <p:cNvPr id="4" name="Cube 3">
            <a:extLst>
              <a:ext uri="{FF2B5EF4-FFF2-40B4-BE49-F238E27FC236}">
                <a16:creationId xmlns:a16="http://schemas.microsoft.com/office/drawing/2014/main" id="{7F376318-FA62-E6A3-C53D-17621EF55631}"/>
              </a:ext>
            </a:extLst>
          </p:cNvPr>
          <p:cNvSpPr/>
          <p:nvPr/>
        </p:nvSpPr>
        <p:spPr>
          <a:xfrm>
            <a:off x="7895389" y="4673566"/>
            <a:ext cx="1165473" cy="1185033"/>
          </a:xfrm>
          <a:prstGeom prst="cub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mc:AlternateContent xmlns:mc="http://schemas.openxmlformats.org/markup-compatibility/2006" xmlns:a14="http://schemas.microsoft.com/office/drawing/2010/main">
        <mc:Choice Requires="a14">
          <p:sp>
            <p:nvSpPr>
              <p:cNvPr id="5" name="Rectangle 4">
                <a:extLst>
                  <a:ext uri="{FF2B5EF4-FFF2-40B4-BE49-F238E27FC236}">
                    <a16:creationId xmlns:a16="http://schemas.microsoft.com/office/drawing/2014/main" id="{0B3F0276-3F7B-D78B-9FA2-4E40CD4AB48C}"/>
                  </a:ext>
                </a:extLst>
              </p:cNvPr>
              <p:cNvSpPr/>
              <p:nvPr/>
            </p:nvSpPr>
            <p:spPr>
              <a:xfrm>
                <a:off x="8180525" y="6123543"/>
                <a:ext cx="451277" cy="369332"/>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sSub>
                        <m:sSubPr>
                          <m:ctrlPr>
                            <a:rPr lang="en-CA" b="0" i="1" smtClean="0">
                              <a:latin typeface="Cambria Math" panose="02040503050406030204" pitchFamily="18" charset="0"/>
                            </a:rPr>
                          </m:ctrlPr>
                        </m:sSubPr>
                        <m:e>
                          <m:r>
                            <a:rPr lang="en-CA" i="1" smtClean="0">
                              <a:latin typeface="Cambria Math" panose="02040503050406030204" pitchFamily="18" charset="0"/>
                            </a:rPr>
                            <m:t>𝑆</m:t>
                          </m:r>
                        </m:e>
                        <m:sub>
                          <m:r>
                            <a:rPr lang="en-CA" b="0" i="1" smtClean="0">
                              <a:latin typeface="Cambria Math" panose="02040503050406030204" pitchFamily="18" charset="0"/>
                            </a:rPr>
                            <m:t>1</m:t>
                          </m:r>
                        </m:sub>
                      </m:sSub>
                    </m:oMath>
                  </m:oMathPara>
                </a14:m>
                <a:endParaRPr lang="en-US" dirty="0"/>
              </a:p>
            </p:txBody>
          </p:sp>
        </mc:Choice>
        <mc:Fallback xmlns="">
          <p:sp>
            <p:nvSpPr>
              <p:cNvPr id="5" name="Rectangle 4">
                <a:extLst>
                  <a:ext uri="{FF2B5EF4-FFF2-40B4-BE49-F238E27FC236}">
                    <a16:creationId xmlns:a16="http://schemas.microsoft.com/office/drawing/2014/main" id="{0B3F0276-3F7B-D78B-9FA2-4E40CD4AB48C}"/>
                  </a:ext>
                </a:extLst>
              </p:cNvPr>
              <p:cNvSpPr>
                <a:spLocks noRot="1" noChangeAspect="1" noMove="1" noResize="1" noEditPoints="1" noAdjustHandles="1" noChangeArrowheads="1" noChangeShapeType="1" noTextEdit="1"/>
              </p:cNvSpPr>
              <p:nvPr/>
            </p:nvSpPr>
            <p:spPr>
              <a:xfrm>
                <a:off x="8180525" y="6123543"/>
                <a:ext cx="451277" cy="369332"/>
              </a:xfrm>
              <a:prstGeom prst="rect">
                <a:avLst/>
              </a:prstGeom>
              <a:blipFill>
                <a:blip r:embed="rId3"/>
                <a:stretch>
                  <a:fillRect b="-3333"/>
                </a:stretch>
              </a:blipFill>
            </p:spPr>
            <p:txBody>
              <a:bodyPr/>
              <a:lstStyle/>
              <a:p>
                <a:r>
                  <a:rPr lang="ko-KR" altLang="en-US">
                    <a:noFill/>
                  </a:rPr>
                  <a:t> </a:t>
                </a:r>
              </a:p>
            </p:txBody>
          </p:sp>
        </mc:Fallback>
      </mc:AlternateContent>
      <p:sp>
        <p:nvSpPr>
          <p:cNvPr id="6" name="Cube 5">
            <a:extLst>
              <a:ext uri="{FF2B5EF4-FFF2-40B4-BE49-F238E27FC236}">
                <a16:creationId xmlns:a16="http://schemas.microsoft.com/office/drawing/2014/main" id="{032BEDA7-75D2-A95F-CC81-C0C847F2466E}"/>
              </a:ext>
            </a:extLst>
          </p:cNvPr>
          <p:cNvSpPr/>
          <p:nvPr/>
        </p:nvSpPr>
        <p:spPr>
          <a:xfrm>
            <a:off x="10188327" y="4673566"/>
            <a:ext cx="1165473" cy="1185033"/>
          </a:xfrm>
          <a:prstGeom prst="cub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mc:AlternateContent xmlns:mc="http://schemas.openxmlformats.org/markup-compatibility/2006" xmlns:a14="http://schemas.microsoft.com/office/drawing/2010/main">
        <mc:Choice Requires="a14">
          <p:sp>
            <p:nvSpPr>
              <p:cNvPr id="7" name="Rectangle 6">
                <a:extLst>
                  <a:ext uri="{FF2B5EF4-FFF2-40B4-BE49-F238E27FC236}">
                    <a16:creationId xmlns:a16="http://schemas.microsoft.com/office/drawing/2014/main" id="{E1E05402-2A1C-565A-D2CC-219D1803EDEC}"/>
                  </a:ext>
                </a:extLst>
              </p:cNvPr>
              <p:cNvSpPr/>
              <p:nvPr/>
            </p:nvSpPr>
            <p:spPr>
              <a:xfrm>
                <a:off x="10473463" y="6123543"/>
                <a:ext cx="456600" cy="369332"/>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sSub>
                        <m:sSubPr>
                          <m:ctrlPr>
                            <a:rPr lang="en-CA" b="0" i="1" smtClean="0">
                              <a:latin typeface="Cambria Math" panose="02040503050406030204" pitchFamily="18" charset="0"/>
                            </a:rPr>
                          </m:ctrlPr>
                        </m:sSubPr>
                        <m:e>
                          <m:r>
                            <a:rPr lang="en-CA" i="1" smtClean="0">
                              <a:latin typeface="Cambria Math" panose="02040503050406030204" pitchFamily="18" charset="0"/>
                            </a:rPr>
                            <m:t>𝑆</m:t>
                          </m:r>
                        </m:e>
                        <m:sub>
                          <m:r>
                            <a:rPr lang="en-CA" b="0" i="1" smtClean="0">
                              <a:latin typeface="Cambria Math" panose="02040503050406030204" pitchFamily="18" charset="0"/>
                            </a:rPr>
                            <m:t>2</m:t>
                          </m:r>
                        </m:sub>
                      </m:sSub>
                    </m:oMath>
                  </m:oMathPara>
                </a14:m>
                <a:endParaRPr lang="en-US" dirty="0"/>
              </a:p>
            </p:txBody>
          </p:sp>
        </mc:Choice>
        <mc:Fallback xmlns="">
          <p:sp>
            <p:nvSpPr>
              <p:cNvPr id="7" name="Rectangle 6">
                <a:extLst>
                  <a:ext uri="{FF2B5EF4-FFF2-40B4-BE49-F238E27FC236}">
                    <a16:creationId xmlns:a16="http://schemas.microsoft.com/office/drawing/2014/main" id="{E1E05402-2A1C-565A-D2CC-219D1803EDEC}"/>
                  </a:ext>
                </a:extLst>
              </p:cNvPr>
              <p:cNvSpPr>
                <a:spLocks noRot="1" noChangeAspect="1" noMove="1" noResize="1" noEditPoints="1" noAdjustHandles="1" noChangeArrowheads="1" noChangeShapeType="1" noTextEdit="1"/>
              </p:cNvSpPr>
              <p:nvPr/>
            </p:nvSpPr>
            <p:spPr>
              <a:xfrm>
                <a:off x="10473463" y="6123543"/>
                <a:ext cx="456600" cy="369332"/>
              </a:xfrm>
              <a:prstGeom prst="rect">
                <a:avLst/>
              </a:prstGeom>
              <a:blipFill>
                <a:blip r:embed="rId4"/>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8" name="TextBox 7">
                <a:extLst>
                  <a:ext uri="{FF2B5EF4-FFF2-40B4-BE49-F238E27FC236}">
                    <a16:creationId xmlns:a16="http://schemas.microsoft.com/office/drawing/2014/main" id="{4FA1DB85-3027-06E7-C190-35EDB2CBE737}"/>
                  </a:ext>
                </a:extLst>
              </p:cNvPr>
              <p:cNvSpPr txBox="1"/>
              <p:nvPr/>
            </p:nvSpPr>
            <p:spPr>
              <a:xfrm>
                <a:off x="7987469" y="5219318"/>
                <a:ext cx="852089" cy="369332"/>
              </a:xfrm>
              <a:prstGeom prst="rect">
                <a:avLst/>
              </a:prstGeom>
              <a:solidFill>
                <a:schemeClr val="bg1"/>
              </a:solidFill>
            </p:spPr>
            <p:txBody>
              <a:bodyPr wrap="square" rtlCol="0">
                <a:spAutoFit/>
              </a:bodyPr>
              <a:lstStyle/>
              <a:p>
                <a:pPr/>
                <a14:m>
                  <m:oMathPara xmlns:m="http://schemas.openxmlformats.org/officeDocument/2006/math">
                    <m:oMathParaPr>
                      <m:jc m:val="centerGroup"/>
                    </m:oMathParaPr>
                    <m:oMath xmlns:m="http://schemas.openxmlformats.org/officeDocument/2006/math">
                      <m:sSub>
                        <m:sSubPr>
                          <m:ctrlPr>
                            <a:rPr lang="en-CA" b="0" i="1" smtClean="0">
                              <a:latin typeface="Cambria Math" panose="02040503050406030204" pitchFamily="18" charset="0"/>
                            </a:rPr>
                          </m:ctrlPr>
                        </m:sSubPr>
                        <m:e>
                          <m:r>
                            <a:rPr lang="en-CA" b="0" i="1" smtClean="0">
                              <a:latin typeface="Cambria Math" panose="02040503050406030204" pitchFamily="18" charset="0"/>
                            </a:rPr>
                            <m:t>𝑅</m:t>
                          </m:r>
                        </m:e>
                        <m:sub>
                          <m:r>
                            <a:rPr lang="en-CA" b="0" i="1" smtClean="0">
                              <a:latin typeface="Cambria Math" panose="02040503050406030204" pitchFamily="18" charset="0"/>
                            </a:rPr>
                            <m:t>1</m:t>
                          </m:r>
                        </m:sub>
                      </m:sSub>
                      <m:r>
                        <a:rPr lang="en-CA" b="0" i="1" smtClean="0">
                          <a:latin typeface="Cambria Math" panose="02040503050406030204" pitchFamily="18" charset="0"/>
                        </a:rPr>
                        <m:t>|</m:t>
                      </m:r>
                      <m:sSub>
                        <m:sSubPr>
                          <m:ctrlPr>
                            <a:rPr lang="en-CA" b="0" i="1" smtClean="0">
                              <a:latin typeface="Cambria Math" panose="02040503050406030204" pitchFamily="18" charset="0"/>
                            </a:rPr>
                          </m:ctrlPr>
                        </m:sSubPr>
                        <m:e>
                          <m:r>
                            <a:rPr lang="en-CA" b="0" i="1" smtClean="0">
                              <a:latin typeface="Cambria Math" panose="02040503050406030204" pitchFamily="18" charset="0"/>
                            </a:rPr>
                            <m:t>𝑥</m:t>
                          </m:r>
                        </m:e>
                        <m:sub>
                          <m:r>
                            <a:rPr lang="en-CA" b="0" i="1" smtClean="0">
                              <a:latin typeface="Cambria Math" panose="02040503050406030204" pitchFamily="18" charset="0"/>
                            </a:rPr>
                            <m:t>1</m:t>
                          </m:r>
                        </m:sub>
                      </m:sSub>
                      <m:r>
                        <a:rPr lang="en-CA" b="0" i="1" smtClean="0">
                          <a:latin typeface="Cambria Math" panose="02040503050406030204" pitchFamily="18" charset="0"/>
                        </a:rPr>
                        <m:t>⟩</m:t>
                      </m:r>
                    </m:oMath>
                  </m:oMathPara>
                </a14:m>
                <a:endParaRPr lang="en-US" dirty="0"/>
              </a:p>
            </p:txBody>
          </p:sp>
        </mc:Choice>
        <mc:Fallback xmlns="">
          <p:sp>
            <p:nvSpPr>
              <p:cNvPr id="8" name="TextBox 7">
                <a:extLst>
                  <a:ext uri="{FF2B5EF4-FFF2-40B4-BE49-F238E27FC236}">
                    <a16:creationId xmlns:a16="http://schemas.microsoft.com/office/drawing/2014/main" id="{4FA1DB85-3027-06E7-C190-35EDB2CBE737}"/>
                  </a:ext>
                </a:extLst>
              </p:cNvPr>
              <p:cNvSpPr txBox="1">
                <a:spLocks noRot="1" noChangeAspect="1" noMove="1" noResize="1" noEditPoints="1" noAdjustHandles="1" noChangeArrowheads="1" noChangeShapeType="1" noTextEdit="1"/>
              </p:cNvSpPr>
              <p:nvPr/>
            </p:nvSpPr>
            <p:spPr>
              <a:xfrm>
                <a:off x="7987469" y="5219318"/>
                <a:ext cx="852089" cy="369332"/>
              </a:xfrm>
              <a:prstGeom prst="rect">
                <a:avLst/>
              </a:prstGeom>
              <a:blipFill>
                <a:blip r:embed="rId5"/>
                <a:stretch>
                  <a:fillRect b="-16393"/>
                </a:stretch>
              </a:blipFill>
            </p:spPr>
            <p:txBody>
              <a:bodyPr/>
              <a:lstStyle/>
              <a:p>
                <a:r>
                  <a:rPr lang="ko-KR" altLang="en-US">
                    <a:noFill/>
                  </a:rPr>
                  <a:t> </a:t>
                </a:r>
              </a:p>
            </p:txBody>
          </p:sp>
        </mc:Fallback>
      </mc:AlternateContent>
      <mc:AlternateContent xmlns:mc="http://schemas.openxmlformats.org/markup-compatibility/2006" xmlns:a14="http://schemas.microsoft.com/office/drawing/2010/main">
        <mc:Choice Requires="a14">
          <p:sp>
            <p:nvSpPr>
              <p:cNvPr id="9" name="TextBox 8">
                <a:extLst>
                  <a:ext uri="{FF2B5EF4-FFF2-40B4-BE49-F238E27FC236}">
                    <a16:creationId xmlns:a16="http://schemas.microsoft.com/office/drawing/2014/main" id="{4C5A68CD-6816-A0ED-BD09-99B7D28ABEEA}"/>
                  </a:ext>
                </a:extLst>
              </p:cNvPr>
              <p:cNvSpPr txBox="1"/>
              <p:nvPr/>
            </p:nvSpPr>
            <p:spPr>
              <a:xfrm>
                <a:off x="10213566" y="5219318"/>
                <a:ext cx="869593" cy="369332"/>
              </a:xfrm>
              <a:prstGeom prst="rect">
                <a:avLst/>
              </a:prstGeom>
              <a:solidFill>
                <a:schemeClr val="bg1"/>
              </a:solidFill>
            </p:spPr>
            <p:txBody>
              <a:bodyPr wrap="square" rtlCol="0">
                <a:spAutoFit/>
              </a:bodyPr>
              <a:lstStyle/>
              <a:p>
                <a:pPr/>
                <a14:m>
                  <m:oMathPara xmlns:m="http://schemas.openxmlformats.org/officeDocument/2006/math">
                    <m:oMathParaPr>
                      <m:jc m:val="centerGroup"/>
                    </m:oMathParaPr>
                    <m:oMath xmlns:m="http://schemas.openxmlformats.org/officeDocument/2006/math">
                      <m:sSub>
                        <m:sSubPr>
                          <m:ctrlPr>
                            <a:rPr lang="en-CA" b="0" i="1" smtClean="0">
                              <a:latin typeface="Cambria Math" panose="02040503050406030204" pitchFamily="18" charset="0"/>
                            </a:rPr>
                          </m:ctrlPr>
                        </m:sSubPr>
                        <m:e>
                          <m:r>
                            <a:rPr lang="en-CA" b="0" i="1" smtClean="0">
                              <a:latin typeface="Cambria Math" panose="02040503050406030204" pitchFamily="18" charset="0"/>
                            </a:rPr>
                            <m:t>𝑅</m:t>
                          </m:r>
                        </m:e>
                        <m:sub>
                          <m:r>
                            <a:rPr lang="en-CA" b="0" i="1" smtClean="0">
                              <a:latin typeface="Cambria Math" panose="02040503050406030204" pitchFamily="18" charset="0"/>
                            </a:rPr>
                            <m:t>2</m:t>
                          </m:r>
                        </m:sub>
                      </m:sSub>
                      <m:r>
                        <a:rPr lang="en-CA" b="0" i="1" smtClean="0">
                          <a:latin typeface="Cambria Math" panose="02040503050406030204" pitchFamily="18" charset="0"/>
                        </a:rPr>
                        <m:t>|</m:t>
                      </m:r>
                      <m:sSub>
                        <m:sSubPr>
                          <m:ctrlPr>
                            <a:rPr lang="en-CA" b="0" i="1" smtClean="0">
                              <a:latin typeface="Cambria Math" panose="02040503050406030204" pitchFamily="18" charset="0"/>
                            </a:rPr>
                          </m:ctrlPr>
                        </m:sSubPr>
                        <m:e>
                          <m:r>
                            <a:rPr lang="en-CA" b="0" i="1" smtClean="0">
                              <a:latin typeface="Cambria Math" panose="02040503050406030204" pitchFamily="18" charset="0"/>
                            </a:rPr>
                            <m:t>𝑥</m:t>
                          </m:r>
                        </m:e>
                        <m:sub>
                          <m:r>
                            <a:rPr lang="en-CA" b="0" i="1" smtClean="0">
                              <a:latin typeface="Cambria Math" panose="02040503050406030204" pitchFamily="18" charset="0"/>
                            </a:rPr>
                            <m:t>2</m:t>
                          </m:r>
                        </m:sub>
                      </m:sSub>
                      <m:r>
                        <a:rPr lang="en-CA" b="0" i="1" smtClean="0">
                          <a:latin typeface="Cambria Math" panose="02040503050406030204" pitchFamily="18" charset="0"/>
                        </a:rPr>
                        <m:t>⟩</m:t>
                      </m:r>
                    </m:oMath>
                  </m:oMathPara>
                </a14:m>
                <a:endParaRPr lang="en-US" dirty="0"/>
              </a:p>
            </p:txBody>
          </p:sp>
        </mc:Choice>
        <mc:Fallback xmlns="">
          <p:sp>
            <p:nvSpPr>
              <p:cNvPr id="9" name="TextBox 8">
                <a:extLst>
                  <a:ext uri="{FF2B5EF4-FFF2-40B4-BE49-F238E27FC236}">
                    <a16:creationId xmlns:a16="http://schemas.microsoft.com/office/drawing/2014/main" id="{4C5A68CD-6816-A0ED-BD09-99B7D28ABEEA}"/>
                  </a:ext>
                </a:extLst>
              </p:cNvPr>
              <p:cNvSpPr txBox="1">
                <a:spLocks noRot="1" noChangeAspect="1" noMove="1" noResize="1" noEditPoints="1" noAdjustHandles="1" noChangeArrowheads="1" noChangeShapeType="1" noTextEdit="1"/>
              </p:cNvSpPr>
              <p:nvPr/>
            </p:nvSpPr>
            <p:spPr>
              <a:xfrm>
                <a:off x="10213566" y="5219318"/>
                <a:ext cx="869593" cy="369332"/>
              </a:xfrm>
              <a:prstGeom prst="rect">
                <a:avLst/>
              </a:prstGeom>
              <a:blipFill>
                <a:blip r:embed="rId6"/>
                <a:stretch>
                  <a:fillRect b="-12903"/>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4" name="TextBox 13">
                <a:extLst>
                  <a:ext uri="{FF2B5EF4-FFF2-40B4-BE49-F238E27FC236}">
                    <a16:creationId xmlns:a16="http://schemas.microsoft.com/office/drawing/2014/main" id="{4316574F-8D04-1CD9-10B5-655B6C84F892}"/>
                  </a:ext>
                </a:extLst>
              </p:cNvPr>
              <p:cNvSpPr txBox="1"/>
              <p:nvPr/>
            </p:nvSpPr>
            <p:spPr>
              <a:xfrm>
                <a:off x="1676400" y="3203288"/>
                <a:ext cx="10515600" cy="1200329"/>
              </a:xfrm>
              <a:prstGeom prst="rect">
                <a:avLst/>
              </a:prstGeom>
              <a:noFill/>
            </p:spPr>
            <p:txBody>
              <a:bodyPr wrap="square">
                <a:spAutoFit/>
              </a:bodyPr>
              <a:lstStyle/>
              <a:p>
                <a:r>
                  <a:rPr lang="en-CA" sz="2400" b="0" dirty="0">
                    <a:solidFill>
                      <a:srgbClr val="C00000"/>
                    </a:solidFill>
                  </a:rPr>
                  <a:t>Initial state</a:t>
                </a:r>
                <a:r>
                  <a:rPr lang="en-CA" sz="2400" b="0" dirty="0"/>
                  <a:t>: </a:t>
                </a:r>
                <a14:m>
                  <m:oMath xmlns:m="http://schemas.openxmlformats.org/officeDocument/2006/math">
                    <m:d>
                      <m:dPr>
                        <m:begChr m:val="|"/>
                        <m:endChr m:val="⟩"/>
                        <m:ctrlPr>
                          <a:rPr lang="en-CA" sz="2400" b="0" i="1" smtClean="0">
                            <a:latin typeface="Cambria Math" panose="02040503050406030204" pitchFamily="18" charset="0"/>
                          </a:rPr>
                        </m:ctrlPr>
                      </m:dPr>
                      <m:e>
                        <m:r>
                          <a:rPr lang="en-CA" sz="2400" b="0" i="1" smtClean="0">
                            <a:latin typeface="Cambria Math" panose="02040503050406030204" pitchFamily="18" charset="0"/>
                          </a:rPr>
                          <m:t>𝑧</m:t>
                        </m:r>
                      </m:e>
                    </m:d>
                    <m:r>
                      <a:rPr lang="en-CA" sz="2400" b="0" i="1" smtClean="0">
                        <a:latin typeface="Cambria Math" panose="02040503050406030204" pitchFamily="18" charset="0"/>
                      </a:rPr>
                      <m:t>=</m:t>
                    </m:r>
                    <m:d>
                      <m:dPr>
                        <m:begChr m:val="|"/>
                        <m:endChr m:val="⟩"/>
                        <m:ctrlPr>
                          <a:rPr lang="en-CA" sz="2400" b="0" i="1" smtClean="0">
                            <a:latin typeface="Cambria Math" panose="02040503050406030204" pitchFamily="18" charset="0"/>
                          </a:rPr>
                        </m:ctrlPr>
                      </m:dPr>
                      <m:e>
                        <m:sSub>
                          <m:sSubPr>
                            <m:ctrlPr>
                              <a:rPr lang="en-CA" sz="2400" b="0" i="1" smtClean="0">
                                <a:latin typeface="Cambria Math" panose="02040503050406030204" pitchFamily="18" charset="0"/>
                              </a:rPr>
                            </m:ctrlPr>
                          </m:sSubPr>
                          <m:e>
                            <m:r>
                              <a:rPr lang="en-CA" sz="2400" b="0" i="1" smtClean="0">
                                <a:latin typeface="Cambria Math" panose="02040503050406030204" pitchFamily="18" charset="0"/>
                              </a:rPr>
                              <m:t>𝑥</m:t>
                            </m:r>
                          </m:e>
                          <m:sub>
                            <m:r>
                              <a:rPr lang="en-CA" sz="2400" b="0" i="1" smtClean="0">
                                <a:latin typeface="Cambria Math" panose="02040503050406030204" pitchFamily="18" charset="0"/>
                              </a:rPr>
                              <m:t>1</m:t>
                            </m:r>
                          </m:sub>
                        </m:sSub>
                      </m:e>
                    </m:d>
                    <m:r>
                      <a:rPr lang="en-CA" sz="2400" b="0" i="1" smtClean="0">
                        <a:latin typeface="Cambria Math" panose="02040503050406030204" pitchFamily="18" charset="0"/>
                      </a:rPr>
                      <m:t>⊗|</m:t>
                    </m:r>
                    <m:sSub>
                      <m:sSubPr>
                        <m:ctrlPr>
                          <a:rPr lang="en-CA" sz="2400" b="0" i="1" smtClean="0">
                            <a:latin typeface="Cambria Math" panose="02040503050406030204" pitchFamily="18" charset="0"/>
                          </a:rPr>
                        </m:ctrlPr>
                      </m:sSubPr>
                      <m:e>
                        <m:r>
                          <a:rPr lang="en-CA" sz="2400" b="0" i="1" smtClean="0">
                            <a:latin typeface="Cambria Math" panose="02040503050406030204" pitchFamily="18" charset="0"/>
                          </a:rPr>
                          <m:t>𝑥</m:t>
                        </m:r>
                      </m:e>
                      <m:sub>
                        <m:r>
                          <a:rPr lang="en-CA" sz="2400" b="0" i="1" smtClean="0">
                            <a:latin typeface="Cambria Math" panose="02040503050406030204" pitchFamily="18" charset="0"/>
                          </a:rPr>
                          <m:t>2</m:t>
                        </m:r>
                      </m:sub>
                    </m:sSub>
                    <m:r>
                      <a:rPr lang="en-CA" sz="2400" b="0" i="1" smtClean="0">
                        <a:latin typeface="Cambria Math" panose="02040503050406030204" pitchFamily="18" charset="0"/>
                      </a:rPr>
                      <m:t>⟩</m:t>
                    </m:r>
                  </m:oMath>
                </a14:m>
                <a:endParaRPr lang="en-US" sz="2400" dirty="0"/>
              </a:p>
              <a:p>
                <a:endParaRPr lang="en-US" sz="2400" dirty="0"/>
              </a:p>
              <a:p>
                <a:r>
                  <a:rPr lang="en-US" sz="2400" dirty="0">
                    <a:solidFill>
                      <a:srgbClr val="00B050"/>
                    </a:solidFill>
                  </a:rPr>
                  <a:t>Next state</a:t>
                </a:r>
                <a:r>
                  <a:rPr lang="en-US" sz="2400" dirty="0"/>
                  <a:t>: </a:t>
                </a:r>
                <a14:m>
                  <m:oMath xmlns:m="http://schemas.openxmlformats.org/officeDocument/2006/math">
                    <m:d>
                      <m:dPr>
                        <m:begChr m:val="|"/>
                        <m:endChr m:val="⟩"/>
                        <m:ctrlPr>
                          <a:rPr lang="en-CA" sz="2400" b="0" i="1" smtClean="0">
                            <a:latin typeface="Cambria Math" panose="02040503050406030204" pitchFamily="18" charset="0"/>
                          </a:rPr>
                        </m:ctrlPr>
                      </m:dPr>
                      <m:e>
                        <m:r>
                          <a:rPr lang="en-CA" sz="2400" b="0" i="1" smtClean="0">
                            <a:latin typeface="Cambria Math" panose="02040503050406030204" pitchFamily="18" charset="0"/>
                          </a:rPr>
                          <m:t>𝑧</m:t>
                        </m:r>
                        <m:r>
                          <a:rPr lang="en-CA" sz="2400" b="0" i="1" smtClean="0">
                            <a:latin typeface="Cambria Math" panose="02040503050406030204" pitchFamily="18" charset="0"/>
                          </a:rPr>
                          <m:t>′</m:t>
                        </m:r>
                      </m:e>
                    </m:d>
                    <m:r>
                      <a:rPr lang="en-CA" sz="2400" b="0" i="1" smtClean="0">
                        <a:latin typeface="Cambria Math" panose="02040503050406030204" pitchFamily="18" charset="0"/>
                      </a:rPr>
                      <m:t>=</m:t>
                    </m:r>
                    <m:r>
                      <a:rPr lang="en-CA" sz="2400" b="0" i="1" smtClean="0">
                        <a:latin typeface="Cambria Math" panose="02040503050406030204" pitchFamily="18" charset="0"/>
                      </a:rPr>
                      <m:t>𝑅</m:t>
                    </m:r>
                    <m:d>
                      <m:dPr>
                        <m:begChr m:val="|"/>
                        <m:endChr m:val="⟩"/>
                        <m:ctrlPr>
                          <a:rPr lang="en-CA" sz="2400" b="0" i="1" smtClean="0">
                            <a:latin typeface="Cambria Math" panose="02040503050406030204" pitchFamily="18" charset="0"/>
                          </a:rPr>
                        </m:ctrlPr>
                      </m:dPr>
                      <m:e>
                        <m:r>
                          <a:rPr lang="en-CA" sz="2400" b="0" i="1" smtClean="0">
                            <a:latin typeface="Cambria Math" panose="02040503050406030204" pitchFamily="18" charset="0"/>
                          </a:rPr>
                          <m:t>𝑧</m:t>
                        </m:r>
                      </m:e>
                    </m:d>
                    <m:r>
                      <a:rPr lang="en-CA" sz="2400" b="0" i="1" smtClean="0">
                        <a:latin typeface="Cambria Math" panose="02040503050406030204" pitchFamily="18" charset="0"/>
                      </a:rPr>
                      <m:t>=</m:t>
                    </m:r>
                    <m:d>
                      <m:dPr>
                        <m:ctrlPr>
                          <a:rPr lang="en-CA" sz="2400" b="0" i="1" smtClean="0">
                            <a:latin typeface="Cambria Math" panose="02040503050406030204" pitchFamily="18" charset="0"/>
                          </a:rPr>
                        </m:ctrlPr>
                      </m:dPr>
                      <m:e>
                        <m:sSub>
                          <m:sSubPr>
                            <m:ctrlPr>
                              <a:rPr lang="en-CA" sz="2400" b="0" i="1" smtClean="0">
                                <a:latin typeface="Cambria Math" panose="02040503050406030204" pitchFamily="18" charset="0"/>
                              </a:rPr>
                            </m:ctrlPr>
                          </m:sSubPr>
                          <m:e>
                            <m:r>
                              <a:rPr lang="en-CA" sz="2400" b="0" i="1" smtClean="0">
                                <a:latin typeface="Cambria Math" panose="02040503050406030204" pitchFamily="18" charset="0"/>
                              </a:rPr>
                              <m:t>𝑅</m:t>
                            </m:r>
                          </m:e>
                          <m:sub>
                            <m:r>
                              <a:rPr lang="en-CA" sz="2400" b="0" i="1" smtClean="0">
                                <a:latin typeface="Cambria Math" panose="02040503050406030204" pitchFamily="18" charset="0"/>
                              </a:rPr>
                              <m:t>1</m:t>
                            </m:r>
                          </m:sub>
                        </m:sSub>
                        <m:r>
                          <a:rPr lang="en-CA" sz="2400" b="0" i="1" smtClean="0">
                            <a:latin typeface="Cambria Math" panose="02040503050406030204" pitchFamily="18" charset="0"/>
                          </a:rPr>
                          <m:t>⊗</m:t>
                        </m:r>
                        <m:sSub>
                          <m:sSubPr>
                            <m:ctrlPr>
                              <a:rPr lang="en-CA" sz="2400" b="0" i="1" smtClean="0">
                                <a:latin typeface="Cambria Math" panose="02040503050406030204" pitchFamily="18" charset="0"/>
                              </a:rPr>
                            </m:ctrlPr>
                          </m:sSubPr>
                          <m:e>
                            <m:r>
                              <a:rPr lang="en-CA" sz="2400" b="0" i="1" smtClean="0">
                                <a:latin typeface="Cambria Math" panose="02040503050406030204" pitchFamily="18" charset="0"/>
                              </a:rPr>
                              <m:t>𝑅</m:t>
                            </m:r>
                          </m:e>
                          <m:sub>
                            <m:r>
                              <a:rPr lang="en-CA" sz="2400" b="0" i="1" smtClean="0">
                                <a:latin typeface="Cambria Math" panose="02040503050406030204" pitchFamily="18" charset="0"/>
                              </a:rPr>
                              <m:t>2</m:t>
                            </m:r>
                          </m:sub>
                        </m:sSub>
                      </m:e>
                    </m:d>
                    <m:d>
                      <m:dPr>
                        <m:ctrlPr>
                          <a:rPr lang="en-CA" sz="2400" b="0" i="1" smtClean="0">
                            <a:latin typeface="Cambria Math" panose="02040503050406030204" pitchFamily="18" charset="0"/>
                          </a:rPr>
                        </m:ctrlPr>
                      </m:dPr>
                      <m:e>
                        <m:d>
                          <m:dPr>
                            <m:begChr m:val="|"/>
                            <m:endChr m:val="⟩"/>
                            <m:ctrlPr>
                              <a:rPr lang="en-CA" sz="2400" b="0" i="1" smtClean="0">
                                <a:latin typeface="Cambria Math" panose="02040503050406030204" pitchFamily="18" charset="0"/>
                              </a:rPr>
                            </m:ctrlPr>
                          </m:dPr>
                          <m:e>
                            <m:sSub>
                              <m:sSubPr>
                                <m:ctrlPr>
                                  <a:rPr lang="en-CA" sz="2400" b="0" i="1" smtClean="0">
                                    <a:latin typeface="Cambria Math" panose="02040503050406030204" pitchFamily="18" charset="0"/>
                                  </a:rPr>
                                </m:ctrlPr>
                              </m:sSubPr>
                              <m:e>
                                <m:r>
                                  <a:rPr lang="en-CA" sz="2400" b="0" i="1" smtClean="0">
                                    <a:latin typeface="Cambria Math" panose="02040503050406030204" pitchFamily="18" charset="0"/>
                                  </a:rPr>
                                  <m:t>𝑥</m:t>
                                </m:r>
                              </m:e>
                              <m:sub>
                                <m:r>
                                  <a:rPr lang="en-CA" sz="2400" b="0" i="1" smtClean="0">
                                    <a:latin typeface="Cambria Math" panose="02040503050406030204" pitchFamily="18" charset="0"/>
                                  </a:rPr>
                                  <m:t>1</m:t>
                                </m:r>
                              </m:sub>
                            </m:sSub>
                          </m:e>
                        </m:d>
                        <m:r>
                          <a:rPr lang="en-CA" sz="2400" b="0" i="1" smtClean="0">
                            <a:latin typeface="Cambria Math" panose="02040503050406030204" pitchFamily="18" charset="0"/>
                          </a:rPr>
                          <m:t>⊗|</m:t>
                        </m:r>
                        <m:sSub>
                          <m:sSubPr>
                            <m:ctrlPr>
                              <a:rPr lang="en-CA" sz="2400" b="0" i="1" smtClean="0">
                                <a:latin typeface="Cambria Math" panose="02040503050406030204" pitchFamily="18" charset="0"/>
                              </a:rPr>
                            </m:ctrlPr>
                          </m:sSubPr>
                          <m:e>
                            <m:r>
                              <a:rPr lang="en-CA" sz="2400" b="0" i="1" smtClean="0">
                                <a:latin typeface="Cambria Math" panose="02040503050406030204" pitchFamily="18" charset="0"/>
                              </a:rPr>
                              <m:t>𝑥</m:t>
                            </m:r>
                          </m:e>
                          <m:sub>
                            <m:r>
                              <a:rPr lang="en-CA" sz="2400" b="0" i="1" smtClean="0">
                                <a:latin typeface="Cambria Math" panose="02040503050406030204" pitchFamily="18" charset="0"/>
                              </a:rPr>
                              <m:t>2</m:t>
                            </m:r>
                          </m:sub>
                        </m:sSub>
                        <m:r>
                          <a:rPr lang="en-CA" sz="2400" b="0" i="1" smtClean="0">
                            <a:latin typeface="Cambria Math" panose="02040503050406030204" pitchFamily="18" charset="0"/>
                          </a:rPr>
                          <m:t>⟩</m:t>
                        </m:r>
                      </m:e>
                    </m:d>
                    <m:r>
                      <a:rPr lang="en-CA" sz="2400" b="0" i="1" smtClean="0">
                        <a:latin typeface="Cambria Math" panose="02040503050406030204" pitchFamily="18" charset="0"/>
                      </a:rPr>
                      <m:t> =</m:t>
                    </m:r>
                    <m:sSub>
                      <m:sSubPr>
                        <m:ctrlPr>
                          <a:rPr lang="en-CA" sz="2400" b="0" i="1" smtClean="0">
                            <a:latin typeface="Cambria Math" panose="02040503050406030204" pitchFamily="18" charset="0"/>
                          </a:rPr>
                        </m:ctrlPr>
                      </m:sSubPr>
                      <m:e>
                        <m:r>
                          <a:rPr lang="en-CA" sz="2400" b="0" i="1" smtClean="0">
                            <a:latin typeface="Cambria Math" panose="02040503050406030204" pitchFamily="18" charset="0"/>
                          </a:rPr>
                          <m:t>𝑅</m:t>
                        </m:r>
                      </m:e>
                      <m:sub>
                        <m:r>
                          <a:rPr lang="en-CA" sz="2400" b="0" i="1" smtClean="0">
                            <a:latin typeface="Cambria Math" panose="02040503050406030204" pitchFamily="18" charset="0"/>
                          </a:rPr>
                          <m:t>1</m:t>
                        </m:r>
                      </m:sub>
                    </m:sSub>
                    <m:d>
                      <m:dPr>
                        <m:begChr m:val="|"/>
                        <m:endChr m:val="⟩"/>
                        <m:ctrlPr>
                          <a:rPr lang="en-CA" sz="2400" b="0" i="1" smtClean="0">
                            <a:latin typeface="Cambria Math" panose="02040503050406030204" pitchFamily="18" charset="0"/>
                          </a:rPr>
                        </m:ctrlPr>
                      </m:dPr>
                      <m:e>
                        <m:sSub>
                          <m:sSubPr>
                            <m:ctrlPr>
                              <a:rPr lang="en-CA" sz="2400" b="0" i="1" smtClean="0">
                                <a:latin typeface="Cambria Math" panose="02040503050406030204" pitchFamily="18" charset="0"/>
                              </a:rPr>
                            </m:ctrlPr>
                          </m:sSubPr>
                          <m:e>
                            <m:r>
                              <a:rPr lang="en-CA" sz="2400" b="0" i="1" smtClean="0">
                                <a:latin typeface="Cambria Math" panose="02040503050406030204" pitchFamily="18" charset="0"/>
                              </a:rPr>
                              <m:t>𝑥</m:t>
                            </m:r>
                          </m:e>
                          <m:sub>
                            <m:r>
                              <a:rPr lang="en-CA" sz="2400" b="0" i="1" smtClean="0">
                                <a:latin typeface="Cambria Math" panose="02040503050406030204" pitchFamily="18" charset="0"/>
                              </a:rPr>
                              <m:t>1</m:t>
                            </m:r>
                          </m:sub>
                        </m:sSub>
                      </m:e>
                    </m:d>
                    <m:r>
                      <a:rPr lang="en-CA" sz="2400" b="0" i="1" smtClean="0">
                        <a:latin typeface="Cambria Math" panose="02040503050406030204" pitchFamily="18" charset="0"/>
                      </a:rPr>
                      <m:t>⊗</m:t>
                    </m:r>
                    <m:sSub>
                      <m:sSubPr>
                        <m:ctrlPr>
                          <a:rPr lang="en-CA" sz="2400" b="0" i="1" smtClean="0">
                            <a:latin typeface="Cambria Math" panose="02040503050406030204" pitchFamily="18" charset="0"/>
                          </a:rPr>
                        </m:ctrlPr>
                      </m:sSubPr>
                      <m:e>
                        <m:r>
                          <a:rPr lang="en-CA" sz="2400" b="0" i="1" smtClean="0">
                            <a:latin typeface="Cambria Math" panose="02040503050406030204" pitchFamily="18" charset="0"/>
                          </a:rPr>
                          <m:t>𝑅</m:t>
                        </m:r>
                      </m:e>
                      <m:sub>
                        <m:r>
                          <a:rPr lang="en-CA" sz="2400" b="0" i="1" smtClean="0">
                            <a:latin typeface="Cambria Math" panose="02040503050406030204" pitchFamily="18" charset="0"/>
                          </a:rPr>
                          <m:t>2</m:t>
                        </m:r>
                      </m:sub>
                    </m:sSub>
                    <m:r>
                      <a:rPr lang="en-CA" sz="2400" b="0" i="1" smtClean="0">
                        <a:latin typeface="Cambria Math" panose="02040503050406030204" pitchFamily="18" charset="0"/>
                      </a:rPr>
                      <m:t>|</m:t>
                    </m:r>
                    <m:sSub>
                      <m:sSubPr>
                        <m:ctrlPr>
                          <a:rPr lang="en-CA" sz="2400" b="0" i="1" smtClean="0">
                            <a:latin typeface="Cambria Math" panose="02040503050406030204" pitchFamily="18" charset="0"/>
                          </a:rPr>
                        </m:ctrlPr>
                      </m:sSubPr>
                      <m:e>
                        <m:r>
                          <a:rPr lang="en-CA" sz="2400" b="0" i="1" smtClean="0">
                            <a:latin typeface="Cambria Math" panose="02040503050406030204" pitchFamily="18" charset="0"/>
                          </a:rPr>
                          <m:t>𝑥</m:t>
                        </m:r>
                      </m:e>
                      <m:sub>
                        <m:r>
                          <a:rPr lang="en-CA" sz="2400" b="0" i="1" smtClean="0">
                            <a:latin typeface="Cambria Math" panose="02040503050406030204" pitchFamily="18" charset="0"/>
                          </a:rPr>
                          <m:t>2</m:t>
                        </m:r>
                      </m:sub>
                    </m:sSub>
                    <m:r>
                      <a:rPr lang="en-CA" sz="2400" b="0" i="1" smtClean="0">
                        <a:latin typeface="Cambria Math" panose="02040503050406030204" pitchFamily="18" charset="0"/>
                      </a:rPr>
                      <m:t>⟩</m:t>
                    </m:r>
                  </m:oMath>
                </a14:m>
                <a:endParaRPr lang="en-US" sz="2400" dirty="0"/>
              </a:p>
            </p:txBody>
          </p:sp>
        </mc:Choice>
        <mc:Fallback xmlns="">
          <p:sp>
            <p:nvSpPr>
              <p:cNvPr id="14" name="TextBox 13">
                <a:extLst>
                  <a:ext uri="{FF2B5EF4-FFF2-40B4-BE49-F238E27FC236}">
                    <a16:creationId xmlns:a16="http://schemas.microsoft.com/office/drawing/2014/main" id="{4316574F-8D04-1CD9-10B5-655B6C84F892}"/>
                  </a:ext>
                </a:extLst>
              </p:cNvPr>
              <p:cNvSpPr txBox="1">
                <a:spLocks noRot="1" noChangeAspect="1" noMove="1" noResize="1" noEditPoints="1" noAdjustHandles="1" noChangeArrowheads="1" noChangeShapeType="1" noTextEdit="1"/>
              </p:cNvSpPr>
              <p:nvPr/>
            </p:nvSpPr>
            <p:spPr>
              <a:xfrm>
                <a:off x="1676400" y="3203288"/>
                <a:ext cx="10515600" cy="1200329"/>
              </a:xfrm>
              <a:prstGeom prst="rect">
                <a:avLst/>
              </a:prstGeom>
              <a:blipFill>
                <a:blip r:embed="rId7"/>
                <a:stretch>
                  <a:fillRect l="-870" t="-4061" b="-10660"/>
                </a:stretch>
              </a:blipFill>
            </p:spPr>
            <p:txBody>
              <a:bodyPr/>
              <a:lstStyle/>
              <a:p>
                <a:r>
                  <a:rPr lang="ko-KR" altLang="en-US">
                    <a:noFill/>
                  </a:rPr>
                  <a:t> </a:t>
                </a:r>
              </a:p>
            </p:txBody>
          </p:sp>
        </mc:Fallback>
      </mc:AlternateContent>
    </p:spTree>
    <p:extLst>
      <p:ext uri="{BB962C8B-B14F-4D97-AF65-F5344CB8AC3E}">
        <p14:creationId xmlns:p14="http://schemas.microsoft.com/office/powerpoint/2010/main" val="351815075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4"/>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4" grpId="0"/>
    </p:bld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DC97927-85B4-B1E8-9E5D-25D757636CE0}"/>
              </a:ext>
            </a:extLst>
          </p:cNvPr>
          <p:cNvSpPr>
            <a:spLocks noGrp="1"/>
          </p:cNvSpPr>
          <p:nvPr>
            <p:ph type="title"/>
          </p:nvPr>
        </p:nvSpPr>
        <p:spPr/>
        <p:txBody>
          <a:bodyPr/>
          <a:lstStyle/>
          <a:p>
            <a:r>
              <a:rPr lang="en-US" dirty="0"/>
              <a:t>Composite systems</a:t>
            </a:r>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168DA73C-EC84-0F7D-8C9A-BD6D84AA2A9B}"/>
                  </a:ext>
                </a:extLst>
              </p:cNvPr>
              <p:cNvSpPr>
                <a:spLocks noGrp="1"/>
              </p:cNvSpPr>
              <p:nvPr>
                <p:ph idx="1"/>
              </p:nvPr>
            </p:nvSpPr>
            <p:spPr/>
            <p:txBody>
              <a:bodyPr>
                <a:normAutofit/>
              </a:bodyPr>
              <a:lstStyle/>
              <a:p>
                <a:r>
                  <a:rPr lang="en-US" sz="2400" dirty="0"/>
                  <a:t>There are transformations on </a:t>
                </a:r>
                <a14:m>
                  <m:oMath xmlns:m="http://schemas.openxmlformats.org/officeDocument/2006/math">
                    <m:sSub>
                      <m:sSubPr>
                        <m:ctrlPr>
                          <a:rPr lang="en-CA" sz="2400" b="0" i="1" smtClean="0">
                            <a:latin typeface="Cambria Math" panose="02040503050406030204" pitchFamily="18" charset="0"/>
                          </a:rPr>
                        </m:ctrlPr>
                      </m:sSubPr>
                      <m:e>
                        <m:r>
                          <a:rPr lang="en-CA" sz="2400" b="0" i="1" smtClean="0">
                            <a:latin typeface="Cambria Math" panose="02040503050406030204" pitchFamily="18" charset="0"/>
                          </a:rPr>
                          <m:t>𝑆</m:t>
                        </m:r>
                      </m:e>
                      <m:sub>
                        <m:r>
                          <a:rPr lang="en-CA" sz="2400" b="0" i="1" smtClean="0">
                            <a:latin typeface="Cambria Math" panose="02040503050406030204" pitchFamily="18" charset="0"/>
                          </a:rPr>
                          <m:t>1</m:t>
                        </m:r>
                      </m:sub>
                    </m:sSub>
                    <m:r>
                      <a:rPr lang="en-CA" sz="2400" b="0" i="1" smtClean="0">
                        <a:latin typeface="Cambria Math" panose="02040503050406030204" pitchFamily="18" charset="0"/>
                      </a:rPr>
                      <m:t>⊗</m:t>
                    </m:r>
                    <m:sSub>
                      <m:sSubPr>
                        <m:ctrlPr>
                          <a:rPr lang="en-CA" sz="2400" b="0" i="1" smtClean="0">
                            <a:latin typeface="Cambria Math" panose="02040503050406030204" pitchFamily="18" charset="0"/>
                          </a:rPr>
                        </m:ctrlPr>
                      </m:sSubPr>
                      <m:e>
                        <m:r>
                          <a:rPr lang="en-CA" sz="2400" b="0" i="1" smtClean="0">
                            <a:latin typeface="Cambria Math" panose="02040503050406030204" pitchFamily="18" charset="0"/>
                          </a:rPr>
                          <m:t>𝑆</m:t>
                        </m:r>
                      </m:e>
                      <m:sub>
                        <m:r>
                          <a:rPr lang="en-CA" sz="2400" b="0" i="1" smtClean="0">
                            <a:latin typeface="Cambria Math" panose="02040503050406030204" pitchFamily="18" charset="0"/>
                          </a:rPr>
                          <m:t>2</m:t>
                        </m:r>
                      </m:sub>
                    </m:sSub>
                  </m:oMath>
                </a14:m>
                <a:r>
                  <a:rPr lang="en-US" sz="2400" dirty="0"/>
                  <a:t> that cannot be written as tensor product of separate transformations </a:t>
                </a:r>
                <a14:m>
                  <m:oMath xmlns:m="http://schemas.openxmlformats.org/officeDocument/2006/math">
                    <m:sSub>
                      <m:sSubPr>
                        <m:ctrlPr>
                          <a:rPr lang="en-CA" sz="2400" b="0" i="1" smtClean="0">
                            <a:latin typeface="Cambria Math" panose="02040503050406030204" pitchFamily="18" charset="0"/>
                          </a:rPr>
                        </m:ctrlPr>
                      </m:sSubPr>
                      <m:e>
                        <m:r>
                          <a:rPr lang="en-CA" sz="2400" b="0" i="1" smtClean="0">
                            <a:latin typeface="Cambria Math" panose="02040503050406030204" pitchFamily="18" charset="0"/>
                          </a:rPr>
                          <m:t>𝑅</m:t>
                        </m:r>
                      </m:e>
                      <m:sub>
                        <m:r>
                          <a:rPr lang="en-CA" sz="2400" b="0" i="1" smtClean="0">
                            <a:latin typeface="Cambria Math" panose="02040503050406030204" pitchFamily="18" charset="0"/>
                          </a:rPr>
                          <m:t>1</m:t>
                        </m:r>
                      </m:sub>
                    </m:sSub>
                  </m:oMath>
                </a14:m>
                <a:r>
                  <a:rPr lang="en-US" sz="2400" dirty="0"/>
                  <a:t> on </a:t>
                </a:r>
                <a14:m>
                  <m:oMath xmlns:m="http://schemas.openxmlformats.org/officeDocument/2006/math">
                    <m:sSub>
                      <m:sSubPr>
                        <m:ctrlPr>
                          <a:rPr lang="en-CA" sz="2400" b="0" i="1" smtClean="0">
                            <a:latin typeface="Cambria Math" panose="02040503050406030204" pitchFamily="18" charset="0"/>
                          </a:rPr>
                        </m:ctrlPr>
                      </m:sSubPr>
                      <m:e>
                        <m:r>
                          <a:rPr lang="en-CA" sz="2400" b="0" i="1" smtClean="0">
                            <a:latin typeface="Cambria Math" panose="02040503050406030204" pitchFamily="18" charset="0"/>
                          </a:rPr>
                          <m:t>𝑆</m:t>
                        </m:r>
                      </m:e>
                      <m:sub>
                        <m:r>
                          <a:rPr lang="en-CA" sz="2400" b="0" i="1" smtClean="0">
                            <a:latin typeface="Cambria Math" panose="02040503050406030204" pitchFamily="18" charset="0"/>
                          </a:rPr>
                          <m:t>1</m:t>
                        </m:r>
                      </m:sub>
                    </m:sSub>
                  </m:oMath>
                </a14:m>
                <a:r>
                  <a:rPr lang="en-US" sz="2400" dirty="0"/>
                  <a:t> and </a:t>
                </a:r>
                <a14:m>
                  <m:oMath xmlns:m="http://schemas.openxmlformats.org/officeDocument/2006/math">
                    <m:sSub>
                      <m:sSubPr>
                        <m:ctrlPr>
                          <a:rPr lang="en-CA" sz="2400" b="0" i="1" smtClean="0">
                            <a:latin typeface="Cambria Math" panose="02040503050406030204" pitchFamily="18" charset="0"/>
                          </a:rPr>
                        </m:ctrlPr>
                      </m:sSubPr>
                      <m:e>
                        <m:r>
                          <a:rPr lang="en-CA" sz="2400" b="0" i="1" smtClean="0">
                            <a:latin typeface="Cambria Math" panose="02040503050406030204" pitchFamily="18" charset="0"/>
                          </a:rPr>
                          <m:t>𝑅</m:t>
                        </m:r>
                      </m:e>
                      <m:sub>
                        <m:r>
                          <a:rPr lang="en-CA" sz="2400" b="0" i="1" smtClean="0">
                            <a:latin typeface="Cambria Math" panose="02040503050406030204" pitchFamily="18" charset="0"/>
                          </a:rPr>
                          <m:t>2</m:t>
                        </m:r>
                      </m:sub>
                    </m:sSub>
                  </m:oMath>
                </a14:m>
                <a:r>
                  <a:rPr lang="en-US" sz="2400" dirty="0"/>
                  <a:t> on </a:t>
                </a:r>
                <a14:m>
                  <m:oMath xmlns:m="http://schemas.openxmlformats.org/officeDocument/2006/math">
                    <m:sSub>
                      <m:sSubPr>
                        <m:ctrlPr>
                          <a:rPr lang="en-CA" sz="2400" b="0" i="1" smtClean="0">
                            <a:latin typeface="Cambria Math" panose="02040503050406030204" pitchFamily="18" charset="0"/>
                          </a:rPr>
                        </m:ctrlPr>
                      </m:sSubPr>
                      <m:e>
                        <m:r>
                          <a:rPr lang="en-CA" sz="2400" b="0" i="1" smtClean="0">
                            <a:latin typeface="Cambria Math" panose="02040503050406030204" pitchFamily="18" charset="0"/>
                          </a:rPr>
                          <m:t>𝑆</m:t>
                        </m:r>
                      </m:e>
                      <m:sub>
                        <m:r>
                          <a:rPr lang="en-CA" sz="2400" b="0" i="1" smtClean="0">
                            <a:latin typeface="Cambria Math" panose="02040503050406030204" pitchFamily="18" charset="0"/>
                          </a:rPr>
                          <m:t>2</m:t>
                        </m:r>
                      </m:sub>
                    </m:sSub>
                  </m:oMath>
                </a14:m>
                <a:r>
                  <a:rPr lang="en-US" sz="2400" dirty="0"/>
                  <a:t>. Such transformations </a:t>
                </a:r>
                <a:r>
                  <a:rPr lang="en-US" sz="2400" b="1" i="1" dirty="0">
                    <a:solidFill>
                      <a:srgbClr val="C00000"/>
                    </a:solidFill>
                  </a:rPr>
                  <a:t>interact</a:t>
                </a:r>
                <a:r>
                  <a:rPr lang="en-US" sz="2400" b="1" dirty="0">
                    <a:solidFill>
                      <a:srgbClr val="C00000"/>
                    </a:solidFill>
                  </a:rPr>
                  <a:t> </a:t>
                </a:r>
                <a:r>
                  <a:rPr lang="en-US" sz="2400" dirty="0"/>
                  <a:t>the systems </a:t>
                </a:r>
                <a14:m>
                  <m:oMath xmlns:m="http://schemas.openxmlformats.org/officeDocument/2006/math">
                    <m:sSub>
                      <m:sSubPr>
                        <m:ctrlPr>
                          <a:rPr lang="en-CA" sz="2400" b="0" i="1" smtClean="0">
                            <a:latin typeface="Cambria Math" panose="02040503050406030204" pitchFamily="18" charset="0"/>
                          </a:rPr>
                        </m:ctrlPr>
                      </m:sSubPr>
                      <m:e>
                        <m:r>
                          <a:rPr lang="en-CA" sz="2400" b="0" i="1" smtClean="0">
                            <a:latin typeface="Cambria Math" panose="02040503050406030204" pitchFamily="18" charset="0"/>
                          </a:rPr>
                          <m:t>𝑆</m:t>
                        </m:r>
                      </m:e>
                      <m:sub>
                        <m:r>
                          <a:rPr lang="en-CA" sz="2400" b="0" i="1" smtClean="0">
                            <a:latin typeface="Cambria Math" panose="02040503050406030204" pitchFamily="18" charset="0"/>
                          </a:rPr>
                          <m:t>1</m:t>
                        </m:r>
                      </m:sub>
                    </m:sSub>
                  </m:oMath>
                </a14:m>
                <a:r>
                  <a:rPr lang="en-US" sz="2400" dirty="0"/>
                  <a:t> and </a:t>
                </a:r>
                <a14:m>
                  <m:oMath xmlns:m="http://schemas.openxmlformats.org/officeDocument/2006/math">
                    <m:sSub>
                      <m:sSubPr>
                        <m:ctrlPr>
                          <a:rPr lang="en-CA" sz="2400" b="0" i="1" smtClean="0">
                            <a:latin typeface="Cambria Math" panose="02040503050406030204" pitchFamily="18" charset="0"/>
                          </a:rPr>
                        </m:ctrlPr>
                      </m:sSubPr>
                      <m:e>
                        <m:r>
                          <a:rPr lang="en-CA" sz="2400" b="0" i="1" smtClean="0">
                            <a:latin typeface="Cambria Math" panose="02040503050406030204" pitchFamily="18" charset="0"/>
                          </a:rPr>
                          <m:t>𝑆</m:t>
                        </m:r>
                      </m:e>
                      <m:sub>
                        <m:r>
                          <a:rPr lang="en-CA" sz="2400" b="0" i="1" smtClean="0">
                            <a:latin typeface="Cambria Math" panose="02040503050406030204" pitchFamily="18" charset="0"/>
                          </a:rPr>
                          <m:t>2</m:t>
                        </m:r>
                      </m:sub>
                    </m:sSub>
                  </m:oMath>
                </a14:m>
                <a:r>
                  <a:rPr lang="en-US" sz="2400" dirty="0"/>
                  <a:t> together.</a:t>
                </a:r>
              </a:p>
              <a:p>
                <a:endParaRPr lang="en-US" sz="2400" dirty="0"/>
              </a:p>
              <a:p>
                <a:r>
                  <a:rPr lang="en-US" sz="2400" dirty="0"/>
                  <a:t>Example: </a:t>
                </a:r>
              </a:p>
              <a:p>
                <a:pPr lvl="1"/>
                <a14:m>
                  <m:oMath xmlns:m="http://schemas.openxmlformats.org/officeDocument/2006/math">
                    <m:sSub>
                      <m:sSubPr>
                        <m:ctrlPr>
                          <a:rPr lang="en-CA" sz="2000" b="0" i="1" smtClean="0">
                            <a:latin typeface="Cambria Math" panose="02040503050406030204" pitchFamily="18" charset="0"/>
                          </a:rPr>
                        </m:ctrlPr>
                      </m:sSubPr>
                      <m:e>
                        <m:r>
                          <a:rPr lang="en-CA" sz="2000" b="0" i="1" smtClean="0">
                            <a:latin typeface="Cambria Math" panose="02040503050406030204" pitchFamily="18" charset="0"/>
                          </a:rPr>
                          <m:t>𝑆</m:t>
                        </m:r>
                      </m:e>
                      <m:sub>
                        <m:r>
                          <a:rPr lang="en-CA" sz="2000" b="0" i="1" smtClean="0">
                            <a:latin typeface="Cambria Math" panose="02040503050406030204" pitchFamily="18" charset="0"/>
                          </a:rPr>
                          <m:t>1</m:t>
                        </m:r>
                      </m:sub>
                    </m:sSub>
                  </m:oMath>
                </a14:m>
                <a:r>
                  <a:rPr lang="en-US" sz="2000" dirty="0"/>
                  <a:t> and </a:t>
                </a:r>
                <a14:m>
                  <m:oMath xmlns:m="http://schemas.openxmlformats.org/officeDocument/2006/math">
                    <m:sSub>
                      <m:sSubPr>
                        <m:ctrlPr>
                          <a:rPr lang="en-CA" sz="2000" b="0" i="1" smtClean="0">
                            <a:latin typeface="Cambria Math" panose="02040503050406030204" pitchFamily="18" charset="0"/>
                          </a:rPr>
                        </m:ctrlPr>
                      </m:sSubPr>
                      <m:e>
                        <m:r>
                          <a:rPr lang="en-CA" sz="2000" b="0" i="1" smtClean="0">
                            <a:latin typeface="Cambria Math" panose="02040503050406030204" pitchFamily="18" charset="0"/>
                          </a:rPr>
                          <m:t>𝑆</m:t>
                        </m:r>
                      </m:e>
                      <m:sub>
                        <m:r>
                          <a:rPr lang="en-CA" sz="2000" b="0" i="1" smtClean="0">
                            <a:latin typeface="Cambria Math" panose="02040503050406030204" pitchFamily="18" charset="0"/>
                          </a:rPr>
                          <m:t>2</m:t>
                        </m:r>
                      </m:sub>
                    </m:sSub>
                  </m:oMath>
                </a14:m>
                <a:r>
                  <a:rPr lang="en-US" sz="2000" dirty="0"/>
                  <a:t> are </a:t>
                </a:r>
                <a:r>
                  <a:rPr lang="en-US" sz="2000" b="1" i="1" dirty="0"/>
                  <a:t>bits</a:t>
                </a:r>
                <a:r>
                  <a:rPr lang="en-US" sz="2000" dirty="0"/>
                  <a:t>, i.e., </a:t>
                </a:r>
                <a14:m>
                  <m:oMath xmlns:m="http://schemas.openxmlformats.org/officeDocument/2006/math">
                    <m:r>
                      <a:rPr lang="en-CA" sz="2000" b="0" i="1" smtClean="0">
                        <a:latin typeface="Cambria Math" panose="02040503050406030204" pitchFamily="18" charset="0"/>
                      </a:rPr>
                      <m:t>𝑑</m:t>
                    </m:r>
                    <m:r>
                      <a:rPr lang="en-CA" sz="2000" b="0" i="1" smtClean="0">
                        <a:latin typeface="Cambria Math" panose="02040503050406030204" pitchFamily="18" charset="0"/>
                      </a:rPr>
                      <m:t>=2</m:t>
                    </m:r>
                  </m:oMath>
                </a14:m>
                <a:r>
                  <a:rPr lang="en-US" sz="2000" dirty="0"/>
                  <a:t>, with states </a:t>
                </a:r>
                <a14:m>
                  <m:oMath xmlns:m="http://schemas.openxmlformats.org/officeDocument/2006/math">
                    <m:d>
                      <m:dPr>
                        <m:begChr m:val="|"/>
                        <m:endChr m:val="⟩"/>
                        <m:ctrlPr>
                          <a:rPr lang="en-CA" sz="2000" b="0" i="1" smtClean="0">
                            <a:latin typeface="Cambria Math" panose="02040503050406030204" pitchFamily="18" charset="0"/>
                          </a:rPr>
                        </m:ctrlPr>
                      </m:dPr>
                      <m:e>
                        <m:r>
                          <a:rPr lang="en-CA" sz="2000" b="0" i="1" smtClean="0">
                            <a:latin typeface="Cambria Math" panose="02040503050406030204" pitchFamily="18" charset="0"/>
                          </a:rPr>
                          <m:t>0</m:t>
                        </m:r>
                      </m:e>
                    </m:d>
                    <m:r>
                      <a:rPr lang="en-CA" sz="2000" b="0" i="1" smtClean="0">
                        <a:latin typeface="Cambria Math" panose="02040503050406030204" pitchFamily="18" charset="0"/>
                      </a:rPr>
                      <m:t>,|1⟩</m:t>
                    </m:r>
                  </m:oMath>
                </a14:m>
                <a:endParaRPr lang="en-US" sz="2000" dirty="0"/>
              </a:p>
              <a:p>
                <a:pPr lvl="1"/>
                <a:r>
                  <a:rPr lang="en-US" sz="2000" dirty="0"/>
                  <a:t>“Controlled-NOT” operation </a:t>
                </a:r>
                <a14:m>
                  <m:oMath xmlns:m="http://schemas.openxmlformats.org/officeDocument/2006/math">
                    <m:r>
                      <a:rPr lang="en-CA" sz="2000" b="0" i="1" smtClean="0">
                        <a:latin typeface="Cambria Math" panose="02040503050406030204" pitchFamily="18" charset="0"/>
                      </a:rPr>
                      <m:t>𝐶𝑁𝑂𝑇</m:t>
                    </m:r>
                  </m:oMath>
                </a14:m>
                <a:r>
                  <a:rPr lang="en-US" sz="2000" dirty="0"/>
                  <a:t>:</a:t>
                </a:r>
              </a:p>
            </p:txBody>
          </p:sp>
        </mc:Choice>
        <mc:Fallback xmlns="">
          <p:sp>
            <p:nvSpPr>
              <p:cNvPr id="3" name="Content Placeholder 2">
                <a:extLst>
                  <a:ext uri="{FF2B5EF4-FFF2-40B4-BE49-F238E27FC236}">
                    <a16:creationId xmlns:a16="http://schemas.microsoft.com/office/drawing/2014/main" id="{168DA73C-EC84-0F7D-8C9A-BD6D84AA2A9B}"/>
                  </a:ext>
                </a:extLst>
              </p:cNvPr>
              <p:cNvSpPr>
                <a:spLocks noGrp="1" noRot="1" noChangeAspect="1" noMove="1" noResize="1" noEditPoints="1" noAdjustHandles="1" noChangeArrowheads="1" noChangeShapeType="1" noTextEdit="1"/>
              </p:cNvSpPr>
              <p:nvPr>
                <p:ph idx="1"/>
              </p:nvPr>
            </p:nvSpPr>
            <p:spPr>
              <a:blipFill>
                <a:blip r:embed="rId2"/>
                <a:stretch>
                  <a:fillRect l="-844" t="-1744" r="-603"/>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4" name="TextBox 3">
                <a:extLst>
                  <a:ext uri="{FF2B5EF4-FFF2-40B4-BE49-F238E27FC236}">
                    <a16:creationId xmlns:a16="http://schemas.microsoft.com/office/drawing/2014/main" id="{98335E24-78E9-1C30-8A92-BD4F5DA954F1}"/>
                  </a:ext>
                </a:extLst>
              </p:cNvPr>
              <p:cNvSpPr txBox="1"/>
              <p:nvPr/>
            </p:nvSpPr>
            <p:spPr>
              <a:xfrm>
                <a:off x="2721825" y="4922699"/>
                <a:ext cx="6621517" cy="1569660"/>
              </a:xfrm>
              <a:prstGeom prst="rect">
                <a:avLst/>
              </a:prstGeom>
              <a:noFill/>
            </p:spPr>
            <p:txBody>
              <a:bodyPr wrap="square" rtlCol="0">
                <a:spAutoFit/>
              </a:bodyPr>
              <a:lstStyle/>
              <a:p>
                <a:pPr lvl="1"/>
                <a14:m>
                  <m:oMathPara xmlns:m="http://schemas.openxmlformats.org/officeDocument/2006/math">
                    <m:oMathParaPr>
                      <m:jc m:val="centerGroup"/>
                    </m:oMathParaPr>
                    <m:oMath xmlns:m="http://schemas.openxmlformats.org/officeDocument/2006/math">
                      <m:d>
                        <m:dPr>
                          <m:begChr m:val="|"/>
                          <m:endChr m:val="⟩"/>
                          <m:ctrlPr>
                            <a:rPr lang="en-CA" sz="2400" b="0" i="1" smtClean="0">
                              <a:latin typeface="Cambria Math" panose="02040503050406030204" pitchFamily="18" charset="0"/>
                            </a:rPr>
                          </m:ctrlPr>
                        </m:dPr>
                        <m:e>
                          <m:r>
                            <a:rPr lang="en-CA" sz="2400" b="0" i="1" smtClean="0">
                              <a:latin typeface="Cambria Math" panose="02040503050406030204" pitchFamily="18" charset="0"/>
                            </a:rPr>
                            <m:t>0,0</m:t>
                          </m:r>
                        </m:e>
                      </m:d>
                      <m:r>
                        <a:rPr lang="en-CA" sz="2400" b="0" i="1" smtClean="0">
                          <a:latin typeface="Cambria Math" panose="02040503050406030204" pitchFamily="18" charset="0"/>
                        </a:rPr>
                        <m:t>↦</m:t>
                      </m:r>
                      <m:d>
                        <m:dPr>
                          <m:begChr m:val="|"/>
                          <m:endChr m:val="⟩"/>
                          <m:ctrlPr>
                            <a:rPr lang="en-CA" sz="2400" b="0" i="1" smtClean="0">
                              <a:latin typeface="Cambria Math" panose="02040503050406030204" pitchFamily="18" charset="0"/>
                            </a:rPr>
                          </m:ctrlPr>
                        </m:dPr>
                        <m:e>
                          <m:r>
                            <a:rPr lang="en-CA" sz="2400" b="0" i="1" smtClean="0">
                              <a:latin typeface="Cambria Math" panose="02040503050406030204" pitchFamily="18" charset="0"/>
                            </a:rPr>
                            <m:t>0,0</m:t>
                          </m:r>
                        </m:e>
                      </m:d>
                    </m:oMath>
                  </m:oMathPara>
                </a14:m>
                <a:endParaRPr lang="en-CA" sz="2400" b="0" dirty="0"/>
              </a:p>
              <a:p>
                <a:pPr lvl="1"/>
                <a14:m>
                  <m:oMathPara xmlns:m="http://schemas.openxmlformats.org/officeDocument/2006/math">
                    <m:oMathParaPr>
                      <m:jc m:val="centerGroup"/>
                    </m:oMathParaPr>
                    <m:oMath xmlns:m="http://schemas.openxmlformats.org/officeDocument/2006/math">
                      <m:d>
                        <m:dPr>
                          <m:begChr m:val="|"/>
                          <m:endChr m:val="⟩"/>
                          <m:ctrlPr>
                            <a:rPr lang="en-CA" sz="2400" b="0" i="1" smtClean="0">
                              <a:latin typeface="Cambria Math" panose="02040503050406030204" pitchFamily="18" charset="0"/>
                            </a:rPr>
                          </m:ctrlPr>
                        </m:dPr>
                        <m:e>
                          <m:r>
                            <a:rPr lang="en-CA" sz="2400" b="0" i="1" smtClean="0">
                              <a:latin typeface="Cambria Math" panose="02040503050406030204" pitchFamily="18" charset="0"/>
                            </a:rPr>
                            <m:t>0,1</m:t>
                          </m:r>
                        </m:e>
                      </m:d>
                      <m:r>
                        <a:rPr lang="en-CA" sz="2400" b="0" i="1" smtClean="0">
                          <a:latin typeface="Cambria Math" panose="02040503050406030204" pitchFamily="18" charset="0"/>
                        </a:rPr>
                        <m:t>↦</m:t>
                      </m:r>
                      <m:d>
                        <m:dPr>
                          <m:begChr m:val="|"/>
                          <m:endChr m:val="⟩"/>
                          <m:ctrlPr>
                            <a:rPr lang="en-CA" sz="2400" b="0" i="1" smtClean="0">
                              <a:latin typeface="Cambria Math" panose="02040503050406030204" pitchFamily="18" charset="0"/>
                            </a:rPr>
                          </m:ctrlPr>
                        </m:dPr>
                        <m:e>
                          <m:r>
                            <a:rPr lang="en-CA" sz="2400" b="0" i="1" smtClean="0">
                              <a:latin typeface="Cambria Math" panose="02040503050406030204" pitchFamily="18" charset="0"/>
                            </a:rPr>
                            <m:t>0,1</m:t>
                          </m:r>
                        </m:e>
                      </m:d>
                    </m:oMath>
                  </m:oMathPara>
                </a14:m>
                <a:endParaRPr lang="en-CA" sz="2400" b="1" dirty="0">
                  <a:solidFill>
                    <a:srgbClr val="C00000"/>
                  </a:solidFill>
                </a:endParaRPr>
              </a:p>
              <a:p>
                <a:pPr lvl="1"/>
                <a14:m>
                  <m:oMathPara xmlns:m="http://schemas.openxmlformats.org/officeDocument/2006/math">
                    <m:oMathParaPr>
                      <m:jc m:val="centerGroup"/>
                    </m:oMathParaPr>
                    <m:oMath xmlns:m="http://schemas.openxmlformats.org/officeDocument/2006/math">
                      <m:d>
                        <m:dPr>
                          <m:begChr m:val="|"/>
                          <m:endChr m:val="⟩"/>
                          <m:ctrlPr>
                            <a:rPr lang="en-CA" sz="2400" i="1">
                              <a:latin typeface="Cambria Math" panose="02040503050406030204" pitchFamily="18" charset="0"/>
                            </a:rPr>
                          </m:ctrlPr>
                        </m:dPr>
                        <m:e>
                          <m:r>
                            <a:rPr lang="en-CA" sz="2400" b="0" i="1" smtClean="0">
                              <a:latin typeface="Cambria Math" panose="02040503050406030204" pitchFamily="18" charset="0"/>
                            </a:rPr>
                            <m:t>1</m:t>
                          </m:r>
                          <m:r>
                            <a:rPr lang="en-CA" sz="2400" i="1">
                              <a:latin typeface="Cambria Math" panose="02040503050406030204" pitchFamily="18" charset="0"/>
                            </a:rPr>
                            <m:t>,</m:t>
                          </m:r>
                          <m:r>
                            <a:rPr lang="en-CA" sz="2400" b="0" i="1" smtClean="0">
                              <a:latin typeface="Cambria Math" panose="02040503050406030204" pitchFamily="18" charset="0"/>
                            </a:rPr>
                            <m:t>0</m:t>
                          </m:r>
                        </m:e>
                      </m:d>
                      <m:r>
                        <a:rPr lang="en-CA" sz="2400" i="1">
                          <a:latin typeface="Cambria Math" panose="02040503050406030204" pitchFamily="18" charset="0"/>
                        </a:rPr>
                        <m:t>↦</m:t>
                      </m:r>
                      <m:d>
                        <m:dPr>
                          <m:begChr m:val="|"/>
                          <m:endChr m:val="⟩"/>
                          <m:ctrlPr>
                            <a:rPr lang="en-CA" sz="2400" i="1">
                              <a:latin typeface="Cambria Math" panose="02040503050406030204" pitchFamily="18" charset="0"/>
                            </a:rPr>
                          </m:ctrlPr>
                        </m:dPr>
                        <m:e>
                          <m:r>
                            <a:rPr lang="en-CA" sz="2400" b="0" i="1" smtClean="0">
                              <a:latin typeface="Cambria Math" panose="02040503050406030204" pitchFamily="18" charset="0"/>
                            </a:rPr>
                            <m:t>1</m:t>
                          </m:r>
                          <m:r>
                            <a:rPr lang="en-CA" sz="2400" i="1">
                              <a:latin typeface="Cambria Math" panose="02040503050406030204" pitchFamily="18" charset="0"/>
                            </a:rPr>
                            <m:t>,</m:t>
                          </m:r>
                          <m:r>
                            <a:rPr lang="en-CA" sz="2400" b="0" i="1" smtClean="0">
                              <a:latin typeface="Cambria Math" panose="02040503050406030204" pitchFamily="18" charset="0"/>
                            </a:rPr>
                            <m:t>1</m:t>
                          </m:r>
                        </m:e>
                      </m:d>
                    </m:oMath>
                  </m:oMathPara>
                </a14:m>
                <a:endParaRPr lang="en-CA" sz="2400" b="1" dirty="0">
                  <a:solidFill>
                    <a:srgbClr val="C00000"/>
                  </a:solidFill>
                </a:endParaRPr>
              </a:p>
              <a:p>
                <a:pPr lvl="1"/>
                <a14:m>
                  <m:oMathPara xmlns:m="http://schemas.openxmlformats.org/officeDocument/2006/math">
                    <m:oMathParaPr>
                      <m:jc m:val="centerGroup"/>
                    </m:oMathParaPr>
                    <m:oMath xmlns:m="http://schemas.openxmlformats.org/officeDocument/2006/math">
                      <m:d>
                        <m:dPr>
                          <m:begChr m:val="|"/>
                          <m:endChr m:val="⟩"/>
                          <m:ctrlPr>
                            <a:rPr lang="en-CA" sz="2400" i="1">
                              <a:latin typeface="Cambria Math" panose="02040503050406030204" pitchFamily="18" charset="0"/>
                            </a:rPr>
                          </m:ctrlPr>
                        </m:dPr>
                        <m:e>
                          <m:r>
                            <a:rPr lang="en-CA" sz="2400" b="0" i="1" smtClean="0">
                              <a:latin typeface="Cambria Math" panose="02040503050406030204" pitchFamily="18" charset="0"/>
                            </a:rPr>
                            <m:t>1</m:t>
                          </m:r>
                          <m:r>
                            <a:rPr lang="en-CA" sz="2400" i="1">
                              <a:latin typeface="Cambria Math" panose="02040503050406030204" pitchFamily="18" charset="0"/>
                            </a:rPr>
                            <m:t>,1</m:t>
                          </m:r>
                        </m:e>
                      </m:d>
                      <m:r>
                        <a:rPr lang="en-CA" sz="2400" i="1">
                          <a:latin typeface="Cambria Math" panose="02040503050406030204" pitchFamily="18" charset="0"/>
                        </a:rPr>
                        <m:t>↦</m:t>
                      </m:r>
                      <m:d>
                        <m:dPr>
                          <m:begChr m:val="|"/>
                          <m:endChr m:val="⟩"/>
                          <m:ctrlPr>
                            <a:rPr lang="en-CA" sz="2400" i="1">
                              <a:latin typeface="Cambria Math" panose="02040503050406030204" pitchFamily="18" charset="0"/>
                            </a:rPr>
                          </m:ctrlPr>
                        </m:dPr>
                        <m:e>
                          <m:r>
                            <a:rPr lang="en-CA" sz="2400" b="0" i="1" smtClean="0">
                              <a:latin typeface="Cambria Math" panose="02040503050406030204" pitchFamily="18" charset="0"/>
                            </a:rPr>
                            <m:t>1</m:t>
                          </m:r>
                          <m:r>
                            <a:rPr lang="en-CA" sz="2400" i="1">
                              <a:latin typeface="Cambria Math" panose="02040503050406030204" pitchFamily="18" charset="0"/>
                            </a:rPr>
                            <m:t>,</m:t>
                          </m:r>
                          <m:r>
                            <a:rPr lang="en-CA" sz="2400" b="0" i="1" smtClean="0">
                              <a:latin typeface="Cambria Math" panose="02040503050406030204" pitchFamily="18" charset="0"/>
                            </a:rPr>
                            <m:t>0</m:t>
                          </m:r>
                        </m:e>
                      </m:d>
                    </m:oMath>
                  </m:oMathPara>
                </a14:m>
                <a:endParaRPr lang="en-CA" sz="2400" b="1" dirty="0">
                  <a:solidFill>
                    <a:srgbClr val="C00000"/>
                  </a:solidFill>
                </a:endParaRPr>
              </a:p>
            </p:txBody>
          </p:sp>
        </mc:Choice>
        <mc:Fallback xmlns="">
          <p:sp>
            <p:nvSpPr>
              <p:cNvPr id="4" name="TextBox 3">
                <a:extLst>
                  <a:ext uri="{FF2B5EF4-FFF2-40B4-BE49-F238E27FC236}">
                    <a16:creationId xmlns:a16="http://schemas.microsoft.com/office/drawing/2014/main" id="{98335E24-78E9-1C30-8A92-BD4F5DA954F1}"/>
                  </a:ext>
                </a:extLst>
              </p:cNvPr>
              <p:cNvSpPr txBox="1">
                <a:spLocks noRot="1" noChangeAspect="1" noMove="1" noResize="1" noEditPoints="1" noAdjustHandles="1" noChangeArrowheads="1" noChangeShapeType="1" noTextEdit="1"/>
              </p:cNvSpPr>
              <p:nvPr/>
            </p:nvSpPr>
            <p:spPr>
              <a:xfrm>
                <a:off x="2721825" y="4922699"/>
                <a:ext cx="6621517" cy="1569660"/>
              </a:xfrm>
              <a:prstGeom prst="rect">
                <a:avLst/>
              </a:prstGeom>
              <a:blipFill>
                <a:blip r:embed="rId3"/>
                <a:stretch>
                  <a:fillRect/>
                </a:stretch>
              </a:blipFill>
            </p:spPr>
            <p:txBody>
              <a:bodyPr/>
              <a:lstStyle/>
              <a:p>
                <a:r>
                  <a:rPr lang="en-US">
                    <a:noFill/>
                  </a:rPr>
                  <a:t> </a:t>
                </a:r>
              </a:p>
            </p:txBody>
          </p:sp>
        </mc:Fallback>
      </mc:AlternateContent>
      <p:sp>
        <p:nvSpPr>
          <p:cNvPr id="5" name="Cube 4">
            <a:extLst>
              <a:ext uri="{FF2B5EF4-FFF2-40B4-BE49-F238E27FC236}">
                <a16:creationId xmlns:a16="http://schemas.microsoft.com/office/drawing/2014/main" id="{0A1E404C-C98B-42CD-4986-CC4198A68288}"/>
              </a:ext>
            </a:extLst>
          </p:cNvPr>
          <p:cNvSpPr/>
          <p:nvPr/>
        </p:nvSpPr>
        <p:spPr>
          <a:xfrm>
            <a:off x="7847263" y="4673566"/>
            <a:ext cx="1165473" cy="1185033"/>
          </a:xfrm>
          <a:prstGeom prst="cub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mc:AlternateContent xmlns:mc="http://schemas.openxmlformats.org/markup-compatibility/2006" xmlns:a14="http://schemas.microsoft.com/office/drawing/2010/main">
        <mc:Choice Requires="a14">
          <p:sp>
            <p:nvSpPr>
              <p:cNvPr id="6" name="Rectangle 5">
                <a:extLst>
                  <a:ext uri="{FF2B5EF4-FFF2-40B4-BE49-F238E27FC236}">
                    <a16:creationId xmlns:a16="http://schemas.microsoft.com/office/drawing/2014/main" id="{4BA41693-C926-BD20-940A-925BD214F281}"/>
                  </a:ext>
                </a:extLst>
              </p:cNvPr>
              <p:cNvSpPr/>
              <p:nvPr/>
            </p:nvSpPr>
            <p:spPr>
              <a:xfrm>
                <a:off x="8132399" y="6123543"/>
                <a:ext cx="451277" cy="369332"/>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sSub>
                        <m:sSubPr>
                          <m:ctrlPr>
                            <a:rPr lang="en-CA" b="0" i="1" smtClean="0">
                              <a:latin typeface="Cambria Math" panose="02040503050406030204" pitchFamily="18" charset="0"/>
                            </a:rPr>
                          </m:ctrlPr>
                        </m:sSubPr>
                        <m:e>
                          <m:r>
                            <a:rPr lang="en-CA" i="1" smtClean="0">
                              <a:latin typeface="Cambria Math" panose="02040503050406030204" pitchFamily="18" charset="0"/>
                            </a:rPr>
                            <m:t>𝑆</m:t>
                          </m:r>
                        </m:e>
                        <m:sub>
                          <m:r>
                            <a:rPr lang="en-CA" b="0" i="1" smtClean="0">
                              <a:latin typeface="Cambria Math" panose="02040503050406030204" pitchFamily="18" charset="0"/>
                            </a:rPr>
                            <m:t>1</m:t>
                          </m:r>
                        </m:sub>
                      </m:sSub>
                    </m:oMath>
                  </m:oMathPara>
                </a14:m>
                <a:endParaRPr lang="en-US" dirty="0"/>
              </a:p>
            </p:txBody>
          </p:sp>
        </mc:Choice>
        <mc:Fallback xmlns="">
          <p:sp>
            <p:nvSpPr>
              <p:cNvPr id="6" name="Rectangle 5">
                <a:extLst>
                  <a:ext uri="{FF2B5EF4-FFF2-40B4-BE49-F238E27FC236}">
                    <a16:creationId xmlns:a16="http://schemas.microsoft.com/office/drawing/2014/main" id="{4BA41693-C926-BD20-940A-925BD214F281}"/>
                  </a:ext>
                </a:extLst>
              </p:cNvPr>
              <p:cNvSpPr>
                <a:spLocks noRot="1" noChangeAspect="1" noMove="1" noResize="1" noEditPoints="1" noAdjustHandles="1" noChangeArrowheads="1" noChangeShapeType="1" noTextEdit="1"/>
              </p:cNvSpPr>
              <p:nvPr/>
            </p:nvSpPr>
            <p:spPr>
              <a:xfrm>
                <a:off x="8132399" y="6123543"/>
                <a:ext cx="451277" cy="369332"/>
              </a:xfrm>
              <a:prstGeom prst="rect">
                <a:avLst/>
              </a:prstGeom>
              <a:blipFill>
                <a:blip r:embed="rId4"/>
                <a:stretch>
                  <a:fillRect/>
                </a:stretch>
              </a:blipFill>
            </p:spPr>
            <p:txBody>
              <a:bodyPr/>
              <a:lstStyle/>
              <a:p>
                <a:r>
                  <a:rPr lang="en-US">
                    <a:noFill/>
                  </a:rPr>
                  <a:t> </a:t>
                </a:r>
              </a:p>
            </p:txBody>
          </p:sp>
        </mc:Fallback>
      </mc:AlternateContent>
      <p:sp>
        <p:nvSpPr>
          <p:cNvPr id="7" name="Cube 6">
            <a:extLst>
              <a:ext uri="{FF2B5EF4-FFF2-40B4-BE49-F238E27FC236}">
                <a16:creationId xmlns:a16="http://schemas.microsoft.com/office/drawing/2014/main" id="{0AC05551-836C-6792-C18E-1D656E3B212B}"/>
              </a:ext>
            </a:extLst>
          </p:cNvPr>
          <p:cNvSpPr/>
          <p:nvPr/>
        </p:nvSpPr>
        <p:spPr>
          <a:xfrm>
            <a:off x="10188327" y="4673566"/>
            <a:ext cx="1165473" cy="1185033"/>
          </a:xfrm>
          <a:prstGeom prst="cub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mc:AlternateContent xmlns:mc="http://schemas.openxmlformats.org/markup-compatibility/2006" xmlns:a14="http://schemas.microsoft.com/office/drawing/2010/main">
        <mc:Choice Requires="a14">
          <p:sp>
            <p:nvSpPr>
              <p:cNvPr id="8" name="Rectangle 7">
                <a:extLst>
                  <a:ext uri="{FF2B5EF4-FFF2-40B4-BE49-F238E27FC236}">
                    <a16:creationId xmlns:a16="http://schemas.microsoft.com/office/drawing/2014/main" id="{67BDA777-C829-FB8F-E16C-C24B30902C4F}"/>
                  </a:ext>
                </a:extLst>
              </p:cNvPr>
              <p:cNvSpPr/>
              <p:nvPr/>
            </p:nvSpPr>
            <p:spPr>
              <a:xfrm>
                <a:off x="10473463" y="6123543"/>
                <a:ext cx="456600" cy="369332"/>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sSub>
                        <m:sSubPr>
                          <m:ctrlPr>
                            <a:rPr lang="en-CA" b="0" i="1" smtClean="0">
                              <a:latin typeface="Cambria Math" panose="02040503050406030204" pitchFamily="18" charset="0"/>
                            </a:rPr>
                          </m:ctrlPr>
                        </m:sSubPr>
                        <m:e>
                          <m:r>
                            <a:rPr lang="en-CA" i="1" smtClean="0">
                              <a:latin typeface="Cambria Math" panose="02040503050406030204" pitchFamily="18" charset="0"/>
                            </a:rPr>
                            <m:t>𝑆</m:t>
                          </m:r>
                        </m:e>
                        <m:sub>
                          <m:r>
                            <a:rPr lang="en-CA" b="0" i="1" smtClean="0">
                              <a:latin typeface="Cambria Math" panose="02040503050406030204" pitchFamily="18" charset="0"/>
                            </a:rPr>
                            <m:t>2</m:t>
                          </m:r>
                        </m:sub>
                      </m:sSub>
                    </m:oMath>
                  </m:oMathPara>
                </a14:m>
                <a:endParaRPr lang="en-US" dirty="0"/>
              </a:p>
            </p:txBody>
          </p:sp>
        </mc:Choice>
        <mc:Fallback xmlns="">
          <p:sp>
            <p:nvSpPr>
              <p:cNvPr id="8" name="Rectangle 7">
                <a:extLst>
                  <a:ext uri="{FF2B5EF4-FFF2-40B4-BE49-F238E27FC236}">
                    <a16:creationId xmlns:a16="http://schemas.microsoft.com/office/drawing/2014/main" id="{67BDA777-C829-FB8F-E16C-C24B30902C4F}"/>
                  </a:ext>
                </a:extLst>
              </p:cNvPr>
              <p:cNvSpPr>
                <a:spLocks noRot="1" noChangeAspect="1" noMove="1" noResize="1" noEditPoints="1" noAdjustHandles="1" noChangeArrowheads="1" noChangeShapeType="1" noTextEdit="1"/>
              </p:cNvSpPr>
              <p:nvPr/>
            </p:nvSpPr>
            <p:spPr>
              <a:xfrm>
                <a:off x="10473463" y="6123543"/>
                <a:ext cx="456600" cy="369332"/>
              </a:xfrm>
              <a:prstGeom prst="rect">
                <a:avLst/>
              </a:prstGeom>
              <a:blipFill>
                <a:blip r:embed="rId5"/>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9" name="TextBox 8">
                <a:extLst>
                  <a:ext uri="{FF2B5EF4-FFF2-40B4-BE49-F238E27FC236}">
                    <a16:creationId xmlns:a16="http://schemas.microsoft.com/office/drawing/2014/main" id="{F0FFA3C7-931C-1757-5C5D-F35886DBB523}"/>
                  </a:ext>
                </a:extLst>
              </p:cNvPr>
              <p:cNvSpPr txBox="1"/>
              <p:nvPr/>
            </p:nvSpPr>
            <p:spPr>
              <a:xfrm>
                <a:off x="7941849" y="5187060"/>
                <a:ext cx="641827" cy="369332"/>
              </a:xfrm>
              <a:prstGeom prst="rect">
                <a:avLst/>
              </a:prstGeom>
              <a:solidFill>
                <a:schemeClr val="bg1"/>
              </a:solidFill>
            </p:spPr>
            <p:txBody>
              <a:bodyPr wrap="square" rtlCol="0">
                <a:spAutoFit/>
              </a:bodyPr>
              <a:lstStyle/>
              <a:p>
                <a:pPr/>
                <a14:m>
                  <m:oMathPara xmlns:m="http://schemas.openxmlformats.org/officeDocument/2006/math">
                    <m:oMathParaPr>
                      <m:jc m:val="centerGroup"/>
                    </m:oMathParaPr>
                    <m:oMath xmlns:m="http://schemas.openxmlformats.org/officeDocument/2006/math">
                      <m:r>
                        <a:rPr lang="en-CA" b="0" i="1" smtClean="0">
                          <a:latin typeface="Cambria Math" panose="02040503050406030204" pitchFamily="18" charset="0"/>
                        </a:rPr>
                        <m:t>|</m:t>
                      </m:r>
                      <m:sSub>
                        <m:sSubPr>
                          <m:ctrlPr>
                            <a:rPr lang="en-CA" b="0" i="1" smtClean="0">
                              <a:latin typeface="Cambria Math" panose="02040503050406030204" pitchFamily="18" charset="0"/>
                            </a:rPr>
                          </m:ctrlPr>
                        </m:sSubPr>
                        <m:e>
                          <m:r>
                            <a:rPr lang="en-CA" b="0" i="1" smtClean="0">
                              <a:latin typeface="Cambria Math" panose="02040503050406030204" pitchFamily="18" charset="0"/>
                            </a:rPr>
                            <m:t>𝑥</m:t>
                          </m:r>
                        </m:e>
                        <m:sub>
                          <m:r>
                            <a:rPr lang="en-CA" b="0" i="1" smtClean="0">
                              <a:latin typeface="Cambria Math" panose="02040503050406030204" pitchFamily="18" charset="0"/>
                            </a:rPr>
                            <m:t>1</m:t>
                          </m:r>
                        </m:sub>
                      </m:sSub>
                      <m:r>
                        <a:rPr lang="en-CA" b="0" i="1" smtClean="0">
                          <a:latin typeface="Cambria Math" panose="02040503050406030204" pitchFamily="18" charset="0"/>
                        </a:rPr>
                        <m:t>⟩</m:t>
                      </m:r>
                    </m:oMath>
                  </m:oMathPara>
                </a14:m>
                <a:endParaRPr lang="en-US" dirty="0"/>
              </a:p>
            </p:txBody>
          </p:sp>
        </mc:Choice>
        <mc:Fallback xmlns="">
          <p:sp>
            <p:nvSpPr>
              <p:cNvPr id="9" name="TextBox 8">
                <a:extLst>
                  <a:ext uri="{FF2B5EF4-FFF2-40B4-BE49-F238E27FC236}">
                    <a16:creationId xmlns:a16="http://schemas.microsoft.com/office/drawing/2014/main" id="{F0FFA3C7-931C-1757-5C5D-F35886DBB523}"/>
                  </a:ext>
                </a:extLst>
              </p:cNvPr>
              <p:cNvSpPr txBox="1">
                <a:spLocks noRot="1" noChangeAspect="1" noMove="1" noResize="1" noEditPoints="1" noAdjustHandles="1" noChangeArrowheads="1" noChangeShapeType="1" noTextEdit="1"/>
              </p:cNvSpPr>
              <p:nvPr/>
            </p:nvSpPr>
            <p:spPr>
              <a:xfrm>
                <a:off x="7941849" y="5187060"/>
                <a:ext cx="641827" cy="369332"/>
              </a:xfrm>
              <a:prstGeom prst="rect">
                <a:avLst/>
              </a:prstGeom>
              <a:blipFill>
                <a:blip r:embed="rId6"/>
                <a:stretch>
                  <a:fillRect b="-13333"/>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0" name="TextBox 9">
                <a:extLst>
                  <a:ext uri="{FF2B5EF4-FFF2-40B4-BE49-F238E27FC236}">
                    <a16:creationId xmlns:a16="http://schemas.microsoft.com/office/drawing/2014/main" id="{32A8F2B9-9227-D1CB-9956-8D28D6741BAC}"/>
                  </a:ext>
                </a:extLst>
              </p:cNvPr>
              <p:cNvSpPr txBox="1"/>
              <p:nvPr/>
            </p:nvSpPr>
            <p:spPr>
              <a:xfrm>
                <a:off x="10288236" y="5219318"/>
                <a:ext cx="641827" cy="369332"/>
              </a:xfrm>
              <a:prstGeom prst="rect">
                <a:avLst/>
              </a:prstGeom>
              <a:solidFill>
                <a:schemeClr val="bg1"/>
              </a:solidFill>
            </p:spPr>
            <p:txBody>
              <a:bodyPr wrap="square" rtlCol="0">
                <a:spAutoFit/>
              </a:bodyPr>
              <a:lstStyle/>
              <a:p>
                <a:pPr/>
                <a14:m>
                  <m:oMathPara xmlns:m="http://schemas.openxmlformats.org/officeDocument/2006/math">
                    <m:oMathParaPr>
                      <m:jc m:val="centerGroup"/>
                    </m:oMathParaPr>
                    <m:oMath xmlns:m="http://schemas.openxmlformats.org/officeDocument/2006/math">
                      <m:r>
                        <a:rPr lang="en-CA" b="0" i="1" smtClean="0">
                          <a:latin typeface="Cambria Math" panose="02040503050406030204" pitchFamily="18" charset="0"/>
                        </a:rPr>
                        <m:t>|</m:t>
                      </m:r>
                      <m:sSub>
                        <m:sSubPr>
                          <m:ctrlPr>
                            <a:rPr lang="en-CA" b="0" i="1" smtClean="0">
                              <a:latin typeface="Cambria Math" panose="02040503050406030204" pitchFamily="18" charset="0"/>
                            </a:rPr>
                          </m:ctrlPr>
                        </m:sSubPr>
                        <m:e>
                          <m:r>
                            <a:rPr lang="en-CA" b="0" i="1" smtClean="0">
                              <a:latin typeface="Cambria Math" panose="02040503050406030204" pitchFamily="18" charset="0"/>
                            </a:rPr>
                            <m:t>𝑥</m:t>
                          </m:r>
                        </m:e>
                        <m:sub>
                          <m:r>
                            <a:rPr lang="en-CA" b="0" i="1" smtClean="0">
                              <a:latin typeface="Cambria Math" panose="02040503050406030204" pitchFamily="18" charset="0"/>
                            </a:rPr>
                            <m:t>2</m:t>
                          </m:r>
                        </m:sub>
                      </m:sSub>
                      <m:r>
                        <a:rPr lang="en-CA" b="0" i="1" smtClean="0">
                          <a:latin typeface="Cambria Math" panose="02040503050406030204" pitchFamily="18" charset="0"/>
                        </a:rPr>
                        <m:t>⟩</m:t>
                      </m:r>
                    </m:oMath>
                  </m:oMathPara>
                </a14:m>
                <a:endParaRPr lang="en-US" dirty="0"/>
              </a:p>
            </p:txBody>
          </p:sp>
        </mc:Choice>
        <mc:Fallback xmlns="">
          <p:sp>
            <p:nvSpPr>
              <p:cNvPr id="10" name="TextBox 9">
                <a:extLst>
                  <a:ext uri="{FF2B5EF4-FFF2-40B4-BE49-F238E27FC236}">
                    <a16:creationId xmlns:a16="http://schemas.microsoft.com/office/drawing/2014/main" id="{32A8F2B9-9227-D1CB-9956-8D28D6741BAC}"/>
                  </a:ext>
                </a:extLst>
              </p:cNvPr>
              <p:cNvSpPr txBox="1">
                <a:spLocks noRot="1" noChangeAspect="1" noMove="1" noResize="1" noEditPoints="1" noAdjustHandles="1" noChangeArrowheads="1" noChangeShapeType="1" noTextEdit="1"/>
              </p:cNvSpPr>
              <p:nvPr/>
            </p:nvSpPr>
            <p:spPr>
              <a:xfrm>
                <a:off x="10288236" y="5219318"/>
                <a:ext cx="641827" cy="369332"/>
              </a:xfrm>
              <a:prstGeom prst="rect">
                <a:avLst/>
              </a:prstGeom>
              <a:blipFill>
                <a:blip r:embed="rId7"/>
                <a:stretch>
                  <a:fillRect b="-12903"/>
                </a:stretch>
              </a:blipFill>
            </p:spPr>
            <p:txBody>
              <a:bodyPr/>
              <a:lstStyle/>
              <a:p>
                <a:r>
                  <a:rPr lang="en-US">
                    <a:noFill/>
                  </a:rPr>
                  <a:t> </a:t>
                </a:r>
              </a:p>
            </p:txBody>
          </p:sp>
        </mc:Fallback>
      </mc:AlternateContent>
      <p:sp>
        <p:nvSpPr>
          <p:cNvPr id="11" name="Curved Down Arrow 10">
            <a:extLst>
              <a:ext uri="{FF2B5EF4-FFF2-40B4-BE49-F238E27FC236}">
                <a16:creationId xmlns:a16="http://schemas.microsoft.com/office/drawing/2014/main" id="{FB7748DE-E5F7-1D53-7AE7-C8358F02D875}"/>
              </a:ext>
            </a:extLst>
          </p:cNvPr>
          <p:cNvSpPr/>
          <p:nvPr/>
        </p:nvSpPr>
        <p:spPr>
          <a:xfrm>
            <a:off x="8172759" y="4166084"/>
            <a:ext cx="2605870" cy="937138"/>
          </a:xfrm>
          <a:prstGeom prst="curvedDownArrow">
            <a:avLst/>
          </a:prstGeom>
          <a:solidFill>
            <a:srgbClr val="FF0000"/>
          </a:solidFill>
          <a:ln>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
        <p:nvSpPr>
          <p:cNvPr id="12" name="Rectangle 11">
            <a:extLst>
              <a:ext uri="{FF2B5EF4-FFF2-40B4-BE49-F238E27FC236}">
                <a16:creationId xmlns:a16="http://schemas.microsoft.com/office/drawing/2014/main" id="{B5A6D9D6-5852-81F0-C93C-72AA13B7826E}"/>
              </a:ext>
            </a:extLst>
          </p:cNvPr>
          <p:cNvSpPr/>
          <p:nvPr/>
        </p:nvSpPr>
        <p:spPr>
          <a:xfrm>
            <a:off x="798124" y="5688330"/>
            <a:ext cx="4379383" cy="646331"/>
          </a:xfrm>
          <a:prstGeom prst="rect">
            <a:avLst/>
          </a:prstGeom>
        </p:spPr>
        <p:txBody>
          <a:bodyPr wrap="square">
            <a:spAutoFit/>
          </a:bodyPr>
          <a:lstStyle/>
          <a:p>
            <a:r>
              <a:rPr lang="en-CA" dirty="0">
                <a:solidFill>
                  <a:srgbClr val="C00000"/>
                </a:solidFill>
              </a:rPr>
              <a:t>First bit ( “control bit”) </a:t>
            </a:r>
            <a:r>
              <a:rPr lang="en-CA" b="1" dirty="0">
                <a:solidFill>
                  <a:srgbClr val="C00000"/>
                </a:solidFill>
              </a:rPr>
              <a:t>controls</a:t>
            </a:r>
            <a:r>
              <a:rPr lang="en-CA" i="1" dirty="0">
                <a:solidFill>
                  <a:srgbClr val="C00000"/>
                </a:solidFill>
              </a:rPr>
              <a:t> </a:t>
            </a:r>
            <a:br>
              <a:rPr lang="en-CA" i="1" dirty="0">
                <a:solidFill>
                  <a:srgbClr val="C00000"/>
                </a:solidFill>
              </a:rPr>
            </a:br>
            <a:r>
              <a:rPr lang="en-CA" dirty="0">
                <a:solidFill>
                  <a:srgbClr val="C00000"/>
                </a:solidFill>
              </a:rPr>
              <a:t>if second bit (“target bit”) gets </a:t>
            </a:r>
            <a:r>
              <a:rPr lang="en-CA" b="1" dirty="0">
                <a:solidFill>
                  <a:srgbClr val="C00000"/>
                </a:solidFill>
              </a:rPr>
              <a:t>flipped</a:t>
            </a:r>
            <a:r>
              <a:rPr lang="en-CA" dirty="0">
                <a:solidFill>
                  <a:srgbClr val="C00000"/>
                </a:solidFill>
              </a:rPr>
              <a:t>.</a:t>
            </a:r>
            <a:endParaRPr lang="en-US" dirty="0">
              <a:solidFill>
                <a:srgbClr val="C00000"/>
              </a:solidFill>
            </a:endParaRPr>
          </a:p>
        </p:txBody>
      </p:sp>
      <mc:AlternateContent xmlns:mc="http://schemas.openxmlformats.org/markup-compatibility/2006" xmlns:a14="http://schemas.microsoft.com/office/drawing/2010/main">
        <mc:Choice Requires="a14">
          <p:sp>
            <p:nvSpPr>
              <p:cNvPr id="13" name="직사각형 12"/>
              <p:cNvSpPr/>
              <p:nvPr/>
            </p:nvSpPr>
            <p:spPr>
              <a:xfrm>
                <a:off x="1089579" y="5187060"/>
                <a:ext cx="3164584" cy="461665"/>
              </a:xfrm>
              <a:prstGeom prst="rect">
                <a:avLst/>
              </a:prstGeom>
            </p:spPr>
            <p:txBody>
              <a:bodyPr wrap="none">
                <a:spAutoFit/>
              </a:bodyPr>
              <a:lstStyle/>
              <a:p>
                <a:pPr lvl="1"/>
                <a14:m>
                  <m:oMathPara xmlns:m="http://schemas.openxmlformats.org/officeDocument/2006/math">
                    <m:oMathParaPr>
                      <m:jc m:val="centerGroup"/>
                    </m:oMathParaPr>
                    <m:oMath xmlns:m="http://schemas.openxmlformats.org/officeDocument/2006/math">
                      <m:d>
                        <m:dPr>
                          <m:begChr m:val="|"/>
                          <m:endChr m:val="⟩"/>
                          <m:ctrlPr>
                            <a:rPr lang="en-CA" altLang="ko-KR" sz="2400" i="1" smtClean="0">
                              <a:latin typeface="Cambria Math" panose="02040503050406030204" pitchFamily="18" charset="0"/>
                            </a:rPr>
                          </m:ctrlPr>
                        </m:dPr>
                        <m:e>
                          <m:r>
                            <a:rPr lang="en-US" altLang="ko-KR" sz="2400" b="0" i="1" smtClean="0">
                              <a:latin typeface="Cambria Math" panose="02040503050406030204" pitchFamily="18" charset="0"/>
                            </a:rPr>
                            <m:t>𝑎</m:t>
                          </m:r>
                          <m:r>
                            <a:rPr lang="en-CA" altLang="ko-KR" sz="2400" i="1">
                              <a:latin typeface="Cambria Math" panose="02040503050406030204" pitchFamily="18" charset="0"/>
                            </a:rPr>
                            <m:t>,</m:t>
                          </m:r>
                          <m:r>
                            <a:rPr lang="en-US" altLang="ko-KR" sz="2400" b="0" i="1" smtClean="0">
                              <a:latin typeface="Cambria Math" panose="02040503050406030204" pitchFamily="18" charset="0"/>
                            </a:rPr>
                            <m:t>𝑏</m:t>
                          </m:r>
                        </m:e>
                      </m:d>
                      <m:r>
                        <a:rPr lang="en-CA" altLang="ko-KR" sz="2400" i="1">
                          <a:latin typeface="Cambria Math" panose="02040503050406030204" pitchFamily="18" charset="0"/>
                        </a:rPr>
                        <m:t>↦</m:t>
                      </m:r>
                      <m:d>
                        <m:dPr>
                          <m:begChr m:val="|"/>
                          <m:endChr m:val="⟩"/>
                          <m:ctrlPr>
                            <a:rPr lang="en-CA" altLang="ko-KR" sz="2400" i="1">
                              <a:latin typeface="Cambria Math" panose="02040503050406030204" pitchFamily="18" charset="0"/>
                            </a:rPr>
                          </m:ctrlPr>
                        </m:dPr>
                        <m:e>
                          <m:r>
                            <a:rPr lang="en-US" altLang="ko-KR" sz="2400" b="0" i="1" smtClean="0">
                              <a:latin typeface="Cambria Math" panose="02040503050406030204" pitchFamily="18" charset="0"/>
                            </a:rPr>
                            <m:t>𝑎</m:t>
                          </m:r>
                          <m:r>
                            <a:rPr lang="en-CA" altLang="ko-KR" sz="2400" i="1">
                              <a:latin typeface="Cambria Math" panose="02040503050406030204" pitchFamily="18" charset="0"/>
                            </a:rPr>
                            <m:t>,</m:t>
                          </m:r>
                          <m:r>
                            <a:rPr lang="en-US" altLang="ko-KR" sz="2400" b="0" i="1" smtClean="0">
                              <a:latin typeface="Cambria Math" panose="02040503050406030204" pitchFamily="18" charset="0"/>
                            </a:rPr>
                            <m:t>𝑏</m:t>
                          </m:r>
                          <m:r>
                            <a:rPr lang="en-US" altLang="ko-KR" sz="2400" b="0" i="1" smtClean="0">
                              <a:latin typeface="Cambria Math" panose="02040503050406030204" pitchFamily="18" charset="0"/>
                            </a:rPr>
                            <m:t>⊕</m:t>
                          </m:r>
                          <m:r>
                            <a:rPr lang="en-US" altLang="ko-KR" sz="2400" b="0" i="1" smtClean="0">
                              <a:latin typeface="Cambria Math" panose="02040503050406030204" pitchFamily="18" charset="0"/>
                            </a:rPr>
                            <m:t>𝑎</m:t>
                          </m:r>
                        </m:e>
                      </m:d>
                    </m:oMath>
                  </m:oMathPara>
                </a14:m>
                <a:endParaRPr lang="en-CA" altLang="ko-KR" sz="2400" dirty="0"/>
              </a:p>
            </p:txBody>
          </p:sp>
        </mc:Choice>
        <mc:Fallback xmlns="">
          <p:sp>
            <p:nvSpPr>
              <p:cNvPr id="13" name="직사각형 12"/>
              <p:cNvSpPr>
                <a:spLocks noRot="1" noChangeAspect="1" noMove="1" noResize="1" noEditPoints="1" noAdjustHandles="1" noChangeArrowheads="1" noChangeShapeType="1" noTextEdit="1"/>
              </p:cNvSpPr>
              <p:nvPr/>
            </p:nvSpPr>
            <p:spPr>
              <a:xfrm>
                <a:off x="1089579" y="5187060"/>
                <a:ext cx="3164584" cy="461665"/>
              </a:xfrm>
              <a:prstGeom prst="rect">
                <a:avLst/>
              </a:prstGeom>
              <a:blipFill>
                <a:blip r:embed="rId8"/>
                <a:stretch>
                  <a:fillRect b="-11842"/>
                </a:stretch>
              </a:blipFill>
            </p:spPr>
            <p:txBody>
              <a:bodyPr/>
              <a:lstStyle/>
              <a:p>
                <a:r>
                  <a:rPr lang="ko-KR" altLang="en-US">
                    <a:noFill/>
                  </a:rPr>
                  <a:t> </a:t>
                </a:r>
              </a:p>
            </p:txBody>
          </p:sp>
        </mc:Fallback>
      </mc:AlternateContent>
    </p:spTree>
    <p:extLst>
      <p:ext uri="{BB962C8B-B14F-4D97-AF65-F5344CB8AC3E}">
        <p14:creationId xmlns:p14="http://schemas.microsoft.com/office/powerpoint/2010/main" val="52466865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3"/>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2" end="2"/>
                                            </p:txEl>
                                          </p:spTgt>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3">
                                            <p:txEl>
                                              <p:pRg st="3" end="3"/>
                                            </p:txEl>
                                          </p:spTgt>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3">
                                            <p:txEl>
                                              <p:pRg st="4" end="4"/>
                                            </p:txEl>
                                          </p:spTgt>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4"/>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grpId="0" nodeType="clickEffect">
                                  <p:stCondLst>
                                    <p:cond delay="0"/>
                                  </p:stCondLst>
                                  <p:childTnLst>
                                    <p:set>
                                      <p:cBhvr>
                                        <p:cTn id="20" dur="1" fill="hold">
                                          <p:stCondLst>
                                            <p:cond delay="0"/>
                                          </p:stCondLst>
                                        </p:cTn>
                                        <p:tgtEl>
                                          <p:spTgt spid="1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12" grpId="0"/>
      <p:bldP spid="13" grpId="0"/>
    </p:bld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A98DA53-67B2-3259-8E81-D8C60A059C3E}"/>
              </a:ext>
            </a:extLst>
          </p:cNvPr>
          <p:cNvSpPr>
            <a:spLocks noGrp="1"/>
          </p:cNvSpPr>
          <p:nvPr>
            <p:ph type="title"/>
          </p:nvPr>
        </p:nvSpPr>
        <p:spPr/>
        <p:txBody>
          <a:bodyPr/>
          <a:lstStyle/>
          <a:p>
            <a:r>
              <a:rPr lang="en-US" dirty="0"/>
              <a:t>Reversible </a:t>
            </a:r>
            <a:r>
              <a:rPr lang="en-US" dirty="0" smtClean="0"/>
              <a:t>computation circuits</a:t>
            </a:r>
            <a:endParaRPr lang="en-US" dirty="0"/>
          </a:p>
        </p:txBody>
      </p:sp>
      <p:sp>
        <p:nvSpPr>
          <p:cNvPr id="3" name="Content Placeholder 2">
            <a:extLst>
              <a:ext uri="{FF2B5EF4-FFF2-40B4-BE49-F238E27FC236}">
                <a16:creationId xmlns:a16="http://schemas.microsoft.com/office/drawing/2014/main" id="{5CAF5D2D-AB33-E747-8C55-F09D4B77436B}"/>
              </a:ext>
            </a:extLst>
          </p:cNvPr>
          <p:cNvSpPr>
            <a:spLocks noGrp="1"/>
          </p:cNvSpPr>
          <p:nvPr>
            <p:ph idx="1"/>
          </p:nvPr>
        </p:nvSpPr>
        <p:spPr/>
        <p:txBody>
          <a:bodyPr>
            <a:normAutofit fontScale="92500" lnSpcReduction="10000"/>
          </a:bodyPr>
          <a:lstStyle/>
          <a:p>
            <a:pPr marL="0" indent="0">
              <a:buNone/>
            </a:pPr>
            <a:r>
              <a:rPr lang="en-US" dirty="0"/>
              <a:t>We can put many bits together to compute:</a:t>
            </a:r>
          </a:p>
          <a:p>
            <a:pPr marL="0" indent="0">
              <a:buNone/>
            </a:pPr>
            <a:endParaRPr lang="en-US" dirty="0"/>
          </a:p>
          <a:p>
            <a:pPr marL="0" indent="0">
              <a:buNone/>
            </a:pPr>
            <a:endParaRPr lang="en-US" dirty="0"/>
          </a:p>
          <a:p>
            <a:pPr marL="0" indent="0">
              <a:buNone/>
            </a:pPr>
            <a:endParaRPr lang="en-US" dirty="0"/>
          </a:p>
          <a:p>
            <a:pPr marL="0" indent="0">
              <a:buNone/>
            </a:pPr>
            <a:endParaRPr lang="en-US" dirty="0"/>
          </a:p>
          <a:p>
            <a:pPr marL="0" indent="0">
              <a:buNone/>
            </a:pPr>
            <a:endParaRPr lang="en-US" dirty="0"/>
          </a:p>
          <a:p>
            <a:pPr marL="0" indent="0">
              <a:buNone/>
            </a:pPr>
            <a:endParaRPr lang="en-US" dirty="0"/>
          </a:p>
          <a:p>
            <a:pPr marL="0" indent="0">
              <a:buNone/>
            </a:pPr>
            <a:endParaRPr lang="en-US" dirty="0"/>
          </a:p>
          <a:p>
            <a:pPr marL="0" indent="0">
              <a:buNone/>
            </a:pPr>
            <a:r>
              <a:rPr lang="en-US" dirty="0"/>
              <a:t>Computation: a sequence of pre-determined </a:t>
            </a:r>
            <a:r>
              <a:rPr lang="en-US" dirty="0" smtClean="0"/>
              <a:t>reversible transformations </a:t>
            </a:r>
            <a:r>
              <a:rPr lang="en-US" dirty="0"/>
              <a:t>on </a:t>
            </a:r>
            <a:r>
              <a:rPr lang="en-US" dirty="0" smtClean="0"/>
              <a:t>specified </a:t>
            </a:r>
            <a:r>
              <a:rPr lang="en-US" dirty="0"/>
              <a:t>subsystems.</a:t>
            </a:r>
          </a:p>
        </p:txBody>
      </p:sp>
      <p:sp>
        <p:nvSpPr>
          <p:cNvPr id="4" name="Cube 3">
            <a:extLst>
              <a:ext uri="{FF2B5EF4-FFF2-40B4-BE49-F238E27FC236}">
                <a16:creationId xmlns:a16="http://schemas.microsoft.com/office/drawing/2014/main" id="{6D5CFB7A-C61F-F0B8-CD7B-A77C63D2A201}"/>
              </a:ext>
            </a:extLst>
          </p:cNvPr>
          <p:cNvSpPr/>
          <p:nvPr/>
        </p:nvSpPr>
        <p:spPr>
          <a:xfrm>
            <a:off x="4659958" y="2690668"/>
            <a:ext cx="420028" cy="405544"/>
          </a:xfrm>
          <a:prstGeom prst="cube">
            <a:avLst>
              <a:gd name="adj" fmla="val 29762"/>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Rectangle 4">
            <a:extLst>
              <a:ext uri="{FF2B5EF4-FFF2-40B4-BE49-F238E27FC236}">
                <a16:creationId xmlns:a16="http://schemas.microsoft.com/office/drawing/2014/main" id="{359D74CD-05AA-D866-A8E0-EA5642F12D02}"/>
              </a:ext>
            </a:extLst>
          </p:cNvPr>
          <p:cNvSpPr/>
          <p:nvPr/>
        </p:nvSpPr>
        <p:spPr>
          <a:xfrm>
            <a:off x="4659958" y="2810624"/>
            <a:ext cx="311100" cy="289674"/>
          </a:xfrm>
          <a:prstGeom prst="rect">
            <a:avLst/>
          </a:prstGeom>
          <a:solidFill>
            <a:schemeClr val="accent5">
              <a:lumMod val="50000"/>
            </a:schemeClr>
          </a:solidFill>
          <a:scene3d>
            <a:camera prst="orthographicFront">
              <a:rot lat="0" lon="0" rev="0"/>
            </a:camera>
            <a:lightRig rig="threePt" dir="t"/>
          </a:scene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Cube 5">
            <a:extLst>
              <a:ext uri="{FF2B5EF4-FFF2-40B4-BE49-F238E27FC236}">
                <a16:creationId xmlns:a16="http://schemas.microsoft.com/office/drawing/2014/main" id="{672E512B-9CB4-543E-DD58-865B5D97FADD}"/>
              </a:ext>
            </a:extLst>
          </p:cNvPr>
          <p:cNvSpPr/>
          <p:nvPr/>
        </p:nvSpPr>
        <p:spPr>
          <a:xfrm>
            <a:off x="5091535" y="2686582"/>
            <a:ext cx="420028" cy="405544"/>
          </a:xfrm>
          <a:prstGeom prst="cube">
            <a:avLst>
              <a:gd name="adj" fmla="val 29762"/>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Rectangle 6">
            <a:extLst>
              <a:ext uri="{FF2B5EF4-FFF2-40B4-BE49-F238E27FC236}">
                <a16:creationId xmlns:a16="http://schemas.microsoft.com/office/drawing/2014/main" id="{C4693EDC-09B5-F449-D79D-93059648C113}"/>
              </a:ext>
            </a:extLst>
          </p:cNvPr>
          <p:cNvSpPr/>
          <p:nvPr/>
        </p:nvSpPr>
        <p:spPr>
          <a:xfrm>
            <a:off x="5091535" y="2806538"/>
            <a:ext cx="311100" cy="289674"/>
          </a:xfrm>
          <a:prstGeom prst="rect">
            <a:avLst/>
          </a:prstGeom>
          <a:solidFill>
            <a:schemeClr val="accent5">
              <a:lumMod val="50000"/>
            </a:schemeClr>
          </a:solidFill>
          <a:scene3d>
            <a:camera prst="orthographicFront">
              <a:rot lat="0" lon="0" rev="0"/>
            </a:camera>
            <a:lightRig rig="threePt" dir="t"/>
          </a:scene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Cube 7">
            <a:extLst>
              <a:ext uri="{FF2B5EF4-FFF2-40B4-BE49-F238E27FC236}">
                <a16:creationId xmlns:a16="http://schemas.microsoft.com/office/drawing/2014/main" id="{DB1D68A8-46A5-27CC-D3B4-E6027DF4BCA3}"/>
              </a:ext>
            </a:extLst>
          </p:cNvPr>
          <p:cNvSpPr/>
          <p:nvPr/>
        </p:nvSpPr>
        <p:spPr>
          <a:xfrm>
            <a:off x="5545074" y="2694754"/>
            <a:ext cx="420028" cy="405544"/>
          </a:xfrm>
          <a:prstGeom prst="cube">
            <a:avLst>
              <a:gd name="adj" fmla="val 29762"/>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Rectangle 8">
            <a:extLst>
              <a:ext uri="{FF2B5EF4-FFF2-40B4-BE49-F238E27FC236}">
                <a16:creationId xmlns:a16="http://schemas.microsoft.com/office/drawing/2014/main" id="{513D75A1-0C2A-B4B1-5F68-D7978D5DB5D9}"/>
              </a:ext>
            </a:extLst>
          </p:cNvPr>
          <p:cNvSpPr/>
          <p:nvPr/>
        </p:nvSpPr>
        <p:spPr>
          <a:xfrm>
            <a:off x="5545074" y="2814710"/>
            <a:ext cx="311100" cy="289674"/>
          </a:xfrm>
          <a:prstGeom prst="rect">
            <a:avLst/>
          </a:prstGeom>
          <a:solidFill>
            <a:schemeClr val="accent5">
              <a:lumMod val="50000"/>
            </a:schemeClr>
          </a:solidFill>
          <a:scene3d>
            <a:camera prst="orthographicFront">
              <a:rot lat="0" lon="0" rev="0"/>
            </a:camera>
            <a:lightRig rig="threePt" dir="t"/>
          </a:scene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Cube 9">
            <a:extLst>
              <a:ext uri="{FF2B5EF4-FFF2-40B4-BE49-F238E27FC236}">
                <a16:creationId xmlns:a16="http://schemas.microsoft.com/office/drawing/2014/main" id="{F3EB865E-E5C6-FAB4-A7C9-589EB0AE7FEE}"/>
              </a:ext>
            </a:extLst>
          </p:cNvPr>
          <p:cNvSpPr/>
          <p:nvPr/>
        </p:nvSpPr>
        <p:spPr>
          <a:xfrm>
            <a:off x="5976651" y="2690668"/>
            <a:ext cx="420028" cy="405544"/>
          </a:xfrm>
          <a:prstGeom prst="cube">
            <a:avLst>
              <a:gd name="adj" fmla="val 29762"/>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Rectangle 10">
            <a:extLst>
              <a:ext uri="{FF2B5EF4-FFF2-40B4-BE49-F238E27FC236}">
                <a16:creationId xmlns:a16="http://schemas.microsoft.com/office/drawing/2014/main" id="{E5B388C1-079D-F3E1-DDDD-661A415ACF21}"/>
              </a:ext>
            </a:extLst>
          </p:cNvPr>
          <p:cNvSpPr/>
          <p:nvPr/>
        </p:nvSpPr>
        <p:spPr>
          <a:xfrm>
            <a:off x="5976651" y="2810624"/>
            <a:ext cx="311100" cy="289674"/>
          </a:xfrm>
          <a:prstGeom prst="rect">
            <a:avLst/>
          </a:prstGeom>
          <a:solidFill>
            <a:schemeClr val="accent5">
              <a:lumMod val="50000"/>
            </a:schemeClr>
          </a:solidFill>
          <a:scene3d>
            <a:camera prst="orthographicFront">
              <a:rot lat="0" lon="0" rev="0"/>
            </a:camera>
            <a:lightRig rig="threePt" dir="t"/>
          </a:scene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Cube 11">
            <a:extLst>
              <a:ext uri="{FF2B5EF4-FFF2-40B4-BE49-F238E27FC236}">
                <a16:creationId xmlns:a16="http://schemas.microsoft.com/office/drawing/2014/main" id="{8E173431-2618-ED8F-C5D0-72F8A58FD01F}"/>
              </a:ext>
            </a:extLst>
          </p:cNvPr>
          <p:cNvSpPr/>
          <p:nvPr/>
        </p:nvSpPr>
        <p:spPr>
          <a:xfrm>
            <a:off x="6396679" y="2690668"/>
            <a:ext cx="420028" cy="405544"/>
          </a:xfrm>
          <a:prstGeom prst="cube">
            <a:avLst>
              <a:gd name="adj" fmla="val 29762"/>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Rectangle 12">
            <a:extLst>
              <a:ext uri="{FF2B5EF4-FFF2-40B4-BE49-F238E27FC236}">
                <a16:creationId xmlns:a16="http://schemas.microsoft.com/office/drawing/2014/main" id="{FD7EEF76-E712-EFFC-8DBA-B4DA554718A5}"/>
              </a:ext>
            </a:extLst>
          </p:cNvPr>
          <p:cNvSpPr/>
          <p:nvPr/>
        </p:nvSpPr>
        <p:spPr>
          <a:xfrm>
            <a:off x="6396679" y="2810624"/>
            <a:ext cx="311100" cy="289674"/>
          </a:xfrm>
          <a:prstGeom prst="rect">
            <a:avLst/>
          </a:prstGeom>
          <a:solidFill>
            <a:schemeClr val="accent5">
              <a:lumMod val="50000"/>
            </a:schemeClr>
          </a:solidFill>
          <a:scene3d>
            <a:camera prst="orthographicFront">
              <a:rot lat="0" lon="0" rev="0"/>
            </a:camera>
            <a:lightRig rig="threePt" dir="t"/>
          </a:scene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Cube 13">
            <a:extLst>
              <a:ext uri="{FF2B5EF4-FFF2-40B4-BE49-F238E27FC236}">
                <a16:creationId xmlns:a16="http://schemas.microsoft.com/office/drawing/2014/main" id="{7AD64B2E-53E0-3F3B-F665-0D44DDF8D665}"/>
              </a:ext>
            </a:extLst>
          </p:cNvPr>
          <p:cNvSpPr/>
          <p:nvPr/>
        </p:nvSpPr>
        <p:spPr>
          <a:xfrm>
            <a:off x="6828256" y="2686582"/>
            <a:ext cx="420028" cy="405544"/>
          </a:xfrm>
          <a:prstGeom prst="cube">
            <a:avLst>
              <a:gd name="adj" fmla="val 29762"/>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Rectangle 14">
            <a:extLst>
              <a:ext uri="{FF2B5EF4-FFF2-40B4-BE49-F238E27FC236}">
                <a16:creationId xmlns:a16="http://schemas.microsoft.com/office/drawing/2014/main" id="{F63C20A6-BD3A-F7AD-D21D-EF1EB5A58C38}"/>
              </a:ext>
            </a:extLst>
          </p:cNvPr>
          <p:cNvSpPr/>
          <p:nvPr/>
        </p:nvSpPr>
        <p:spPr>
          <a:xfrm>
            <a:off x="6828256" y="2806538"/>
            <a:ext cx="311100" cy="289674"/>
          </a:xfrm>
          <a:prstGeom prst="rect">
            <a:avLst/>
          </a:prstGeom>
          <a:solidFill>
            <a:schemeClr val="accent5">
              <a:lumMod val="50000"/>
            </a:schemeClr>
          </a:solidFill>
          <a:scene3d>
            <a:camera prst="orthographicFront">
              <a:rot lat="0" lon="0" rev="0"/>
            </a:camera>
            <a:lightRig rig="threePt" dir="t"/>
          </a:scene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Cube 15">
            <a:extLst>
              <a:ext uri="{FF2B5EF4-FFF2-40B4-BE49-F238E27FC236}">
                <a16:creationId xmlns:a16="http://schemas.microsoft.com/office/drawing/2014/main" id="{4B0E1DC8-3974-7052-C016-21BA34003A70}"/>
              </a:ext>
            </a:extLst>
          </p:cNvPr>
          <p:cNvSpPr/>
          <p:nvPr/>
        </p:nvSpPr>
        <p:spPr>
          <a:xfrm>
            <a:off x="4659958" y="3200173"/>
            <a:ext cx="420028" cy="405544"/>
          </a:xfrm>
          <a:prstGeom prst="cube">
            <a:avLst>
              <a:gd name="adj" fmla="val 29762"/>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 name="Rectangle 16">
            <a:extLst>
              <a:ext uri="{FF2B5EF4-FFF2-40B4-BE49-F238E27FC236}">
                <a16:creationId xmlns:a16="http://schemas.microsoft.com/office/drawing/2014/main" id="{8A67236E-FB82-B22B-FBA5-2B7493173C17}"/>
              </a:ext>
            </a:extLst>
          </p:cNvPr>
          <p:cNvSpPr/>
          <p:nvPr/>
        </p:nvSpPr>
        <p:spPr>
          <a:xfrm>
            <a:off x="4659958" y="3320129"/>
            <a:ext cx="311100" cy="289674"/>
          </a:xfrm>
          <a:prstGeom prst="rect">
            <a:avLst/>
          </a:prstGeom>
          <a:solidFill>
            <a:schemeClr val="accent5">
              <a:lumMod val="50000"/>
            </a:schemeClr>
          </a:solidFill>
          <a:scene3d>
            <a:camera prst="orthographicFront">
              <a:rot lat="0" lon="0" rev="0"/>
            </a:camera>
            <a:lightRig rig="threePt" dir="t"/>
          </a:scene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 name="Cube 17">
            <a:extLst>
              <a:ext uri="{FF2B5EF4-FFF2-40B4-BE49-F238E27FC236}">
                <a16:creationId xmlns:a16="http://schemas.microsoft.com/office/drawing/2014/main" id="{14EA76FF-78BF-CA0A-E01F-646B1BAF40D9}"/>
              </a:ext>
            </a:extLst>
          </p:cNvPr>
          <p:cNvSpPr/>
          <p:nvPr/>
        </p:nvSpPr>
        <p:spPr>
          <a:xfrm>
            <a:off x="5091535" y="3196087"/>
            <a:ext cx="420028" cy="405544"/>
          </a:xfrm>
          <a:prstGeom prst="cube">
            <a:avLst>
              <a:gd name="adj" fmla="val 29762"/>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9" name="Rectangle 18">
            <a:extLst>
              <a:ext uri="{FF2B5EF4-FFF2-40B4-BE49-F238E27FC236}">
                <a16:creationId xmlns:a16="http://schemas.microsoft.com/office/drawing/2014/main" id="{08DB2197-FC62-D3D0-4078-B2B9DFAA6EB9}"/>
              </a:ext>
            </a:extLst>
          </p:cNvPr>
          <p:cNvSpPr/>
          <p:nvPr/>
        </p:nvSpPr>
        <p:spPr>
          <a:xfrm>
            <a:off x="5091535" y="3316043"/>
            <a:ext cx="311100" cy="289674"/>
          </a:xfrm>
          <a:prstGeom prst="rect">
            <a:avLst/>
          </a:prstGeom>
          <a:solidFill>
            <a:schemeClr val="accent5">
              <a:lumMod val="50000"/>
            </a:schemeClr>
          </a:solidFill>
          <a:scene3d>
            <a:camera prst="orthographicFront">
              <a:rot lat="0" lon="0" rev="0"/>
            </a:camera>
            <a:lightRig rig="threePt" dir="t"/>
          </a:scene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 name="Cube 19">
            <a:extLst>
              <a:ext uri="{FF2B5EF4-FFF2-40B4-BE49-F238E27FC236}">
                <a16:creationId xmlns:a16="http://schemas.microsoft.com/office/drawing/2014/main" id="{1DFA8694-620B-3B97-D58B-42132317F35F}"/>
              </a:ext>
            </a:extLst>
          </p:cNvPr>
          <p:cNvSpPr/>
          <p:nvPr/>
        </p:nvSpPr>
        <p:spPr>
          <a:xfrm>
            <a:off x="5545074" y="3204259"/>
            <a:ext cx="420028" cy="405544"/>
          </a:xfrm>
          <a:prstGeom prst="cube">
            <a:avLst>
              <a:gd name="adj" fmla="val 29762"/>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1" name="Rectangle 20">
            <a:extLst>
              <a:ext uri="{FF2B5EF4-FFF2-40B4-BE49-F238E27FC236}">
                <a16:creationId xmlns:a16="http://schemas.microsoft.com/office/drawing/2014/main" id="{3A3A10C8-937C-097C-FFEB-23E3226AB0A0}"/>
              </a:ext>
            </a:extLst>
          </p:cNvPr>
          <p:cNvSpPr/>
          <p:nvPr/>
        </p:nvSpPr>
        <p:spPr>
          <a:xfrm>
            <a:off x="5545074" y="3324215"/>
            <a:ext cx="311100" cy="289674"/>
          </a:xfrm>
          <a:prstGeom prst="rect">
            <a:avLst/>
          </a:prstGeom>
          <a:solidFill>
            <a:schemeClr val="accent5">
              <a:lumMod val="50000"/>
            </a:schemeClr>
          </a:solidFill>
          <a:scene3d>
            <a:camera prst="orthographicFront">
              <a:rot lat="0" lon="0" rev="0"/>
            </a:camera>
            <a:lightRig rig="threePt" dir="t"/>
          </a:scene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2" name="Cube 21">
            <a:extLst>
              <a:ext uri="{FF2B5EF4-FFF2-40B4-BE49-F238E27FC236}">
                <a16:creationId xmlns:a16="http://schemas.microsoft.com/office/drawing/2014/main" id="{BE62DB14-AD6E-429C-E901-1E5D761A93AA}"/>
              </a:ext>
            </a:extLst>
          </p:cNvPr>
          <p:cNvSpPr/>
          <p:nvPr/>
        </p:nvSpPr>
        <p:spPr>
          <a:xfrm>
            <a:off x="5976651" y="3200173"/>
            <a:ext cx="420028" cy="405544"/>
          </a:xfrm>
          <a:prstGeom prst="cube">
            <a:avLst>
              <a:gd name="adj" fmla="val 29762"/>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3" name="Rectangle 22">
            <a:extLst>
              <a:ext uri="{FF2B5EF4-FFF2-40B4-BE49-F238E27FC236}">
                <a16:creationId xmlns:a16="http://schemas.microsoft.com/office/drawing/2014/main" id="{38E37A08-F605-E27E-E59E-C9E19AB10355}"/>
              </a:ext>
            </a:extLst>
          </p:cNvPr>
          <p:cNvSpPr/>
          <p:nvPr/>
        </p:nvSpPr>
        <p:spPr>
          <a:xfrm>
            <a:off x="5976651" y="3320129"/>
            <a:ext cx="311100" cy="289674"/>
          </a:xfrm>
          <a:prstGeom prst="rect">
            <a:avLst/>
          </a:prstGeom>
          <a:solidFill>
            <a:schemeClr val="accent5">
              <a:lumMod val="50000"/>
            </a:schemeClr>
          </a:solidFill>
          <a:scene3d>
            <a:camera prst="orthographicFront">
              <a:rot lat="0" lon="0" rev="0"/>
            </a:camera>
            <a:lightRig rig="threePt" dir="t"/>
          </a:scene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4" name="Cube 23">
            <a:extLst>
              <a:ext uri="{FF2B5EF4-FFF2-40B4-BE49-F238E27FC236}">
                <a16:creationId xmlns:a16="http://schemas.microsoft.com/office/drawing/2014/main" id="{4CD644DC-839E-1ADD-4276-5F8DE39461A6}"/>
              </a:ext>
            </a:extLst>
          </p:cNvPr>
          <p:cNvSpPr/>
          <p:nvPr/>
        </p:nvSpPr>
        <p:spPr>
          <a:xfrm>
            <a:off x="6396679" y="3200173"/>
            <a:ext cx="420028" cy="405544"/>
          </a:xfrm>
          <a:prstGeom prst="cube">
            <a:avLst>
              <a:gd name="adj" fmla="val 29762"/>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5" name="Rectangle 24">
            <a:extLst>
              <a:ext uri="{FF2B5EF4-FFF2-40B4-BE49-F238E27FC236}">
                <a16:creationId xmlns:a16="http://schemas.microsoft.com/office/drawing/2014/main" id="{2B666D54-814A-2555-EDFF-DF000DD7DA57}"/>
              </a:ext>
            </a:extLst>
          </p:cNvPr>
          <p:cNvSpPr/>
          <p:nvPr/>
        </p:nvSpPr>
        <p:spPr>
          <a:xfrm>
            <a:off x="6396679" y="3320129"/>
            <a:ext cx="311100" cy="289674"/>
          </a:xfrm>
          <a:prstGeom prst="rect">
            <a:avLst/>
          </a:prstGeom>
          <a:solidFill>
            <a:schemeClr val="accent5">
              <a:lumMod val="50000"/>
            </a:schemeClr>
          </a:solidFill>
          <a:scene3d>
            <a:camera prst="orthographicFront">
              <a:rot lat="0" lon="0" rev="0"/>
            </a:camera>
            <a:lightRig rig="threePt" dir="t"/>
          </a:scene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6" name="Cube 25">
            <a:extLst>
              <a:ext uri="{FF2B5EF4-FFF2-40B4-BE49-F238E27FC236}">
                <a16:creationId xmlns:a16="http://schemas.microsoft.com/office/drawing/2014/main" id="{ADD74C6A-EEA6-3C4F-494F-47FF1DB26A0E}"/>
              </a:ext>
            </a:extLst>
          </p:cNvPr>
          <p:cNvSpPr/>
          <p:nvPr/>
        </p:nvSpPr>
        <p:spPr>
          <a:xfrm>
            <a:off x="6828256" y="3196087"/>
            <a:ext cx="420028" cy="405544"/>
          </a:xfrm>
          <a:prstGeom prst="cube">
            <a:avLst>
              <a:gd name="adj" fmla="val 29762"/>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7" name="Rectangle 26">
            <a:extLst>
              <a:ext uri="{FF2B5EF4-FFF2-40B4-BE49-F238E27FC236}">
                <a16:creationId xmlns:a16="http://schemas.microsoft.com/office/drawing/2014/main" id="{DCFE42C4-D7E5-F7A3-EA1D-D009E1B34334}"/>
              </a:ext>
            </a:extLst>
          </p:cNvPr>
          <p:cNvSpPr/>
          <p:nvPr/>
        </p:nvSpPr>
        <p:spPr>
          <a:xfrm>
            <a:off x="6828256" y="3316043"/>
            <a:ext cx="311100" cy="289674"/>
          </a:xfrm>
          <a:prstGeom prst="rect">
            <a:avLst/>
          </a:prstGeom>
          <a:solidFill>
            <a:schemeClr val="accent5">
              <a:lumMod val="50000"/>
            </a:schemeClr>
          </a:solidFill>
          <a:scene3d>
            <a:camera prst="orthographicFront">
              <a:rot lat="0" lon="0" rev="0"/>
            </a:camera>
            <a:lightRig rig="threePt" dir="t"/>
          </a:scene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8" name="Cube 27">
            <a:extLst>
              <a:ext uri="{FF2B5EF4-FFF2-40B4-BE49-F238E27FC236}">
                <a16:creationId xmlns:a16="http://schemas.microsoft.com/office/drawing/2014/main" id="{F612E7EC-5C2D-CA7F-05EC-9D5CF49F19BF}"/>
              </a:ext>
            </a:extLst>
          </p:cNvPr>
          <p:cNvSpPr/>
          <p:nvPr/>
        </p:nvSpPr>
        <p:spPr>
          <a:xfrm>
            <a:off x="4659958" y="3709281"/>
            <a:ext cx="420028" cy="405544"/>
          </a:xfrm>
          <a:prstGeom prst="cube">
            <a:avLst>
              <a:gd name="adj" fmla="val 29762"/>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9" name="Rectangle 28">
            <a:extLst>
              <a:ext uri="{FF2B5EF4-FFF2-40B4-BE49-F238E27FC236}">
                <a16:creationId xmlns:a16="http://schemas.microsoft.com/office/drawing/2014/main" id="{DF248117-1032-7CEC-FDE0-D97246D75344}"/>
              </a:ext>
            </a:extLst>
          </p:cNvPr>
          <p:cNvSpPr/>
          <p:nvPr/>
        </p:nvSpPr>
        <p:spPr>
          <a:xfrm>
            <a:off x="4659958" y="3829237"/>
            <a:ext cx="311100" cy="289674"/>
          </a:xfrm>
          <a:prstGeom prst="rect">
            <a:avLst/>
          </a:prstGeom>
          <a:solidFill>
            <a:schemeClr val="accent5">
              <a:lumMod val="50000"/>
            </a:schemeClr>
          </a:solidFill>
          <a:scene3d>
            <a:camera prst="orthographicFront">
              <a:rot lat="0" lon="0" rev="0"/>
            </a:camera>
            <a:lightRig rig="threePt" dir="t"/>
          </a:scene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0" name="Cube 29">
            <a:extLst>
              <a:ext uri="{FF2B5EF4-FFF2-40B4-BE49-F238E27FC236}">
                <a16:creationId xmlns:a16="http://schemas.microsoft.com/office/drawing/2014/main" id="{AA24651F-11D8-C93B-31E7-83956E8F5064}"/>
              </a:ext>
            </a:extLst>
          </p:cNvPr>
          <p:cNvSpPr/>
          <p:nvPr/>
        </p:nvSpPr>
        <p:spPr>
          <a:xfrm>
            <a:off x="5091535" y="3705195"/>
            <a:ext cx="420028" cy="405544"/>
          </a:xfrm>
          <a:prstGeom prst="cube">
            <a:avLst>
              <a:gd name="adj" fmla="val 29762"/>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1" name="Rectangle 30">
            <a:extLst>
              <a:ext uri="{FF2B5EF4-FFF2-40B4-BE49-F238E27FC236}">
                <a16:creationId xmlns:a16="http://schemas.microsoft.com/office/drawing/2014/main" id="{77C4F0C4-FC1D-62A0-CC46-DB083D2A1130}"/>
              </a:ext>
            </a:extLst>
          </p:cNvPr>
          <p:cNvSpPr/>
          <p:nvPr/>
        </p:nvSpPr>
        <p:spPr>
          <a:xfrm>
            <a:off x="5091535" y="3825151"/>
            <a:ext cx="311100" cy="289674"/>
          </a:xfrm>
          <a:prstGeom prst="rect">
            <a:avLst/>
          </a:prstGeom>
          <a:solidFill>
            <a:schemeClr val="accent5">
              <a:lumMod val="50000"/>
            </a:schemeClr>
          </a:solidFill>
          <a:scene3d>
            <a:camera prst="orthographicFront">
              <a:rot lat="0" lon="0" rev="0"/>
            </a:camera>
            <a:lightRig rig="threePt" dir="t"/>
          </a:scene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2" name="Cube 31">
            <a:extLst>
              <a:ext uri="{FF2B5EF4-FFF2-40B4-BE49-F238E27FC236}">
                <a16:creationId xmlns:a16="http://schemas.microsoft.com/office/drawing/2014/main" id="{6F37F598-5FE8-626A-9F3D-6E5DEA7C532F}"/>
              </a:ext>
            </a:extLst>
          </p:cNvPr>
          <p:cNvSpPr/>
          <p:nvPr/>
        </p:nvSpPr>
        <p:spPr>
          <a:xfrm>
            <a:off x="5545074" y="3713367"/>
            <a:ext cx="420028" cy="405544"/>
          </a:xfrm>
          <a:prstGeom prst="cube">
            <a:avLst>
              <a:gd name="adj" fmla="val 29762"/>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3" name="Rectangle 32">
            <a:extLst>
              <a:ext uri="{FF2B5EF4-FFF2-40B4-BE49-F238E27FC236}">
                <a16:creationId xmlns:a16="http://schemas.microsoft.com/office/drawing/2014/main" id="{339FBA81-2222-3840-0B44-0A533D7A23B2}"/>
              </a:ext>
            </a:extLst>
          </p:cNvPr>
          <p:cNvSpPr/>
          <p:nvPr/>
        </p:nvSpPr>
        <p:spPr>
          <a:xfrm>
            <a:off x="5545074" y="3833323"/>
            <a:ext cx="311100" cy="289674"/>
          </a:xfrm>
          <a:prstGeom prst="rect">
            <a:avLst/>
          </a:prstGeom>
          <a:solidFill>
            <a:schemeClr val="accent5">
              <a:lumMod val="50000"/>
            </a:schemeClr>
          </a:solidFill>
          <a:scene3d>
            <a:camera prst="orthographicFront">
              <a:rot lat="0" lon="0" rev="0"/>
            </a:camera>
            <a:lightRig rig="threePt" dir="t"/>
          </a:scene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4" name="Cube 33">
            <a:extLst>
              <a:ext uri="{FF2B5EF4-FFF2-40B4-BE49-F238E27FC236}">
                <a16:creationId xmlns:a16="http://schemas.microsoft.com/office/drawing/2014/main" id="{E1A55E61-3712-0776-A036-6CAB042D2763}"/>
              </a:ext>
            </a:extLst>
          </p:cNvPr>
          <p:cNvSpPr/>
          <p:nvPr/>
        </p:nvSpPr>
        <p:spPr>
          <a:xfrm>
            <a:off x="5976651" y="3709281"/>
            <a:ext cx="420028" cy="405544"/>
          </a:xfrm>
          <a:prstGeom prst="cube">
            <a:avLst>
              <a:gd name="adj" fmla="val 29762"/>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5" name="Rectangle 34">
            <a:extLst>
              <a:ext uri="{FF2B5EF4-FFF2-40B4-BE49-F238E27FC236}">
                <a16:creationId xmlns:a16="http://schemas.microsoft.com/office/drawing/2014/main" id="{1D25B718-6567-52FC-37A4-04077722D427}"/>
              </a:ext>
            </a:extLst>
          </p:cNvPr>
          <p:cNvSpPr/>
          <p:nvPr/>
        </p:nvSpPr>
        <p:spPr>
          <a:xfrm>
            <a:off x="5976651" y="3829237"/>
            <a:ext cx="311100" cy="289674"/>
          </a:xfrm>
          <a:prstGeom prst="rect">
            <a:avLst/>
          </a:prstGeom>
          <a:solidFill>
            <a:schemeClr val="accent5">
              <a:lumMod val="50000"/>
            </a:schemeClr>
          </a:solidFill>
          <a:scene3d>
            <a:camera prst="orthographicFront">
              <a:rot lat="0" lon="0" rev="0"/>
            </a:camera>
            <a:lightRig rig="threePt" dir="t"/>
          </a:scene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6" name="Cube 35">
            <a:extLst>
              <a:ext uri="{FF2B5EF4-FFF2-40B4-BE49-F238E27FC236}">
                <a16:creationId xmlns:a16="http://schemas.microsoft.com/office/drawing/2014/main" id="{9760D579-4AB0-96F6-538A-7C7CFFC36864}"/>
              </a:ext>
            </a:extLst>
          </p:cNvPr>
          <p:cNvSpPr/>
          <p:nvPr/>
        </p:nvSpPr>
        <p:spPr>
          <a:xfrm>
            <a:off x="6396679" y="3709281"/>
            <a:ext cx="420028" cy="405544"/>
          </a:xfrm>
          <a:prstGeom prst="cube">
            <a:avLst>
              <a:gd name="adj" fmla="val 29762"/>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7" name="Rectangle 36">
            <a:extLst>
              <a:ext uri="{FF2B5EF4-FFF2-40B4-BE49-F238E27FC236}">
                <a16:creationId xmlns:a16="http://schemas.microsoft.com/office/drawing/2014/main" id="{530B1D1B-4726-B503-B417-3F142730909E}"/>
              </a:ext>
            </a:extLst>
          </p:cNvPr>
          <p:cNvSpPr/>
          <p:nvPr/>
        </p:nvSpPr>
        <p:spPr>
          <a:xfrm>
            <a:off x="6396679" y="3829237"/>
            <a:ext cx="311100" cy="289674"/>
          </a:xfrm>
          <a:prstGeom prst="rect">
            <a:avLst/>
          </a:prstGeom>
          <a:solidFill>
            <a:schemeClr val="accent5">
              <a:lumMod val="50000"/>
            </a:schemeClr>
          </a:solidFill>
          <a:scene3d>
            <a:camera prst="orthographicFront">
              <a:rot lat="0" lon="0" rev="0"/>
            </a:camera>
            <a:lightRig rig="threePt" dir="t"/>
          </a:scene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8" name="Cube 37">
            <a:extLst>
              <a:ext uri="{FF2B5EF4-FFF2-40B4-BE49-F238E27FC236}">
                <a16:creationId xmlns:a16="http://schemas.microsoft.com/office/drawing/2014/main" id="{EB360F88-3239-782C-2D4D-32CE311F8A1F}"/>
              </a:ext>
            </a:extLst>
          </p:cNvPr>
          <p:cNvSpPr/>
          <p:nvPr/>
        </p:nvSpPr>
        <p:spPr>
          <a:xfrm>
            <a:off x="6828256" y="3705195"/>
            <a:ext cx="420028" cy="405544"/>
          </a:xfrm>
          <a:prstGeom prst="cube">
            <a:avLst>
              <a:gd name="adj" fmla="val 29762"/>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9" name="Rectangle 38">
            <a:extLst>
              <a:ext uri="{FF2B5EF4-FFF2-40B4-BE49-F238E27FC236}">
                <a16:creationId xmlns:a16="http://schemas.microsoft.com/office/drawing/2014/main" id="{BC165622-7702-BBE5-80E3-8D6B39B4AF4A}"/>
              </a:ext>
            </a:extLst>
          </p:cNvPr>
          <p:cNvSpPr/>
          <p:nvPr/>
        </p:nvSpPr>
        <p:spPr>
          <a:xfrm>
            <a:off x="6828256" y="3825151"/>
            <a:ext cx="311100" cy="289674"/>
          </a:xfrm>
          <a:prstGeom prst="rect">
            <a:avLst/>
          </a:prstGeom>
          <a:solidFill>
            <a:schemeClr val="accent5">
              <a:lumMod val="50000"/>
            </a:schemeClr>
          </a:solidFill>
          <a:scene3d>
            <a:camera prst="orthographicFront">
              <a:rot lat="0" lon="0" rev="0"/>
            </a:camera>
            <a:lightRig rig="threePt" dir="t"/>
          </a:scene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0" name="Cube 39">
            <a:extLst>
              <a:ext uri="{FF2B5EF4-FFF2-40B4-BE49-F238E27FC236}">
                <a16:creationId xmlns:a16="http://schemas.microsoft.com/office/drawing/2014/main" id="{4DAFD58B-D954-99F4-18C3-8BF5295DA867}"/>
              </a:ext>
            </a:extLst>
          </p:cNvPr>
          <p:cNvSpPr/>
          <p:nvPr/>
        </p:nvSpPr>
        <p:spPr>
          <a:xfrm>
            <a:off x="4659958" y="4218786"/>
            <a:ext cx="420028" cy="405544"/>
          </a:xfrm>
          <a:prstGeom prst="cube">
            <a:avLst>
              <a:gd name="adj" fmla="val 29762"/>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1" name="Rectangle 40">
            <a:extLst>
              <a:ext uri="{FF2B5EF4-FFF2-40B4-BE49-F238E27FC236}">
                <a16:creationId xmlns:a16="http://schemas.microsoft.com/office/drawing/2014/main" id="{944136D2-7B79-8CA2-E167-22B707E18C73}"/>
              </a:ext>
            </a:extLst>
          </p:cNvPr>
          <p:cNvSpPr/>
          <p:nvPr/>
        </p:nvSpPr>
        <p:spPr>
          <a:xfrm>
            <a:off x="4659958" y="4338742"/>
            <a:ext cx="311100" cy="289674"/>
          </a:xfrm>
          <a:prstGeom prst="rect">
            <a:avLst/>
          </a:prstGeom>
          <a:solidFill>
            <a:schemeClr val="accent5">
              <a:lumMod val="50000"/>
            </a:schemeClr>
          </a:solidFill>
          <a:scene3d>
            <a:camera prst="orthographicFront">
              <a:rot lat="0" lon="0" rev="0"/>
            </a:camera>
            <a:lightRig rig="threePt" dir="t"/>
          </a:scene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2" name="Cube 41">
            <a:extLst>
              <a:ext uri="{FF2B5EF4-FFF2-40B4-BE49-F238E27FC236}">
                <a16:creationId xmlns:a16="http://schemas.microsoft.com/office/drawing/2014/main" id="{D4FBF717-EFF3-34EF-230E-13B07065873A}"/>
              </a:ext>
            </a:extLst>
          </p:cNvPr>
          <p:cNvSpPr/>
          <p:nvPr/>
        </p:nvSpPr>
        <p:spPr>
          <a:xfrm>
            <a:off x="5091535" y="4214700"/>
            <a:ext cx="420028" cy="405544"/>
          </a:xfrm>
          <a:prstGeom prst="cube">
            <a:avLst>
              <a:gd name="adj" fmla="val 29762"/>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3" name="Rectangle 42">
            <a:extLst>
              <a:ext uri="{FF2B5EF4-FFF2-40B4-BE49-F238E27FC236}">
                <a16:creationId xmlns:a16="http://schemas.microsoft.com/office/drawing/2014/main" id="{2BFDCC08-C7B2-1401-5AC3-99C2D3215982}"/>
              </a:ext>
            </a:extLst>
          </p:cNvPr>
          <p:cNvSpPr/>
          <p:nvPr/>
        </p:nvSpPr>
        <p:spPr>
          <a:xfrm>
            <a:off x="5091535" y="4334656"/>
            <a:ext cx="311100" cy="289674"/>
          </a:xfrm>
          <a:prstGeom prst="rect">
            <a:avLst/>
          </a:prstGeom>
          <a:solidFill>
            <a:schemeClr val="accent5">
              <a:lumMod val="50000"/>
            </a:schemeClr>
          </a:solidFill>
          <a:scene3d>
            <a:camera prst="orthographicFront">
              <a:rot lat="0" lon="0" rev="0"/>
            </a:camera>
            <a:lightRig rig="threePt" dir="t"/>
          </a:scene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4" name="Cube 43">
            <a:extLst>
              <a:ext uri="{FF2B5EF4-FFF2-40B4-BE49-F238E27FC236}">
                <a16:creationId xmlns:a16="http://schemas.microsoft.com/office/drawing/2014/main" id="{72D7507C-F099-342B-0A76-02B8E1327F6D}"/>
              </a:ext>
            </a:extLst>
          </p:cNvPr>
          <p:cNvSpPr/>
          <p:nvPr/>
        </p:nvSpPr>
        <p:spPr>
          <a:xfrm>
            <a:off x="5545074" y="4222872"/>
            <a:ext cx="420028" cy="405544"/>
          </a:xfrm>
          <a:prstGeom prst="cube">
            <a:avLst>
              <a:gd name="adj" fmla="val 29762"/>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5" name="Rectangle 44">
            <a:extLst>
              <a:ext uri="{FF2B5EF4-FFF2-40B4-BE49-F238E27FC236}">
                <a16:creationId xmlns:a16="http://schemas.microsoft.com/office/drawing/2014/main" id="{6942BF04-5ABE-8C8F-2F1B-B915D0335EE5}"/>
              </a:ext>
            </a:extLst>
          </p:cNvPr>
          <p:cNvSpPr/>
          <p:nvPr/>
        </p:nvSpPr>
        <p:spPr>
          <a:xfrm>
            <a:off x="5545074" y="4342828"/>
            <a:ext cx="311100" cy="289674"/>
          </a:xfrm>
          <a:prstGeom prst="rect">
            <a:avLst/>
          </a:prstGeom>
          <a:solidFill>
            <a:schemeClr val="accent5">
              <a:lumMod val="50000"/>
            </a:schemeClr>
          </a:solidFill>
          <a:scene3d>
            <a:camera prst="orthographicFront">
              <a:rot lat="0" lon="0" rev="0"/>
            </a:camera>
            <a:lightRig rig="threePt" dir="t"/>
          </a:scene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6" name="Cube 45">
            <a:extLst>
              <a:ext uri="{FF2B5EF4-FFF2-40B4-BE49-F238E27FC236}">
                <a16:creationId xmlns:a16="http://schemas.microsoft.com/office/drawing/2014/main" id="{F42CB486-2C8F-ADC6-3329-90614A01C573}"/>
              </a:ext>
            </a:extLst>
          </p:cNvPr>
          <p:cNvSpPr/>
          <p:nvPr/>
        </p:nvSpPr>
        <p:spPr>
          <a:xfrm>
            <a:off x="5976651" y="4218786"/>
            <a:ext cx="420028" cy="405544"/>
          </a:xfrm>
          <a:prstGeom prst="cube">
            <a:avLst>
              <a:gd name="adj" fmla="val 29762"/>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7" name="Rectangle 46">
            <a:extLst>
              <a:ext uri="{FF2B5EF4-FFF2-40B4-BE49-F238E27FC236}">
                <a16:creationId xmlns:a16="http://schemas.microsoft.com/office/drawing/2014/main" id="{2AC56042-020A-1401-FA35-FAF153F688EF}"/>
              </a:ext>
            </a:extLst>
          </p:cNvPr>
          <p:cNvSpPr/>
          <p:nvPr/>
        </p:nvSpPr>
        <p:spPr>
          <a:xfrm>
            <a:off x="5976651" y="4338742"/>
            <a:ext cx="311100" cy="289674"/>
          </a:xfrm>
          <a:prstGeom prst="rect">
            <a:avLst/>
          </a:prstGeom>
          <a:solidFill>
            <a:schemeClr val="accent5">
              <a:lumMod val="50000"/>
            </a:schemeClr>
          </a:solidFill>
          <a:scene3d>
            <a:camera prst="orthographicFront">
              <a:rot lat="0" lon="0" rev="0"/>
            </a:camera>
            <a:lightRig rig="threePt" dir="t"/>
          </a:scene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8" name="Cube 47">
            <a:extLst>
              <a:ext uri="{FF2B5EF4-FFF2-40B4-BE49-F238E27FC236}">
                <a16:creationId xmlns:a16="http://schemas.microsoft.com/office/drawing/2014/main" id="{E1314518-03CB-57A4-B6B8-8E42E4E222AA}"/>
              </a:ext>
            </a:extLst>
          </p:cNvPr>
          <p:cNvSpPr/>
          <p:nvPr/>
        </p:nvSpPr>
        <p:spPr>
          <a:xfrm>
            <a:off x="6396679" y="4218786"/>
            <a:ext cx="420028" cy="405544"/>
          </a:xfrm>
          <a:prstGeom prst="cube">
            <a:avLst>
              <a:gd name="adj" fmla="val 29762"/>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9" name="Rectangle 48">
            <a:extLst>
              <a:ext uri="{FF2B5EF4-FFF2-40B4-BE49-F238E27FC236}">
                <a16:creationId xmlns:a16="http://schemas.microsoft.com/office/drawing/2014/main" id="{5BEC64E4-A07D-77C0-7419-DEF170D3458B}"/>
              </a:ext>
            </a:extLst>
          </p:cNvPr>
          <p:cNvSpPr/>
          <p:nvPr/>
        </p:nvSpPr>
        <p:spPr>
          <a:xfrm>
            <a:off x="6396679" y="4338742"/>
            <a:ext cx="311100" cy="289674"/>
          </a:xfrm>
          <a:prstGeom prst="rect">
            <a:avLst/>
          </a:prstGeom>
          <a:solidFill>
            <a:schemeClr val="accent5">
              <a:lumMod val="50000"/>
            </a:schemeClr>
          </a:solidFill>
          <a:scene3d>
            <a:camera prst="orthographicFront">
              <a:rot lat="0" lon="0" rev="0"/>
            </a:camera>
            <a:lightRig rig="threePt" dir="t"/>
          </a:scene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0" name="Cube 49">
            <a:extLst>
              <a:ext uri="{FF2B5EF4-FFF2-40B4-BE49-F238E27FC236}">
                <a16:creationId xmlns:a16="http://schemas.microsoft.com/office/drawing/2014/main" id="{39913D7E-86BA-222D-A8CB-1E46B7D0AE0A}"/>
              </a:ext>
            </a:extLst>
          </p:cNvPr>
          <p:cNvSpPr/>
          <p:nvPr/>
        </p:nvSpPr>
        <p:spPr>
          <a:xfrm>
            <a:off x="6828256" y="4214700"/>
            <a:ext cx="420028" cy="405544"/>
          </a:xfrm>
          <a:prstGeom prst="cube">
            <a:avLst>
              <a:gd name="adj" fmla="val 29762"/>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1" name="Rectangle 50">
            <a:extLst>
              <a:ext uri="{FF2B5EF4-FFF2-40B4-BE49-F238E27FC236}">
                <a16:creationId xmlns:a16="http://schemas.microsoft.com/office/drawing/2014/main" id="{5EB8FB50-E622-9E81-5D4F-40DF03CE4F00}"/>
              </a:ext>
            </a:extLst>
          </p:cNvPr>
          <p:cNvSpPr/>
          <p:nvPr/>
        </p:nvSpPr>
        <p:spPr>
          <a:xfrm>
            <a:off x="6828256" y="4334656"/>
            <a:ext cx="311100" cy="289674"/>
          </a:xfrm>
          <a:prstGeom prst="rect">
            <a:avLst/>
          </a:prstGeom>
          <a:solidFill>
            <a:schemeClr val="accent5">
              <a:lumMod val="50000"/>
            </a:schemeClr>
          </a:solidFill>
          <a:scene3d>
            <a:camera prst="orthographicFront">
              <a:rot lat="0" lon="0" rev="0"/>
            </a:camera>
            <a:lightRig rig="threePt" dir="t"/>
          </a:scene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83505497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6" presetClass="emph" presetSubtype="0" repeatCount="2000" fill="hold" grpId="0" nodeType="clickEffect">
                                  <p:stCondLst>
                                    <p:cond delay="0"/>
                                  </p:stCondLst>
                                  <p:childTnLst>
                                    <p:animEffect transition="out" filter="fade">
                                      <p:cBhvr>
                                        <p:cTn id="6" dur="500" tmFilter="0, 0; .2, .5; .8, .5; 1, 0"/>
                                        <p:tgtEl>
                                          <p:spTgt spid="48"/>
                                        </p:tgtEl>
                                      </p:cBhvr>
                                    </p:animEffect>
                                    <p:animScale>
                                      <p:cBhvr>
                                        <p:cTn id="7" dur="250" autoRev="1" fill="hold"/>
                                        <p:tgtEl>
                                          <p:spTgt spid="48"/>
                                        </p:tgtEl>
                                      </p:cBhvr>
                                      <p:by x="105000" y="105000"/>
                                    </p:animScale>
                                  </p:childTnLst>
                                </p:cTn>
                              </p:par>
                              <p:par>
                                <p:cTn id="8" presetID="26" presetClass="emph" presetSubtype="0" repeatCount="2000" fill="hold" grpId="0" nodeType="withEffect">
                                  <p:stCondLst>
                                    <p:cond delay="0"/>
                                  </p:stCondLst>
                                  <p:childTnLst>
                                    <p:animEffect transition="out" filter="fade">
                                      <p:cBhvr>
                                        <p:cTn id="9" dur="500" tmFilter="0, 0; .2, .5; .8, .5; 1, 0"/>
                                        <p:tgtEl>
                                          <p:spTgt spid="49"/>
                                        </p:tgtEl>
                                      </p:cBhvr>
                                    </p:animEffect>
                                    <p:animScale>
                                      <p:cBhvr>
                                        <p:cTn id="10" dur="250" autoRev="1" fill="hold"/>
                                        <p:tgtEl>
                                          <p:spTgt spid="49"/>
                                        </p:tgtEl>
                                      </p:cBhvr>
                                      <p:by x="105000" y="105000"/>
                                    </p:animScale>
                                  </p:childTnLst>
                                </p:cTn>
                              </p:par>
                              <p:par>
                                <p:cTn id="11" presetID="26" presetClass="emph" presetSubtype="0" repeatCount="2000" fill="hold" grpId="0" nodeType="withEffect">
                                  <p:stCondLst>
                                    <p:cond delay="0"/>
                                  </p:stCondLst>
                                  <p:childTnLst>
                                    <p:animEffect transition="out" filter="fade">
                                      <p:cBhvr>
                                        <p:cTn id="12" dur="500" tmFilter="0, 0; .2, .5; .8, .5; 1, 0"/>
                                        <p:tgtEl>
                                          <p:spTgt spid="50"/>
                                        </p:tgtEl>
                                      </p:cBhvr>
                                    </p:animEffect>
                                    <p:animScale>
                                      <p:cBhvr>
                                        <p:cTn id="13" dur="250" autoRev="1" fill="hold"/>
                                        <p:tgtEl>
                                          <p:spTgt spid="50"/>
                                        </p:tgtEl>
                                      </p:cBhvr>
                                      <p:by x="105000" y="105000"/>
                                    </p:animScale>
                                  </p:childTnLst>
                                </p:cTn>
                              </p:par>
                              <p:par>
                                <p:cTn id="14" presetID="26" presetClass="emph" presetSubtype="0" repeatCount="2000" fill="hold" grpId="0" nodeType="withEffect">
                                  <p:stCondLst>
                                    <p:cond delay="0"/>
                                  </p:stCondLst>
                                  <p:childTnLst>
                                    <p:animEffect transition="out" filter="fade">
                                      <p:cBhvr>
                                        <p:cTn id="15" dur="500" tmFilter="0, 0; .2, .5; .8, .5; 1, 0"/>
                                        <p:tgtEl>
                                          <p:spTgt spid="51"/>
                                        </p:tgtEl>
                                      </p:cBhvr>
                                    </p:animEffect>
                                    <p:animScale>
                                      <p:cBhvr>
                                        <p:cTn id="16" dur="250" autoRev="1" fill="hold"/>
                                        <p:tgtEl>
                                          <p:spTgt spid="51"/>
                                        </p:tgtEl>
                                      </p:cBhvr>
                                      <p:by x="105000" y="105000"/>
                                    </p:animScale>
                                  </p:childTnLst>
                                </p:cTn>
                              </p:par>
                            </p:childTnLst>
                          </p:cTn>
                        </p:par>
                        <p:par>
                          <p:cTn id="17" fill="hold">
                            <p:stCondLst>
                              <p:cond delay="1000"/>
                            </p:stCondLst>
                            <p:childTnLst>
                              <p:par>
                                <p:cTn id="18" presetID="26" presetClass="emph" presetSubtype="0" repeatCount="2000" fill="hold" grpId="0" nodeType="afterEffect">
                                  <p:stCondLst>
                                    <p:cond delay="0"/>
                                  </p:stCondLst>
                                  <p:childTnLst>
                                    <p:animEffect transition="out" filter="fade">
                                      <p:cBhvr>
                                        <p:cTn id="19" dur="500" tmFilter="0, 0; .2, .5; .8, .5; 1, 0"/>
                                        <p:tgtEl>
                                          <p:spTgt spid="4"/>
                                        </p:tgtEl>
                                      </p:cBhvr>
                                    </p:animEffect>
                                    <p:animScale>
                                      <p:cBhvr>
                                        <p:cTn id="20" dur="250" autoRev="1" fill="hold"/>
                                        <p:tgtEl>
                                          <p:spTgt spid="4"/>
                                        </p:tgtEl>
                                      </p:cBhvr>
                                      <p:by x="105000" y="105000"/>
                                    </p:animScale>
                                  </p:childTnLst>
                                </p:cTn>
                              </p:par>
                              <p:par>
                                <p:cTn id="21" presetID="26" presetClass="emph" presetSubtype="0" repeatCount="2000" fill="hold" grpId="0" nodeType="withEffect">
                                  <p:stCondLst>
                                    <p:cond delay="0"/>
                                  </p:stCondLst>
                                  <p:childTnLst>
                                    <p:animEffect transition="out" filter="fade">
                                      <p:cBhvr>
                                        <p:cTn id="22" dur="500" tmFilter="0, 0; .2, .5; .8, .5; 1, 0"/>
                                        <p:tgtEl>
                                          <p:spTgt spid="5"/>
                                        </p:tgtEl>
                                      </p:cBhvr>
                                    </p:animEffect>
                                    <p:animScale>
                                      <p:cBhvr>
                                        <p:cTn id="23" dur="250" autoRev="1" fill="hold"/>
                                        <p:tgtEl>
                                          <p:spTgt spid="5"/>
                                        </p:tgtEl>
                                      </p:cBhvr>
                                      <p:by x="105000" y="105000"/>
                                    </p:animScale>
                                  </p:childTnLst>
                                </p:cTn>
                              </p:par>
                            </p:childTnLst>
                          </p:cTn>
                        </p:par>
                        <p:par>
                          <p:cTn id="24" fill="hold">
                            <p:stCondLst>
                              <p:cond delay="2000"/>
                            </p:stCondLst>
                            <p:childTnLst>
                              <p:par>
                                <p:cTn id="25" presetID="26" presetClass="emph" presetSubtype="0" repeatCount="2000" fill="hold" grpId="0" nodeType="afterEffect">
                                  <p:stCondLst>
                                    <p:cond delay="0"/>
                                  </p:stCondLst>
                                  <p:childTnLst>
                                    <p:animEffect transition="out" filter="fade">
                                      <p:cBhvr>
                                        <p:cTn id="26" dur="500" tmFilter="0, 0; .2, .5; .8, .5; 1, 0"/>
                                        <p:tgtEl>
                                          <p:spTgt spid="24"/>
                                        </p:tgtEl>
                                      </p:cBhvr>
                                    </p:animEffect>
                                    <p:animScale>
                                      <p:cBhvr>
                                        <p:cTn id="27" dur="250" autoRev="1" fill="hold"/>
                                        <p:tgtEl>
                                          <p:spTgt spid="24"/>
                                        </p:tgtEl>
                                      </p:cBhvr>
                                      <p:by x="105000" y="105000"/>
                                    </p:animScale>
                                  </p:childTnLst>
                                </p:cTn>
                              </p:par>
                              <p:par>
                                <p:cTn id="28" presetID="26" presetClass="emph" presetSubtype="0" repeatCount="2000" fill="hold" grpId="0" nodeType="withEffect">
                                  <p:stCondLst>
                                    <p:cond delay="0"/>
                                  </p:stCondLst>
                                  <p:childTnLst>
                                    <p:animEffect transition="out" filter="fade">
                                      <p:cBhvr>
                                        <p:cTn id="29" dur="500" tmFilter="0, 0; .2, .5; .8, .5; 1, 0"/>
                                        <p:tgtEl>
                                          <p:spTgt spid="25"/>
                                        </p:tgtEl>
                                      </p:cBhvr>
                                    </p:animEffect>
                                    <p:animScale>
                                      <p:cBhvr>
                                        <p:cTn id="30" dur="250" autoRev="1" fill="hold"/>
                                        <p:tgtEl>
                                          <p:spTgt spid="25"/>
                                        </p:tgtEl>
                                      </p:cBhvr>
                                      <p:by x="105000" y="105000"/>
                                    </p:animScale>
                                  </p:childTnLst>
                                </p:cTn>
                              </p:par>
                            </p:childTnLst>
                          </p:cTn>
                        </p:par>
                        <p:par>
                          <p:cTn id="31" fill="hold">
                            <p:stCondLst>
                              <p:cond delay="3000"/>
                            </p:stCondLst>
                            <p:childTnLst>
                              <p:par>
                                <p:cTn id="32" presetID="26" presetClass="emph" presetSubtype="0" repeatCount="2000" fill="hold" grpId="0" nodeType="afterEffect">
                                  <p:stCondLst>
                                    <p:cond delay="0"/>
                                  </p:stCondLst>
                                  <p:childTnLst>
                                    <p:animEffect transition="out" filter="fade">
                                      <p:cBhvr>
                                        <p:cTn id="33" dur="500" tmFilter="0, 0; .2, .5; .8, .5; 1, 0"/>
                                        <p:tgtEl>
                                          <p:spTgt spid="42"/>
                                        </p:tgtEl>
                                      </p:cBhvr>
                                    </p:animEffect>
                                    <p:animScale>
                                      <p:cBhvr>
                                        <p:cTn id="34" dur="250" autoRev="1" fill="hold"/>
                                        <p:tgtEl>
                                          <p:spTgt spid="42"/>
                                        </p:tgtEl>
                                      </p:cBhvr>
                                      <p:by x="105000" y="105000"/>
                                    </p:animScale>
                                  </p:childTnLst>
                                </p:cTn>
                              </p:par>
                              <p:par>
                                <p:cTn id="35" presetID="26" presetClass="emph" presetSubtype="0" repeatCount="2000" fill="hold" grpId="0" nodeType="withEffect">
                                  <p:stCondLst>
                                    <p:cond delay="0"/>
                                  </p:stCondLst>
                                  <p:childTnLst>
                                    <p:animEffect transition="out" filter="fade">
                                      <p:cBhvr>
                                        <p:cTn id="36" dur="500" tmFilter="0, 0; .2, .5; .8, .5; 1, 0"/>
                                        <p:tgtEl>
                                          <p:spTgt spid="43"/>
                                        </p:tgtEl>
                                      </p:cBhvr>
                                    </p:animEffect>
                                    <p:animScale>
                                      <p:cBhvr>
                                        <p:cTn id="37" dur="250" autoRev="1" fill="hold"/>
                                        <p:tgtEl>
                                          <p:spTgt spid="43"/>
                                        </p:tgtEl>
                                      </p:cBhvr>
                                      <p:by x="105000" y="105000"/>
                                    </p:animScale>
                                  </p:childTnLst>
                                </p:cTn>
                              </p:par>
                            </p:childTnLst>
                          </p:cTn>
                        </p:par>
                        <p:par>
                          <p:cTn id="38" fill="hold">
                            <p:stCondLst>
                              <p:cond delay="4000"/>
                            </p:stCondLst>
                            <p:childTnLst>
                              <p:par>
                                <p:cTn id="39" presetID="26" presetClass="emph" presetSubtype="0" repeatCount="2000" fill="hold" grpId="0" nodeType="afterEffect">
                                  <p:stCondLst>
                                    <p:cond delay="0"/>
                                  </p:stCondLst>
                                  <p:childTnLst>
                                    <p:animEffect transition="out" filter="fade">
                                      <p:cBhvr>
                                        <p:cTn id="40" dur="500" tmFilter="0, 0; .2, .5; .8, .5; 1, 0"/>
                                        <p:tgtEl>
                                          <p:spTgt spid="6"/>
                                        </p:tgtEl>
                                      </p:cBhvr>
                                    </p:animEffect>
                                    <p:animScale>
                                      <p:cBhvr>
                                        <p:cTn id="41" dur="250" autoRev="1" fill="hold"/>
                                        <p:tgtEl>
                                          <p:spTgt spid="6"/>
                                        </p:tgtEl>
                                      </p:cBhvr>
                                      <p:by x="105000" y="105000"/>
                                    </p:animScale>
                                  </p:childTnLst>
                                </p:cTn>
                              </p:par>
                              <p:par>
                                <p:cTn id="42" presetID="26" presetClass="emph" presetSubtype="0" repeatCount="2000" fill="hold" grpId="0" nodeType="withEffect">
                                  <p:stCondLst>
                                    <p:cond delay="0"/>
                                  </p:stCondLst>
                                  <p:childTnLst>
                                    <p:animEffect transition="out" filter="fade">
                                      <p:cBhvr>
                                        <p:cTn id="43" dur="500" tmFilter="0, 0; .2, .5; .8, .5; 1, 0"/>
                                        <p:tgtEl>
                                          <p:spTgt spid="7"/>
                                        </p:tgtEl>
                                      </p:cBhvr>
                                    </p:animEffect>
                                    <p:animScale>
                                      <p:cBhvr>
                                        <p:cTn id="44" dur="250" autoRev="1" fill="hold"/>
                                        <p:tgtEl>
                                          <p:spTgt spid="7"/>
                                        </p:tgtEl>
                                      </p:cBhvr>
                                      <p:by x="105000" y="105000"/>
                                    </p:animScale>
                                  </p:childTnLst>
                                </p:cTn>
                              </p:par>
                              <p:par>
                                <p:cTn id="45" presetID="26" presetClass="emph" presetSubtype="0" repeatCount="2000" fill="hold" grpId="0" nodeType="withEffect">
                                  <p:stCondLst>
                                    <p:cond delay="0"/>
                                  </p:stCondLst>
                                  <p:childTnLst>
                                    <p:animEffect transition="out" filter="fade">
                                      <p:cBhvr>
                                        <p:cTn id="46" dur="500" tmFilter="0, 0; .2, .5; .8, .5; 1, 0"/>
                                        <p:tgtEl>
                                          <p:spTgt spid="18"/>
                                        </p:tgtEl>
                                      </p:cBhvr>
                                    </p:animEffect>
                                    <p:animScale>
                                      <p:cBhvr>
                                        <p:cTn id="47" dur="250" autoRev="1" fill="hold"/>
                                        <p:tgtEl>
                                          <p:spTgt spid="18"/>
                                        </p:tgtEl>
                                      </p:cBhvr>
                                      <p:by x="105000" y="105000"/>
                                    </p:animScale>
                                  </p:childTnLst>
                                </p:cTn>
                              </p:par>
                              <p:par>
                                <p:cTn id="48" presetID="26" presetClass="emph" presetSubtype="0" repeatCount="2000" fill="hold" grpId="0" nodeType="withEffect">
                                  <p:stCondLst>
                                    <p:cond delay="0"/>
                                  </p:stCondLst>
                                  <p:childTnLst>
                                    <p:animEffect transition="out" filter="fade">
                                      <p:cBhvr>
                                        <p:cTn id="49" dur="500" tmFilter="0, 0; .2, .5; .8, .5; 1, 0"/>
                                        <p:tgtEl>
                                          <p:spTgt spid="19"/>
                                        </p:tgtEl>
                                      </p:cBhvr>
                                    </p:animEffect>
                                    <p:animScale>
                                      <p:cBhvr>
                                        <p:cTn id="50" dur="250" autoRev="1" fill="hold"/>
                                        <p:tgtEl>
                                          <p:spTgt spid="19"/>
                                        </p:tgtEl>
                                      </p:cBhvr>
                                      <p:by x="105000" y="105000"/>
                                    </p:animScale>
                                  </p:childTnLst>
                                </p:cTn>
                              </p:par>
                            </p:childTnLst>
                          </p:cTn>
                        </p:par>
                        <p:par>
                          <p:cTn id="51" fill="hold">
                            <p:stCondLst>
                              <p:cond delay="5000"/>
                            </p:stCondLst>
                            <p:childTnLst>
                              <p:par>
                                <p:cTn id="52" presetID="26" presetClass="emph" presetSubtype="0" repeatCount="2000" fill="hold" grpId="0" nodeType="afterEffect">
                                  <p:stCondLst>
                                    <p:cond delay="0"/>
                                  </p:stCondLst>
                                  <p:childTnLst>
                                    <p:animEffect transition="out" filter="fade">
                                      <p:cBhvr>
                                        <p:cTn id="53" dur="500" tmFilter="0, 0; .2, .5; .8, .5; 1, 0"/>
                                        <p:tgtEl>
                                          <p:spTgt spid="36"/>
                                        </p:tgtEl>
                                      </p:cBhvr>
                                    </p:animEffect>
                                    <p:animScale>
                                      <p:cBhvr>
                                        <p:cTn id="54" dur="250" autoRev="1" fill="hold"/>
                                        <p:tgtEl>
                                          <p:spTgt spid="36"/>
                                        </p:tgtEl>
                                      </p:cBhvr>
                                      <p:by x="105000" y="105000"/>
                                    </p:animScale>
                                  </p:childTnLst>
                                </p:cTn>
                              </p:par>
                              <p:par>
                                <p:cTn id="55" presetID="26" presetClass="emph" presetSubtype="0" repeatCount="2000" fill="hold" grpId="0" nodeType="withEffect">
                                  <p:stCondLst>
                                    <p:cond delay="0"/>
                                  </p:stCondLst>
                                  <p:childTnLst>
                                    <p:animEffect transition="out" filter="fade">
                                      <p:cBhvr>
                                        <p:cTn id="56" dur="500" tmFilter="0, 0; .2, .5; .8, .5; 1, 0"/>
                                        <p:tgtEl>
                                          <p:spTgt spid="37"/>
                                        </p:tgtEl>
                                      </p:cBhvr>
                                    </p:animEffect>
                                    <p:animScale>
                                      <p:cBhvr>
                                        <p:cTn id="57" dur="250" autoRev="1" fill="hold"/>
                                        <p:tgtEl>
                                          <p:spTgt spid="37"/>
                                        </p:tgtEl>
                                      </p:cBhvr>
                                      <p:by x="105000" y="105000"/>
                                    </p:animScale>
                                  </p:childTnLst>
                                </p:cTn>
                              </p:par>
                              <p:par>
                                <p:cTn id="58" presetID="26" presetClass="emph" presetSubtype="0" repeatCount="2000" fill="hold" grpId="0" nodeType="withEffect">
                                  <p:stCondLst>
                                    <p:cond delay="0"/>
                                  </p:stCondLst>
                                  <p:childTnLst>
                                    <p:animEffect transition="out" filter="fade">
                                      <p:cBhvr>
                                        <p:cTn id="59" dur="500" tmFilter="0, 0; .2, .5; .8, .5; 1, 0"/>
                                        <p:tgtEl>
                                          <p:spTgt spid="38"/>
                                        </p:tgtEl>
                                      </p:cBhvr>
                                    </p:animEffect>
                                    <p:animScale>
                                      <p:cBhvr>
                                        <p:cTn id="60" dur="250" autoRev="1" fill="hold"/>
                                        <p:tgtEl>
                                          <p:spTgt spid="38"/>
                                        </p:tgtEl>
                                      </p:cBhvr>
                                      <p:by x="105000" y="105000"/>
                                    </p:animScale>
                                  </p:childTnLst>
                                </p:cTn>
                              </p:par>
                              <p:par>
                                <p:cTn id="61" presetID="26" presetClass="emph" presetSubtype="0" repeatCount="2000" fill="hold" grpId="0" nodeType="withEffect">
                                  <p:stCondLst>
                                    <p:cond delay="0"/>
                                  </p:stCondLst>
                                  <p:childTnLst>
                                    <p:animEffect transition="out" filter="fade">
                                      <p:cBhvr>
                                        <p:cTn id="62" dur="500" tmFilter="0, 0; .2, .5; .8, .5; 1, 0"/>
                                        <p:tgtEl>
                                          <p:spTgt spid="39"/>
                                        </p:tgtEl>
                                      </p:cBhvr>
                                    </p:animEffect>
                                    <p:animScale>
                                      <p:cBhvr>
                                        <p:cTn id="63" dur="250" autoRev="1" fill="hold"/>
                                        <p:tgtEl>
                                          <p:spTgt spid="39"/>
                                        </p:tgtEl>
                                      </p:cBhvr>
                                      <p:by x="105000" y="105000"/>
                                    </p:animScale>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P spid="5" grpId="0" animBg="1"/>
      <p:bldP spid="6" grpId="0" animBg="1"/>
      <p:bldP spid="7" grpId="0" animBg="1"/>
      <p:bldP spid="18" grpId="0" animBg="1"/>
      <p:bldP spid="19" grpId="0" animBg="1"/>
      <p:bldP spid="24" grpId="0" animBg="1"/>
      <p:bldP spid="25" grpId="0" animBg="1"/>
      <p:bldP spid="36" grpId="0" animBg="1"/>
      <p:bldP spid="37" grpId="0" animBg="1"/>
      <p:bldP spid="38" grpId="0" animBg="1"/>
      <p:bldP spid="39" grpId="0" animBg="1"/>
      <p:bldP spid="42" grpId="0" animBg="1"/>
      <p:bldP spid="43" grpId="0" animBg="1"/>
      <p:bldP spid="48" grpId="0" animBg="1"/>
      <p:bldP spid="49" grpId="0" animBg="1"/>
      <p:bldP spid="50" grpId="0" animBg="1"/>
      <p:bldP spid="51" grpId="0" animBg="1"/>
    </p:bld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A98DA53-67B2-3259-8E81-D8C60A059C3E}"/>
              </a:ext>
            </a:extLst>
          </p:cNvPr>
          <p:cNvSpPr>
            <a:spLocks noGrp="1"/>
          </p:cNvSpPr>
          <p:nvPr>
            <p:ph type="title"/>
          </p:nvPr>
        </p:nvSpPr>
        <p:spPr/>
        <p:txBody>
          <a:bodyPr/>
          <a:lstStyle/>
          <a:p>
            <a:r>
              <a:rPr lang="en-US" dirty="0"/>
              <a:t>Reversible </a:t>
            </a:r>
            <a:r>
              <a:rPr lang="en-US" dirty="0" smtClean="0"/>
              <a:t>circuits</a:t>
            </a:r>
            <a:endParaRPr lang="en-US" dirty="0"/>
          </a:p>
        </p:txBody>
      </p:sp>
      <p:sp>
        <p:nvSpPr>
          <p:cNvPr id="3" name="Content Placeholder 2">
            <a:extLst>
              <a:ext uri="{FF2B5EF4-FFF2-40B4-BE49-F238E27FC236}">
                <a16:creationId xmlns:a16="http://schemas.microsoft.com/office/drawing/2014/main" id="{5CAF5D2D-AB33-E747-8C55-F09D4B77436B}"/>
              </a:ext>
            </a:extLst>
          </p:cNvPr>
          <p:cNvSpPr>
            <a:spLocks noGrp="1"/>
          </p:cNvSpPr>
          <p:nvPr>
            <p:ph idx="1"/>
          </p:nvPr>
        </p:nvSpPr>
        <p:spPr/>
        <p:txBody>
          <a:bodyPr>
            <a:normAutofit/>
          </a:bodyPr>
          <a:lstStyle/>
          <a:p>
            <a:pPr marL="0" indent="0">
              <a:buNone/>
            </a:pPr>
            <a:r>
              <a:rPr lang="en-US" sz="2400" dirty="0" smtClean="0"/>
              <a:t>Reversible </a:t>
            </a:r>
            <a:r>
              <a:rPr lang="en-US" sz="2400" dirty="0"/>
              <a:t>computation </a:t>
            </a:r>
            <a:r>
              <a:rPr lang="en-US" sz="2400" dirty="0" smtClean="0"/>
              <a:t>can be described using the circuit </a:t>
            </a:r>
            <a:r>
              <a:rPr lang="en-US" sz="2400" dirty="0"/>
              <a:t>diagram.</a:t>
            </a:r>
          </a:p>
        </p:txBody>
      </p:sp>
      <p:cxnSp>
        <p:nvCxnSpPr>
          <p:cNvPr id="52" name="Straight Connector 51">
            <a:extLst>
              <a:ext uri="{FF2B5EF4-FFF2-40B4-BE49-F238E27FC236}">
                <a16:creationId xmlns:a16="http://schemas.microsoft.com/office/drawing/2014/main" id="{F4328F06-9D43-6BBC-4CA5-02A22CAF1FAA}"/>
              </a:ext>
            </a:extLst>
          </p:cNvPr>
          <p:cNvCxnSpPr>
            <a:cxnSpLocks/>
          </p:cNvCxnSpPr>
          <p:nvPr/>
        </p:nvCxnSpPr>
        <p:spPr>
          <a:xfrm>
            <a:off x="4038706" y="3075250"/>
            <a:ext cx="3877772" cy="0"/>
          </a:xfrm>
          <a:prstGeom prst="line">
            <a:avLst/>
          </a:prstGeom>
          <a:ln w="38100"/>
        </p:spPr>
        <p:style>
          <a:lnRef idx="1">
            <a:schemeClr val="accent1"/>
          </a:lnRef>
          <a:fillRef idx="0">
            <a:schemeClr val="accent1"/>
          </a:fillRef>
          <a:effectRef idx="0">
            <a:schemeClr val="accent1"/>
          </a:effectRef>
          <a:fontRef idx="minor">
            <a:schemeClr val="tx1"/>
          </a:fontRef>
        </p:style>
      </p:cxnSp>
      <p:cxnSp>
        <p:nvCxnSpPr>
          <p:cNvPr id="53" name="Straight Connector 52">
            <a:extLst>
              <a:ext uri="{FF2B5EF4-FFF2-40B4-BE49-F238E27FC236}">
                <a16:creationId xmlns:a16="http://schemas.microsoft.com/office/drawing/2014/main" id="{CB28E80E-AFBB-E23D-5E10-25D17B39F1DA}"/>
              </a:ext>
            </a:extLst>
          </p:cNvPr>
          <p:cNvCxnSpPr>
            <a:cxnSpLocks/>
          </p:cNvCxnSpPr>
          <p:nvPr/>
        </p:nvCxnSpPr>
        <p:spPr>
          <a:xfrm>
            <a:off x="4038706" y="3456251"/>
            <a:ext cx="3877772" cy="0"/>
          </a:xfrm>
          <a:prstGeom prst="line">
            <a:avLst/>
          </a:prstGeom>
          <a:ln w="38100"/>
        </p:spPr>
        <p:style>
          <a:lnRef idx="1">
            <a:schemeClr val="accent1"/>
          </a:lnRef>
          <a:fillRef idx="0">
            <a:schemeClr val="accent1"/>
          </a:fillRef>
          <a:effectRef idx="0">
            <a:schemeClr val="accent1"/>
          </a:effectRef>
          <a:fontRef idx="minor">
            <a:schemeClr val="tx1"/>
          </a:fontRef>
        </p:style>
      </p:cxnSp>
      <p:cxnSp>
        <p:nvCxnSpPr>
          <p:cNvPr id="54" name="Straight Connector 53">
            <a:extLst>
              <a:ext uri="{FF2B5EF4-FFF2-40B4-BE49-F238E27FC236}">
                <a16:creationId xmlns:a16="http://schemas.microsoft.com/office/drawing/2014/main" id="{79F7BEBF-AEF9-9B26-6AAD-2B477D184C6E}"/>
              </a:ext>
            </a:extLst>
          </p:cNvPr>
          <p:cNvCxnSpPr>
            <a:cxnSpLocks/>
          </p:cNvCxnSpPr>
          <p:nvPr/>
        </p:nvCxnSpPr>
        <p:spPr>
          <a:xfrm>
            <a:off x="4038706" y="3870588"/>
            <a:ext cx="3877772" cy="0"/>
          </a:xfrm>
          <a:prstGeom prst="line">
            <a:avLst/>
          </a:prstGeom>
          <a:ln w="38100"/>
        </p:spPr>
        <p:style>
          <a:lnRef idx="1">
            <a:schemeClr val="accent1"/>
          </a:lnRef>
          <a:fillRef idx="0">
            <a:schemeClr val="accent1"/>
          </a:fillRef>
          <a:effectRef idx="0">
            <a:schemeClr val="accent1"/>
          </a:effectRef>
          <a:fontRef idx="minor">
            <a:schemeClr val="tx1"/>
          </a:fontRef>
        </p:style>
      </p:cxnSp>
      <p:sp>
        <p:nvSpPr>
          <p:cNvPr id="55" name="Rectangle 54">
            <a:extLst>
              <a:ext uri="{FF2B5EF4-FFF2-40B4-BE49-F238E27FC236}">
                <a16:creationId xmlns:a16="http://schemas.microsoft.com/office/drawing/2014/main" id="{9DC3A242-E177-A8C5-63AB-82119B4F8914}"/>
              </a:ext>
            </a:extLst>
          </p:cNvPr>
          <p:cNvSpPr/>
          <p:nvPr/>
        </p:nvSpPr>
        <p:spPr>
          <a:xfrm>
            <a:off x="5029306" y="2950041"/>
            <a:ext cx="576262" cy="1024606"/>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6" name="Rectangle 55">
            <a:extLst>
              <a:ext uri="{FF2B5EF4-FFF2-40B4-BE49-F238E27FC236}">
                <a16:creationId xmlns:a16="http://schemas.microsoft.com/office/drawing/2014/main" id="{92302439-4248-F4D5-AA92-26007F39DD7E}"/>
              </a:ext>
            </a:extLst>
          </p:cNvPr>
          <p:cNvSpPr/>
          <p:nvPr/>
        </p:nvSpPr>
        <p:spPr>
          <a:xfrm>
            <a:off x="6308037" y="3320519"/>
            <a:ext cx="576262" cy="642937"/>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61" name="Straight Connector 60">
            <a:extLst>
              <a:ext uri="{FF2B5EF4-FFF2-40B4-BE49-F238E27FC236}">
                <a16:creationId xmlns:a16="http://schemas.microsoft.com/office/drawing/2014/main" id="{A9E67295-89FA-E4A3-98AC-4966AA055E29}"/>
              </a:ext>
            </a:extLst>
          </p:cNvPr>
          <p:cNvCxnSpPr>
            <a:cxnSpLocks/>
          </p:cNvCxnSpPr>
          <p:nvPr/>
        </p:nvCxnSpPr>
        <p:spPr>
          <a:xfrm>
            <a:off x="4035041" y="4812984"/>
            <a:ext cx="3881437" cy="0"/>
          </a:xfrm>
          <a:prstGeom prst="line">
            <a:avLst/>
          </a:prstGeom>
          <a:ln w="38100"/>
        </p:spPr>
        <p:style>
          <a:lnRef idx="1">
            <a:schemeClr val="accent1"/>
          </a:lnRef>
          <a:fillRef idx="0">
            <a:schemeClr val="accent1"/>
          </a:fillRef>
          <a:effectRef idx="0">
            <a:schemeClr val="accent1"/>
          </a:effectRef>
          <a:fontRef idx="minor">
            <a:schemeClr val="tx1"/>
          </a:fontRef>
        </p:style>
      </p:cxnSp>
      <p:sp>
        <p:nvSpPr>
          <p:cNvPr id="63" name="Rectangle 62">
            <a:extLst>
              <a:ext uri="{FF2B5EF4-FFF2-40B4-BE49-F238E27FC236}">
                <a16:creationId xmlns:a16="http://schemas.microsoft.com/office/drawing/2014/main" id="{CD1374A9-AD8E-301D-8527-43DA500712B3}"/>
              </a:ext>
            </a:extLst>
          </p:cNvPr>
          <p:cNvSpPr/>
          <p:nvPr/>
        </p:nvSpPr>
        <p:spPr>
          <a:xfrm>
            <a:off x="5565088" y="4616825"/>
            <a:ext cx="307420" cy="407162"/>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65" name="Straight Arrow Connector 64">
            <a:extLst>
              <a:ext uri="{FF2B5EF4-FFF2-40B4-BE49-F238E27FC236}">
                <a16:creationId xmlns:a16="http://schemas.microsoft.com/office/drawing/2014/main" id="{0262B3AB-C366-2B8F-5ABC-2CDB9292B7C0}"/>
              </a:ext>
            </a:extLst>
          </p:cNvPr>
          <p:cNvCxnSpPr>
            <a:cxnSpLocks/>
          </p:cNvCxnSpPr>
          <p:nvPr/>
        </p:nvCxnSpPr>
        <p:spPr>
          <a:xfrm flipH="1" flipV="1">
            <a:off x="5872508" y="5126592"/>
            <a:ext cx="187880" cy="461951"/>
          </a:xfrm>
          <a:prstGeom prst="straightConnector1">
            <a:avLst/>
          </a:prstGeom>
          <a:ln w="38100">
            <a:solidFill>
              <a:srgbClr val="C00000"/>
            </a:solidFill>
            <a:tailEnd type="triangle"/>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66" name="Rectangle 65">
                <a:extLst>
                  <a:ext uri="{FF2B5EF4-FFF2-40B4-BE49-F238E27FC236}">
                    <a16:creationId xmlns:a16="http://schemas.microsoft.com/office/drawing/2014/main" id="{2BD2EBE6-FA6C-7D43-AA33-3E764DAB9077}"/>
                  </a:ext>
                </a:extLst>
              </p:cNvPr>
              <p:cNvSpPr/>
              <p:nvPr/>
            </p:nvSpPr>
            <p:spPr>
              <a:xfrm>
                <a:off x="3336237" y="2890584"/>
                <a:ext cx="616771" cy="369332"/>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d>
                        <m:dPr>
                          <m:begChr m:val="|"/>
                          <m:endChr m:val="⟩"/>
                          <m:ctrlPr>
                            <a:rPr lang="en-CA" i="1" smtClean="0">
                              <a:latin typeface="Cambria Math" panose="02040503050406030204" pitchFamily="18" charset="0"/>
                            </a:rPr>
                          </m:ctrlPr>
                        </m:dPr>
                        <m:e>
                          <m:sSub>
                            <m:sSubPr>
                              <m:ctrlPr>
                                <a:rPr lang="en-CA" b="0" i="1" smtClean="0">
                                  <a:latin typeface="Cambria Math" panose="02040503050406030204" pitchFamily="18" charset="0"/>
                                </a:rPr>
                              </m:ctrlPr>
                            </m:sSubPr>
                            <m:e>
                              <m:r>
                                <a:rPr lang="en-CA" b="0" i="1" smtClean="0">
                                  <a:latin typeface="Cambria Math" panose="02040503050406030204" pitchFamily="18" charset="0"/>
                                </a:rPr>
                                <m:t>𝑥</m:t>
                              </m:r>
                            </m:e>
                            <m:sub>
                              <m:r>
                                <a:rPr lang="en-CA" b="0" i="1" smtClean="0">
                                  <a:latin typeface="Cambria Math" panose="02040503050406030204" pitchFamily="18" charset="0"/>
                                </a:rPr>
                                <m:t>1</m:t>
                              </m:r>
                            </m:sub>
                          </m:sSub>
                        </m:e>
                      </m:d>
                    </m:oMath>
                  </m:oMathPara>
                </a14:m>
                <a:endParaRPr lang="en-US" dirty="0"/>
              </a:p>
            </p:txBody>
          </p:sp>
        </mc:Choice>
        <mc:Fallback xmlns="">
          <p:sp>
            <p:nvSpPr>
              <p:cNvPr id="66" name="Rectangle 65">
                <a:extLst>
                  <a:ext uri="{FF2B5EF4-FFF2-40B4-BE49-F238E27FC236}">
                    <a16:creationId xmlns:a16="http://schemas.microsoft.com/office/drawing/2014/main" id="{2BD2EBE6-FA6C-7D43-AA33-3E764DAB9077}"/>
                  </a:ext>
                </a:extLst>
              </p:cNvPr>
              <p:cNvSpPr>
                <a:spLocks noRot="1" noChangeAspect="1" noMove="1" noResize="1" noEditPoints="1" noAdjustHandles="1" noChangeArrowheads="1" noChangeShapeType="1" noTextEdit="1"/>
              </p:cNvSpPr>
              <p:nvPr/>
            </p:nvSpPr>
            <p:spPr>
              <a:xfrm>
                <a:off x="3336237" y="2890584"/>
                <a:ext cx="616771" cy="369332"/>
              </a:xfrm>
              <a:prstGeom prst="rect">
                <a:avLst/>
              </a:prstGeom>
              <a:blipFill>
                <a:blip r:embed="rId2"/>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67" name="Rectangle 66">
                <a:extLst>
                  <a:ext uri="{FF2B5EF4-FFF2-40B4-BE49-F238E27FC236}">
                    <a16:creationId xmlns:a16="http://schemas.microsoft.com/office/drawing/2014/main" id="{3CDB7D98-62DB-BD8C-9546-9C5CCBA4B44B}"/>
                  </a:ext>
                </a:extLst>
              </p:cNvPr>
              <p:cNvSpPr/>
              <p:nvPr/>
            </p:nvSpPr>
            <p:spPr>
              <a:xfrm>
                <a:off x="3331842" y="3223646"/>
                <a:ext cx="616771" cy="369332"/>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d>
                        <m:dPr>
                          <m:begChr m:val="|"/>
                          <m:endChr m:val="⟩"/>
                          <m:ctrlPr>
                            <a:rPr lang="en-CA" i="1" smtClean="0">
                              <a:latin typeface="Cambria Math" panose="02040503050406030204" pitchFamily="18" charset="0"/>
                            </a:rPr>
                          </m:ctrlPr>
                        </m:dPr>
                        <m:e>
                          <m:sSub>
                            <m:sSubPr>
                              <m:ctrlPr>
                                <a:rPr lang="en-CA" b="0" i="1" smtClean="0">
                                  <a:latin typeface="Cambria Math" panose="02040503050406030204" pitchFamily="18" charset="0"/>
                                </a:rPr>
                              </m:ctrlPr>
                            </m:sSubPr>
                            <m:e>
                              <m:r>
                                <a:rPr lang="en-CA" b="0" i="1" smtClean="0">
                                  <a:latin typeface="Cambria Math" panose="02040503050406030204" pitchFamily="18" charset="0"/>
                                </a:rPr>
                                <m:t>𝑥</m:t>
                              </m:r>
                            </m:e>
                            <m:sub>
                              <m:r>
                                <a:rPr lang="en-CA" b="0" i="1" smtClean="0">
                                  <a:latin typeface="Cambria Math" panose="02040503050406030204" pitchFamily="18" charset="0"/>
                                </a:rPr>
                                <m:t>2</m:t>
                              </m:r>
                            </m:sub>
                          </m:sSub>
                        </m:e>
                      </m:d>
                    </m:oMath>
                  </m:oMathPara>
                </a14:m>
                <a:endParaRPr lang="en-US" dirty="0"/>
              </a:p>
            </p:txBody>
          </p:sp>
        </mc:Choice>
        <mc:Fallback xmlns="">
          <p:sp>
            <p:nvSpPr>
              <p:cNvPr id="67" name="Rectangle 66">
                <a:extLst>
                  <a:ext uri="{FF2B5EF4-FFF2-40B4-BE49-F238E27FC236}">
                    <a16:creationId xmlns:a16="http://schemas.microsoft.com/office/drawing/2014/main" id="{3CDB7D98-62DB-BD8C-9546-9C5CCBA4B44B}"/>
                  </a:ext>
                </a:extLst>
              </p:cNvPr>
              <p:cNvSpPr>
                <a:spLocks noRot="1" noChangeAspect="1" noMove="1" noResize="1" noEditPoints="1" noAdjustHandles="1" noChangeArrowheads="1" noChangeShapeType="1" noTextEdit="1"/>
              </p:cNvSpPr>
              <p:nvPr/>
            </p:nvSpPr>
            <p:spPr>
              <a:xfrm>
                <a:off x="3331842" y="3223646"/>
                <a:ext cx="616771" cy="369332"/>
              </a:xfrm>
              <a:prstGeom prst="rect">
                <a:avLst/>
              </a:prstGeom>
              <a:blipFill>
                <a:blip r:embed="rId3"/>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68" name="Rectangle 67">
                <a:extLst>
                  <a:ext uri="{FF2B5EF4-FFF2-40B4-BE49-F238E27FC236}">
                    <a16:creationId xmlns:a16="http://schemas.microsoft.com/office/drawing/2014/main" id="{0E13E696-33CF-6BE1-E1E8-DEF61EDF163A}"/>
                  </a:ext>
                </a:extLst>
              </p:cNvPr>
              <p:cNvSpPr/>
              <p:nvPr/>
            </p:nvSpPr>
            <p:spPr>
              <a:xfrm>
                <a:off x="3335920" y="3605316"/>
                <a:ext cx="616771" cy="369332"/>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d>
                        <m:dPr>
                          <m:begChr m:val="|"/>
                          <m:endChr m:val="⟩"/>
                          <m:ctrlPr>
                            <a:rPr lang="en-CA" i="1" smtClean="0">
                              <a:latin typeface="Cambria Math" panose="02040503050406030204" pitchFamily="18" charset="0"/>
                            </a:rPr>
                          </m:ctrlPr>
                        </m:dPr>
                        <m:e>
                          <m:sSub>
                            <m:sSubPr>
                              <m:ctrlPr>
                                <a:rPr lang="en-CA" b="0" i="1" smtClean="0">
                                  <a:latin typeface="Cambria Math" panose="02040503050406030204" pitchFamily="18" charset="0"/>
                                </a:rPr>
                              </m:ctrlPr>
                            </m:sSubPr>
                            <m:e>
                              <m:r>
                                <a:rPr lang="en-CA" b="0" i="1" smtClean="0">
                                  <a:latin typeface="Cambria Math" panose="02040503050406030204" pitchFamily="18" charset="0"/>
                                </a:rPr>
                                <m:t>𝑥</m:t>
                              </m:r>
                            </m:e>
                            <m:sub>
                              <m:r>
                                <a:rPr lang="en-CA" b="0" i="1" smtClean="0">
                                  <a:latin typeface="Cambria Math" panose="02040503050406030204" pitchFamily="18" charset="0"/>
                                </a:rPr>
                                <m:t>3</m:t>
                              </m:r>
                            </m:sub>
                          </m:sSub>
                        </m:e>
                      </m:d>
                    </m:oMath>
                  </m:oMathPara>
                </a14:m>
                <a:endParaRPr lang="en-US" dirty="0"/>
              </a:p>
            </p:txBody>
          </p:sp>
        </mc:Choice>
        <mc:Fallback xmlns="">
          <p:sp>
            <p:nvSpPr>
              <p:cNvPr id="68" name="Rectangle 67">
                <a:extLst>
                  <a:ext uri="{FF2B5EF4-FFF2-40B4-BE49-F238E27FC236}">
                    <a16:creationId xmlns:a16="http://schemas.microsoft.com/office/drawing/2014/main" id="{0E13E696-33CF-6BE1-E1E8-DEF61EDF163A}"/>
                  </a:ext>
                </a:extLst>
              </p:cNvPr>
              <p:cNvSpPr>
                <a:spLocks noRot="1" noChangeAspect="1" noMove="1" noResize="1" noEditPoints="1" noAdjustHandles="1" noChangeArrowheads="1" noChangeShapeType="1" noTextEdit="1"/>
              </p:cNvSpPr>
              <p:nvPr/>
            </p:nvSpPr>
            <p:spPr>
              <a:xfrm>
                <a:off x="3335920" y="3605316"/>
                <a:ext cx="616771" cy="369332"/>
              </a:xfrm>
              <a:prstGeom prst="rect">
                <a:avLst/>
              </a:prstGeom>
              <a:blipFill>
                <a:blip r:embed="rId4"/>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69" name="Rectangle 68">
                <a:extLst>
                  <a:ext uri="{FF2B5EF4-FFF2-40B4-BE49-F238E27FC236}">
                    <a16:creationId xmlns:a16="http://schemas.microsoft.com/office/drawing/2014/main" id="{2A1E2FAB-2B57-793A-A108-4E0CAFF1E038}"/>
                  </a:ext>
                </a:extLst>
              </p:cNvPr>
              <p:cNvSpPr/>
              <p:nvPr/>
            </p:nvSpPr>
            <p:spPr>
              <a:xfrm>
                <a:off x="3331842" y="4609528"/>
                <a:ext cx="636200" cy="369332"/>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d>
                        <m:dPr>
                          <m:begChr m:val="|"/>
                          <m:endChr m:val="⟩"/>
                          <m:ctrlPr>
                            <a:rPr lang="en-CA" i="1" smtClean="0">
                              <a:latin typeface="Cambria Math" panose="02040503050406030204" pitchFamily="18" charset="0"/>
                            </a:rPr>
                          </m:ctrlPr>
                        </m:dPr>
                        <m:e>
                          <m:sSub>
                            <m:sSubPr>
                              <m:ctrlPr>
                                <a:rPr lang="en-CA" b="0" i="1" smtClean="0">
                                  <a:latin typeface="Cambria Math" panose="02040503050406030204" pitchFamily="18" charset="0"/>
                                </a:rPr>
                              </m:ctrlPr>
                            </m:sSubPr>
                            <m:e>
                              <m:r>
                                <a:rPr lang="en-CA" b="0" i="1" smtClean="0">
                                  <a:latin typeface="Cambria Math" panose="02040503050406030204" pitchFamily="18" charset="0"/>
                                </a:rPr>
                                <m:t>𝑥</m:t>
                              </m:r>
                            </m:e>
                            <m:sub>
                              <m:r>
                                <a:rPr lang="en-CA" b="0" i="1" smtClean="0">
                                  <a:latin typeface="Cambria Math" panose="02040503050406030204" pitchFamily="18" charset="0"/>
                                </a:rPr>
                                <m:t>𝑛</m:t>
                              </m:r>
                            </m:sub>
                          </m:sSub>
                        </m:e>
                      </m:d>
                    </m:oMath>
                  </m:oMathPara>
                </a14:m>
                <a:endParaRPr lang="en-US" dirty="0"/>
              </a:p>
            </p:txBody>
          </p:sp>
        </mc:Choice>
        <mc:Fallback xmlns="">
          <p:sp>
            <p:nvSpPr>
              <p:cNvPr id="69" name="Rectangle 68">
                <a:extLst>
                  <a:ext uri="{FF2B5EF4-FFF2-40B4-BE49-F238E27FC236}">
                    <a16:creationId xmlns:a16="http://schemas.microsoft.com/office/drawing/2014/main" id="{2A1E2FAB-2B57-793A-A108-4E0CAFF1E038}"/>
                  </a:ext>
                </a:extLst>
              </p:cNvPr>
              <p:cNvSpPr>
                <a:spLocks noRot="1" noChangeAspect="1" noMove="1" noResize="1" noEditPoints="1" noAdjustHandles="1" noChangeArrowheads="1" noChangeShapeType="1" noTextEdit="1"/>
              </p:cNvSpPr>
              <p:nvPr/>
            </p:nvSpPr>
            <p:spPr>
              <a:xfrm>
                <a:off x="3331842" y="4609528"/>
                <a:ext cx="636200" cy="369332"/>
              </a:xfrm>
              <a:prstGeom prst="rect">
                <a:avLst/>
              </a:prstGeom>
              <a:blipFill>
                <a:blip r:embed="rId5"/>
                <a:stretch>
                  <a:fillRect/>
                </a:stretch>
              </a:blipFill>
            </p:spPr>
            <p:txBody>
              <a:bodyPr/>
              <a:lstStyle/>
              <a:p>
                <a:r>
                  <a:rPr lang="en-US">
                    <a:noFill/>
                  </a:rPr>
                  <a:t> </a:t>
                </a:r>
              </a:p>
            </p:txBody>
          </p:sp>
        </mc:Fallback>
      </mc:AlternateContent>
      <p:sp>
        <p:nvSpPr>
          <p:cNvPr id="70" name="Rectangle 69">
            <a:extLst>
              <a:ext uri="{FF2B5EF4-FFF2-40B4-BE49-F238E27FC236}">
                <a16:creationId xmlns:a16="http://schemas.microsoft.com/office/drawing/2014/main" id="{EF7FFCDE-DC39-3916-274A-5E4EA781F68F}"/>
              </a:ext>
            </a:extLst>
          </p:cNvPr>
          <p:cNvSpPr/>
          <p:nvPr/>
        </p:nvSpPr>
        <p:spPr>
          <a:xfrm>
            <a:off x="4380296" y="3671077"/>
            <a:ext cx="307420" cy="407162"/>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71" name="Straight Arrow Connector 70">
            <a:extLst>
              <a:ext uri="{FF2B5EF4-FFF2-40B4-BE49-F238E27FC236}">
                <a16:creationId xmlns:a16="http://schemas.microsoft.com/office/drawing/2014/main" id="{882C990B-64B4-85F1-D867-FA47DD118E9C}"/>
              </a:ext>
            </a:extLst>
          </p:cNvPr>
          <p:cNvCxnSpPr>
            <a:cxnSpLocks/>
          </p:cNvCxnSpPr>
          <p:nvPr/>
        </p:nvCxnSpPr>
        <p:spPr>
          <a:xfrm>
            <a:off x="2608962" y="6219326"/>
            <a:ext cx="7469758" cy="0"/>
          </a:xfrm>
          <a:prstGeom prst="straightConnector1">
            <a:avLst/>
          </a:prstGeom>
          <a:ln w="38100">
            <a:solidFill>
              <a:srgbClr val="00B050"/>
            </a:solidFill>
            <a:tailEnd type="triangle"/>
          </a:ln>
        </p:spPr>
        <p:style>
          <a:lnRef idx="1">
            <a:schemeClr val="accent1"/>
          </a:lnRef>
          <a:fillRef idx="0">
            <a:schemeClr val="accent1"/>
          </a:fillRef>
          <a:effectRef idx="0">
            <a:schemeClr val="accent1"/>
          </a:effectRef>
          <a:fontRef idx="minor">
            <a:schemeClr val="tx1"/>
          </a:fontRef>
        </p:style>
      </p:cxnSp>
      <p:sp>
        <p:nvSpPr>
          <p:cNvPr id="75" name="TextBox 74">
            <a:extLst>
              <a:ext uri="{FF2B5EF4-FFF2-40B4-BE49-F238E27FC236}">
                <a16:creationId xmlns:a16="http://schemas.microsoft.com/office/drawing/2014/main" id="{05504EE4-40E6-A961-86E5-6708BDA9CA9D}"/>
              </a:ext>
            </a:extLst>
          </p:cNvPr>
          <p:cNvSpPr txBox="1"/>
          <p:nvPr/>
        </p:nvSpPr>
        <p:spPr>
          <a:xfrm>
            <a:off x="9604802" y="5644147"/>
            <a:ext cx="1651331" cy="369332"/>
          </a:xfrm>
          <a:prstGeom prst="rect">
            <a:avLst/>
          </a:prstGeom>
          <a:noFill/>
        </p:spPr>
        <p:txBody>
          <a:bodyPr wrap="square" rtlCol="0">
            <a:spAutoFit/>
          </a:bodyPr>
          <a:lstStyle/>
          <a:p>
            <a:r>
              <a:rPr lang="en-US" dirty="0"/>
              <a:t>Time</a:t>
            </a:r>
          </a:p>
        </p:txBody>
      </p:sp>
      <p:sp>
        <p:nvSpPr>
          <p:cNvPr id="76" name="TextBox 75">
            <a:extLst>
              <a:ext uri="{FF2B5EF4-FFF2-40B4-BE49-F238E27FC236}">
                <a16:creationId xmlns:a16="http://schemas.microsoft.com/office/drawing/2014/main" id="{D8CF1390-2451-CB2D-EB62-55B4B800DE14}"/>
              </a:ext>
            </a:extLst>
          </p:cNvPr>
          <p:cNvSpPr txBox="1"/>
          <p:nvPr/>
        </p:nvSpPr>
        <p:spPr>
          <a:xfrm>
            <a:off x="1865881" y="3605316"/>
            <a:ext cx="1651331" cy="369332"/>
          </a:xfrm>
          <a:prstGeom prst="rect">
            <a:avLst/>
          </a:prstGeom>
          <a:noFill/>
        </p:spPr>
        <p:txBody>
          <a:bodyPr wrap="square" rtlCol="0">
            <a:spAutoFit/>
          </a:bodyPr>
          <a:lstStyle/>
          <a:p>
            <a:r>
              <a:rPr lang="en-US" dirty="0"/>
              <a:t>n bit input</a:t>
            </a:r>
          </a:p>
        </p:txBody>
      </p:sp>
      <p:cxnSp>
        <p:nvCxnSpPr>
          <p:cNvPr id="77" name="Straight Arrow Connector 76">
            <a:extLst>
              <a:ext uri="{FF2B5EF4-FFF2-40B4-BE49-F238E27FC236}">
                <a16:creationId xmlns:a16="http://schemas.microsoft.com/office/drawing/2014/main" id="{9495F86B-D4F5-E59A-9A1E-7737219BE5D5}"/>
              </a:ext>
            </a:extLst>
          </p:cNvPr>
          <p:cNvCxnSpPr>
            <a:cxnSpLocks/>
          </p:cNvCxnSpPr>
          <p:nvPr/>
        </p:nvCxnSpPr>
        <p:spPr>
          <a:xfrm flipH="1" flipV="1">
            <a:off x="4687716" y="4156339"/>
            <a:ext cx="1159696" cy="1432204"/>
          </a:xfrm>
          <a:prstGeom prst="straightConnector1">
            <a:avLst/>
          </a:prstGeom>
          <a:ln w="38100">
            <a:solidFill>
              <a:srgbClr val="C00000"/>
            </a:solidFill>
            <a:tailEnd type="triangle"/>
          </a:ln>
        </p:spPr>
        <p:style>
          <a:lnRef idx="1">
            <a:schemeClr val="accent1"/>
          </a:lnRef>
          <a:fillRef idx="0">
            <a:schemeClr val="accent1"/>
          </a:fillRef>
          <a:effectRef idx="0">
            <a:schemeClr val="accent1"/>
          </a:effectRef>
          <a:fontRef idx="minor">
            <a:schemeClr val="tx1"/>
          </a:fontRef>
        </p:style>
      </p:cxnSp>
      <p:sp>
        <p:nvSpPr>
          <p:cNvPr id="81" name="TextBox 80">
            <a:extLst>
              <a:ext uri="{FF2B5EF4-FFF2-40B4-BE49-F238E27FC236}">
                <a16:creationId xmlns:a16="http://schemas.microsoft.com/office/drawing/2014/main" id="{A6D0F46E-C3D2-D935-A0C4-BB09DE521FC6}"/>
              </a:ext>
            </a:extLst>
          </p:cNvPr>
          <p:cNvSpPr txBox="1"/>
          <p:nvPr/>
        </p:nvSpPr>
        <p:spPr>
          <a:xfrm>
            <a:off x="5565088" y="5558003"/>
            <a:ext cx="1651331" cy="369332"/>
          </a:xfrm>
          <a:prstGeom prst="rect">
            <a:avLst/>
          </a:prstGeom>
          <a:noFill/>
        </p:spPr>
        <p:txBody>
          <a:bodyPr wrap="square" rtlCol="0">
            <a:spAutoFit/>
          </a:bodyPr>
          <a:lstStyle/>
          <a:p>
            <a:r>
              <a:rPr lang="en-US" dirty="0"/>
              <a:t>1 bit gates</a:t>
            </a:r>
          </a:p>
        </p:txBody>
      </p:sp>
      <p:sp>
        <p:nvSpPr>
          <p:cNvPr id="82" name="TextBox 81">
            <a:extLst>
              <a:ext uri="{FF2B5EF4-FFF2-40B4-BE49-F238E27FC236}">
                <a16:creationId xmlns:a16="http://schemas.microsoft.com/office/drawing/2014/main" id="{778930FA-8EAB-C845-BDED-AE74197FD3A9}"/>
              </a:ext>
            </a:extLst>
          </p:cNvPr>
          <p:cNvSpPr txBox="1"/>
          <p:nvPr/>
        </p:nvSpPr>
        <p:spPr>
          <a:xfrm>
            <a:off x="8427389" y="2509584"/>
            <a:ext cx="1740068" cy="369332"/>
          </a:xfrm>
          <a:prstGeom prst="rect">
            <a:avLst/>
          </a:prstGeom>
          <a:noFill/>
        </p:spPr>
        <p:txBody>
          <a:bodyPr wrap="square" rtlCol="0">
            <a:spAutoFit/>
          </a:bodyPr>
          <a:lstStyle/>
          <a:p>
            <a:r>
              <a:rPr lang="en-US" dirty="0"/>
              <a:t>Multi-bit gates</a:t>
            </a:r>
          </a:p>
        </p:txBody>
      </p:sp>
      <p:cxnSp>
        <p:nvCxnSpPr>
          <p:cNvPr id="83" name="Straight Arrow Connector 82">
            <a:extLst>
              <a:ext uri="{FF2B5EF4-FFF2-40B4-BE49-F238E27FC236}">
                <a16:creationId xmlns:a16="http://schemas.microsoft.com/office/drawing/2014/main" id="{106EB8F5-6714-C967-857B-03D074239D51}"/>
              </a:ext>
            </a:extLst>
          </p:cNvPr>
          <p:cNvCxnSpPr>
            <a:cxnSpLocks/>
            <a:stCxn id="82" idx="1"/>
          </p:cNvCxnSpPr>
          <p:nvPr/>
        </p:nvCxnSpPr>
        <p:spPr>
          <a:xfrm flipH="1">
            <a:off x="5737123" y="2694250"/>
            <a:ext cx="2690266" cy="262737"/>
          </a:xfrm>
          <a:prstGeom prst="straightConnector1">
            <a:avLst/>
          </a:prstGeom>
          <a:ln w="38100">
            <a:solidFill>
              <a:srgbClr val="C00000"/>
            </a:solidFill>
            <a:tailEnd type="triangle"/>
          </a:ln>
        </p:spPr>
        <p:style>
          <a:lnRef idx="1">
            <a:schemeClr val="accent1"/>
          </a:lnRef>
          <a:fillRef idx="0">
            <a:schemeClr val="accent1"/>
          </a:fillRef>
          <a:effectRef idx="0">
            <a:schemeClr val="accent1"/>
          </a:effectRef>
          <a:fontRef idx="minor">
            <a:schemeClr val="tx1"/>
          </a:fontRef>
        </p:style>
      </p:cxnSp>
      <p:cxnSp>
        <p:nvCxnSpPr>
          <p:cNvPr id="88" name="Straight Arrow Connector 87">
            <a:extLst>
              <a:ext uri="{FF2B5EF4-FFF2-40B4-BE49-F238E27FC236}">
                <a16:creationId xmlns:a16="http://schemas.microsoft.com/office/drawing/2014/main" id="{6AA3A5F5-98FB-A2CB-E619-D8BA974885F1}"/>
              </a:ext>
            </a:extLst>
          </p:cNvPr>
          <p:cNvCxnSpPr>
            <a:cxnSpLocks/>
          </p:cNvCxnSpPr>
          <p:nvPr/>
        </p:nvCxnSpPr>
        <p:spPr>
          <a:xfrm flipH="1">
            <a:off x="6965368" y="2890584"/>
            <a:ext cx="1539252" cy="766103"/>
          </a:xfrm>
          <a:prstGeom prst="straightConnector1">
            <a:avLst/>
          </a:prstGeom>
          <a:ln w="38100">
            <a:solidFill>
              <a:srgbClr val="C00000"/>
            </a:solidFill>
            <a:tailEnd type="triangle"/>
          </a:ln>
        </p:spPr>
        <p:style>
          <a:lnRef idx="1">
            <a:schemeClr val="accent1"/>
          </a:lnRef>
          <a:fillRef idx="0">
            <a:schemeClr val="accent1"/>
          </a:fillRef>
          <a:effectRef idx="0">
            <a:schemeClr val="accent1"/>
          </a:effectRef>
          <a:fontRef idx="minor">
            <a:schemeClr val="tx1"/>
          </a:fontRef>
        </p:style>
      </p:cxnSp>
      <p:sp>
        <p:nvSpPr>
          <p:cNvPr id="92" name="TextBox 91">
            <a:extLst>
              <a:ext uri="{FF2B5EF4-FFF2-40B4-BE49-F238E27FC236}">
                <a16:creationId xmlns:a16="http://schemas.microsoft.com/office/drawing/2014/main" id="{9774462A-489A-5335-5A3E-0F746796528B}"/>
              </a:ext>
            </a:extLst>
          </p:cNvPr>
          <p:cNvSpPr txBox="1"/>
          <p:nvPr/>
        </p:nvSpPr>
        <p:spPr>
          <a:xfrm rot="5400000">
            <a:off x="5663118" y="4214885"/>
            <a:ext cx="818565" cy="369332"/>
          </a:xfrm>
          <a:prstGeom prst="rect">
            <a:avLst/>
          </a:prstGeom>
          <a:noFill/>
        </p:spPr>
        <p:txBody>
          <a:bodyPr wrap="square" rtlCol="0">
            <a:spAutoFit/>
          </a:bodyPr>
          <a:lstStyle/>
          <a:p>
            <a:r>
              <a:rPr lang="en-US" dirty="0"/>
              <a:t>……</a:t>
            </a:r>
          </a:p>
        </p:txBody>
      </p:sp>
    </p:spTree>
    <p:extLst>
      <p:ext uri="{BB962C8B-B14F-4D97-AF65-F5344CB8AC3E}">
        <p14:creationId xmlns:p14="http://schemas.microsoft.com/office/powerpoint/2010/main" val="194718112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66"/>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67"/>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68"/>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69"/>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76"/>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52"/>
                                        </p:tgtEl>
                                        <p:attrNameLst>
                                          <p:attrName>style.visibility</p:attrName>
                                        </p:attrNameLst>
                                      </p:cBhvr>
                                      <p:to>
                                        <p:strVal val="visible"/>
                                      </p:to>
                                    </p:set>
                                  </p:childTnLst>
                                </p:cTn>
                              </p:par>
                              <p:par>
                                <p:cTn id="17" presetID="1" presetClass="entr" presetSubtype="0" fill="hold" nodeType="withEffect">
                                  <p:stCondLst>
                                    <p:cond delay="0"/>
                                  </p:stCondLst>
                                  <p:childTnLst>
                                    <p:set>
                                      <p:cBhvr>
                                        <p:cTn id="18" dur="1" fill="hold">
                                          <p:stCondLst>
                                            <p:cond delay="0"/>
                                          </p:stCondLst>
                                        </p:cTn>
                                        <p:tgtEl>
                                          <p:spTgt spid="53"/>
                                        </p:tgtEl>
                                        <p:attrNameLst>
                                          <p:attrName>style.visibility</p:attrName>
                                        </p:attrNameLst>
                                      </p:cBhvr>
                                      <p:to>
                                        <p:strVal val="visible"/>
                                      </p:to>
                                    </p:set>
                                  </p:childTnLst>
                                </p:cTn>
                              </p:par>
                              <p:par>
                                <p:cTn id="19" presetID="1" presetClass="entr" presetSubtype="0" fill="hold" nodeType="withEffect">
                                  <p:stCondLst>
                                    <p:cond delay="0"/>
                                  </p:stCondLst>
                                  <p:childTnLst>
                                    <p:set>
                                      <p:cBhvr>
                                        <p:cTn id="20" dur="1" fill="hold">
                                          <p:stCondLst>
                                            <p:cond delay="0"/>
                                          </p:stCondLst>
                                        </p:cTn>
                                        <p:tgtEl>
                                          <p:spTgt spid="54"/>
                                        </p:tgtEl>
                                        <p:attrNameLst>
                                          <p:attrName>style.visibility</p:attrName>
                                        </p:attrNameLst>
                                      </p:cBhvr>
                                      <p:to>
                                        <p:strVal val="visible"/>
                                      </p:to>
                                    </p:set>
                                  </p:childTnLst>
                                </p:cTn>
                              </p:par>
                              <p:par>
                                <p:cTn id="21" presetID="1" presetClass="entr" presetSubtype="0" fill="hold" nodeType="withEffect">
                                  <p:stCondLst>
                                    <p:cond delay="0"/>
                                  </p:stCondLst>
                                  <p:childTnLst>
                                    <p:set>
                                      <p:cBhvr>
                                        <p:cTn id="22" dur="1" fill="hold">
                                          <p:stCondLst>
                                            <p:cond delay="0"/>
                                          </p:stCondLst>
                                        </p:cTn>
                                        <p:tgtEl>
                                          <p:spTgt spid="61"/>
                                        </p:tgtEl>
                                        <p:attrNameLst>
                                          <p:attrName>style.visibility</p:attrName>
                                        </p:attrNameLst>
                                      </p:cBhvr>
                                      <p:to>
                                        <p:strVal val="visible"/>
                                      </p:to>
                                    </p:set>
                                  </p:childTnLst>
                                </p:cTn>
                              </p:par>
                              <p:par>
                                <p:cTn id="23" presetID="1" presetClass="entr" presetSubtype="0" fill="hold" grpId="0" nodeType="withEffect">
                                  <p:stCondLst>
                                    <p:cond delay="0"/>
                                  </p:stCondLst>
                                  <p:childTnLst>
                                    <p:set>
                                      <p:cBhvr>
                                        <p:cTn id="24" dur="1" fill="hold">
                                          <p:stCondLst>
                                            <p:cond delay="0"/>
                                          </p:stCondLst>
                                        </p:cTn>
                                        <p:tgtEl>
                                          <p:spTgt spid="92"/>
                                        </p:tgtEl>
                                        <p:attrNameLst>
                                          <p:attrName>style.visibility</p:attrName>
                                        </p:attrNameLst>
                                      </p:cBhvr>
                                      <p:to>
                                        <p:strVal val="visible"/>
                                      </p:to>
                                    </p:set>
                                  </p:childTnLst>
                                </p:cTn>
                              </p:par>
                            </p:childTnLst>
                          </p:cTn>
                        </p:par>
                      </p:childTnLst>
                    </p:cTn>
                  </p:par>
                  <p:par>
                    <p:cTn id="25" fill="hold">
                      <p:stCondLst>
                        <p:cond delay="indefinite"/>
                      </p:stCondLst>
                      <p:childTnLst>
                        <p:par>
                          <p:cTn id="26" fill="hold">
                            <p:stCondLst>
                              <p:cond delay="0"/>
                            </p:stCondLst>
                            <p:childTnLst>
                              <p:par>
                                <p:cTn id="27" presetID="1" presetClass="entr" presetSubtype="0" fill="hold" grpId="0" nodeType="clickEffect">
                                  <p:stCondLst>
                                    <p:cond delay="0"/>
                                  </p:stCondLst>
                                  <p:childTnLst>
                                    <p:set>
                                      <p:cBhvr>
                                        <p:cTn id="28" dur="1" fill="hold">
                                          <p:stCondLst>
                                            <p:cond delay="0"/>
                                          </p:stCondLst>
                                        </p:cTn>
                                        <p:tgtEl>
                                          <p:spTgt spid="70"/>
                                        </p:tgtEl>
                                        <p:attrNameLst>
                                          <p:attrName>style.visibility</p:attrName>
                                        </p:attrNameLst>
                                      </p:cBhvr>
                                      <p:to>
                                        <p:strVal val="visible"/>
                                      </p:to>
                                    </p:set>
                                  </p:childTnLst>
                                </p:cTn>
                              </p:par>
                            </p:childTnLst>
                          </p:cTn>
                        </p:par>
                      </p:childTnLst>
                    </p:cTn>
                  </p:par>
                  <p:par>
                    <p:cTn id="29" fill="hold">
                      <p:stCondLst>
                        <p:cond delay="indefinite"/>
                      </p:stCondLst>
                      <p:childTnLst>
                        <p:par>
                          <p:cTn id="30" fill="hold">
                            <p:stCondLst>
                              <p:cond delay="0"/>
                            </p:stCondLst>
                            <p:childTnLst>
                              <p:par>
                                <p:cTn id="31" presetID="1" presetClass="entr" presetSubtype="0" fill="hold" grpId="0" nodeType="clickEffect">
                                  <p:stCondLst>
                                    <p:cond delay="0"/>
                                  </p:stCondLst>
                                  <p:childTnLst>
                                    <p:set>
                                      <p:cBhvr>
                                        <p:cTn id="32" dur="1" fill="hold">
                                          <p:stCondLst>
                                            <p:cond delay="0"/>
                                          </p:stCondLst>
                                        </p:cTn>
                                        <p:tgtEl>
                                          <p:spTgt spid="55"/>
                                        </p:tgtEl>
                                        <p:attrNameLst>
                                          <p:attrName>style.visibility</p:attrName>
                                        </p:attrNameLst>
                                      </p:cBhvr>
                                      <p:to>
                                        <p:strVal val="visible"/>
                                      </p:to>
                                    </p:set>
                                  </p:childTnLst>
                                </p:cTn>
                              </p:par>
                            </p:childTnLst>
                          </p:cTn>
                        </p:par>
                      </p:childTnLst>
                    </p:cTn>
                  </p:par>
                  <p:par>
                    <p:cTn id="33" fill="hold">
                      <p:stCondLst>
                        <p:cond delay="indefinite"/>
                      </p:stCondLst>
                      <p:childTnLst>
                        <p:par>
                          <p:cTn id="34" fill="hold">
                            <p:stCondLst>
                              <p:cond delay="0"/>
                            </p:stCondLst>
                            <p:childTnLst>
                              <p:par>
                                <p:cTn id="35" presetID="1" presetClass="entr" presetSubtype="0" fill="hold" grpId="0" nodeType="clickEffect">
                                  <p:stCondLst>
                                    <p:cond delay="0"/>
                                  </p:stCondLst>
                                  <p:childTnLst>
                                    <p:set>
                                      <p:cBhvr>
                                        <p:cTn id="36" dur="1" fill="hold">
                                          <p:stCondLst>
                                            <p:cond delay="0"/>
                                          </p:stCondLst>
                                        </p:cTn>
                                        <p:tgtEl>
                                          <p:spTgt spid="63"/>
                                        </p:tgtEl>
                                        <p:attrNameLst>
                                          <p:attrName>style.visibility</p:attrName>
                                        </p:attrNameLst>
                                      </p:cBhvr>
                                      <p:to>
                                        <p:strVal val="visible"/>
                                      </p:to>
                                    </p:set>
                                  </p:childTnLst>
                                </p:cTn>
                              </p:par>
                            </p:childTnLst>
                          </p:cTn>
                        </p:par>
                      </p:childTnLst>
                    </p:cTn>
                  </p:par>
                  <p:par>
                    <p:cTn id="37" fill="hold">
                      <p:stCondLst>
                        <p:cond delay="indefinite"/>
                      </p:stCondLst>
                      <p:childTnLst>
                        <p:par>
                          <p:cTn id="38" fill="hold">
                            <p:stCondLst>
                              <p:cond delay="0"/>
                            </p:stCondLst>
                            <p:childTnLst>
                              <p:par>
                                <p:cTn id="39" presetID="1" presetClass="entr" presetSubtype="0" fill="hold" grpId="0" nodeType="clickEffect">
                                  <p:stCondLst>
                                    <p:cond delay="0"/>
                                  </p:stCondLst>
                                  <p:childTnLst>
                                    <p:set>
                                      <p:cBhvr>
                                        <p:cTn id="40" dur="1" fill="hold">
                                          <p:stCondLst>
                                            <p:cond delay="0"/>
                                          </p:stCondLst>
                                        </p:cTn>
                                        <p:tgtEl>
                                          <p:spTgt spid="56"/>
                                        </p:tgtEl>
                                        <p:attrNameLst>
                                          <p:attrName>style.visibility</p:attrName>
                                        </p:attrNameLst>
                                      </p:cBhvr>
                                      <p:to>
                                        <p:strVal val="visible"/>
                                      </p:to>
                                    </p:set>
                                  </p:childTnLst>
                                </p:cTn>
                              </p:par>
                            </p:childTnLst>
                          </p:cTn>
                        </p:par>
                      </p:childTnLst>
                    </p:cTn>
                  </p:par>
                  <p:par>
                    <p:cTn id="41" fill="hold">
                      <p:stCondLst>
                        <p:cond delay="indefinite"/>
                      </p:stCondLst>
                      <p:childTnLst>
                        <p:par>
                          <p:cTn id="42" fill="hold">
                            <p:stCondLst>
                              <p:cond delay="0"/>
                            </p:stCondLst>
                            <p:childTnLst>
                              <p:par>
                                <p:cTn id="43" presetID="1" presetClass="entr" presetSubtype="0" fill="hold" nodeType="clickEffect">
                                  <p:stCondLst>
                                    <p:cond delay="0"/>
                                  </p:stCondLst>
                                  <p:childTnLst>
                                    <p:set>
                                      <p:cBhvr>
                                        <p:cTn id="44" dur="1" fill="hold">
                                          <p:stCondLst>
                                            <p:cond delay="0"/>
                                          </p:stCondLst>
                                        </p:cTn>
                                        <p:tgtEl>
                                          <p:spTgt spid="77"/>
                                        </p:tgtEl>
                                        <p:attrNameLst>
                                          <p:attrName>style.visibility</p:attrName>
                                        </p:attrNameLst>
                                      </p:cBhvr>
                                      <p:to>
                                        <p:strVal val="visible"/>
                                      </p:to>
                                    </p:set>
                                  </p:childTnLst>
                                </p:cTn>
                              </p:par>
                              <p:par>
                                <p:cTn id="45" presetID="1" presetClass="entr" presetSubtype="0" fill="hold" nodeType="withEffect">
                                  <p:stCondLst>
                                    <p:cond delay="0"/>
                                  </p:stCondLst>
                                  <p:childTnLst>
                                    <p:set>
                                      <p:cBhvr>
                                        <p:cTn id="46" dur="1" fill="hold">
                                          <p:stCondLst>
                                            <p:cond delay="0"/>
                                          </p:stCondLst>
                                        </p:cTn>
                                        <p:tgtEl>
                                          <p:spTgt spid="65"/>
                                        </p:tgtEl>
                                        <p:attrNameLst>
                                          <p:attrName>style.visibility</p:attrName>
                                        </p:attrNameLst>
                                      </p:cBhvr>
                                      <p:to>
                                        <p:strVal val="visible"/>
                                      </p:to>
                                    </p:set>
                                  </p:childTnLst>
                                </p:cTn>
                              </p:par>
                              <p:par>
                                <p:cTn id="47" presetID="1" presetClass="entr" presetSubtype="0" fill="hold" grpId="0" nodeType="withEffect">
                                  <p:stCondLst>
                                    <p:cond delay="0"/>
                                  </p:stCondLst>
                                  <p:childTnLst>
                                    <p:set>
                                      <p:cBhvr>
                                        <p:cTn id="48" dur="1" fill="hold">
                                          <p:stCondLst>
                                            <p:cond delay="0"/>
                                          </p:stCondLst>
                                        </p:cTn>
                                        <p:tgtEl>
                                          <p:spTgt spid="81"/>
                                        </p:tgtEl>
                                        <p:attrNameLst>
                                          <p:attrName>style.visibility</p:attrName>
                                        </p:attrNameLst>
                                      </p:cBhvr>
                                      <p:to>
                                        <p:strVal val="visible"/>
                                      </p:to>
                                    </p:set>
                                  </p:childTnLst>
                                </p:cTn>
                              </p:par>
                            </p:childTnLst>
                          </p:cTn>
                        </p:par>
                      </p:childTnLst>
                    </p:cTn>
                  </p:par>
                  <p:par>
                    <p:cTn id="49" fill="hold">
                      <p:stCondLst>
                        <p:cond delay="indefinite"/>
                      </p:stCondLst>
                      <p:childTnLst>
                        <p:par>
                          <p:cTn id="50" fill="hold">
                            <p:stCondLst>
                              <p:cond delay="0"/>
                            </p:stCondLst>
                            <p:childTnLst>
                              <p:par>
                                <p:cTn id="51" presetID="1" presetClass="entr" presetSubtype="0" fill="hold" nodeType="clickEffect">
                                  <p:stCondLst>
                                    <p:cond delay="0"/>
                                  </p:stCondLst>
                                  <p:childTnLst>
                                    <p:set>
                                      <p:cBhvr>
                                        <p:cTn id="52" dur="1" fill="hold">
                                          <p:stCondLst>
                                            <p:cond delay="0"/>
                                          </p:stCondLst>
                                        </p:cTn>
                                        <p:tgtEl>
                                          <p:spTgt spid="83"/>
                                        </p:tgtEl>
                                        <p:attrNameLst>
                                          <p:attrName>style.visibility</p:attrName>
                                        </p:attrNameLst>
                                      </p:cBhvr>
                                      <p:to>
                                        <p:strVal val="visible"/>
                                      </p:to>
                                    </p:set>
                                  </p:childTnLst>
                                </p:cTn>
                              </p:par>
                              <p:par>
                                <p:cTn id="53" presetID="1" presetClass="entr" presetSubtype="0" fill="hold" nodeType="withEffect">
                                  <p:stCondLst>
                                    <p:cond delay="0"/>
                                  </p:stCondLst>
                                  <p:childTnLst>
                                    <p:set>
                                      <p:cBhvr>
                                        <p:cTn id="54" dur="1" fill="hold">
                                          <p:stCondLst>
                                            <p:cond delay="0"/>
                                          </p:stCondLst>
                                        </p:cTn>
                                        <p:tgtEl>
                                          <p:spTgt spid="88"/>
                                        </p:tgtEl>
                                        <p:attrNameLst>
                                          <p:attrName>style.visibility</p:attrName>
                                        </p:attrNameLst>
                                      </p:cBhvr>
                                      <p:to>
                                        <p:strVal val="visible"/>
                                      </p:to>
                                    </p:set>
                                  </p:childTnLst>
                                </p:cTn>
                              </p:par>
                              <p:par>
                                <p:cTn id="55" presetID="1" presetClass="entr" presetSubtype="0" fill="hold" grpId="0" nodeType="withEffect">
                                  <p:stCondLst>
                                    <p:cond delay="0"/>
                                  </p:stCondLst>
                                  <p:childTnLst>
                                    <p:set>
                                      <p:cBhvr>
                                        <p:cTn id="56" dur="1" fill="hold">
                                          <p:stCondLst>
                                            <p:cond delay="0"/>
                                          </p:stCondLst>
                                        </p:cTn>
                                        <p:tgtEl>
                                          <p:spTgt spid="8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5" grpId="0" animBg="1"/>
      <p:bldP spid="56" grpId="0" animBg="1"/>
      <p:bldP spid="63" grpId="0" animBg="1"/>
      <p:bldP spid="66" grpId="0"/>
      <p:bldP spid="67" grpId="0"/>
      <p:bldP spid="68" grpId="0"/>
      <p:bldP spid="69" grpId="0"/>
      <p:bldP spid="70" grpId="0" animBg="1"/>
      <p:bldP spid="76" grpId="0"/>
      <p:bldP spid="81" grpId="0"/>
      <p:bldP spid="82" grpId="0"/>
      <p:bldP spid="92" grpId="0"/>
    </p:bld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A2B6AB8-4C84-1448-01AA-904798889CB3}"/>
              </a:ext>
            </a:extLst>
          </p:cNvPr>
          <p:cNvSpPr>
            <a:spLocks noGrp="1"/>
          </p:cNvSpPr>
          <p:nvPr>
            <p:ph type="title"/>
          </p:nvPr>
        </p:nvSpPr>
        <p:spPr/>
        <p:txBody>
          <a:bodyPr/>
          <a:lstStyle/>
          <a:p>
            <a:r>
              <a:rPr lang="en-US" dirty="0"/>
              <a:t>Reversible </a:t>
            </a:r>
            <a:r>
              <a:rPr lang="en-US" dirty="0" smtClean="0"/>
              <a:t>circuits</a:t>
            </a:r>
            <a:endParaRPr lang="en-US" dirty="0"/>
          </a:p>
        </p:txBody>
      </p:sp>
      <p:cxnSp>
        <p:nvCxnSpPr>
          <p:cNvPr id="4" name="Straight Connector 3">
            <a:extLst>
              <a:ext uri="{FF2B5EF4-FFF2-40B4-BE49-F238E27FC236}">
                <a16:creationId xmlns:a16="http://schemas.microsoft.com/office/drawing/2014/main" id="{B91E78E4-542E-3BF9-60EB-0A75C5E77BF2}"/>
              </a:ext>
            </a:extLst>
          </p:cNvPr>
          <p:cNvCxnSpPr>
            <a:cxnSpLocks/>
          </p:cNvCxnSpPr>
          <p:nvPr/>
        </p:nvCxnSpPr>
        <p:spPr>
          <a:xfrm>
            <a:off x="1621931" y="2655525"/>
            <a:ext cx="3881437" cy="0"/>
          </a:xfrm>
          <a:prstGeom prst="line">
            <a:avLst/>
          </a:prstGeom>
          <a:ln w="38100"/>
        </p:spPr>
        <p:style>
          <a:lnRef idx="1">
            <a:schemeClr val="accent1"/>
          </a:lnRef>
          <a:fillRef idx="0">
            <a:schemeClr val="accent1"/>
          </a:fillRef>
          <a:effectRef idx="0">
            <a:schemeClr val="accent1"/>
          </a:effectRef>
          <a:fontRef idx="minor">
            <a:schemeClr val="tx1"/>
          </a:fontRef>
        </p:style>
      </p:cxnSp>
      <p:cxnSp>
        <p:nvCxnSpPr>
          <p:cNvPr id="5" name="Straight Connector 4">
            <a:extLst>
              <a:ext uri="{FF2B5EF4-FFF2-40B4-BE49-F238E27FC236}">
                <a16:creationId xmlns:a16="http://schemas.microsoft.com/office/drawing/2014/main" id="{978AB706-375B-47F7-7B59-E9A1BCEE51D6}"/>
              </a:ext>
            </a:extLst>
          </p:cNvPr>
          <p:cNvCxnSpPr>
            <a:cxnSpLocks/>
          </p:cNvCxnSpPr>
          <p:nvPr/>
        </p:nvCxnSpPr>
        <p:spPr>
          <a:xfrm>
            <a:off x="1621931" y="3036526"/>
            <a:ext cx="3881437" cy="0"/>
          </a:xfrm>
          <a:prstGeom prst="line">
            <a:avLst/>
          </a:prstGeom>
          <a:ln w="38100"/>
        </p:spPr>
        <p:style>
          <a:lnRef idx="1">
            <a:schemeClr val="accent1"/>
          </a:lnRef>
          <a:fillRef idx="0">
            <a:schemeClr val="accent1"/>
          </a:fillRef>
          <a:effectRef idx="0">
            <a:schemeClr val="accent1"/>
          </a:effectRef>
          <a:fontRef idx="minor">
            <a:schemeClr val="tx1"/>
          </a:fontRef>
        </p:style>
      </p:cxnSp>
      <p:cxnSp>
        <p:nvCxnSpPr>
          <p:cNvPr id="6" name="Straight Connector 5">
            <a:extLst>
              <a:ext uri="{FF2B5EF4-FFF2-40B4-BE49-F238E27FC236}">
                <a16:creationId xmlns:a16="http://schemas.microsoft.com/office/drawing/2014/main" id="{BED5DF10-67D3-32D3-58D2-6D7F10D2B0CA}"/>
              </a:ext>
            </a:extLst>
          </p:cNvPr>
          <p:cNvCxnSpPr>
            <a:cxnSpLocks/>
          </p:cNvCxnSpPr>
          <p:nvPr/>
        </p:nvCxnSpPr>
        <p:spPr>
          <a:xfrm>
            <a:off x="1621931" y="3450863"/>
            <a:ext cx="3881437" cy="0"/>
          </a:xfrm>
          <a:prstGeom prst="line">
            <a:avLst/>
          </a:prstGeom>
          <a:ln w="38100"/>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16" name="Rectangle 15">
                <a:extLst>
                  <a:ext uri="{FF2B5EF4-FFF2-40B4-BE49-F238E27FC236}">
                    <a16:creationId xmlns:a16="http://schemas.microsoft.com/office/drawing/2014/main" id="{D9A9792E-2C64-EFC9-C7CA-C6A2AD05029F}"/>
                  </a:ext>
                </a:extLst>
              </p:cNvPr>
              <p:cNvSpPr/>
              <p:nvPr/>
            </p:nvSpPr>
            <p:spPr>
              <a:xfrm>
                <a:off x="919462" y="2470859"/>
                <a:ext cx="521810" cy="369332"/>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d>
                        <m:dPr>
                          <m:begChr m:val="|"/>
                          <m:endChr m:val="⟩"/>
                          <m:ctrlPr>
                            <a:rPr lang="en-CA" i="1" smtClean="0">
                              <a:latin typeface="Cambria Math" panose="02040503050406030204" pitchFamily="18" charset="0"/>
                            </a:rPr>
                          </m:ctrlPr>
                        </m:dPr>
                        <m:e>
                          <m:r>
                            <a:rPr lang="en-CA" b="0" i="1" smtClean="0">
                              <a:latin typeface="Cambria Math" panose="02040503050406030204" pitchFamily="18" charset="0"/>
                            </a:rPr>
                            <m:t>1</m:t>
                          </m:r>
                        </m:e>
                      </m:d>
                    </m:oMath>
                  </m:oMathPara>
                </a14:m>
                <a:endParaRPr lang="en-US" dirty="0"/>
              </a:p>
            </p:txBody>
          </p:sp>
        </mc:Choice>
        <mc:Fallback xmlns="">
          <p:sp>
            <p:nvSpPr>
              <p:cNvPr id="16" name="Rectangle 15">
                <a:extLst>
                  <a:ext uri="{FF2B5EF4-FFF2-40B4-BE49-F238E27FC236}">
                    <a16:creationId xmlns:a16="http://schemas.microsoft.com/office/drawing/2014/main" id="{D9A9792E-2C64-EFC9-C7CA-C6A2AD05029F}"/>
                  </a:ext>
                </a:extLst>
              </p:cNvPr>
              <p:cNvSpPr>
                <a:spLocks noRot="1" noChangeAspect="1" noMove="1" noResize="1" noEditPoints="1" noAdjustHandles="1" noChangeArrowheads="1" noChangeShapeType="1" noTextEdit="1"/>
              </p:cNvSpPr>
              <p:nvPr/>
            </p:nvSpPr>
            <p:spPr>
              <a:xfrm>
                <a:off x="919462" y="2470859"/>
                <a:ext cx="521810" cy="369332"/>
              </a:xfrm>
              <a:prstGeom prst="rect">
                <a:avLst/>
              </a:prstGeom>
              <a:blipFill>
                <a:blip r:embed="rId2"/>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7" name="Rectangle 16">
                <a:extLst>
                  <a:ext uri="{FF2B5EF4-FFF2-40B4-BE49-F238E27FC236}">
                    <a16:creationId xmlns:a16="http://schemas.microsoft.com/office/drawing/2014/main" id="{5C990B49-048E-E7F1-5E29-4A91BC37355A}"/>
                  </a:ext>
                </a:extLst>
              </p:cNvPr>
              <p:cNvSpPr/>
              <p:nvPr/>
            </p:nvSpPr>
            <p:spPr>
              <a:xfrm>
                <a:off x="915067" y="2803921"/>
                <a:ext cx="521810" cy="369332"/>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d>
                        <m:dPr>
                          <m:begChr m:val="|"/>
                          <m:endChr m:val="⟩"/>
                          <m:ctrlPr>
                            <a:rPr lang="en-CA" i="1" smtClean="0">
                              <a:latin typeface="Cambria Math" panose="02040503050406030204" pitchFamily="18" charset="0"/>
                            </a:rPr>
                          </m:ctrlPr>
                        </m:dPr>
                        <m:e>
                          <m:r>
                            <a:rPr lang="en-CA" b="0" i="1" smtClean="0">
                              <a:latin typeface="Cambria Math" panose="02040503050406030204" pitchFamily="18" charset="0"/>
                            </a:rPr>
                            <m:t>0</m:t>
                          </m:r>
                        </m:e>
                      </m:d>
                    </m:oMath>
                  </m:oMathPara>
                </a14:m>
                <a:endParaRPr lang="en-US" dirty="0"/>
              </a:p>
            </p:txBody>
          </p:sp>
        </mc:Choice>
        <mc:Fallback xmlns="">
          <p:sp>
            <p:nvSpPr>
              <p:cNvPr id="17" name="Rectangle 16">
                <a:extLst>
                  <a:ext uri="{FF2B5EF4-FFF2-40B4-BE49-F238E27FC236}">
                    <a16:creationId xmlns:a16="http://schemas.microsoft.com/office/drawing/2014/main" id="{5C990B49-048E-E7F1-5E29-4A91BC37355A}"/>
                  </a:ext>
                </a:extLst>
              </p:cNvPr>
              <p:cNvSpPr>
                <a:spLocks noRot="1" noChangeAspect="1" noMove="1" noResize="1" noEditPoints="1" noAdjustHandles="1" noChangeArrowheads="1" noChangeShapeType="1" noTextEdit="1"/>
              </p:cNvSpPr>
              <p:nvPr/>
            </p:nvSpPr>
            <p:spPr>
              <a:xfrm>
                <a:off x="915067" y="2803921"/>
                <a:ext cx="521810" cy="369332"/>
              </a:xfrm>
              <a:prstGeom prst="rect">
                <a:avLst/>
              </a:prstGeom>
              <a:blipFill>
                <a:blip r:embed="rId3"/>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8" name="Rectangle 17">
                <a:extLst>
                  <a:ext uri="{FF2B5EF4-FFF2-40B4-BE49-F238E27FC236}">
                    <a16:creationId xmlns:a16="http://schemas.microsoft.com/office/drawing/2014/main" id="{BE2E2751-4446-40B3-E526-04EA67468695}"/>
                  </a:ext>
                </a:extLst>
              </p:cNvPr>
              <p:cNvSpPr/>
              <p:nvPr/>
            </p:nvSpPr>
            <p:spPr>
              <a:xfrm>
                <a:off x="919145" y="3185591"/>
                <a:ext cx="521810" cy="369332"/>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d>
                        <m:dPr>
                          <m:begChr m:val="|"/>
                          <m:endChr m:val="⟩"/>
                          <m:ctrlPr>
                            <a:rPr lang="en-CA" i="1" smtClean="0">
                              <a:latin typeface="Cambria Math" panose="02040503050406030204" pitchFamily="18" charset="0"/>
                            </a:rPr>
                          </m:ctrlPr>
                        </m:dPr>
                        <m:e>
                          <m:r>
                            <a:rPr lang="en-CA" b="0" i="1" smtClean="0">
                              <a:latin typeface="Cambria Math" panose="02040503050406030204" pitchFamily="18" charset="0"/>
                            </a:rPr>
                            <m:t>0</m:t>
                          </m:r>
                        </m:e>
                      </m:d>
                    </m:oMath>
                  </m:oMathPara>
                </a14:m>
                <a:endParaRPr lang="en-US" dirty="0"/>
              </a:p>
            </p:txBody>
          </p:sp>
        </mc:Choice>
        <mc:Fallback xmlns="">
          <p:sp>
            <p:nvSpPr>
              <p:cNvPr id="18" name="Rectangle 17">
                <a:extLst>
                  <a:ext uri="{FF2B5EF4-FFF2-40B4-BE49-F238E27FC236}">
                    <a16:creationId xmlns:a16="http://schemas.microsoft.com/office/drawing/2014/main" id="{BE2E2751-4446-40B3-E526-04EA67468695}"/>
                  </a:ext>
                </a:extLst>
              </p:cNvPr>
              <p:cNvSpPr>
                <a:spLocks noRot="1" noChangeAspect="1" noMove="1" noResize="1" noEditPoints="1" noAdjustHandles="1" noChangeArrowheads="1" noChangeShapeType="1" noTextEdit="1"/>
              </p:cNvSpPr>
              <p:nvPr/>
            </p:nvSpPr>
            <p:spPr>
              <a:xfrm>
                <a:off x="919145" y="3185591"/>
                <a:ext cx="521810" cy="369332"/>
              </a:xfrm>
              <a:prstGeom prst="rect">
                <a:avLst/>
              </a:prstGeom>
              <a:blipFill>
                <a:blip r:embed="rId4"/>
                <a:stretch>
                  <a:fillRect/>
                </a:stretch>
              </a:blipFill>
            </p:spPr>
            <p:txBody>
              <a:bodyPr/>
              <a:lstStyle/>
              <a:p>
                <a:r>
                  <a:rPr lang="en-US">
                    <a:noFill/>
                  </a:rPr>
                  <a:t> </a:t>
                </a:r>
              </a:p>
            </p:txBody>
          </p:sp>
        </mc:Fallback>
      </mc:AlternateContent>
      <p:cxnSp>
        <p:nvCxnSpPr>
          <p:cNvPr id="24" name="Straight Connector 23">
            <a:extLst>
              <a:ext uri="{FF2B5EF4-FFF2-40B4-BE49-F238E27FC236}">
                <a16:creationId xmlns:a16="http://schemas.microsoft.com/office/drawing/2014/main" id="{C251F492-D539-8BC9-D978-FFDA40075D94}"/>
              </a:ext>
            </a:extLst>
          </p:cNvPr>
          <p:cNvCxnSpPr>
            <a:cxnSpLocks/>
            <a:stCxn id="25" idx="4"/>
            <a:endCxn id="26" idx="4"/>
          </p:cNvCxnSpPr>
          <p:nvPr/>
        </p:nvCxnSpPr>
        <p:spPr>
          <a:xfrm>
            <a:off x="2086297" y="2711971"/>
            <a:ext cx="4762" cy="412335"/>
          </a:xfrm>
          <a:prstGeom prst="line">
            <a:avLst/>
          </a:prstGeom>
          <a:ln w="38100"/>
        </p:spPr>
        <p:style>
          <a:lnRef idx="1">
            <a:schemeClr val="accent1"/>
          </a:lnRef>
          <a:fillRef idx="0">
            <a:schemeClr val="accent1"/>
          </a:fillRef>
          <a:effectRef idx="0">
            <a:schemeClr val="accent1"/>
          </a:effectRef>
          <a:fontRef idx="minor">
            <a:schemeClr val="tx1"/>
          </a:fontRef>
        </p:style>
      </p:cxnSp>
      <p:sp>
        <p:nvSpPr>
          <p:cNvPr id="25" name="Oval 24">
            <a:extLst>
              <a:ext uri="{FF2B5EF4-FFF2-40B4-BE49-F238E27FC236}">
                <a16:creationId xmlns:a16="http://schemas.microsoft.com/office/drawing/2014/main" id="{AB8B4065-5CE1-DAA6-8A24-DE0BD66656DA}"/>
              </a:ext>
            </a:extLst>
          </p:cNvPr>
          <p:cNvSpPr/>
          <p:nvPr/>
        </p:nvSpPr>
        <p:spPr>
          <a:xfrm>
            <a:off x="2010796" y="2549579"/>
            <a:ext cx="151002" cy="162392"/>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6" name="Oval 25">
            <a:extLst>
              <a:ext uri="{FF2B5EF4-FFF2-40B4-BE49-F238E27FC236}">
                <a16:creationId xmlns:a16="http://schemas.microsoft.com/office/drawing/2014/main" id="{63A30FB8-4FBA-074B-F80B-45B299B44464}"/>
              </a:ext>
            </a:extLst>
          </p:cNvPr>
          <p:cNvSpPr/>
          <p:nvPr/>
        </p:nvSpPr>
        <p:spPr>
          <a:xfrm>
            <a:off x="2010796" y="2920819"/>
            <a:ext cx="160526" cy="203487"/>
          </a:xfrm>
          <a:prstGeom prst="ellipse">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29" name="Straight Connector 28">
            <a:extLst>
              <a:ext uri="{FF2B5EF4-FFF2-40B4-BE49-F238E27FC236}">
                <a16:creationId xmlns:a16="http://schemas.microsoft.com/office/drawing/2014/main" id="{0EF03BBC-C955-CC47-DF5A-E2611905E73C}"/>
              </a:ext>
            </a:extLst>
          </p:cNvPr>
          <p:cNvCxnSpPr>
            <a:cxnSpLocks/>
            <a:stCxn id="30" idx="4"/>
            <a:endCxn id="31" idx="4"/>
          </p:cNvCxnSpPr>
          <p:nvPr/>
        </p:nvCxnSpPr>
        <p:spPr>
          <a:xfrm>
            <a:off x="2725781" y="3140271"/>
            <a:ext cx="4762" cy="412335"/>
          </a:xfrm>
          <a:prstGeom prst="line">
            <a:avLst/>
          </a:prstGeom>
          <a:ln w="38100"/>
        </p:spPr>
        <p:style>
          <a:lnRef idx="1">
            <a:schemeClr val="accent1"/>
          </a:lnRef>
          <a:fillRef idx="0">
            <a:schemeClr val="accent1"/>
          </a:fillRef>
          <a:effectRef idx="0">
            <a:schemeClr val="accent1"/>
          </a:effectRef>
          <a:fontRef idx="minor">
            <a:schemeClr val="tx1"/>
          </a:fontRef>
        </p:style>
      </p:cxnSp>
      <p:sp>
        <p:nvSpPr>
          <p:cNvPr id="30" name="Oval 29">
            <a:extLst>
              <a:ext uri="{FF2B5EF4-FFF2-40B4-BE49-F238E27FC236}">
                <a16:creationId xmlns:a16="http://schemas.microsoft.com/office/drawing/2014/main" id="{204D1E71-EF2F-F04C-E236-5066F4827A39}"/>
              </a:ext>
            </a:extLst>
          </p:cNvPr>
          <p:cNvSpPr/>
          <p:nvPr/>
        </p:nvSpPr>
        <p:spPr>
          <a:xfrm>
            <a:off x="2650280" y="2977879"/>
            <a:ext cx="151002" cy="162392"/>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1" name="Oval 30">
            <a:extLst>
              <a:ext uri="{FF2B5EF4-FFF2-40B4-BE49-F238E27FC236}">
                <a16:creationId xmlns:a16="http://schemas.microsoft.com/office/drawing/2014/main" id="{34F8237B-9095-798A-AB09-AD69A08160E8}"/>
              </a:ext>
            </a:extLst>
          </p:cNvPr>
          <p:cNvSpPr/>
          <p:nvPr/>
        </p:nvSpPr>
        <p:spPr>
          <a:xfrm>
            <a:off x="2650280" y="3349119"/>
            <a:ext cx="160526" cy="203487"/>
          </a:xfrm>
          <a:prstGeom prst="ellipse">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35" name="Straight Connector 34">
            <a:extLst>
              <a:ext uri="{FF2B5EF4-FFF2-40B4-BE49-F238E27FC236}">
                <a16:creationId xmlns:a16="http://schemas.microsoft.com/office/drawing/2014/main" id="{1E5F54C2-59F0-E7DA-012B-2A93BD4DC83D}"/>
              </a:ext>
            </a:extLst>
          </p:cNvPr>
          <p:cNvCxnSpPr>
            <a:cxnSpLocks/>
            <a:stCxn id="36" idx="4"/>
            <a:endCxn id="37" idx="0"/>
          </p:cNvCxnSpPr>
          <p:nvPr/>
        </p:nvCxnSpPr>
        <p:spPr>
          <a:xfrm flipV="1">
            <a:off x="3840911" y="2549579"/>
            <a:ext cx="0" cy="978649"/>
          </a:xfrm>
          <a:prstGeom prst="line">
            <a:avLst/>
          </a:prstGeom>
          <a:ln w="38100"/>
        </p:spPr>
        <p:style>
          <a:lnRef idx="1">
            <a:schemeClr val="accent1"/>
          </a:lnRef>
          <a:fillRef idx="0">
            <a:schemeClr val="accent1"/>
          </a:fillRef>
          <a:effectRef idx="0">
            <a:schemeClr val="accent1"/>
          </a:effectRef>
          <a:fontRef idx="minor">
            <a:schemeClr val="tx1"/>
          </a:fontRef>
        </p:style>
      </p:cxnSp>
      <p:sp>
        <p:nvSpPr>
          <p:cNvPr id="36" name="Oval 35">
            <a:extLst>
              <a:ext uri="{FF2B5EF4-FFF2-40B4-BE49-F238E27FC236}">
                <a16:creationId xmlns:a16="http://schemas.microsoft.com/office/drawing/2014/main" id="{0A7BD3D2-2C4E-A320-4218-FFF72F065583}"/>
              </a:ext>
            </a:extLst>
          </p:cNvPr>
          <p:cNvSpPr/>
          <p:nvPr/>
        </p:nvSpPr>
        <p:spPr>
          <a:xfrm>
            <a:off x="3765410" y="3365836"/>
            <a:ext cx="151002" cy="162392"/>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7" name="Oval 36">
            <a:extLst>
              <a:ext uri="{FF2B5EF4-FFF2-40B4-BE49-F238E27FC236}">
                <a16:creationId xmlns:a16="http://schemas.microsoft.com/office/drawing/2014/main" id="{9BB2BAD3-82D3-E0A2-EE4B-0EDC31F91CAF}"/>
              </a:ext>
            </a:extLst>
          </p:cNvPr>
          <p:cNvSpPr/>
          <p:nvPr/>
        </p:nvSpPr>
        <p:spPr>
          <a:xfrm>
            <a:off x="3760648" y="2549579"/>
            <a:ext cx="160526" cy="203487"/>
          </a:xfrm>
          <a:prstGeom prst="ellipse">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1" name="Rectangle 40">
            <a:extLst>
              <a:ext uri="{FF2B5EF4-FFF2-40B4-BE49-F238E27FC236}">
                <a16:creationId xmlns:a16="http://schemas.microsoft.com/office/drawing/2014/main" id="{855B4E78-2745-4AD9-372E-3BDB7C68F3CD}"/>
              </a:ext>
            </a:extLst>
          </p:cNvPr>
          <p:cNvSpPr/>
          <p:nvPr/>
        </p:nvSpPr>
        <p:spPr>
          <a:xfrm>
            <a:off x="4579693" y="2855494"/>
            <a:ext cx="738439" cy="407162"/>
          </a:xfrm>
          <a:prstGeom prst="rect">
            <a:avLst/>
          </a:prstGeom>
          <a:solidFill>
            <a:schemeClr val="accent1">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mc:AlternateContent xmlns:mc="http://schemas.openxmlformats.org/markup-compatibility/2006" xmlns:a14="http://schemas.microsoft.com/office/drawing/2010/main">
        <mc:Choice Requires="a14">
          <p:sp>
            <p:nvSpPr>
              <p:cNvPr id="43" name="TextBox 42">
                <a:extLst>
                  <a:ext uri="{FF2B5EF4-FFF2-40B4-BE49-F238E27FC236}">
                    <a16:creationId xmlns:a16="http://schemas.microsoft.com/office/drawing/2014/main" id="{94CC8C66-2F36-D8FA-B277-877F19EFD2F7}"/>
                  </a:ext>
                </a:extLst>
              </p:cNvPr>
              <p:cNvSpPr txBox="1"/>
              <p:nvPr/>
            </p:nvSpPr>
            <p:spPr>
              <a:xfrm>
                <a:off x="4579694" y="2874363"/>
                <a:ext cx="262436" cy="369332"/>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r>
                        <a:rPr lang="en-US" b="0" i="1" smtClean="0">
                          <a:latin typeface="Cambria Math" panose="02040503050406030204" pitchFamily="18" charset="0"/>
                        </a:rPr>
                        <m:t>𝑋</m:t>
                      </m:r>
                    </m:oMath>
                  </m:oMathPara>
                </a14:m>
                <a:endParaRPr lang="en-US" dirty="0"/>
              </a:p>
            </p:txBody>
          </p:sp>
        </mc:Choice>
        <mc:Fallback xmlns="">
          <p:sp>
            <p:nvSpPr>
              <p:cNvPr id="43" name="TextBox 42">
                <a:extLst>
                  <a:ext uri="{FF2B5EF4-FFF2-40B4-BE49-F238E27FC236}">
                    <a16:creationId xmlns:a16="http://schemas.microsoft.com/office/drawing/2014/main" id="{94CC8C66-2F36-D8FA-B277-877F19EFD2F7}"/>
                  </a:ext>
                </a:extLst>
              </p:cNvPr>
              <p:cNvSpPr txBox="1">
                <a:spLocks noRot="1" noChangeAspect="1" noMove="1" noResize="1" noEditPoints="1" noAdjustHandles="1" noChangeArrowheads="1" noChangeShapeType="1" noTextEdit="1"/>
              </p:cNvSpPr>
              <p:nvPr/>
            </p:nvSpPr>
            <p:spPr>
              <a:xfrm>
                <a:off x="4579694" y="2874363"/>
                <a:ext cx="262436" cy="369332"/>
              </a:xfrm>
              <a:prstGeom prst="rect">
                <a:avLst/>
              </a:prstGeom>
              <a:blipFill>
                <a:blip r:embed="rId5"/>
                <a:stretch>
                  <a:fillRect r="-18182"/>
                </a:stretch>
              </a:blipFill>
            </p:spPr>
            <p:txBody>
              <a:bodyPr/>
              <a:lstStyle/>
              <a:p>
                <a:r>
                  <a:rPr lang="en-US">
                    <a:noFill/>
                  </a:rPr>
                  <a:t> </a:t>
                </a:r>
              </a:p>
            </p:txBody>
          </p:sp>
        </mc:Fallback>
      </mc:AlternateContent>
      <p:cxnSp>
        <p:nvCxnSpPr>
          <p:cNvPr id="46" name="Straight Connector 45">
            <a:extLst>
              <a:ext uri="{FF2B5EF4-FFF2-40B4-BE49-F238E27FC236}">
                <a16:creationId xmlns:a16="http://schemas.microsoft.com/office/drawing/2014/main" id="{E95E7823-476B-6B69-D9AB-251CD032614F}"/>
              </a:ext>
            </a:extLst>
          </p:cNvPr>
          <p:cNvCxnSpPr>
            <a:cxnSpLocks/>
          </p:cNvCxnSpPr>
          <p:nvPr/>
        </p:nvCxnSpPr>
        <p:spPr>
          <a:xfrm>
            <a:off x="8611457" y="1150267"/>
            <a:ext cx="887866" cy="0"/>
          </a:xfrm>
          <a:prstGeom prst="line">
            <a:avLst/>
          </a:prstGeom>
          <a:ln w="38100"/>
        </p:spPr>
        <p:style>
          <a:lnRef idx="1">
            <a:schemeClr val="accent1"/>
          </a:lnRef>
          <a:fillRef idx="0">
            <a:schemeClr val="accent1"/>
          </a:fillRef>
          <a:effectRef idx="0">
            <a:schemeClr val="accent1"/>
          </a:effectRef>
          <a:fontRef idx="minor">
            <a:schemeClr val="tx1"/>
          </a:fontRef>
        </p:style>
      </p:cxnSp>
      <p:cxnSp>
        <p:nvCxnSpPr>
          <p:cNvPr id="47" name="Straight Connector 46">
            <a:extLst>
              <a:ext uri="{FF2B5EF4-FFF2-40B4-BE49-F238E27FC236}">
                <a16:creationId xmlns:a16="http://schemas.microsoft.com/office/drawing/2014/main" id="{0B6723A4-C950-915E-A495-C56DD524D533}"/>
              </a:ext>
            </a:extLst>
          </p:cNvPr>
          <p:cNvCxnSpPr>
            <a:cxnSpLocks/>
          </p:cNvCxnSpPr>
          <p:nvPr/>
        </p:nvCxnSpPr>
        <p:spPr>
          <a:xfrm>
            <a:off x="8611457" y="1531268"/>
            <a:ext cx="887866" cy="0"/>
          </a:xfrm>
          <a:prstGeom prst="line">
            <a:avLst/>
          </a:prstGeom>
          <a:ln w="38100"/>
        </p:spPr>
        <p:style>
          <a:lnRef idx="1">
            <a:schemeClr val="accent1"/>
          </a:lnRef>
          <a:fillRef idx="0">
            <a:schemeClr val="accent1"/>
          </a:fillRef>
          <a:effectRef idx="0">
            <a:schemeClr val="accent1"/>
          </a:effectRef>
          <a:fontRef idx="minor">
            <a:schemeClr val="tx1"/>
          </a:fontRef>
        </p:style>
      </p:cxnSp>
      <p:cxnSp>
        <p:nvCxnSpPr>
          <p:cNvPr id="48" name="Straight Connector 47">
            <a:extLst>
              <a:ext uri="{FF2B5EF4-FFF2-40B4-BE49-F238E27FC236}">
                <a16:creationId xmlns:a16="http://schemas.microsoft.com/office/drawing/2014/main" id="{6B2D63A5-DA8A-A49C-E713-AC5266557201}"/>
              </a:ext>
            </a:extLst>
          </p:cNvPr>
          <p:cNvCxnSpPr>
            <a:cxnSpLocks/>
            <a:stCxn id="49" idx="4"/>
            <a:endCxn id="50" idx="4"/>
          </p:cNvCxnSpPr>
          <p:nvPr/>
        </p:nvCxnSpPr>
        <p:spPr>
          <a:xfrm>
            <a:off x="9075823" y="1206713"/>
            <a:ext cx="4762" cy="412335"/>
          </a:xfrm>
          <a:prstGeom prst="line">
            <a:avLst/>
          </a:prstGeom>
          <a:ln w="38100"/>
        </p:spPr>
        <p:style>
          <a:lnRef idx="1">
            <a:schemeClr val="accent1"/>
          </a:lnRef>
          <a:fillRef idx="0">
            <a:schemeClr val="accent1"/>
          </a:fillRef>
          <a:effectRef idx="0">
            <a:schemeClr val="accent1"/>
          </a:effectRef>
          <a:fontRef idx="minor">
            <a:schemeClr val="tx1"/>
          </a:fontRef>
        </p:style>
      </p:cxnSp>
      <p:sp>
        <p:nvSpPr>
          <p:cNvPr id="49" name="Oval 48">
            <a:extLst>
              <a:ext uri="{FF2B5EF4-FFF2-40B4-BE49-F238E27FC236}">
                <a16:creationId xmlns:a16="http://schemas.microsoft.com/office/drawing/2014/main" id="{7409B2A2-257A-C892-637A-EFCC42529337}"/>
              </a:ext>
            </a:extLst>
          </p:cNvPr>
          <p:cNvSpPr/>
          <p:nvPr/>
        </p:nvSpPr>
        <p:spPr>
          <a:xfrm>
            <a:off x="9000322" y="1044321"/>
            <a:ext cx="151002" cy="162392"/>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0" name="Oval 49">
            <a:extLst>
              <a:ext uri="{FF2B5EF4-FFF2-40B4-BE49-F238E27FC236}">
                <a16:creationId xmlns:a16="http://schemas.microsoft.com/office/drawing/2014/main" id="{731DEB19-D2B3-D0FE-2635-C5C12ADDBDD3}"/>
              </a:ext>
            </a:extLst>
          </p:cNvPr>
          <p:cNvSpPr/>
          <p:nvPr/>
        </p:nvSpPr>
        <p:spPr>
          <a:xfrm>
            <a:off x="9000322" y="1415561"/>
            <a:ext cx="160526" cy="203487"/>
          </a:xfrm>
          <a:prstGeom prst="ellipse">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7" name="TextBox 56">
            <a:extLst>
              <a:ext uri="{FF2B5EF4-FFF2-40B4-BE49-F238E27FC236}">
                <a16:creationId xmlns:a16="http://schemas.microsoft.com/office/drawing/2014/main" id="{389549D6-D926-E6C4-939B-3F5B5233FE7A}"/>
              </a:ext>
            </a:extLst>
          </p:cNvPr>
          <p:cNvSpPr txBox="1"/>
          <p:nvPr/>
        </p:nvSpPr>
        <p:spPr>
          <a:xfrm>
            <a:off x="8416362" y="511482"/>
            <a:ext cx="1651331" cy="307777"/>
          </a:xfrm>
          <a:prstGeom prst="rect">
            <a:avLst/>
          </a:prstGeom>
          <a:noFill/>
        </p:spPr>
        <p:txBody>
          <a:bodyPr wrap="square" rtlCol="0">
            <a:spAutoFit/>
          </a:bodyPr>
          <a:lstStyle/>
          <a:p>
            <a:r>
              <a:rPr lang="en-US" sz="1400" dirty="0"/>
              <a:t>CNOT gate</a:t>
            </a:r>
          </a:p>
        </p:txBody>
      </p:sp>
      <p:sp>
        <p:nvSpPr>
          <p:cNvPr id="58" name="TextBox 57">
            <a:extLst>
              <a:ext uri="{FF2B5EF4-FFF2-40B4-BE49-F238E27FC236}">
                <a16:creationId xmlns:a16="http://schemas.microsoft.com/office/drawing/2014/main" id="{4A1150F2-6D78-71A7-81BC-966916C94FF7}"/>
              </a:ext>
            </a:extLst>
          </p:cNvPr>
          <p:cNvSpPr txBox="1"/>
          <p:nvPr/>
        </p:nvSpPr>
        <p:spPr>
          <a:xfrm>
            <a:off x="7922518" y="956454"/>
            <a:ext cx="660041" cy="369332"/>
          </a:xfrm>
          <a:prstGeom prst="rect">
            <a:avLst/>
          </a:prstGeom>
          <a:noFill/>
        </p:spPr>
        <p:txBody>
          <a:bodyPr wrap="square" rtlCol="0">
            <a:spAutoFit/>
          </a:bodyPr>
          <a:lstStyle/>
          <a:p>
            <a:r>
              <a:rPr lang="en-US" dirty="0"/>
              <a:t>ctrl</a:t>
            </a:r>
          </a:p>
        </p:txBody>
      </p:sp>
      <p:sp>
        <p:nvSpPr>
          <p:cNvPr id="59" name="TextBox 58">
            <a:extLst>
              <a:ext uri="{FF2B5EF4-FFF2-40B4-BE49-F238E27FC236}">
                <a16:creationId xmlns:a16="http://schemas.microsoft.com/office/drawing/2014/main" id="{0F723EE2-D46A-C11C-8365-53F1EAC32C97}"/>
              </a:ext>
            </a:extLst>
          </p:cNvPr>
          <p:cNvSpPr txBox="1"/>
          <p:nvPr/>
        </p:nvSpPr>
        <p:spPr>
          <a:xfrm>
            <a:off x="7922518" y="1300114"/>
            <a:ext cx="1651331" cy="369332"/>
          </a:xfrm>
          <a:prstGeom prst="rect">
            <a:avLst/>
          </a:prstGeom>
          <a:noFill/>
        </p:spPr>
        <p:txBody>
          <a:bodyPr wrap="square" rtlCol="0">
            <a:spAutoFit/>
          </a:bodyPr>
          <a:lstStyle/>
          <a:p>
            <a:r>
              <a:rPr lang="en-US" dirty="0" err="1"/>
              <a:t>tgt</a:t>
            </a:r>
            <a:endParaRPr lang="en-US" dirty="0"/>
          </a:p>
        </p:txBody>
      </p:sp>
      <p:sp>
        <p:nvSpPr>
          <p:cNvPr id="61" name="TextBox 60">
            <a:extLst>
              <a:ext uri="{FF2B5EF4-FFF2-40B4-BE49-F238E27FC236}">
                <a16:creationId xmlns:a16="http://schemas.microsoft.com/office/drawing/2014/main" id="{C1B0AEA4-1FF1-5F6C-3CAE-771970D2B93A}"/>
              </a:ext>
            </a:extLst>
          </p:cNvPr>
          <p:cNvSpPr txBox="1"/>
          <p:nvPr/>
        </p:nvSpPr>
        <p:spPr>
          <a:xfrm>
            <a:off x="8611457" y="2150301"/>
            <a:ext cx="1099716" cy="523220"/>
          </a:xfrm>
          <a:prstGeom prst="rect">
            <a:avLst/>
          </a:prstGeom>
          <a:noFill/>
        </p:spPr>
        <p:txBody>
          <a:bodyPr wrap="square">
            <a:spAutoFit/>
          </a:bodyPr>
          <a:lstStyle/>
          <a:p>
            <a:r>
              <a:rPr lang="en-US" sz="1400" dirty="0"/>
              <a:t>NOT gate</a:t>
            </a:r>
          </a:p>
          <a:p>
            <a:endParaRPr lang="en-US" sz="1400" dirty="0"/>
          </a:p>
        </p:txBody>
      </p:sp>
      <p:cxnSp>
        <p:nvCxnSpPr>
          <p:cNvPr id="62" name="Straight Connector 61">
            <a:extLst>
              <a:ext uri="{FF2B5EF4-FFF2-40B4-BE49-F238E27FC236}">
                <a16:creationId xmlns:a16="http://schemas.microsoft.com/office/drawing/2014/main" id="{76790BBF-0DF5-0E92-2BEE-DC59A5903CDE}"/>
              </a:ext>
            </a:extLst>
          </p:cNvPr>
          <p:cNvCxnSpPr>
            <a:cxnSpLocks/>
          </p:cNvCxnSpPr>
          <p:nvPr/>
        </p:nvCxnSpPr>
        <p:spPr>
          <a:xfrm>
            <a:off x="8445260" y="2753839"/>
            <a:ext cx="1150996" cy="0"/>
          </a:xfrm>
          <a:prstGeom prst="line">
            <a:avLst/>
          </a:prstGeom>
          <a:ln w="38100"/>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63" name="TextBox 62">
                <a:extLst>
                  <a:ext uri="{FF2B5EF4-FFF2-40B4-BE49-F238E27FC236}">
                    <a16:creationId xmlns:a16="http://schemas.microsoft.com/office/drawing/2014/main" id="{8720BA48-174A-233D-BDA6-43D052787430}"/>
                  </a:ext>
                </a:extLst>
              </p:cNvPr>
              <p:cNvSpPr txBox="1"/>
              <p:nvPr/>
            </p:nvSpPr>
            <p:spPr>
              <a:xfrm>
                <a:off x="7756321" y="2560026"/>
                <a:ext cx="660041" cy="369332"/>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r>
                        <a:rPr lang="en-CA" b="0" i="1" smtClean="0">
                          <a:latin typeface="Cambria Math" panose="02040503050406030204" pitchFamily="18" charset="0"/>
                        </a:rPr>
                        <m:t>|</m:t>
                      </m:r>
                      <m:r>
                        <a:rPr lang="en-CA" b="0" i="1" smtClean="0">
                          <a:latin typeface="Cambria Math" panose="02040503050406030204" pitchFamily="18" charset="0"/>
                        </a:rPr>
                        <m:t>𝑎</m:t>
                      </m:r>
                      <m:r>
                        <a:rPr lang="en-CA" b="0" i="1" smtClean="0">
                          <a:latin typeface="Cambria Math" panose="02040503050406030204" pitchFamily="18" charset="0"/>
                        </a:rPr>
                        <m:t>⟩</m:t>
                      </m:r>
                    </m:oMath>
                  </m:oMathPara>
                </a14:m>
                <a:endParaRPr lang="en-US" dirty="0"/>
              </a:p>
            </p:txBody>
          </p:sp>
        </mc:Choice>
        <mc:Fallback xmlns="">
          <p:sp>
            <p:nvSpPr>
              <p:cNvPr id="63" name="TextBox 62">
                <a:extLst>
                  <a:ext uri="{FF2B5EF4-FFF2-40B4-BE49-F238E27FC236}">
                    <a16:creationId xmlns:a16="http://schemas.microsoft.com/office/drawing/2014/main" id="{8720BA48-174A-233D-BDA6-43D052787430}"/>
                  </a:ext>
                </a:extLst>
              </p:cNvPr>
              <p:cNvSpPr txBox="1">
                <a:spLocks noRot="1" noChangeAspect="1" noMove="1" noResize="1" noEditPoints="1" noAdjustHandles="1" noChangeArrowheads="1" noChangeShapeType="1" noTextEdit="1"/>
              </p:cNvSpPr>
              <p:nvPr/>
            </p:nvSpPr>
            <p:spPr>
              <a:xfrm>
                <a:off x="7756321" y="2560026"/>
                <a:ext cx="660041" cy="369332"/>
              </a:xfrm>
              <a:prstGeom prst="rect">
                <a:avLst/>
              </a:prstGeom>
              <a:blipFill>
                <a:blip r:embed="rId6"/>
                <a:stretch>
                  <a:fillRect b="-13333"/>
                </a:stretch>
              </a:blipFill>
            </p:spPr>
            <p:txBody>
              <a:bodyPr/>
              <a:lstStyle/>
              <a:p>
                <a:r>
                  <a:rPr lang="en-US">
                    <a:noFill/>
                  </a:rPr>
                  <a:t> </a:t>
                </a:r>
              </a:p>
            </p:txBody>
          </p:sp>
        </mc:Fallback>
      </mc:AlternateContent>
      <p:sp>
        <p:nvSpPr>
          <p:cNvPr id="64" name="Rectangle 63">
            <a:extLst>
              <a:ext uri="{FF2B5EF4-FFF2-40B4-BE49-F238E27FC236}">
                <a16:creationId xmlns:a16="http://schemas.microsoft.com/office/drawing/2014/main" id="{DD064357-CFBD-74AB-283D-6258239531AB}"/>
              </a:ext>
            </a:extLst>
          </p:cNvPr>
          <p:cNvSpPr/>
          <p:nvPr/>
        </p:nvSpPr>
        <p:spPr>
          <a:xfrm>
            <a:off x="8731966" y="2574335"/>
            <a:ext cx="601159" cy="407162"/>
          </a:xfrm>
          <a:prstGeom prst="rect">
            <a:avLst/>
          </a:prstGeom>
          <a:solidFill>
            <a:schemeClr val="accent1">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mc:AlternateContent xmlns:mc="http://schemas.openxmlformats.org/markup-compatibility/2006" xmlns:a14="http://schemas.microsoft.com/office/drawing/2010/main">
        <mc:Choice Requires="a14">
          <p:sp>
            <p:nvSpPr>
              <p:cNvPr id="65" name="TextBox 64">
                <a:extLst>
                  <a:ext uri="{FF2B5EF4-FFF2-40B4-BE49-F238E27FC236}">
                    <a16:creationId xmlns:a16="http://schemas.microsoft.com/office/drawing/2014/main" id="{65235A5B-9A22-3B6D-5F5A-828FCAFEA8F8}"/>
                  </a:ext>
                </a:extLst>
              </p:cNvPr>
              <p:cNvSpPr txBox="1"/>
              <p:nvPr/>
            </p:nvSpPr>
            <p:spPr>
              <a:xfrm>
                <a:off x="8731966" y="2593204"/>
                <a:ext cx="594127" cy="369332"/>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r>
                        <a:rPr lang="en-US" b="0" i="1" smtClean="0">
                          <a:latin typeface="Cambria Math" panose="02040503050406030204" pitchFamily="18" charset="0"/>
                        </a:rPr>
                        <m:t>𝑋</m:t>
                      </m:r>
                    </m:oMath>
                  </m:oMathPara>
                </a14:m>
                <a:endParaRPr lang="en-US" dirty="0"/>
              </a:p>
            </p:txBody>
          </p:sp>
        </mc:Choice>
        <mc:Fallback xmlns="">
          <p:sp>
            <p:nvSpPr>
              <p:cNvPr id="65" name="TextBox 64">
                <a:extLst>
                  <a:ext uri="{FF2B5EF4-FFF2-40B4-BE49-F238E27FC236}">
                    <a16:creationId xmlns:a16="http://schemas.microsoft.com/office/drawing/2014/main" id="{65235A5B-9A22-3B6D-5F5A-828FCAFEA8F8}"/>
                  </a:ext>
                </a:extLst>
              </p:cNvPr>
              <p:cNvSpPr txBox="1">
                <a:spLocks noRot="1" noChangeAspect="1" noMove="1" noResize="1" noEditPoints="1" noAdjustHandles="1" noChangeArrowheads="1" noChangeShapeType="1" noTextEdit="1"/>
              </p:cNvSpPr>
              <p:nvPr/>
            </p:nvSpPr>
            <p:spPr>
              <a:xfrm>
                <a:off x="8731966" y="2593204"/>
                <a:ext cx="594127" cy="369332"/>
              </a:xfrm>
              <a:prstGeom prst="rect">
                <a:avLst/>
              </a:prstGeom>
              <a:blipFill>
                <a:blip r:embed="rId7"/>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68" name="TextBox 67">
                <a:extLst>
                  <a:ext uri="{FF2B5EF4-FFF2-40B4-BE49-F238E27FC236}">
                    <a16:creationId xmlns:a16="http://schemas.microsoft.com/office/drawing/2014/main" id="{F9734B81-D098-43A9-7352-1C2CE3FC593C}"/>
                  </a:ext>
                </a:extLst>
              </p:cNvPr>
              <p:cNvSpPr txBox="1"/>
              <p:nvPr/>
            </p:nvSpPr>
            <p:spPr>
              <a:xfrm>
                <a:off x="9518718" y="2560026"/>
                <a:ext cx="1140956" cy="369332"/>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r>
                        <a:rPr lang="en-CA" b="0" i="1" smtClean="0">
                          <a:latin typeface="Cambria Math" panose="02040503050406030204" pitchFamily="18" charset="0"/>
                        </a:rPr>
                        <m:t>|</m:t>
                      </m:r>
                      <m:r>
                        <a:rPr lang="en-CA" b="0" i="1" smtClean="0">
                          <a:latin typeface="Cambria Math" panose="02040503050406030204" pitchFamily="18" charset="0"/>
                        </a:rPr>
                        <m:t>𝑎</m:t>
                      </m:r>
                      <m:r>
                        <a:rPr lang="en-CA" b="0" i="1" smtClean="0">
                          <a:latin typeface="Cambria Math" panose="02040503050406030204" pitchFamily="18" charset="0"/>
                        </a:rPr>
                        <m:t>⊕1⟩</m:t>
                      </m:r>
                    </m:oMath>
                  </m:oMathPara>
                </a14:m>
                <a:endParaRPr lang="en-US" dirty="0"/>
              </a:p>
            </p:txBody>
          </p:sp>
        </mc:Choice>
        <mc:Fallback xmlns="">
          <p:sp>
            <p:nvSpPr>
              <p:cNvPr id="68" name="TextBox 67">
                <a:extLst>
                  <a:ext uri="{FF2B5EF4-FFF2-40B4-BE49-F238E27FC236}">
                    <a16:creationId xmlns:a16="http://schemas.microsoft.com/office/drawing/2014/main" id="{F9734B81-D098-43A9-7352-1C2CE3FC593C}"/>
                  </a:ext>
                </a:extLst>
              </p:cNvPr>
              <p:cNvSpPr txBox="1">
                <a:spLocks noRot="1" noChangeAspect="1" noMove="1" noResize="1" noEditPoints="1" noAdjustHandles="1" noChangeArrowheads="1" noChangeShapeType="1" noTextEdit="1"/>
              </p:cNvSpPr>
              <p:nvPr/>
            </p:nvSpPr>
            <p:spPr>
              <a:xfrm>
                <a:off x="9518718" y="2560026"/>
                <a:ext cx="1140956" cy="369332"/>
              </a:xfrm>
              <a:prstGeom prst="rect">
                <a:avLst/>
              </a:prstGeom>
              <a:blipFill>
                <a:blip r:embed="rId8"/>
                <a:stretch>
                  <a:fillRect b="-13333"/>
                </a:stretch>
              </a:blipFill>
            </p:spPr>
            <p:txBody>
              <a:bodyPr/>
              <a:lstStyle/>
              <a:p>
                <a:r>
                  <a:rPr lang="en-US">
                    <a:noFill/>
                  </a:rPr>
                  <a:t> </a:t>
                </a:r>
              </a:p>
            </p:txBody>
          </p:sp>
        </mc:Fallback>
      </mc:AlternateContent>
      <p:sp>
        <p:nvSpPr>
          <p:cNvPr id="91" name="Content Placeholder 90">
            <a:extLst>
              <a:ext uri="{FF2B5EF4-FFF2-40B4-BE49-F238E27FC236}">
                <a16:creationId xmlns:a16="http://schemas.microsoft.com/office/drawing/2014/main" id="{A60C610F-E149-7568-A5F3-BEE21E16F559}"/>
              </a:ext>
            </a:extLst>
          </p:cNvPr>
          <p:cNvSpPr>
            <a:spLocks noGrp="1"/>
          </p:cNvSpPr>
          <p:nvPr>
            <p:ph idx="1"/>
          </p:nvPr>
        </p:nvSpPr>
        <p:spPr>
          <a:xfrm>
            <a:off x="838200" y="1825625"/>
            <a:ext cx="10515600" cy="502286"/>
          </a:xfrm>
        </p:spPr>
        <p:txBody>
          <a:bodyPr/>
          <a:lstStyle/>
          <a:p>
            <a:pPr marL="0" indent="0">
              <a:buNone/>
            </a:pPr>
            <a:r>
              <a:rPr lang="en-US" dirty="0"/>
              <a:t>Compute the final state of circuit:</a:t>
            </a:r>
          </a:p>
        </p:txBody>
      </p:sp>
    </p:spTree>
    <p:extLst>
      <p:ext uri="{BB962C8B-B14F-4D97-AF65-F5344CB8AC3E}">
        <p14:creationId xmlns:p14="http://schemas.microsoft.com/office/powerpoint/2010/main" val="348352364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46"/>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47"/>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48"/>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49"/>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50"/>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57"/>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58"/>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59"/>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grpId="0" nodeType="clickEffect">
                                  <p:stCondLst>
                                    <p:cond delay="0"/>
                                  </p:stCondLst>
                                  <p:childTnLst>
                                    <p:set>
                                      <p:cBhvr>
                                        <p:cTn id="24" dur="1" fill="hold">
                                          <p:stCondLst>
                                            <p:cond delay="0"/>
                                          </p:stCondLst>
                                        </p:cTn>
                                        <p:tgtEl>
                                          <p:spTgt spid="61"/>
                                        </p:tgtEl>
                                        <p:attrNameLst>
                                          <p:attrName>style.visibility</p:attrName>
                                        </p:attrNameLst>
                                      </p:cBhvr>
                                      <p:to>
                                        <p:strVal val="visible"/>
                                      </p:to>
                                    </p:set>
                                  </p:childTnLst>
                                </p:cTn>
                              </p:par>
                              <p:par>
                                <p:cTn id="25" presetID="1" presetClass="entr" presetSubtype="0" fill="hold" nodeType="withEffect">
                                  <p:stCondLst>
                                    <p:cond delay="0"/>
                                  </p:stCondLst>
                                  <p:childTnLst>
                                    <p:set>
                                      <p:cBhvr>
                                        <p:cTn id="26" dur="1" fill="hold">
                                          <p:stCondLst>
                                            <p:cond delay="0"/>
                                          </p:stCondLst>
                                        </p:cTn>
                                        <p:tgtEl>
                                          <p:spTgt spid="62"/>
                                        </p:tgtEl>
                                        <p:attrNameLst>
                                          <p:attrName>style.visibility</p:attrName>
                                        </p:attrNameLst>
                                      </p:cBhvr>
                                      <p:to>
                                        <p:strVal val="visible"/>
                                      </p:to>
                                    </p:set>
                                  </p:childTnLst>
                                </p:cTn>
                              </p:par>
                              <p:par>
                                <p:cTn id="27" presetID="1" presetClass="entr" presetSubtype="0" fill="hold" grpId="0" nodeType="withEffect">
                                  <p:stCondLst>
                                    <p:cond delay="0"/>
                                  </p:stCondLst>
                                  <p:childTnLst>
                                    <p:set>
                                      <p:cBhvr>
                                        <p:cTn id="28" dur="1" fill="hold">
                                          <p:stCondLst>
                                            <p:cond delay="0"/>
                                          </p:stCondLst>
                                        </p:cTn>
                                        <p:tgtEl>
                                          <p:spTgt spid="63"/>
                                        </p:tgtEl>
                                        <p:attrNameLst>
                                          <p:attrName>style.visibility</p:attrName>
                                        </p:attrNameLst>
                                      </p:cBhvr>
                                      <p:to>
                                        <p:strVal val="visible"/>
                                      </p:to>
                                    </p:set>
                                  </p:childTnLst>
                                </p:cTn>
                              </p:par>
                              <p:par>
                                <p:cTn id="29" presetID="1" presetClass="entr" presetSubtype="0" fill="hold" grpId="0" nodeType="withEffect">
                                  <p:stCondLst>
                                    <p:cond delay="0"/>
                                  </p:stCondLst>
                                  <p:childTnLst>
                                    <p:set>
                                      <p:cBhvr>
                                        <p:cTn id="30" dur="1" fill="hold">
                                          <p:stCondLst>
                                            <p:cond delay="0"/>
                                          </p:stCondLst>
                                        </p:cTn>
                                        <p:tgtEl>
                                          <p:spTgt spid="64"/>
                                        </p:tgtEl>
                                        <p:attrNameLst>
                                          <p:attrName>style.visibility</p:attrName>
                                        </p:attrNameLst>
                                      </p:cBhvr>
                                      <p:to>
                                        <p:strVal val="visible"/>
                                      </p:to>
                                    </p:set>
                                  </p:childTnLst>
                                </p:cTn>
                              </p:par>
                              <p:par>
                                <p:cTn id="31" presetID="1" presetClass="entr" presetSubtype="0" fill="hold" grpId="0" nodeType="withEffect">
                                  <p:stCondLst>
                                    <p:cond delay="0"/>
                                  </p:stCondLst>
                                  <p:childTnLst>
                                    <p:set>
                                      <p:cBhvr>
                                        <p:cTn id="32" dur="1" fill="hold">
                                          <p:stCondLst>
                                            <p:cond delay="0"/>
                                          </p:stCondLst>
                                        </p:cTn>
                                        <p:tgtEl>
                                          <p:spTgt spid="65"/>
                                        </p:tgtEl>
                                        <p:attrNameLst>
                                          <p:attrName>style.visibility</p:attrName>
                                        </p:attrNameLst>
                                      </p:cBhvr>
                                      <p:to>
                                        <p:strVal val="visible"/>
                                      </p:to>
                                    </p:set>
                                  </p:childTnLst>
                                </p:cTn>
                              </p:par>
                              <p:par>
                                <p:cTn id="33" presetID="1" presetClass="entr" presetSubtype="0" fill="hold" grpId="0" nodeType="withEffect">
                                  <p:stCondLst>
                                    <p:cond delay="0"/>
                                  </p:stCondLst>
                                  <p:childTnLst>
                                    <p:set>
                                      <p:cBhvr>
                                        <p:cTn id="34" dur="1" fill="hold">
                                          <p:stCondLst>
                                            <p:cond delay="0"/>
                                          </p:stCondLst>
                                        </p:cTn>
                                        <p:tgtEl>
                                          <p:spTgt spid="6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9" grpId="0" animBg="1"/>
      <p:bldP spid="50" grpId="0" animBg="1"/>
      <p:bldP spid="57" grpId="0"/>
      <p:bldP spid="58" grpId="0"/>
      <p:bldP spid="59" grpId="0"/>
      <p:bldP spid="61" grpId="0"/>
      <p:bldP spid="63" grpId="0"/>
      <p:bldP spid="64" grpId="0" animBg="1"/>
      <p:bldP spid="65" grpId="0"/>
      <p:bldP spid="68" grpId="0"/>
    </p:bld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A2B6AB8-4C84-1448-01AA-904798889CB3}"/>
              </a:ext>
            </a:extLst>
          </p:cNvPr>
          <p:cNvSpPr>
            <a:spLocks noGrp="1"/>
          </p:cNvSpPr>
          <p:nvPr>
            <p:ph type="title"/>
          </p:nvPr>
        </p:nvSpPr>
        <p:spPr/>
        <p:txBody>
          <a:bodyPr/>
          <a:lstStyle/>
          <a:p>
            <a:r>
              <a:rPr lang="en-US" dirty="0"/>
              <a:t>Reversible </a:t>
            </a:r>
            <a:r>
              <a:rPr lang="en-US" dirty="0" smtClean="0"/>
              <a:t>circuits</a:t>
            </a:r>
            <a:endParaRPr lang="en-US" dirty="0"/>
          </a:p>
        </p:txBody>
      </p:sp>
      <p:cxnSp>
        <p:nvCxnSpPr>
          <p:cNvPr id="4" name="Straight Connector 3">
            <a:extLst>
              <a:ext uri="{FF2B5EF4-FFF2-40B4-BE49-F238E27FC236}">
                <a16:creationId xmlns:a16="http://schemas.microsoft.com/office/drawing/2014/main" id="{B91E78E4-542E-3BF9-60EB-0A75C5E77BF2}"/>
              </a:ext>
            </a:extLst>
          </p:cNvPr>
          <p:cNvCxnSpPr>
            <a:cxnSpLocks/>
          </p:cNvCxnSpPr>
          <p:nvPr/>
        </p:nvCxnSpPr>
        <p:spPr>
          <a:xfrm>
            <a:off x="1621931" y="2655525"/>
            <a:ext cx="3881437" cy="0"/>
          </a:xfrm>
          <a:prstGeom prst="line">
            <a:avLst/>
          </a:prstGeom>
          <a:ln w="38100"/>
        </p:spPr>
        <p:style>
          <a:lnRef idx="1">
            <a:schemeClr val="accent1"/>
          </a:lnRef>
          <a:fillRef idx="0">
            <a:schemeClr val="accent1"/>
          </a:fillRef>
          <a:effectRef idx="0">
            <a:schemeClr val="accent1"/>
          </a:effectRef>
          <a:fontRef idx="minor">
            <a:schemeClr val="tx1"/>
          </a:fontRef>
        </p:style>
      </p:cxnSp>
      <p:cxnSp>
        <p:nvCxnSpPr>
          <p:cNvPr id="5" name="Straight Connector 4">
            <a:extLst>
              <a:ext uri="{FF2B5EF4-FFF2-40B4-BE49-F238E27FC236}">
                <a16:creationId xmlns:a16="http://schemas.microsoft.com/office/drawing/2014/main" id="{978AB706-375B-47F7-7B59-E9A1BCEE51D6}"/>
              </a:ext>
            </a:extLst>
          </p:cNvPr>
          <p:cNvCxnSpPr>
            <a:cxnSpLocks/>
          </p:cNvCxnSpPr>
          <p:nvPr/>
        </p:nvCxnSpPr>
        <p:spPr>
          <a:xfrm>
            <a:off x="1621931" y="3036526"/>
            <a:ext cx="3881437" cy="0"/>
          </a:xfrm>
          <a:prstGeom prst="line">
            <a:avLst/>
          </a:prstGeom>
          <a:ln w="38100"/>
        </p:spPr>
        <p:style>
          <a:lnRef idx="1">
            <a:schemeClr val="accent1"/>
          </a:lnRef>
          <a:fillRef idx="0">
            <a:schemeClr val="accent1"/>
          </a:fillRef>
          <a:effectRef idx="0">
            <a:schemeClr val="accent1"/>
          </a:effectRef>
          <a:fontRef idx="minor">
            <a:schemeClr val="tx1"/>
          </a:fontRef>
        </p:style>
      </p:cxnSp>
      <p:cxnSp>
        <p:nvCxnSpPr>
          <p:cNvPr id="6" name="Straight Connector 5">
            <a:extLst>
              <a:ext uri="{FF2B5EF4-FFF2-40B4-BE49-F238E27FC236}">
                <a16:creationId xmlns:a16="http://schemas.microsoft.com/office/drawing/2014/main" id="{BED5DF10-67D3-32D3-58D2-6D7F10D2B0CA}"/>
              </a:ext>
            </a:extLst>
          </p:cNvPr>
          <p:cNvCxnSpPr>
            <a:cxnSpLocks/>
          </p:cNvCxnSpPr>
          <p:nvPr/>
        </p:nvCxnSpPr>
        <p:spPr>
          <a:xfrm>
            <a:off x="1621931" y="3450863"/>
            <a:ext cx="3881437" cy="0"/>
          </a:xfrm>
          <a:prstGeom prst="line">
            <a:avLst/>
          </a:prstGeom>
          <a:ln w="38100"/>
        </p:spPr>
        <p:style>
          <a:lnRef idx="1">
            <a:schemeClr val="accent1"/>
          </a:lnRef>
          <a:fillRef idx="0">
            <a:schemeClr val="accent1"/>
          </a:fillRef>
          <a:effectRef idx="0">
            <a:schemeClr val="accent1"/>
          </a:effectRef>
          <a:fontRef idx="minor">
            <a:schemeClr val="tx1"/>
          </a:fontRef>
        </p:style>
      </p:cxnSp>
      <p:cxnSp>
        <p:nvCxnSpPr>
          <p:cNvPr id="24" name="Straight Connector 23">
            <a:extLst>
              <a:ext uri="{FF2B5EF4-FFF2-40B4-BE49-F238E27FC236}">
                <a16:creationId xmlns:a16="http://schemas.microsoft.com/office/drawing/2014/main" id="{C251F492-D539-8BC9-D978-FFDA40075D94}"/>
              </a:ext>
            </a:extLst>
          </p:cNvPr>
          <p:cNvCxnSpPr>
            <a:cxnSpLocks/>
            <a:stCxn id="25" idx="4"/>
            <a:endCxn id="26" idx="4"/>
          </p:cNvCxnSpPr>
          <p:nvPr/>
        </p:nvCxnSpPr>
        <p:spPr>
          <a:xfrm>
            <a:off x="2086297" y="2711971"/>
            <a:ext cx="4762" cy="412335"/>
          </a:xfrm>
          <a:prstGeom prst="line">
            <a:avLst/>
          </a:prstGeom>
          <a:ln w="38100"/>
        </p:spPr>
        <p:style>
          <a:lnRef idx="1">
            <a:schemeClr val="accent1"/>
          </a:lnRef>
          <a:fillRef idx="0">
            <a:schemeClr val="accent1"/>
          </a:fillRef>
          <a:effectRef idx="0">
            <a:schemeClr val="accent1"/>
          </a:effectRef>
          <a:fontRef idx="minor">
            <a:schemeClr val="tx1"/>
          </a:fontRef>
        </p:style>
      </p:cxnSp>
      <p:sp>
        <p:nvSpPr>
          <p:cNvPr id="25" name="Oval 24">
            <a:extLst>
              <a:ext uri="{FF2B5EF4-FFF2-40B4-BE49-F238E27FC236}">
                <a16:creationId xmlns:a16="http://schemas.microsoft.com/office/drawing/2014/main" id="{AB8B4065-5CE1-DAA6-8A24-DE0BD66656DA}"/>
              </a:ext>
            </a:extLst>
          </p:cNvPr>
          <p:cNvSpPr/>
          <p:nvPr/>
        </p:nvSpPr>
        <p:spPr>
          <a:xfrm>
            <a:off x="2010796" y="2549579"/>
            <a:ext cx="151002" cy="162392"/>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6" name="Oval 25">
            <a:extLst>
              <a:ext uri="{FF2B5EF4-FFF2-40B4-BE49-F238E27FC236}">
                <a16:creationId xmlns:a16="http://schemas.microsoft.com/office/drawing/2014/main" id="{63A30FB8-4FBA-074B-F80B-45B299B44464}"/>
              </a:ext>
            </a:extLst>
          </p:cNvPr>
          <p:cNvSpPr/>
          <p:nvPr/>
        </p:nvSpPr>
        <p:spPr>
          <a:xfrm>
            <a:off x="2010796" y="2920819"/>
            <a:ext cx="160526" cy="203487"/>
          </a:xfrm>
          <a:prstGeom prst="ellipse">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29" name="Straight Connector 28">
            <a:extLst>
              <a:ext uri="{FF2B5EF4-FFF2-40B4-BE49-F238E27FC236}">
                <a16:creationId xmlns:a16="http://schemas.microsoft.com/office/drawing/2014/main" id="{0EF03BBC-C955-CC47-DF5A-E2611905E73C}"/>
              </a:ext>
            </a:extLst>
          </p:cNvPr>
          <p:cNvCxnSpPr>
            <a:cxnSpLocks/>
            <a:stCxn id="30" idx="4"/>
            <a:endCxn id="31" idx="4"/>
          </p:cNvCxnSpPr>
          <p:nvPr/>
        </p:nvCxnSpPr>
        <p:spPr>
          <a:xfrm>
            <a:off x="2725781" y="3140271"/>
            <a:ext cx="4762" cy="412335"/>
          </a:xfrm>
          <a:prstGeom prst="line">
            <a:avLst/>
          </a:prstGeom>
          <a:ln w="38100"/>
        </p:spPr>
        <p:style>
          <a:lnRef idx="1">
            <a:schemeClr val="accent1"/>
          </a:lnRef>
          <a:fillRef idx="0">
            <a:schemeClr val="accent1"/>
          </a:fillRef>
          <a:effectRef idx="0">
            <a:schemeClr val="accent1"/>
          </a:effectRef>
          <a:fontRef idx="minor">
            <a:schemeClr val="tx1"/>
          </a:fontRef>
        </p:style>
      </p:cxnSp>
      <p:sp>
        <p:nvSpPr>
          <p:cNvPr id="30" name="Oval 29">
            <a:extLst>
              <a:ext uri="{FF2B5EF4-FFF2-40B4-BE49-F238E27FC236}">
                <a16:creationId xmlns:a16="http://schemas.microsoft.com/office/drawing/2014/main" id="{204D1E71-EF2F-F04C-E236-5066F4827A39}"/>
              </a:ext>
            </a:extLst>
          </p:cNvPr>
          <p:cNvSpPr/>
          <p:nvPr/>
        </p:nvSpPr>
        <p:spPr>
          <a:xfrm>
            <a:off x="2650280" y="2977879"/>
            <a:ext cx="151002" cy="162392"/>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1" name="Oval 30">
            <a:extLst>
              <a:ext uri="{FF2B5EF4-FFF2-40B4-BE49-F238E27FC236}">
                <a16:creationId xmlns:a16="http://schemas.microsoft.com/office/drawing/2014/main" id="{34F8237B-9095-798A-AB09-AD69A08160E8}"/>
              </a:ext>
            </a:extLst>
          </p:cNvPr>
          <p:cNvSpPr/>
          <p:nvPr/>
        </p:nvSpPr>
        <p:spPr>
          <a:xfrm>
            <a:off x="2650280" y="3349119"/>
            <a:ext cx="160526" cy="203487"/>
          </a:xfrm>
          <a:prstGeom prst="ellipse">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35" name="Straight Connector 34">
            <a:extLst>
              <a:ext uri="{FF2B5EF4-FFF2-40B4-BE49-F238E27FC236}">
                <a16:creationId xmlns:a16="http://schemas.microsoft.com/office/drawing/2014/main" id="{1E5F54C2-59F0-E7DA-012B-2A93BD4DC83D}"/>
              </a:ext>
            </a:extLst>
          </p:cNvPr>
          <p:cNvCxnSpPr>
            <a:cxnSpLocks/>
            <a:stCxn id="36" idx="4"/>
            <a:endCxn id="37" idx="0"/>
          </p:cNvCxnSpPr>
          <p:nvPr/>
        </p:nvCxnSpPr>
        <p:spPr>
          <a:xfrm flipV="1">
            <a:off x="3840911" y="2549579"/>
            <a:ext cx="0" cy="978649"/>
          </a:xfrm>
          <a:prstGeom prst="line">
            <a:avLst/>
          </a:prstGeom>
          <a:ln w="38100"/>
        </p:spPr>
        <p:style>
          <a:lnRef idx="1">
            <a:schemeClr val="accent1"/>
          </a:lnRef>
          <a:fillRef idx="0">
            <a:schemeClr val="accent1"/>
          </a:fillRef>
          <a:effectRef idx="0">
            <a:schemeClr val="accent1"/>
          </a:effectRef>
          <a:fontRef idx="minor">
            <a:schemeClr val="tx1"/>
          </a:fontRef>
        </p:style>
      </p:cxnSp>
      <p:sp>
        <p:nvSpPr>
          <p:cNvPr id="36" name="Oval 35">
            <a:extLst>
              <a:ext uri="{FF2B5EF4-FFF2-40B4-BE49-F238E27FC236}">
                <a16:creationId xmlns:a16="http://schemas.microsoft.com/office/drawing/2014/main" id="{0A7BD3D2-2C4E-A320-4218-FFF72F065583}"/>
              </a:ext>
            </a:extLst>
          </p:cNvPr>
          <p:cNvSpPr/>
          <p:nvPr/>
        </p:nvSpPr>
        <p:spPr>
          <a:xfrm>
            <a:off x="3765410" y="3365836"/>
            <a:ext cx="151002" cy="162392"/>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7" name="Oval 36">
            <a:extLst>
              <a:ext uri="{FF2B5EF4-FFF2-40B4-BE49-F238E27FC236}">
                <a16:creationId xmlns:a16="http://schemas.microsoft.com/office/drawing/2014/main" id="{9BB2BAD3-82D3-E0A2-EE4B-0EDC31F91CAF}"/>
              </a:ext>
            </a:extLst>
          </p:cNvPr>
          <p:cNvSpPr/>
          <p:nvPr/>
        </p:nvSpPr>
        <p:spPr>
          <a:xfrm>
            <a:off x="3760648" y="2549579"/>
            <a:ext cx="160526" cy="203487"/>
          </a:xfrm>
          <a:prstGeom prst="ellipse">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1" name="Rectangle 40">
            <a:extLst>
              <a:ext uri="{FF2B5EF4-FFF2-40B4-BE49-F238E27FC236}">
                <a16:creationId xmlns:a16="http://schemas.microsoft.com/office/drawing/2014/main" id="{855B4E78-2745-4AD9-372E-3BDB7C68F3CD}"/>
              </a:ext>
            </a:extLst>
          </p:cNvPr>
          <p:cNvSpPr/>
          <p:nvPr/>
        </p:nvSpPr>
        <p:spPr>
          <a:xfrm>
            <a:off x="4579693" y="2855494"/>
            <a:ext cx="738439" cy="407162"/>
          </a:xfrm>
          <a:prstGeom prst="rect">
            <a:avLst/>
          </a:prstGeom>
          <a:solidFill>
            <a:schemeClr val="accent1">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mc:AlternateContent xmlns:mc="http://schemas.openxmlformats.org/markup-compatibility/2006" xmlns:a14="http://schemas.microsoft.com/office/drawing/2010/main">
        <mc:Choice Requires="a14">
          <p:sp>
            <p:nvSpPr>
              <p:cNvPr id="43" name="TextBox 42">
                <a:extLst>
                  <a:ext uri="{FF2B5EF4-FFF2-40B4-BE49-F238E27FC236}">
                    <a16:creationId xmlns:a16="http://schemas.microsoft.com/office/drawing/2014/main" id="{94CC8C66-2F36-D8FA-B277-877F19EFD2F7}"/>
                  </a:ext>
                </a:extLst>
              </p:cNvPr>
              <p:cNvSpPr txBox="1"/>
              <p:nvPr/>
            </p:nvSpPr>
            <p:spPr>
              <a:xfrm>
                <a:off x="4579694" y="2874363"/>
                <a:ext cx="262436" cy="369332"/>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r>
                        <a:rPr lang="en-US" b="0" i="1" smtClean="0">
                          <a:latin typeface="Cambria Math" panose="02040503050406030204" pitchFamily="18" charset="0"/>
                        </a:rPr>
                        <m:t>𝑋</m:t>
                      </m:r>
                    </m:oMath>
                  </m:oMathPara>
                </a14:m>
                <a:endParaRPr lang="en-US" dirty="0"/>
              </a:p>
            </p:txBody>
          </p:sp>
        </mc:Choice>
        <mc:Fallback xmlns="">
          <p:sp>
            <p:nvSpPr>
              <p:cNvPr id="43" name="TextBox 42">
                <a:extLst>
                  <a:ext uri="{FF2B5EF4-FFF2-40B4-BE49-F238E27FC236}">
                    <a16:creationId xmlns:a16="http://schemas.microsoft.com/office/drawing/2014/main" id="{94CC8C66-2F36-D8FA-B277-877F19EFD2F7}"/>
                  </a:ext>
                </a:extLst>
              </p:cNvPr>
              <p:cNvSpPr txBox="1">
                <a:spLocks noRot="1" noChangeAspect="1" noMove="1" noResize="1" noEditPoints="1" noAdjustHandles="1" noChangeArrowheads="1" noChangeShapeType="1" noTextEdit="1"/>
              </p:cNvSpPr>
              <p:nvPr/>
            </p:nvSpPr>
            <p:spPr>
              <a:xfrm>
                <a:off x="4579694" y="2874363"/>
                <a:ext cx="262436" cy="369332"/>
              </a:xfrm>
              <a:prstGeom prst="rect">
                <a:avLst/>
              </a:prstGeom>
              <a:blipFill>
                <a:blip r:embed="rId2"/>
                <a:stretch>
                  <a:fillRect r="-18182"/>
                </a:stretch>
              </a:blipFill>
            </p:spPr>
            <p:txBody>
              <a:bodyPr/>
              <a:lstStyle/>
              <a:p>
                <a:r>
                  <a:rPr lang="en-US">
                    <a:noFill/>
                  </a:rPr>
                  <a:t> </a:t>
                </a:r>
              </a:p>
            </p:txBody>
          </p:sp>
        </mc:Fallback>
      </mc:AlternateContent>
      <p:cxnSp>
        <p:nvCxnSpPr>
          <p:cNvPr id="46" name="Straight Connector 45">
            <a:extLst>
              <a:ext uri="{FF2B5EF4-FFF2-40B4-BE49-F238E27FC236}">
                <a16:creationId xmlns:a16="http://schemas.microsoft.com/office/drawing/2014/main" id="{E95E7823-476B-6B69-D9AB-251CD032614F}"/>
              </a:ext>
            </a:extLst>
          </p:cNvPr>
          <p:cNvCxnSpPr>
            <a:cxnSpLocks/>
          </p:cNvCxnSpPr>
          <p:nvPr/>
        </p:nvCxnSpPr>
        <p:spPr>
          <a:xfrm>
            <a:off x="8611457" y="1150267"/>
            <a:ext cx="887866" cy="0"/>
          </a:xfrm>
          <a:prstGeom prst="line">
            <a:avLst/>
          </a:prstGeom>
          <a:ln w="38100"/>
        </p:spPr>
        <p:style>
          <a:lnRef idx="1">
            <a:schemeClr val="accent1"/>
          </a:lnRef>
          <a:fillRef idx="0">
            <a:schemeClr val="accent1"/>
          </a:fillRef>
          <a:effectRef idx="0">
            <a:schemeClr val="accent1"/>
          </a:effectRef>
          <a:fontRef idx="minor">
            <a:schemeClr val="tx1"/>
          </a:fontRef>
        </p:style>
      </p:cxnSp>
      <p:cxnSp>
        <p:nvCxnSpPr>
          <p:cNvPr id="47" name="Straight Connector 46">
            <a:extLst>
              <a:ext uri="{FF2B5EF4-FFF2-40B4-BE49-F238E27FC236}">
                <a16:creationId xmlns:a16="http://schemas.microsoft.com/office/drawing/2014/main" id="{0B6723A4-C950-915E-A495-C56DD524D533}"/>
              </a:ext>
            </a:extLst>
          </p:cNvPr>
          <p:cNvCxnSpPr>
            <a:cxnSpLocks/>
          </p:cNvCxnSpPr>
          <p:nvPr/>
        </p:nvCxnSpPr>
        <p:spPr>
          <a:xfrm>
            <a:off x="8611457" y="1531268"/>
            <a:ext cx="887866" cy="0"/>
          </a:xfrm>
          <a:prstGeom prst="line">
            <a:avLst/>
          </a:prstGeom>
          <a:ln w="38100"/>
        </p:spPr>
        <p:style>
          <a:lnRef idx="1">
            <a:schemeClr val="accent1"/>
          </a:lnRef>
          <a:fillRef idx="0">
            <a:schemeClr val="accent1"/>
          </a:fillRef>
          <a:effectRef idx="0">
            <a:schemeClr val="accent1"/>
          </a:effectRef>
          <a:fontRef idx="minor">
            <a:schemeClr val="tx1"/>
          </a:fontRef>
        </p:style>
      </p:cxnSp>
      <p:cxnSp>
        <p:nvCxnSpPr>
          <p:cNvPr id="48" name="Straight Connector 47">
            <a:extLst>
              <a:ext uri="{FF2B5EF4-FFF2-40B4-BE49-F238E27FC236}">
                <a16:creationId xmlns:a16="http://schemas.microsoft.com/office/drawing/2014/main" id="{6B2D63A5-DA8A-A49C-E713-AC5266557201}"/>
              </a:ext>
            </a:extLst>
          </p:cNvPr>
          <p:cNvCxnSpPr>
            <a:cxnSpLocks/>
            <a:stCxn id="49" idx="4"/>
            <a:endCxn id="50" idx="4"/>
          </p:cNvCxnSpPr>
          <p:nvPr/>
        </p:nvCxnSpPr>
        <p:spPr>
          <a:xfrm>
            <a:off x="9075823" y="1206713"/>
            <a:ext cx="4762" cy="412335"/>
          </a:xfrm>
          <a:prstGeom prst="line">
            <a:avLst/>
          </a:prstGeom>
          <a:ln w="38100"/>
        </p:spPr>
        <p:style>
          <a:lnRef idx="1">
            <a:schemeClr val="accent1"/>
          </a:lnRef>
          <a:fillRef idx="0">
            <a:schemeClr val="accent1"/>
          </a:fillRef>
          <a:effectRef idx="0">
            <a:schemeClr val="accent1"/>
          </a:effectRef>
          <a:fontRef idx="minor">
            <a:schemeClr val="tx1"/>
          </a:fontRef>
        </p:style>
      </p:cxnSp>
      <p:sp>
        <p:nvSpPr>
          <p:cNvPr id="49" name="Oval 48">
            <a:extLst>
              <a:ext uri="{FF2B5EF4-FFF2-40B4-BE49-F238E27FC236}">
                <a16:creationId xmlns:a16="http://schemas.microsoft.com/office/drawing/2014/main" id="{7409B2A2-257A-C892-637A-EFCC42529337}"/>
              </a:ext>
            </a:extLst>
          </p:cNvPr>
          <p:cNvSpPr/>
          <p:nvPr/>
        </p:nvSpPr>
        <p:spPr>
          <a:xfrm>
            <a:off x="9000322" y="1044321"/>
            <a:ext cx="151002" cy="162392"/>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0" name="Oval 49">
            <a:extLst>
              <a:ext uri="{FF2B5EF4-FFF2-40B4-BE49-F238E27FC236}">
                <a16:creationId xmlns:a16="http://schemas.microsoft.com/office/drawing/2014/main" id="{731DEB19-D2B3-D0FE-2635-C5C12ADDBDD3}"/>
              </a:ext>
            </a:extLst>
          </p:cNvPr>
          <p:cNvSpPr/>
          <p:nvPr/>
        </p:nvSpPr>
        <p:spPr>
          <a:xfrm>
            <a:off x="9000322" y="1415561"/>
            <a:ext cx="160526" cy="203487"/>
          </a:xfrm>
          <a:prstGeom prst="ellipse">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7" name="TextBox 56">
            <a:extLst>
              <a:ext uri="{FF2B5EF4-FFF2-40B4-BE49-F238E27FC236}">
                <a16:creationId xmlns:a16="http://schemas.microsoft.com/office/drawing/2014/main" id="{389549D6-D926-E6C4-939B-3F5B5233FE7A}"/>
              </a:ext>
            </a:extLst>
          </p:cNvPr>
          <p:cNvSpPr txBox="1"/>
          <p:nvPr/>
        </p:nvSpPr>
        <p:spPr>
          <a:xfrm>
            <a:off x="8416362" y="511482"/>
            <a:ext cx="1651331" cy="307777"/>
          </a:xfrm>
          <a:prstGeom prst="rect">
            <a:avLst/>
          </a:prstGeom>
          <a:noFill/>
        </p:spPr>
        <p:txBody>
          <a:bodyPr wrap="square" rtlCol="0">
            <a:spAutoFit/>
          </a:bodyPr>
          <a:lstStyle/>
          <a:p>
            <a:r>
              <a:rPr lang="en-US" sz="1400" dirty="0"/>
              <a:t>CNOT gate</a:t>
            </a:r>
          </a:p>
        </p:txBody>
      </p:sp>
      <p:sp>
        <p:nvSpPr>
          <p:cNvPr id="58" name="TextBox 57">
            <a:extLst>
              <a:ext uri="{FF2B5EF4-FFF2-40B4-BE49-F238E27FC236}">
                <a16:creationId xmlns:a16="http://schemas.microsoft.com/office/drawing/2014/main" id="{4A1150F2-6D78-71A7-81BC-966916C94FF7}"/>
              </a:ext>
            </a:extLst>
          </p:cNvPr>
          <p:cNvSpPr txBox="1"/>
          <p:nvPr/>
        </p:nvSpPr>
        <p:spPr>
          <a:xfrm>
            <a:off x="7922518" y="956454"/>
            <a:ext cx="660041" cy="369332"/>
          </a:xfrm>
          <a:prstGeom prst="rect">
            <a:avLst/>
          </a:prstGeom>
          <a:noFill/>
        </p:spPr>
        <p:txBody>
          <a:bodyPr wrap="square" rtlCol="0">
            <a:spAutoFit/>
          </a:bodyPr>
          <a:lstStyle/>
          <a:p>
            <a:r>
              <a:rPr lang="en-US" dirty="0"/>
              <a:t>ctrl</a:t>
            </a:r>
          </a:p>
        </p:txBody>
      </p:sp>
      <p:sp>
        <p:nvSpPr>
          <p:cNvPr id="59" name="TextBox 58">
            <a:extLst>
              <a:ext uri="{FF2B5EF4-FFF2-40B4-BE49-F238E27FC236}">
                <a16:creationId xmlns:a16="http://schemas.microsoft.com/office/drawing/2014/main" id="{0F723EE2-D46A-C11C-8365-53F1EAC32C97}"/>
              </a:ext>
            </a:extLst>
          </p:cNvPr>
          <p:cNvSpPr txBox="1"/>
          <p:nvPr/>
        </p:nvSpPr>
        <p:spPr>
          <a:xfrm>
            <a:off x="7922518" y="1300114"/>
            <a:ext cx="1651331" cy="369332"/>
          </a:xfrm>
          <a:prstGeom prst="rect">
            <a:avLst/>
          </a:prstGeom>
          <a:noFill/>
        </p:spPr>
        <p:txBody>
          <a:bodyPr wrap="square" rtlCol="0">
            <a:spAutoFit/>
          </a:bodyPr>
          <a:lstStyle/>
          <a:p>
            <a:r>
              <a:rPr lang="en-US" dirty="0" err="1"/>
              <a:t>tgt</a:t>
            </a:r>
            <a:endParaRPr lang="en-US" dirty="0"/>
          </a:p>
        </p:txBody>
      </p:sp>
      <p:cxnSp>
        <p:nvCxnSpPr>
          <p:cNvPr id="62" name="Straight Connector 61">
            <a:extLst>
              <a:ext uri="{FF2B5EF4-FFF2-40B4-BE49-F238E27FC236}">
                <a16:creationId xmlns:a16="http://schemas.microsoft.com/office/drawing/2014/main" id="{76790BBF-0DF5-0E92-2BEE-DC59A5903CDE}"/>
              </a:ext>
            </a:extLst>
          </p:cNvPr>
          <p:cNvCxnSpPr>
            <a:cxnSpLocks/>
          </p:cNvCxnSpPr>
          <p:nvPr/>
        </p:nvCxnSpPr>
        <p:spPr>
          <a:xfrm>
            <a:off x="8445260" y="2753839"/>
            <a:ext cx="1150996" cy="0"/>
          </a:xfrm>
          <a:prstGeom prst="line">
            <a:avLst/>
          </a:prstGeom>
          <a:ln w="38100"/>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63" name="TextBox 62">
                <a:extLst>
                  <a:ext uri="{FF2B5EF4-FFF2-40B4-BE49-F238E27FC236}">
                    <a16:creationId xmlns:a16="http://schemas.microsoft.com/office/drawing/2014/main" id="{8720BA48-174A-233D-BDA6-43D052787430}"/>
                  </a:ext>
                </a:extLst>
              </p:cNvPr>
              <p:cNvSpPr txBox="1"/>
              <p:nvPr/>
            </p:nvSpPr>
            <p:spPr>
              <a:xfrm>
                <a:off x="7756321" y="2560026"/>
                <a:ext cx="660041" cy="369332"/>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r>
                        <a:rPr lang="en-CA" b="0" i="1" smtClean="0">
                          <a:latin typeface="Cambria Math" panose="02040503050406030204" pitchFamily="18" charset="0"/>
                        </a:rPr>
                        <m:t>|</m:t>
                      </m:r>
                      <m:r>
                        <a:rPr lang="en-CA" b="0" i="1" smtClean="0">
                          <a:latin typeface="Cambria Math" panose="02040503050406030204" pitchFamily="18" charset="0"/>
                        </a:rPr>
                        <m:t>𝑎</m:t>
                      </m:r>
                      <m:r>
                        <a:rPr lang="en-CA" b="0" i="1" smtClean="0">
                          <a:latin typeface="Cambria Math" panose="02040503050406030204" pitchFamily="18" charset="0"/>
                        </a:rPr>
                        <m:t>⟩</m:t>
                      </m:r>
                    </m:oMath>
                  </m:oMathPara>
                </a14:m>
                <a:endParaRPr lang="en-US" dirty="0"/>
              </a:p>
            </p:txBody>
          </p:sp>
        </mc:Choice>
        <mc:Fallback xmlns="">
          <p:sp>
            <p:nvSpPr>
              <p:cNvPr id="63" name="TextBox 62">
                <a:extLst>
                  <a:ext uri="{FF2B5EF4-FFF2-40B4-BE49-F238E27FC236}">
                    <a16:creationId xmlns:a16="http://schemas.microsoft.com/office/drawing/2014/main" id="{8720BA48-174A-233D-BDA6-43D052787430}"/>
                  </a:ext>
                </a:extLst>
              </p:cNvPr>
              <p:cNvSpPr txBox="1">
                <a:spLocks noRot="1" noChangeAspect="1" noMove="1" noResize="1" noEditPoints="1" noAdjustHandles="1" noChangeArrowheads="1" noChangeShapeType="1" noTextEdit="1"/>
              </p:cNvSpPr>
              <p:nvPr/>
            </p:nvSpPr>
            <p:spPr>
              <a:xfrm>
                <a:off x="7756321" y="2560026"/>
                <a:ext cx="660041" cy="369332"/>
              </a:xfrm>
              <a:prstGeom prst="rect">
                <a:avLst/>
              </a:prstGeom>
              <a:blipFill>
                <a:blip r:embed="rId3"/>
                <a:stretch>
                  <a:fillRect b="-13333"/>
                </a:stretch>
              </a:blipFill>
            </p:spPr>
            <p:txBody>
              <a:bodyPr/>
              <a:lstStyle/>
              <a:p>
                <a:r>
                  <a:rPr lang="en-US">
                    <a:noFill/>
                  </a:rPr>
                  <a:t> </a:t>
                </a:r>
              </a:p>
            </p:txBody>
          </p:sp>
        </mc:Fallback>
      </mc:AlternateContent>
      <p:sp>
        <p:nvSpPr>
          <p:cNvPr id="64" name="Rectangle 63">
            <a:extLst>
              <a:ext uri="{FF2B5EF4-FFF2-40B4-BE49-F238E27FC236}">
                <a16:creationId xmlns:a16="http://schemas.microsoft.com/office/drawing/2014/main" id="{DD064357-CFBD-74AB-283D-6258239531AB}"/>
              </a:ext>
            </a:extLst>
          </p:cNvPr>
          <p:cNvSpPr/>
          <p:nvPr/>
        </p:nvSpPr>
        <p:spPr>
          <a:xfrm>
            <a:off x="8731966" y="2574335"/>
            <a:ext cx="601159" cy="407162"/>
          </a:xfrm>
          <a:prstGeom prst="rect">
            <a:avLst/>
          </a:prstGeom>
          <a:solidFill>
            <a:schemeClr val="accent1">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mc:AlternateContent xmlns:mc="http://schemas.openxmlformats.org/markup-compatibility/2006" xmlns:a14="http://schemas.microsoft.com/office/drawing/2010/main">
        <mc:Choice Requires="a14">
          <p:sp>
            <p:nvSpPr>
              <p:cNvPr id="65" name="TextBox 64">
                <a:extLst>
                  <a:ext uri="{FF2B5EF4-FFF2-40B4-BE49-F238E27FC236}">
                    <a16:creationId xmlns:a16="http://schemas.microsoft.com/office/drawing/2014/main" id="{65235A5B-9A22-3B6D-5F5A-828FCAFEA8F8}"/>
                  </a:ext>
                </a:extLst>
              </p:cNvPr>
              <p:cNvSpPr txBox="1"/>
              <p:nvPr/>
            </p:nvSpPr>
            <p:spPr>
              <a:xfrm>
                <a:off x="8731966" y="2593204"/>
                <a:ext cx="594127" cy="369332"/>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r>
                        <a:rPr lang="en-US" b="0" i="1" smtClean="0">
                          <a:latin typeface="Cambria Math" panose="02040503050406030204" pitchFamily="18" charset="0"/>
                        </a:rPr>
                        <m:t>𝑋</m:t>
                      </m:r>
                    </m:oMath>
                  </m:oMathPara>
                </a14:m>
                <a:endParaRPr lang="en-US" dirty="0"/>
              </a:p>
            </p:txBody>
          </p:sp>
        </mc:Choice>
        <mc:Fallback xmlns="">
          <p:sp>
            <p:nvSpPr>
              <p:cNvPr id="65" name="TextBox 64">
                <a:extLst>
                  <a:ext uri="{FF2B5EF4-FFF2-40B4-BE49-F238E27FC236}">
                    <a16:creationId xmlns:a16="http://schemas.microsoft.com/office/drawing/2014/main" id="{65235A5B-9A22-3B6D-5F5A-828FCAFEA8F8}"/>
                  </a:ext>
                </a:extLst>
              </p:cNvPr>
              <p:cNvSpPr txBox="1">
                <a:spLocks noRot="1" noChangeAspect="1" noMove="1" noResize="1" noEditPoints="1" noAdjustHandles="1" noChangeArrowheads="1" noChangeShapeType="1" noTextEdit="1"/>
              </p:cNvSpPr>
              <p:nvPr/>
            </p:nvSpPr>
            <p:spPr>
              <a:xfrm>
                <a:off x="8731966" y="2593204"/>
                <a:ext cx="594127" cy="369332"/>
              </a:xfrm>
              <a:prstGeom prst="rect">
                <a:avLst/>
              </a:prstGeom>
              <a:blipFill>
                <a:blip r:embed="rId4"/>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68" name="TextBox 67">
                <a:extLst>
                  <a:ext uri="{FF2B5EF4-FFF2-40B4-BE49-F238E27FC236}">
                    <a16:creationId xmlns:a16="http://schemas.microsoft.com/office/drawing/2014/main" id="{F9734B81-D098-43A9-7352-1C2CE3FC593C}"/>
                  </a:ext>
                </a:extLst>
              </p:cNvPr>
              <p:cNvSpPr txBox="1"/>
              <p:nvPr/>
            </p:nvSpPr>
            <p:spPr>
              <a:xfrm>
                <a:off x="9518718" y="2560026"/>
                <a:ext cx="1140956" cy="369332"/>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r>
                        <a:rPr lang="en-CA" b="0" i="1" smtClean="0">
                          <a:latin typeface="Cambria Math" panose="02040503050406030204" pitchFamily="18" charset="0"/>
                        </a:rPr>
                        <m:t>|</m:t>
                      </m:r>
                      <m:r>
                        <a:rPr lang="en-CA" b="0" i="1" smtClean="0">
                          <a:latin typeface="Cambria Math" panose="02040503050406030204" pitchFamily="18" charset="0"/>
                        </a:rPr>
                        <m:t>𝑎</m:t>
                      </m:r>
                      <m:r>
                        <a:rPr lang="en-CA" b="0" i="1" smtClean="0">
                          <a:latin typeface="Cambria Math" panose="02040503050406030204" pitchFamily="18" charset="0"/>
                        </a:rPr>
                        <m:t>⊕1⟩</m:t>
                      </m:r>
                    </m:oMath>
                  </m:oMathPara>
                </a14:m>
                <a:endParaRPr lang="en-US" dirty="0"/>
              </a:p>
            </p:txBody>
          </p:sp>
        </mc:Choice>
        <mc:Fallback xmlns="">
          <p:sp>
            <p:nvSpPr>
              <p:cNvPr id="68" name="TextBox 67">
                <a:extLst>
                  <a:ext uri="{FF2B5EF4-FFF2-40B4-BE49-F238E27FC236}">
                    <a16:creationId xmlns:a16="http://schemas.microsoft.com/office/drawing/2014/main" id="{F9734B81-D098-43A9-7352-1C2CE3FC593C}"/>
                  </a:ext>
                </a:extLst>
              </p:cNvPr>
              <p:cNvSpPr txBox="1">
                <a:spLocks noRot="1" noChangeAspect="1" noMove="1" noResize="1" noEditPoints="1" noAdjustHandles="1" noChangeArrowheads="1" noChangeShapeType="1" noTextEdit="1"/>
              </p:cNvSpPr>
              <p:nvPr/>
            </p:nvSpPr>
            <p:spPr>
              <a:xfrm>
                <a:off x="9518718" y="2560026"/>
                <a:ext cx="1140956" cy="369332"/>
              </a:xfrm>
              <a:prstGeom prst="rect">
                <a:avLst/>
              </a:prstGeom>
              <a:blipFill>
                <a:blip r:embed="rId5"/>
                <a:stretch>
                  <a:fillRect b="-13333"/>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73" name="Rectangle 72">
                <a:extLst>
                  <a:ext uri="{FF2B5EF4-FFF2-40B4-BE49-F238E27FC236}">
                    <a16:creationId xmlns:a16="http://schemas.microsoft.com/office/drawing/2014/main" id="{9A87C957-842C-72F4-1C95-2F9DB1F48F2B}"/>
                  </a:ext>
                </a:extLst>
              </p:cNvPr>
              <p:cNvSpPr/>
              <p:nvPr/>
            </p:nvSpPr>
            <p:spPr>
              <a:xfrm>
                <a:off x="7285588" y="3601295"/>
                <a:ext cx="4420729" cy="3111878"/>
              </a:xfrm>
              <a:prstGeom prst="rect">
                <a:avLst/>
              </a:prstGeom>
            </p:spPr>
            <p:txBody>
              <a:bodyPr wrap="square">
                <a:spAutoFit/>
              </a:bodyPr>
              <a:lstStyle/>
              <a:p>
                <a:pPr marL="342900" indent="-342900">
                  <a:buAutoNum type="arabicPeriod"/>
                </a:pPr>
                <a:r>
                  <a:rPr lang="en-CA" sz="2400" b="1" dirty="0"/>
                  <a:t>Input:</a:t>
                </a:r>
                <a:r>
                  <a:rPr lang="en-CA" sz="2400" dirty="0"/>
                  <a:t> </a:t>
                </a:r>
                <a14:m>
                  <m:oMath xmlns:m="http://schemas.openxmlformats.org/officeDocument/2006/math">
                    <m:d>
                      <m:dPr>
                        <m:begChr m:val="|"/>
                        <m:endChr m:val="⟩"/>
                        <m:ctrlPr>
                          <a:rPr lang="en-CA" sz="2400" b="0" i="1" smtClean="0">
                            <a:latin typeface="Cambria Math" panose="02040503050406030204" pitchFamily="18" charset="0"/>
                          </a:rPr>
                        </m:ctrlPr>
                      </m:dPr>
                      <m:e>
                        <m:r>
                          <a:rPr lang="en-CA" sz="2400" b="0" i="1" smtClean="0">
                            <a:latin typeface="Cambria Math" panose="02040503050406030204" pitchFamily="18" charset="0"/>
                          </a:rPr>
                          <m:t>1,0,0</m:t>
                        </m:r>
                      </m:e>
                    </m:d>
                  </m:oMath>
                </a14:m>
                <a:endParaRPr lang="en-CA" sz="2400" b="0" dirty="0"/>
              </a:p>
              <a:p>
                <a:pPr marL="342900" indent="-342900">
                  <a:buAutoNum type="arabicPeriod"/>
                </a:pPr>
                <a14:m>
                  <m:oMath xmlns:m="http://schemas.openxmlformats.org/officeDocument/2006/math">
                    <m:r>
                      <a:rPr lang="en-CA" sz="2400" b="0" i="1" smtClean="0">
                        <a:latin typeface="Cambria Math" panose="02040503050406030204" pitchFamily="18" charset="0"/>
                      </a:rPr>
                      <m:t>𝐶𝑁𝑂</m:t>
                    </m:r>
                    <m:sSub>
                      <m:sSubPr>
                        <m:ctrlPr>
                          <a:rPr lang="en-CA" sz="2400" b="0" i="1" smtClean="0">
                            <a:latin typeface="Cambria Math" panose="02040503050406030204" pitchFamily="18" charset="0"/>
                          </a:rPr>
                        </m:ctrlPr>
                      </m:sSubPr>
                      <m:e>
                        <m:r>
                          <a:rPr lang="en-CA" sz="2400" b="0" i="1" smtClean="0">
                            <a:latin typeface="Cambria Math" panose="02040503050406030204" pitchFamily="18" charset="0"/>
                          </a:rPr>
                          <m:t>𝑇</m:t>
                        </m:r>
                      </m:e>
                      <m:sub>
                        <m:r>
                          <a:rPr lang="en-CA" sz="2400" b="0" i="1" smtClean="0">
                            <a:latin typeface="Cambria Math" panose="02040503050406030204" pitchFamily="18" charset="0"/>
                          </a:rPr>
                          <m:t>1,2</m:t>
                        </m:r>
                      </m:sub>
                    </m:sSub>
                    <m:d>
                      <m:dPr>
                        <m:begChr m:val="|"/>
                        <m:endChr m:val="⟩"/>
                        <m:ctrlPr>
                          <a:rPr lang="en-CA" sz="2400" b="0" i="1" smtClean="0">
                            <a:latin typeface="Cambria Math" panose="02040503050406030204" pitchFamily="18" charset="0"/>
                          </a:rPr>
                        </m:ctrlPr>
                      </m:dPr>
                      <m:e>
                        <m:r>
                          <a:rPr lang="en-CA" sz="2400" b="0" i="1" smtClean="0">
                            <a:latin typeface="Cambria Math" panose="02040503050406030204" pitchFamily="18" charset="0"/>
                          </a:rPr>
                          <m:t>1,0,0</m:t>
                        </m:r>
                      </m:e>
                    </m:d>
                    <m:r>
                      <a:rPr lang="en-CA" sz="2400" b="0" i="1" smtClean="0">
                        <a:latin typeface="Cambria Math" panose="02040503050406030204" pitchFamily="18" charset="0"/>
                      </a:rPr>
                      <m:t>=|1,1,0⟩</m:t>
                    </m:r>
                  </m:oMath>
                </a14:m>
                <a:endParaRPr lang="en-US" sz="2400" dirty="0"/>
              </a:p>
              <a:p>
                <a:pPr marL="342900" indent="-342900">
                  <a:buFontTx/>
                  <a:buAutoNum type="arabicPeriod"/>
                </a:pPr>
                <a14:m>
                  <m:oMath xmlns:m="http://schemas.openxmlformats.org/officeDocument/2006/math">
                    <m:r>
                      <a:rPr lang="en-CA" sz="2400" b="0" i="1" smtClean="0">
                        <a:latin typeface="Cambria Math" panose="02040503050406030204" pitchFamily="18" charset="0"/>
                      </a:rPr>
                      <m:t>𝐶𝑁𝑂</m:t>
                    </m:r>
                    <m:sSub>
                      <m:sSubPr>
                        <m:ctrlPr>
                          <a:rPr lang="en-CA" sz="2400" b="0" i="1" smtClean="0">
                            <a:latin typeface="Cambria Math" panose="02040503050406030204" pitchFamily="18" charset="0"/>
                          </a:rPr>
                        </m:ctrlPr>
                      </m:sSubPr>
                      <m:e>
                        <m:r>
                          <a:rPr lang="en-CA" sz="2400" b="0" i="1" smtClean="0">
                            <a:latin typeface="Cambria Math" panose="02040503050406030204" pitchFamily="18" charset="0"/>
                          </a:rPr>
                          <m:t>𝑇</m:t>
                        </m:r>
                      </m:e>
                      <m:sub>
                        <m:r>
                          <a:rPr lang="en-CA" sz="2400" b="0" i="1" smtClean="0">
                            <a:latin typeface="Cambria Math" panose="02040503050406030204" pitchFamily="18" charset="0"/>
                          </a:rPr>
                          <m:t>2,3</m:t>
                        </m:r>
                      </m:sub>
                    </m:sSub>
                    <m:d>
                      <m:dPr>
                        <m:begChr m:val="|"/>
                        <m:endChr m:val="⟩"/>
                        <m:ctrlPr>
                          <a:rPr lang="en-CA" sz="2400" b="0" i="1" smtClean="0">
                            <a:latin typeface="Cambria Math" panose="02040503050406030204" pitchFamily="18" charset="0"/>
                          </a:rPr>
                        </m:ctrlPr>
                      </m:dPr>
                      <m:e>
                        <m:r>
                          <a:rPr lang="en-CA" sz="2400" b="0" i="1" smtClean="0">
                            <a:latin typeface="Cambria Math" panose="02040503050406030204" pitchFamily="18" charset="0"/>
                          </a:rPr>
                          <m:t>1,1,0</m:t>
                        </m:r>
                      </m:e>
                    </m:d>
                    <m:r>
                      <a:rPr lang="en-CA" sz="2400" b="0" i="1" smtClean="0">
                        <a:latin typeface="Cambria Math" panose="02040503050406030204" pitchFamily="18" charset="0"/>
                      </a:rPr>
                      <m:t>=|1,1,1⟩</m:t>
                    </m:r>
                  </m:oMath>
                </a14:m>
                <a:endParaRPr lang="en-US" sz="2400" dirty="0"/>
              </a:p>
              <a:p>
                <a:pPr marL="342900" indent="-342900">
                  <a:buFontTx/>
                  <a:buAutoNum type="arabicPeriod"/>
                </a:pPr>
                <a14:m>
                  <m:oMath xmlns:m="http://schemas.openxmlformats.org/officeDocument/2006/math">
                    <m:r>
                      <a:rPr lang="en-CA" sz="2400" b="0" i="1" smtClean="0">
                        <a:latin typeface="Cambria Math" panose="02040503050406030204" pitchFamily="18" charset="0"/>
                      </a:rPr>
                      <m:t>𝐶𝑁𝑂</m:t>
                    </m:r>
                    <m:sSub>
                      <m:sSubPr>
                        <m:ctrlPr>
                          <a:rPr lang="en-CA" sz="2400" b="0" i="1" smtClean="0">
                            <a:latin typeface="Cambria Math" panose="02040503050406030204" pitchFamily="18" charset="0"/>
                          </a:rPr>
                        </m:ctrlPr>
                      </m:sSubPr>
                      <m:e>
                        <m:r>
                          <a:rPr lang="en-CA" sz="2400" b="0" i="1" smtClean="0">
                            <a:latin typeface="Cambria Math" panose="02040503050406030204" pitchFamily="18" charset="0"/>
                          </a:rPr>
                          <m:t>𝑇</m:t>
                        </m:r>
                      </m:e>
                      <m:sub>
                        <m:r>
                          <a:rPr lang="en-CA" sz="2400" b="0" i="1" smtClean="0">
                            <a:latin typeface="Cambria Math" panose="02040503050406030204" pitchFamily="18" charset="0"/>
                          </a:rPr>
                          <m:t>3,1</m:t>
                        </m:r>
                      </m:sub>
                    </m:sSub>
                    <m:d>
                      <m:dPr>
                        <m:begChr m:val="|"/>
                        <m:endChr m:val="⟩"/>
                        <m:ctrlPr>
                          <a:rPr lang="en-CA" sz="2400" b="0" i="1" smtClean="0">
                            <a:latin typeface="Cambria Math" panose="02040503050406030204" pitchFamily="18" charset="0"/>
                          </a:rPr>
                        </m:ctrlPr>
                      </m:dPr>
                      <m:e>
                        <m:r>
                          <a:rPr lang="en-CA" sz="2400" b="0" i="1" smtClean="0">
                            <a:latin typeface="Cambria Math" panose="02040503050406030204" pitchFamily="18" charset="0"/>
                          </a:rPr>
                          <m:t>1,1,1</m:t>
                        </m:r>
                      </m:e>
                    </m:d>
                    <m:r>
                      <a:rPr lang="en-CA" sz="2400" b="0" i="1" smtClean="0">
                        <a:latin typeface="Cambria Math" panose="02040503050406030204" pitchFamily="18" charset="0"/>
                      </a:rPr>
                      <m:t>=|0,1,1⟩</m:t>
                    </m:r>
                  </m:oMath>
                </a14:m>
                <a:endParaRPr lang="en-US" sz="2400" dirty="0"/>
              </a:p>
              <a:p>
                <a:pPr marL="342900" indent="-342900">
                  <a:buFontTx/>
                  <a:buAutoNum type="arabicPeriod"/>
                </a:pPr>
                <a14:m>
                  <m:oMath xmlns:m="http://schemas.openxmlformats.org/officeDocument/2006/math">
                    <m:sSub>
                      <m:sSubPr>
                        <m:ctrlPr>
                          <a:rPr lang="en-CA" sz="2400" b="0" i="1" smtClean="0">
                            <a:latin typeface="Cambria Math" panose="02040503050406030204" pitchFamily="18" charset="0"/>
                          </a:rPr>
                        </m:ctrlPr>
                      </m:sSubPr>
                      <m:e>
                        <m:r>
                          <a:rPr lang="en-US" sz="2400" b="0" i="1" smtClean="0">
                            <a:latin typeface="Cambria Math" panose="02040503050406030204" pitchFamily="18" charset="0"/>
                          </a:rPr>
                          <m:t>𝑋</m:t>
                        </m:r>
                      </m:e>
                      <m:sub>
                        <m:r>
                          <a:rPr lang="en-CA" sz="2400" b="0" i="1" smtClean="0">
                            <a:latin typeface="Cambria Math" panose="02040503050406030204" pitchFamily="18" charset="0"/>
                          </a:rPr>
                          <m:t>2</m:t>
                        </m:r>
                      </m:sub>
                    </m:sSub>
                    <m:d>
                      <m:dPr>
                        <m:begChr m:val="|"/>
                        <m:endChr m:val="⟩"/>
                        <m:ctrlPr>
                          <a:rPr lang="en-CA" sz="2400" b="0" i="1" smtClean="0">
                            <a:latin typeface="Cambria Math" panose="02040503050406030204" pitchFamily="18" charset="0"/>
                          </a:rPr>
                        </m:ctrlPr>
                      </m:dPr>
                      <m:e>
                        <m:r>
                          <a:rPr lang="en-CA" sz="2400" b="0" i="1" smtClean="0">
                            <a:latin typeface="Cambria Math" panose="02040503050406030204" pitchFamily="18" charset="0"/>
                          </a:rPr>
                          <m:t>0,1,1</m:t>
                        </m:r>
                      </m:e>
                    </m:d>
                    <m:r>
                      <a:rPr lang="en-CA" sz="2400" b="0" i="1" smtClean="0">
                        <a:latin typeface="Cambria Math" panose="02040503050406030204" pitchFamily="18" charset="0"/>
                      </a:rPr>
                      <m:t>=|0,0,1⟩</m:t>
                    </m:r>
                  </m:oMath>
                </a14:m>
                <a:endParaRPr lang="en-US" sz="2400" dirty="0"/>
              </a:p>
              <a:p>
                <a:pPr marL="342900" indent="-342900">
                  <a:buFontTx/>
                  <a:buAutoNum type="arabicPeriod"/>
                </a:pPr>
                <a:endParaRPr lang="en-US" sz="2400" dirty="0"/>
              </a:p>
              <a:p>
                <a:pPr marL="342900" indent="-342900">
                  <a:buFontTx/>
                  <a:buAutoNum type="arabicPeriod"/>
                </a:pPr>
                <a:endParaRPr lang="en-US" sz="2400" dirty="0"/>
              </a:p>
              <a:p>
                <a:pPr marL="342900" indent="-342900">
                  <a:buAutoNum type="arabicPeriod"/>
                </a:pPr>
                <a:endParaRPr lang="en-US" sz="2400" dirty="0"/>
              </a:p>
            </p:txBody>
          </p:sp>
        </mc:Choice>
        <mc:Fallback xmlns="">
          <p:sp>
            <p:nvSpPr>
              <p:cNvPr id="73" name="Rectangle 72">
                <a:extLst>
                  <a:ext uri="{FF2B5EF4-FFF2-40B4-BE49-F238E27FC236}">
                    <a16:creationId xmlns:a16="http://schemas.microsoft.com/office/drawing/2014/main" id="{9A87C957-842C-72F4-1C95-2F9DB1F48F2B}"/>
                  </a:ext>
                </a:extLst>
              </p:cNvPr>
              <p:cNvSpPr>
                <a:spLocks noRot="1" noChangeAspect="1" noMove="1" noResize="1" noEditPoints="1" noAdjustHandles="1" noChangeArrowheads="1" noChangeShapeType="1" noTextEdit="1"/>
              </p:cNvSpPr>
              <p:nvPr/>
            </p:nvSpPr>
            <p:spPr>
              <a:xfrm>
                <a:off x="7285588" y="3601295"/>
                <a:ext cx="4420729" cy="3111878"/>
              </a:xfrm>
              <a:prstGeom prst="rect">
                <a:avLst/>
              </a:prstGeom>
              <a:blipFill>
                <a:blip r:embed="rId6"/>
                <a:stretch>
                  <a:fillRect l="-2292" t="-1626"/>
                </a:stretch>
              </a:blipFill>
            </p:spPr>
            <p:txBody>
              <a:bodyPr/>
              <a:lstStyle/>
              <a:p>
                <a:r>
                  <a:rPr lang="en-US">
                    <a:noFill/>
                  </a:rPr>
                  <a:t> </a:t>
                </a:r>
              </a:p>
            </p:txBody>
          </p:sp>
        </mc:Fallback>
      </mc:AlternateContent>
      <p:cxnSp>
        <p:nvCxnSpPr>
          <p:cNvPr id="75" name="Straight Connector 74">
            <a:extLst>
              <a:ext uri="{FF2B5EF4-FFF2-40B4-BE49-F238E27FC236}">
                <a16:creationId xmlns:a16="http://schemas.microsoft.com/office/drawing/2014/main" id="{7637FDB0-5D0F-7720-173F-64F2523FF5CE}"/>
              </a:ext>
            </a:extLst>
          </p:cNvPr>
          <p:cNvCxnSpPr/>
          <p:nvPr/>
        </p:nvCxnSpPr>
        <p:spPr>
          <a:xfrm>
            <a:off x="1771650" y="2399272"/>
            <a:ext cx="0" cy="1464640"/>
          </a:xfrm>
          <a:prstGeom prst="line">
            <a:avLst/>
          </a:prstGeom>
          <a:ln w="38100">
            <a:solidFill>
              <a:schemeClr val="bg2">
                <a:lumMod val="50000"/>
              </a:schemeClr>
            </a:solidFill>
            <a:prstDash val="sysDash"/>
          </a:ln>
        </p:spPr>
        <p:style>
          <a:lnRef idx="1">
            <a:schemeClr val="accent1"/>
          </a:lnRef>
          <a:fillRef idx="0">
            <a:schemeClr val="accent1"/>
          </a:fillRef>
          <a:effectRef idx="0">
            <a:schemeClr val="accent1"/>
          </a:effectRef>
          <a:fontRef idx="minor">
            <a:schemeClr val="tx1"/>
          </a:fontRef>
        </p:style>
      </p:cxnSp>
      <p:sp>
        <p:nvSpPr>
          <p:cNvPr id="76" name="Oval 75">
            <a:extLst>
              <a:ext uri="{FF2B5EF4-FFF2-40B4-BE49-F238E27FC236}">
                <a16:creationId xmlns:a16="http://schemas.microsoft.com/office/drawing/2014/main" id="{66446FD7-D50E-BA14-E741-766B8FBEE614}"/>
              </a:ext>
            </a:extLst>
          </p:cNvPr>
          <p:cNvSpPr/>
          <p:nvPr/>
        </p:nvSpPr>
        <p:spPr>
          <a:xfrm>
            <a:off x="1579067" y="3990483"/>
            <a:ext cx="388865" cy="410191"/>
          </a:xfrm>
          <a:prstGeom prst="ellipse">
            <a:avLst/>
          </a:prstGeom>
          <a:solidFill>
            <a:srgbClr val="C00000"/>
          </a:solidFill>
          <a:ln>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7" name="TextBox 76">
            <a:extLst>
              <a:ext uri="{FF2B5EF4-FFF2-40B4-BE49-F238E27FC236}">
                <a16:creationId xmlns:a16="http://schemas.microsoft.com/office/drawing/2014/main" id="{378A7A83-33CF-2166-EC2E-9724D2C36D03}"/>
              </a:ext>
            </a:extLst>
          </p:cNvPr>
          <p:cNvSpPr txBox="1"/>
          <p:nvPr/>
        </p:nvSpPr>
        <p:spPr>
          <a:xfrm>
            <a:off x="1621931" y="4026075"/>
            <a:ext cx="317425" cy="307777"/>
          </a:xfrm>
          <a:prstGeom prst="rect">
            <a:avLst/>
          </a:prstGeom>
          <a:noFill/>
        </p:spPr>
        <p:txBody>
          <a:bodyPr wrap="square" rtlCol="0">
            <a:spAutoFit/>
          </a:bodyPr>
          <a:lstStyle/>
          <a:p>
            <a:r>
              <a:rPr lang="en-US" sz="1400" b="1" dirty="0">
                <a:solidFill>
                  <a:schemeClr val="bg1">
                    <a:lumMod val="95000"/>
                  </a:schemeClr>
                </a:solidFill>
              </a:rPr>
              <a:t>1</a:t>
            </a:r>
          </a:p>
        </p:txBody>
      </p:sp>
      <p:cxnSp>
        <p:nvCxnSpPr>
          <p:cNvPr id="78" name="Straight Connector 77">
            <a:extLst>
              <a:ext uri="{FF2B5EF4-FFF2-40B4-BE49-F238E27FC236}">
                <a16:creationId xmlns:a16="http://schemas.microsoft.com/office/drawing/2014/main" id="{4D56AD4F-3D49-4515-8A04-2E0D6EDE9020}"/>
              </a:ext>
            </a:extLst>
          </p:cNvPr>
          <p:cNvCxnSpPr/>
          <p:nvPr/>
        </p:nvCxnSpPr>
        <p:spPr>
          <a:xfrm>
            <a:off x="2357779" y="2401998"/>
            <a:ext cx="0" cy="1464640"/>
          </a:xfrm>
          <a:prstGeom prst="line">
            <a:avLst/>
          </a:prstGeom>
          <a:ln w="38100">
            <a:solidFill>
              <a:schemeClr val="bg2">
                <a:lumMod val="50000"/>
              </a:schemeClr>
            </a:solidFill>
            <a:prstDash val="sysDash"/>
          </a:ln>
        </p:spPr>
        <p:style>
          <a:lnRef idx="1">
            <a:schemeClr val="accent1"/>
          </a:lnRef>
          <a:fillRef idx="0">
            <a:schemeClr val="accent1"/>
          </a:fillRef>
          <a:effectRef idx="0">
            <a:schemeClr val="accent1"/>
          </a:effectRef>
          <a:fontRef idx="minor">
            <a:schemeClr val="tx1"/>
          </a:fontRef>
        </p:style>
      </p:cxnSp>
      <p:sp>
        <p:nvSpPr>
          <p:cNvPr id="79" name="Oval 78">
            <a:extLst>
              <a:ext uri="{FF2B5EF4-FFF2-40B4-BE49-F238E27FC236}">
                <a16:creationId xmlns:a16="http://schemas.microsoft.com/office/drawing/2014/main" id="{05BF532E-B4D1-D883-A5EC-310CC0EF73D3}"/>
              </a:ext>
            </a:extLst>
          </p:cNvPr>
          <p:cNvSpPr/>
          <p:nvPr/>
        </p:nvSpPr>
        <p:spPr>
          <a:xfrm>
            <a:off x="2165196" y="3993209"/>
            <a:ext cx="388865" cy="410191"/>
          </a:xfrm>
          <a:prstGeom prst="ellipse">
            <a:avLst/>
          </a:prstGeom>
          <a:solidFill>
            <a:srgbClr val="C00000"/>
          </a:solidFill>
          <a:ln>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0" name="TextBox 79">
            <a:extLst>
              <a:ext uri="{FF2B5EF4-FFF2-40B4-BE49-F238E27FC236}">
                <a16:creationId xmlns:a16="http://schemas.microsoft.com/office/drawing/2014/main" id="{E8575B74-AB51-6458-E7FC-5E0BC5BF86BF}"/>
              </a:ext>
            </a:extLst>
          </p:cNvPr>
          <p:cNvSpPr txBox="1"/>
          <p:nvPr/>
        </p:nvSpPr>
        <p:spPr>
          <a:xfrm>
            <a:off x="2208060" y="4028801"/>
            <a:ext cx="317425" cy="307777"/>
          </a:xfrm>
          <a:prstGeom prst="rect">
            <a:avLst/>
          </a:prstGeom>
          <a:noFill/>
        </p:spPr>
        <p:txBody>
          <a:bodyPr wrap="square" rtlCol="0">
            <a:spAutoFit/>
          </a:bodyPr>
          <a:lstStyle/>
          <a:p>
            <a:r>
              <a:rPr lang="en-US" sz="1400" b="1" dirty="0">
                <a:solidFill>
                  <a:schemeClr val="bg1">
                    <a:lumMod val="95000"/>
                  </a:schemeClr>
                </a:solidFill>
              </a:rPr>
              <a:t>2</a:t>
            </a:r>
          </a:p>
        </p:txBody>
      </p:sp>
      <p:cxnSp>
        <p:nvCxnSpPr>
          <p:cNvPr id="81" name="Straight Connector 80">
            <a:extLst>
              <a:ext uri="{FF2B5EF4-FFF2-40B4-BE49-F238E27FC236}">
                <a16:creationId xmlns:a16="http://schemas.microsoft.com/office/drawing/2014/main" id="{ECA0A729-EA22-05A3-5D11-16690F6A824A}"/>
              </a:ext>
            </a:extLst>
          </p:cNvPr>
          <p:cNvCxnSpPr/>
          <p:nvPr/>
        </p:nvCxnSpPr>
        <p:spPr>
          <a:xfrm>
            <a:off x="3092520" y="2404025"/>
            <a:ext cx="0" cy="1464640"/>
          </a:xfrm>
          <a:prstGeom prst="line">
            <a:avLst/>
          </a:prstGeom>
          <a:ln w="38100">
            <a:solidFill>
              <a:schemeClr val="bg2">
                <a:lumMod val="50000"/>
              </a:schemeClr>
            </a:solidFill>
            <a:prstDash val="sysDash"/>
          </a:ln>
        </p:spPr>
        <p:style>
          <a:lnRef idx="1">
            <a:schemeClr val="accent1"/>
          </a:lnRef>
          <a:fillRef idx="0">
            <a:schemeClr val="accent1"/>
          </a:fillRef>
          <a:effectRef idx="0">
            <a:schemeClr val="accent1"/>
          </a:effectRef>
          <a:fontRef idx="minor">
            <a:schemeClr val="tx1"/>
          </a:fontRef>
        </p:style>
      </p:cxnSp>
      <p:sp>
        <p:nvSpPr>
          <p:cNvPr id="82" name="Oval 81">
            <a:extLst>
              <a:ext uri="{FF2B5EF4-FFF2-40B4-BE49-F238E27FC236}">
                <a16:creationId xmlns:a16="http://schemas.microsoft.com/office/drawing/2014/main" id="{F18AC5A3-A7F4-A1B0-6DEB-50D00B05E6D9}"/>
              </a:ext>
            </a:extLst>
          </p:cNvPr>
          <p:cNvSpPr/>
          <p:nvPr/>
        </p:nvSpPr>
        <p:spPr>
          <a:xfrm>
            <a:off x="2899937" y="3995236"/>
            <a:ext cx="388865" cy="410191"/>
          </a:xfrm>
          <a:prstGeom prst="ellipse">
            <a:avLst/>
          </a:prstGeom>
          <a:solidFill>
            <a:srgbClr val="C00000"/>
          </a:solidFill>
          <a:ln>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3" name="TextBox 82">
            <a:extLst>
              <a:ext uri="{FF2B5EF4-FFF2-40B4-BE49-F238E27FC236}">
                <a16:creationId xmlns:a16="http://schemas.microsoft.com/office/drawing/2014/main" id="{FD2E03C9-8978-4D01-6233-D47545293B11}"/>
              </a:ext>
            </a:extLst>
          </p:cNvPr>
          <p:cNvSpPr txBox="1"/>
          <p:nvPr/>
        </p:nvSpPr>
        <p:spPr>
          <a:xfrm>
            <a:off x="2942801" y="4030828"/>
            <a:ext cx="317425" cy="307777"/>
          </a:xfrm>
          <a:prstGeom prst="rect">
            <a:avLst/>
          </a:prstGeom>
          <a:noFill/>
        </p:spPr>
        <p:txBody>
          <a:bodyPr wrap="square" rtlCol="0">
            <a:spAutoFit/>
          </a:bodyPr>
          <a:lstStyle/>
          <a:p>
            <a:r>
              <a:rPr lang="en-US" sz="1400" b="1" dirty="0">
                <a:solidFill>
                  <a:schemeClr val="bg1">
                    <a:lumMod val="95000"/>
                  </a:schemeClr>
                </a:solidFill>
              </a:rPr>
              <a:t>3</a:t>
            </a:r>
          </a:p>
        </p:txBody>
      </p:sp>
      <p:cxnSp>
        <p:nvCxnSpPr>
          <p:cNvPr id="84" name="Straight Connector 83">
            <a:extLst>
              <a:ext uri="{FF2B5EF4-FFF2-40B4-BE49-F238E27FC236}">
                <a16:creationId xmlns:a16="http://schemas.microsoft.com/office/drawing/2014/main" id="{E9F6649B-BFD4-E016-86F6-31F923F1DB05}"/>
              </a:ext>
            </a:extLst>
          </p:cNvPr>
          <p:cNvCxnSpPr/>
          <p:nvPr/>
        </p:nvCxnSpPr>
        <p:spPr>
          <a:xfrm>
            <a:off x="4315463" y="2404025"/>
            <a:ext cx="0" cy="1464640"/>
          </a:xfrm>
          <a:prstGeom prst="line">
            <a:avLst/>
          </a:prstGeom>
          <a:ln w="38100">
            <a:solidFill>
              <a:schemeClr val="bg2">
                <a:lumMod val="50000"/>
              </a:schemeClr>
            </a:solidFill>
            <a:prstDash val="sysDash"/>
          </a:ln>
        </p:spPr>
        <p:style>
          <a:lnRef idx="1">
            <a:schemeClr val="accent1"/>
          </a:lnRef>
          <a:fillRef idx="0">
            <a:schemeClr val="accent1"/>
          </a:fillRef>
          <a:effectRef idx="0">
            <a:schemeClr val="accent1"/>
          </a:effectRef>
          <a:fontRef idx="minor">
            <a:schemeClr val="tx1"/>
          </a:fontRef>
        </p:style>
      </p:cxnSp>
      <p:sp>
        <p:nvSpPr>
          <p:cNvPr id="85" name="Oval 84">
            <a:extLst>
              <a:ext uri="{FF2B5EF4-FFF2-40B4-BE49-F238E27FC236}">
                <a16:creationId xmlns:a16="http://schemas.microsoft.com/office/drawing/2014/main" id="{B7CD4A96-F17D-69CB-B8EC-36F2799007DB}"/>
              </a:ext>
            </a:extLst>
          </p:cNvPr>
          <p:cNvSpPr/>
          <p:nvPr/>
        </p:nvSpPr>
        <p:spPr>
          <a:xfrm>
            <a:off x="4122880" y="3995236"/>
            <a:ext cx="388865" cy="410191"/>
          </a:xfrm>
          <a:prstGeom prst="ellipse">
            <a:avLst/>
          </a:prstGeom>
          <a:solidFill>
            <a:srgbClr val="C00000"/>
          </a:solidFill>
          <a:ln>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6" name="TextBox 85">
            <a:extLst>
              <a:ext uri="{FF2B5EF4-FFF2-40B4-BE49-F238E27FC236}">
                <a16:creationId xmlns:a16="http://schemas.microsoft.com/office/drawing/2014/main" id="{02032827-72E9-392D-6899-87D0ED505720}"/>
              </a:ext>
            </a:extLst>
          </p:cNvPr>
          <p:cNvSpPr txBox="1"/>
          <p:nvPr/>
        </p:nvSpPr>
        <p:spPr>
          <a:xfrm>
            <a:off x="4165744" y="4030828"/>
            <a:ext cx="317425" cy="307777"/>
          </a:xfrm>
          <a:prstGeom prst="rect">
            <a:avLst/>
          </a:prstGeom>
          <a:noFill/>
        </p:spPr>
        <p:txBody>
          <a:bodyPr wrap="square" rtlCol="0">
            <a:spAutoFit/>
          </a:bodyPr>
          <a:lstStyle/>
          <a:p>
            <a:r>
              <a:rPr lang="en-US" sz="1400" b="1" dirty="0">
                <a:solidFill>
                  <a:schemeClr val="bg1">
                    <a:lumMod val="95000"/>
                  </a:schemeClr>
                </a:solidFill>
              </a:rPr>
              <a:t>4</a:t>
            </a:r>
          </a:p>
        </p:txBody>
      </p:sp>
      <p:cxnSp>
        <p:nvCxnSpPr>
          <p:cNvPr id="87" name="Straight Connector 86">
            <a:extLst>
              <a:ext uri="{FF2B5EF4-FFF2-40B4-BE49-F238E27FC236}">
                <a16:creationId xmlns:a16="http://schemas.microsoft.com/office/drawing/2014/main" id="{049B4452-3DAF-83AF-266D-F8CAF53A6D93}"/>
              </a:ext>
            </a:extLst>
          </p:cNvPr>
          <p:cNvCxnSpPr/>
          <p:nvPr/>
        </p:nvCxnSpPr>
        <p:spPr>
          <a:xfrm>
            <a:off x="5395910" y="2399562"/>
            <a:ext cx="0" cy="1464640"/>
          </a:xfrm>
          <a:prstGeom prst="line">
            <a:avLst/>
          </a:prstGeom>
          <a:ln w="38100">
            <a:solidFill>
              <a:schemeClr val="bg2">
                <a:lumMod val="50000"/>
              </a:schemeClr>
            </a:solidFill>
            <a:prstDash val="sysDash"/>
          </a:ln>
        </p:spPr>
        <p:style>
          <a:lnRef idx="1">
            <a:schemeClr val="accent1"/>
          </a:lnRef>
          <a:fillRef idx="0">
            <a:schemeClr val="accent1"/>
          </a:fillRef>
          <a:effectRef idx="0">
            <a:schemeClr val="accent1"/>
          </a:effectRef>
          <a:fontRef idx="minor">
            <a:schemeClr val="tx1"/>
          </a:fontRef>
        </p:style>
      </p:cxnSp>
      <p:sp>
        <p:nvSpPr>
          <p:cNvPr id="88" name="Oval 87">
            <a:extLst>
              <a:ext uri="{FF2B5EF4-FFF2-40B4-BE49-F238E27FC236}">
                <a16:creationId xmlns:a16="http://schemas.microsoft.com/office/drawing/2014/main" id="{3C341CDF-4BC3-1CC9-DBB9-6D21548C57B6}"/>
              </a:ext>
            </a:extLst>
          </p:cNvPr>
          <p:cNvSpPr/>
          <p:nvPr/>
        </p:nvSpPr>
        <p:spPr>
          <a:xfrm>
            <a:off x="5203327" y="3990773"/>
            <a:ext cx="388865" cy="410191"/>
          </a:xfrm>
          <a:prstGeom prst="ellipse">
            <a:avLst/>
          </a:prstGeom>
          <a:solidFill>
            <a:srgbClr val="C00000"/>
          </a:solidFill>
          <a:ln>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9" name="TextBox 88">
            <a:extLst>
              <a:ext uri="{FF2B5EF4-FFF2-40B4-BE49-F238E27FC236}">
                <a16:creationId xmlns:a16="http://schemas.microsoft.com/office/drawing/2014/main" id="{735CC33C-ABB4-DB97-4A07-ADDE31F4151B}"/>
              </a:ext>
            </a:extLst>
          </p:cNvPr>
          <p:cNvSpPr txBox="1"/>
          <p:nvPr/>
        </p:nvSpPr>
        <p:spPr>
          <a:xfrm>
            <a:off x="5246191" y="4026365"/>
            <a:ext cx="317425" cy="307777"/>
          </a:xfrm>
          <a:prstGeom prst="rect">
            <a:avLst/>
          </a:prstGeom>
          <a:noFill/>
        </p:spPr>
        <p:txBody>
          <a:bodyPr wrap="square" rtlCol="0">
            <a:spAutoFit/>
          </a:bodyPr>
          <a:lstStyle/>
          <a:p>
            <a:r>
              <a:rPr lang="en-US" sz="1400" b="1" dirty="0">
                <a:solidFill>
                  <a:schemeClr val="bg1">
                    <a:lumMod val="95000"/>
                  </a:schemeClr>
                </a:solidFill>
              </a:rPr>
              <a:t>5</a:t>
            </a:r>
          </a:p>
        </p:txBody>
      </p:sp>
      <mc:AlternateContent xmlns:mc="http://schemas.openxmlformats.org/markup-compatibility/2006" xmlns:a14="http://schemas.microsoft.com/office/drawing/2010/main">
        <mc:Choice Requires="a14">
          <p:sp>
            <p:nvSpPr>
              <p:cNvPr id="9" name="Rectangle 8">
                <a:extLst>
                  <a:ext uri="{FF2B5EF4-FFF2-40B4-BE49-F238E27FC236}">
                    <a16:creationId xmlns:a16="http://schemas.microsoft.com/office/drawing/2014/main" id="{94EE92FC-DB34-FB95-BD1E-9664133A05EE}"/>
                  </a:ext>
                </a:extLst>
              </p:cNvPr>
              <p:cNvSpPr/>
              <p:nvPr/>
            </p:nvSpPr>
            <p:spPr>
              <a:xfrm>
                <a:off x="919462" y="2470859"/>
                <a:ext cx="521810" cy="369332"/>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d>
                        <m:dPr>
                          <m:begChr m:val="|"/>
                          <m:endChr m:val="⟩"/>
                          <m:ctrlPr>
                            <a:rPr lang="en-CA" i="1" smtClean="0">
                              <a:latin typeface="Cambria Math" panose="02040503050406030204" pitchFamily="18" charset="0"/>
                            </a:rPr>
                          </m:ctrlPr>
                        </m:dPr>
                        <m:e>
                          <m:r>
                            <a:rPr lang="en-CA" b="0" i="1" smtClean="0">
                              <a:latin typeface="Cambria Math" panose="02040503050406030204" pitchFamily="18" charset="0"/>
                            </a:rPr>
                            <m:t>1</m:t>
                          </m:r>
                        </m:e>
                      </m:d>
                    </m:oMath>
                  </m:oMathPara>
                </a14:m>
                <a:endParaRPr lang="en-US" dirty="0"/>
              </a:p>
            </p:txBody>
          </p:sp>
        </mc:Choice>
        <mc:Fallback xmlns="">
          <p:sp>
            <p:nvSpPr>
              <p:cNvPr id="9" name="Rectangle 8">
                <a:extLst>
                  <a:ext uri="{FF2B5EF4-FFF2-40B4-BE49-F238E27FC236}">
                    <a16:creationId xmlns:a16="http://schemas.microsoft.com/office/drawing/2014/main" id="{94EE92FC-DB34-FB95-BD1E-9664133A05EE}"/>
                  </a:ext>
                </a:extLst>
              </p:cNvPr>
              <p:cNvSpPr>
                <a:spLocks noRot="1" noChangeAspect="1" noMove="1" noResize="1" noEditPoints="1" noAdjustHandles="1" noChangeArrowheads="1" noChangeShapeType="1" noTextEdit="1"/>
              </p:cNvSpPr>
              <p:nvPr/>
            </p:nvSpPr>
            <p:spPr>
              <a:xfrm>
                <a:off x="919462" y="2470859"/>
                <a:ext cx="521810" cy="369332"/>
              </a:xfrm>
              <a:prstGeom prst="rect">
                <a:avLst/>
              </a:prstGeom>
              <a:blipFill>
                <a:blip r:embed="rId7"/>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0" name="Rectangle 9">
                <a:extLst>
                  <a:ext uri="{FF2B5EF4-FFF2-40B4-BE49-F238E27FC236}">
                    <a16:creationId xmlns:a16="http://schemas.microsoft.com/office/drawing/2014/main" id="{F64F9B40-394B-4E54-5D8F-165A8CCF19D8}"/>
                  </a:ext>
                </a:extLst>
              </p:cNvPr>
              <p:cNvSpPr/>
              <p:nvPr/>
            </p:nvSpPr>
            <p:spPr>
              <a:xfrm>
                <a:off x="915067" y="2803921"/>
                <a:ext cx="521810" cy="369332"/>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d>
                        <m:dPr>
                          <m:begChr m:val="|"/>
                          <m:endChr m:val="⟩"/>
                          <m:ctrlPr>
                            <a:rPr lang="en-CA" i="1" smtClean="0">
                              <a:latin typeface="Cambria Math" panose="02040503050406030204" pitchFamily="18" charset="0"/>
                            </a:rPr>
                          </m:ctrlPr>
                        </m:dPr>
                        <m:e>
                          <m:r>
                            <a:rPr lang="en-CA" b="0" i="1" smtClean="0">
                              <a:latin typeface="Cambria Math" panose="02040503050406030204" pitchFamily="18" charset="0"/>
                            </a:rPr>
                            <m:t>0</m:t>
                          </m:r>
                        </m:e>
                      </m:d>
                    </m:oMath>
                  </m:oMathPara>
                </a14:m>
                <a:endParaRPr lang="en-US" dirty="0"/>
              </a:p>
            </p:txBody>
          </p:sp>
        </mc:Choice>
        <mc:Fallback xmlns="">
          <p:sp>
            <p:nvSpPr>
              <p:cNvPr id="10" name="Rectangle 9">
                <a:extLst>
                  <a:ext uri="{FF2B5EF4-FFF2-40B4-BE49-F238E27FC236}">
                    <a16:creationId xmlns:a16="http://schemas.microsoft.com/office/drawing/2014/main" id="{F64F9B40-394B-4E54-5D8F-165A8CCF19D8}"/>
                  </a:ext>
                </a:extLst>
              </p:cNvPr>
              <p:cNvSpPr>
                <a:spLocks noRot="1" noChangeAspect="1" noMove="1" noResize="1" noEditPoints="1" noAdjustHandles="1" noChangeArrowheads="1" noChangeShapeType="1" noTextEdit="1"/>
              </p:cNvSpPr>
              <p:nvPr/>
            </p:nvSpPr>
            <p:spPr>
              <a:xfrm>
                <a:off x="915067" y="2803921"/>
                <a:ext cx="521810" cy="369332"/>
              </a:xfrm>
              <a:prstGeom prst="rect">
                <a:avLst/>
              </a:prstGeom>
              <a:blipFill>
                <a:blip r:embed="rId8"/>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1" name="Rectangle 10">
                <a:extLst>
                  <a:ext uri="{FF2B5EF4-FFF2-40B4-BE49-F238E27FC236}">
                    <a16:creationId xmlns:a16="http://schemas.microsoft.com/office/drawing/2014/main" id="{53ACE6CD-8D10-4730-5469-21FE42AEC36C}"/>
                  </a:ext>
                </a:extLst>
              </p:cNvPr>
              <p:cNvSpPr/>
              <p:nvPr/>
            </p:nvSpPr>
            <p:spPr>
              <a:xfrm>
                <a:off x="919145" y="3185591"/>
                <a:ext cx="521810" cy="369332"/>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d>
                        <m:dPr>
                          <m:begChr m:val="|"/>
                          <m:endChr m:val="⟩"/>
                          <m:ctrlPr>
                            <a:rPr lang="en-CA" i="1" smtClean="0">
                              <a:latin typeface="Cambria Math" panose="02040503050406030204" pitchFamily="18" charset="0"/>
                            </a:rPr>
                          </m:ctrlPr>
                        </m:dPr>
                        <m:e>
                          <m:r>
                            <a:rPr lang="en-CA" b="0" i="1" smtClean="0">
                              <a:latin typeface="Cambria Math" panose="02040503050406030204" pitchFamily="18" charset="0"/>
                            </a:rPr>
                            <m:t>0</m:t>
                          </m:r>
                        </m:e>
                      </m:d>
                    </m:oMath>
                  </m:oMathPara>
                </a14:m>
                <a:endParaRPr lang="en-US" dirty="0"/>
              </a:p>
            </p:txBody>
          </p:sp>
        </mc:Choice>
        <mc:Fallback xmlns="">
          <p:sp>
            <p:nvSpPr>
              <p:cNvPr id="11" name="Rectangle 10">
                <a:extLst>
                  <a:ext uri="{FF2B5EF4-FFF2-40B4-BE49-F238E27FC236}">
                    <a16:creationId xmlns:a16="http://schemas.microsoft.com/office/drawing/2014/main" id="{53ACE6CD-8D10-4730-5469-21FE42AEC36C}"/>
                  </a:ext>
                </a:extLst>
              </p:cNvPr>
              <p:cNvSpPr>
                <a:spLocks noRot="1" noChangeAspect="1" noMove="1" noResize="1" noEditPoints="1" noAdjustHandles="1" noChangeArrowheads="1" noChangeShapeType="1" noTextEdit="1"/>
              </p:cNvSpPr>
              <p:nvPr/>
            </p:nvSpPr>
            <p:spPr>
              <a:xfrm>
                <a:off x="919145" y="3185591"/>
                <a:ext cx="521810" cy="369332"/>
              </a:xfrm>
              <a:prstGeom prst="rect">
                <a:avLst/>
              </a:prstGeom>
              <a:blipFill>
                <a:blip r:embed="rId9"/>
                <a:stretch>
                  <a:fillRect/>
                </a:stretch>
              </a:blipFill>
            </p:spPr>
            <p:txBody>
              <a:bodyPr/>
              <a:lstStyle/>
              <a:p>
                <a:r>
                  <a:rPr lang="en-US">
                    <a:noFill/>
                  </a:rPr>
                  <a:t> </a:t>
                </a:r>
              </a:p>
            </p:txBody>
          </p:sp>
        </mc:Fallback>
      </mc:AlternateContent>
      <p:sp>
        <p:nvSpPr>
          <p:cNvPr id="12" name="Content Placeholder 90">
            <a:extLst>
              <a:ext uri="{FF2B5EF4-FFF2-40B4-BE49-F238E27FC236}">
                <a16:creationId xmlns:a16="http://schemas.microsoft.com/office/drawing/2014/main" id="{EB31DC69-9544-B362-A54C-35CF1514F40D}"/>
              </a:ext>
            </a:extLst>
          </p:cNvPr>
          <p:cNvSpPr>
            <a:spLocks noGrp="1"/>
          </p:cNvSpPr>
          <p:nvPr>
            <p:ph idx="1"/>
          </p:nvPr>
        </p:nvSpPr>
        <p:spPr>
          <a:xfrm>
            <a:off x="838200" y="1825625"/>
            <a:ext cx="10515600" cy="502286"/>
          </a:xfrm>
        </p:spPr>
        <p:txBody>
          <a:bodyPr/>
          <a:lstStyle/>
          <a:p>
            <a:pPr marL="0" indent="0">
              <a:buNone/>
            </a:pPr>
            <a:r>
              <a:rPr lang="en-US" dirty="0"/>
              <a:t>Compute the final state of circuit:</a:t>
            </a:r>
          </a:p>
        </p:txBody>
      </p:sp>
      <p:sp>
        <p:nvSpPr>
          <p:cNvPr id="8" name="TextBox 7">
            <a:extLst>
              <a:ext uri="{FF2B5EF4-FFF2-40B4-BE49-F238E27FC236}">
                <a16:creationId xmlns:a16="http://schemas.microsoft.com/office/drawing/2014/main" id="{2148A943-3028-406E-3A28-55242FEEFF86}"/>
              </a:ext>
            </a:extLst>
          </p:cNvPr>
          <p:cNvSpPr txBox="1"/>
          <p:nvPr/>
        </p:nvSpPr>
        <p:spPr>
          <a:xfrm>
            <a:off x="8611457" y="2150301"/>
            <a:ext cx="1099716" cy="523220"/>
          </a:xfrm>
          <a:prstGeom prst="rect">
            <a:avLst/>
          </a:prstGeom>
          <a:noFill/>
        </p:spPr>
        <p:txBody>
          <a:bodyPr wrap="square">
            <a:spAutoFit/>
          </a:bodyPr>
          <a:lstStyle/>
          <a:p>
            <a:r>
              <a:rPr lang="en-US" sz="1400" dirty="0"/>
              <a:t>NOT gate</a:t>
            </a:r>
          </a:p>
          <a:p>
            <a:endParaRPr lang="en-US" sz="1400" dirty="0"/>
          </a:p>
        </p:txBody>
      </p:sp>
    </p:spTree>
    <p:extLst>
      <p:ext uri="{BB962C8B-B14F-4D97-AF65-F5344CB8AC3E}">
        <p14:creationId xmlns:p14="http://schemas.microsoft.com/office/powerpoint/2010/main" val="43674102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79"/>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80"/>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73">
                                            <p:txEl>
                                              <p:pRg st="1" end="1"/>
                                            </p:txEl>
                                          </p:spTgt>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78"/>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nodeType="clickEffect">
                                  <p:stCondLst>
                                    <p:cond delay="0"/>
                                  </p:stCondLst>
                                  <p:childTnLst>
                                    <p:set>
                                      <p:cBhvr>
                                        <p:cTn id="16" dur="1" fill="hold">
                                          <p:stCondLst>
                                            <p:cond delay="0"/>
                                          </p:stCondLst>
                                        </p:cTn>
                                        <p:tgtEl>
                                          <p:spTgt spid="81"/>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82"/>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83"/>
                                        </p:tgtEl>
                                        <p:attrNameLst>
                                          <p:attrName>style.visibility</p:attrName>
                                        </p:attrNameLst>
                                      </p:cBhvr>
                                      <p:to>
                                        <p:strVal val="visible"/>
                                      </p:to>
                                    </p:set>
                                  </p:childTnLst>
                                </p:cTn>
                              </p:par>
                              <p:par>
                                <p:cTn id="21" presetID="1" presetClass="entr" presetSubtype="0" fill="hold" nodeType="withEffect">
                                  <p:stCondLst>
                                    <p:cond delay="0"/>
                                  </p:stCondLst>
                                  <p:childTnLst>
                                    <p:set>
                                      <p:cBhvr>
                                        <p:cTn id="22" dur="1" fill="hold">
                                          <p:stCondLst>
                                            <p:cond delay="0"/>
                                          </p:stCondLst>
                                        </p:cTn>
                                        <p:tgtEl>
                                          <p:spTgt spid="73">
                                            <p:txEl>
                                              <p:pRg st="2" end="2"/>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84"/>
                                        </p:tgtEl>
                                        <p:attrNameLst>
                                          <p:attrName>style.visibility</p:attrName>
                                        </p:attrNameLst>
                                      </p:cBhvr>
                                      <p:to>
                                        <p:strVal val="visible"/>
                                      </p:to>
                                    </p:set>
                                  </p:childTnLst>
                                </p:cTn>
                              </p:par>
                              <p:par>
                                <p:cTn id="27" presetID="1" presetClass="entr" presetSubtype="0" fill="hold" grpId="0" nodeType="withEffect">
                                  <p:stCondLst>
                                    <p:cond delay="0"/>
                                  </p:stCondLst>
                                  <p:childTnLst>
                                    <p:set>
                                      <p:cBhvr>
                                        <p:cTn id="28" dur="1" fill="hold">
                                          <p:stCondLst>
                                            <p:cond delay="0"/>
                                          </p:stCondLst>
                                        </p:cTn>
                                        <p:tgtEl>
                                          <p:spTgt spid="85"/>
                                        </p:tgtEl>
                                        <p:attrNameLst>
                                          <p:attrName>style.visibility</p:attrName>
                                        </p:attrNameLst>
                                      </p:cBhvr>
                                      <p:to>
                                        <p:strVal val="visible"/>
                                      </p:to>
                                    </p:set>
                                  </p:childTnLst>
                                </p:cTn>
                              </p:par>
                              <p:par>
                                <p:cTn id="29" presetID="1" presetClass="entr" presetSubtype="0" fill="hold" grpId="0" nodeType="withEffect">
                                  <p:stCondLst>
                                    <p:cond delay="0"/>
                                  </p:stCondLst>
                                  <p:childTnLst>
                                    <p:set>
                                      <p:cBhvr>
                                        <p:cTn id="30" dur="1" fill="hold">
                                          <p:stCondLst>
                                            <p:cond delay="0"/>
                                          </p:stCondLst>
                                        </p:cTn>
                                        <p:tgtEl>
                                          <p:spTgt spid="86"/>
                                        </p:tgtEl>
                                        <p:attrNameLst>
                                          <p:attrName>style.visibility</p:attrName>
                                        </p:attrNameLst>
                                      </p:cBhvr>
                                      <p:to>
                                        <p:strVal val="visible"/>
                                      </p:to>
                                    </p:set>
                                  </p:childTnLst>
                                </p:cTn>
                              </p:par>
                              <p:par>
                                <p:cTn id="31" presetID="1" presetClass="entr" presetSubtype="0" fill="hold" nodeType="withEffect">
                                  <p:stCondLst>
                                    <p:cond delay="0"/>
                                  </p:stCondLst>
                                  <p:childTnLst>
                                    <p:set>
                                      <p:cBhvr>
                                        <p:cTn id="32" dur="1" fill="hold">
                                          <p:stCondLst>
                                            <p:cond delay="0"/>
                                          </p:stCondLst>
                                        </p:cTn>
                                        <p:tgtEl>
                                          <p:spTgt spid="73">
                                            <p:txEl>
                                              <p:pRg st="3" end="3"/>
                                            </p:txEl>
                                          </p:spTgt>
                                        </p:tgtEl>
                                        <p:attrNameLst>
                                          <p:attrName>style.visibility</p:attrName>
                                        </p:attrNameLst>
                                      </p:cBhvr>
                                      <p:to>
                                        <p:strVal val="visible"/>
                                      </p:to>
                                    </p:set>
                                  </p:childTnLst>
                                </p:cTn>
                              </p:par>
                            </p:childTnLst>
                          </p:cTn>
                        </p:par>
                      </p:childTnLst>
                    </p:cTn>
                  </p:par>
                  <p:par>
                    <p:cTn id="33" fill="hold">
                      <p:stCondLst>
                        <p:cond delay="indefinite"/>
                      </p:stCondLst>
                      <p:childTnLst>
                        <p:par>
                          <p:cTn id="34" fill="hold">
                            <p:stCondLst>
                              <p:cond delay="0"/>
                            </p:stCondLst>
                            <p:childTnLst>
                              <p:par>
                                <p:cTn id="35" presetID="1" presetClass="entr" presetSubtype="0" fill="hold" nodeType="clickEffect">
                                  <p:stCondLst>
                                    <p:cond delay="0"/>
                                  </p:stCondLst>
                                  <p:childTnLst>
                                    <p:set>
                                      <p:cBhvr>
                                        <p:cTn id="36" dur="1" fill="hold">
                                          <p:stCondLst>
                                            <p:cond delay="0"/>
                                          </p:stCondLst>
                                        </p:cTn>
                                        <p:tgtEl>
                                          <p:spTgt spid="87"/>
                                        </p:tgtEl>
                                        <p:attrNameLst>
                                          <p:attrName>style.visibility</p:attrName>
                                        </p:attrNameLst>
                                      </p:cBhvr>
                                      <p:to>
                                        <p:strVal val="visible"/>
                                      </p:to>
                                    </p:set>
                                  </p:childTnLst>
                                </p:cTn>
                              </p:par>
                              <p:par>
                                <p:cTn id="37" presetID="1" presetClass="entr" presetSubtype="0" fill="hold" grpId="0" nodeType="withEffect">
                                  <p:stCondLst>
                                    <p:cond delay="0"/>
                                  </p:stCondLst>
                                  <p:childTnLst>
                                    <p:set>
                                      <p:cBhvr>
                                        <p:cTn id="38" dur="1" fill="hold">
                                          <p:stCondLst>
                                            <p:cond delay="0"/>
                                          </p:stCondLst>
                                        </p:cTn>
                                        <p:tgtEl>
                                          <p:spTgt spid="88"/>
                                        </p:tgtEl>
                                        <p:attrNameLst>
                                          <p:attrName>style.visibility</p:attrName>
                                        </p:attrNameLst>
                                      </p:cBhvr>
                                      <p:to>
                                        <p:strVal val="visible"/>
                                      </p:to>
                                    </p:set>
                                  </p:childTnLst>
                                </p:cTn>
                              </p:par>
                              <p:par>
                                <p:cTn id="39" presetID="1" presetClass="entr" presetSubtype="0" fill="hold" grpId="0" nodeType="withEffect">
                                  <p:stCondLst>
                                    <p:cond delay="0"/>
                                  </p:stCondLst>
                                  <p:childTnLst>
                                    <p:set>
                                      <p:cBhvr>
                                        <p:cTn id="40" dur="1" fill="hold">
                                          <p:stCondLst>
                                            <p:cond delay="0"/>
                                          </p:stCondLst>
                                        </p:cTn>
                                        <p:tgtEl>
                                          <p:spTgt spid="89"/>
                                        </p:tgtEl>
                                        <p:attrNameLst>
                                          <p:attrName>style.visibility</p:attrName>
                                        </p:attrNameLst>
                                      </p:cBhvr>
                                      <p:to>
                                        <p:strVal val="visible"/>
                                      </p:to>
                                    </p:set>
                                  </p:childTnLst>
                                </p:cTn>
                              </p:par>
                              <p:par>
                                <p:cTn id="41" presetID="1" presetClass="entr" presetSubtype="0" fill="hold" nodeType="withEffect">
                                  <p:stCondLst>
                                    <p:cond delay="0"/>
                                  </p:stCondLst>
                                  <p:childTnLst>
                                    <p:set>
                                      <p:cBhvr>
                                        <p:cTn id="42" dur="1" fill="hold">
                                          <p:stCondLst>
                                            <p:cond delay="0"/>
                                          </p:stCondLst>
                                        </p:cTn>
                                        <p:tgtEl>
                                          <p:spTgt spid="73">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9" grpId="0" animBg="1"/>
      <p:bldP spid="80" grpId="0"/>
      <p:bldP spid="82" grpId="0" animBg="1"/>
      <p:bldP spid="83" grpId="0"/>
      <p:bldP spid="85" grpId="0" animBg="1"/>
      <p:bldP spid="86" grpId="0"/>
      <p:bldP spid="88" grpId="0" animBg="1"/>
      <p:bldP spid="89" grpId="0"/>
    </p:bld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5EA996C-B5F6-B594-B19D-FDB3BDDBA4D7}"/>
              </a:ext>
            </a:extLst>
          </p:cNvPr>
          <p:cNvSpPr>
            <a:spLocks noGrp="1"/>
          </p:cNvSpPr>
          <p:nvPr>
            <p:ph type="title"/>
          </p:nvPr>
        </p:nvSpPr>
        <p:spPr/>
        <p:txBody>
          <a:bodyPr>
            <a:normAutofit/>
          </a:bodyPr>
          <a:lstStyle/>
          <a:p>
            <a:r>
              <a:rPr lang="en-US" sz="4000" dirty="0"/>
              <a:t>Reversible computing, linear algebra style</a:t>
            </a:r>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61AA8FCB-12CC-692A-1B75-ED3ACF8A8CF2}"/>
                  </a:ext>
                </a:extLst>
              </p:cNvPr>
              <p:cNvSpPr>
                <a:spLocks noGrp="1"/>
              </p:cNvSpPr>
              <p:nvPr>
                <p:ph idx="1"/>
              </p:nvPr>
            </p:nvSpPr>
            <p:spPr/>
            <p:txBody>
              <a:bodyPr>
                <a:normAutofit/>
              </a:bodyPr>
              <a:lstStyle/>
              <a:p>
                <a:r>
                  <a:rPr lang="en-US" sz="2400" dirty="0" smtClean="0"/>
                  <a:t>We rephrase reversible computing on a linear algebraic foundation</a:t>
                </a:r>
                <a:endParaRPr lang="en-US" sz="2400" dirty="0"/>
              </a:p>
              <a:p>
                <a:endParaRPr lang="en-US" sz="2400" dirty="0"/>
              </a:p>
              <a:p>
                <a:r>
                  <a:rPr lang="en-US" sz="2400" dirty="0"/>
                  <a:t>States of </a:t>
                </a:r>
                <a14:m>
                  <m:oMath xmlns:m="http://schemas.openxmlformats.org/officeDocument/2006/math">
                    <m:r>
                      <a:rPr lang="en-CA" sz="2400" b="0" i="1" smtClean="0">
                        <a:latin typeface="Cambria Math" panose="02040503050406030204" pitchFamily="18" charset="0"/>
                      </a:rPr>
                      <m:t>𝑑</m:t>
                    </m:r>
                  </m:oMath>
                </a14:m>
                <a:r>
                  <a:rPr lang="en-US" sz="2400" dirty="0"/>
                  <a:t>-dim system </a:t>
                </a:r>
                <a14:m>
                  <m:oMath xmlns:m="http://schemas.openxmlformats.org/officeDocument/2006/math">
                    <m:r>
                      <a:rPr lang="en-CA" sz="2400" b="0" i="1" smtClean="0">
                        <a:latin typeface="Cambria Math" panose="02040503050406030204" pitchFamily="18" charset="0"/>
                      </a:rPr>
                      <m:t>𝑆</m:t>
                    </m:r>
                  </m:oMath>
                </a14:m>
                <a:r>
                  <a:rPr lang="en-US" sz="2400" dirty="0"/>
                  <a:t> are represented by </a:t>
                </a:r>
                <a14:m>
                  <m:oMath xmlns:m="http://schemas.openxmlformats.org/officeDocument/2006/math">
                    <m:r>
                      <a:rPr lang="en-CA" sz="2400" b="0" i="1" smtClean="0">
                        <a:latin typeface="Cambria Math" panose="02040503050406030204" pitchFamily="18" charset="0"/>
                      </a:rPr>
                      <m:t>𝑑</m:t>
                    </m:r>
                  </m:oMath>
                </a14:m>
                <a:r>
                  <a:rPr lang="en-US" sz="2400" dirty="0"/>
                  <a:t>-dim </a:t>
                </a:r>
                <a:r>
                  <a:rPr lang="en-US" sz="2400" b="1" i="1" dirty="0">
                    <a:solidFill>
                      <a:srgbClr val="C00000"/>
                    </a:solidFill>
                  </a:rPr>
                  <a:t>column vectors</a:t>
                </a:r>
              </a:p>
            </p:txBody>
          </p:sp>
        </mc:Choice>
        <mc:Fallback xmlns="">
          <p:sp>
            <p:nvSpPr>
              <p:cNvPr id="3" name="Content Placeholder 2">
                <a:extLst>
                  <a:ext uri="{FF2B5EF4-FFF2-40B4-BE49-F238E27FC236}">
                    <a16:creationId xmlns:a16="http://schemas.microsoft.com/office/drawing/2014/main" id="{61AA8FCB-12CC-692A-1B75-ED3ACF8A8CF2}"/>
                  </a:ext>
                </a:extLst>
              </p:cNvPr>
              <p:cNvSpPr>
                <a:spLocks noGrp="1" noRot="1" noChangeAspect="1" noMove="1" noResize="1" noEditPoints="1" noAdjustHandles="1" noChangeArrowheads="1" noChangeShapeType="1" noTextEdit="1"/>
              </p:cNvSpPr>
              <p:nvPr>
                <p:ph idx="1"/>
              </p:nvPr>
            </p:nvSpPr>
            <p:spPr>
              <a:blipFill>
                <a:blip r:embed="rId2"/>
                <a:stretch>
                  <a:fillRect l="-812" t="-1961"/>
                </a:stretch>
              </a:blipFill>
            </p:spPr>
            <p:txBody>
              <a:bodyPr/>
              <a:lstStyle/>
              <a:p>
                <a:r>
                  <a:rPr lang="ko-KR" altLang="en-US">
                    <a:noFill/>
                  </a:rPr>
                  <a:t> </a:t>
                </a:r>
              </a:p>
            </p:txBody>
          </p:sp>
        </mc:Fallback>
      </mc:AlternateContent>
      <mc:AlternateContent xmlns:mc="http://schemas.openxmlformats.org/markup-compatibility/2006" xmlns:a14="http://schemas.microsoft.com/office/drawing/2010/main">
        <mc:Choice Requires="a14">
          <p:sp>
            <p:nvSpPr>
              <p:cNvPr id="6" name="Rectangle 5">
                <a:extLst>
                  <a:ext uri="{FF2B5EF4-FFF2-40B4-BE49-F238E27FC236}">
                    <a16:creationId xmlns:a16="http://schemas.microsoft.com/office/drawing/2014/main" id="{B273FB42-DEDE-B642-37B4-CE634C671BED}"/>
                  </a:ext>
                </a:extLst>
              </p:cNvPr>
              <p:cNvSpPr/>
              <p:nvPr/>
            </p:nvSpPr>
            <p:spPr>
              <a:xfrm>
                <a:off x="2851662" y="3937076"/>
                <a:ext cx="1291059" cy="1126975"/>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r>
                        <a:rPr lang="en-CA" b="0" i="1" smtClean="0">
                          <a:latin typeface="Cambria Math" panose="02040503050406030204" pitchFamily="18" charset="0"/>
                        </a:rPr>
                        <m:t>|0⟩</m:t>
                      </m:r>
                      <m:r>
                        <a:rPr lang="en-US" b="0" i="1" smtClean="0">
                          <a:latin typeface="Cambria Math" panose="02040503050406030204" pitchFamily="18" charset="0"/>
                        </a:rPr>
                        <m:t>=</m:t>
                      </m:r>
                      <m:d>
                        <m:dPr>
                          <m:ctrlPr>
                            <a:rPr lang="en-US" b="0" i="1" smtClean="0">
                              <a:latin typeface="Cambria Math" panose="02040503050406030204" pitchFamily="18" charset="0"/>
                            </a:rPr>
                          </m:ctrlPr>
                        </m:dPr>
                        <m:e>
                          <m:m>
                            <m:mPr>
                              <m:mcs>
                                <m:mc>
                                  <m:mcPr>
                                    <m:count m:val="1"/>
                                    <m:mcJc m:val="center"/>
                                  </m:mcPr>
                                </m:mc>
                              </m:mcs>
                              <m:ctrlPr>
                                <a:rPr lang="en-US" b="0" i="1" smtClean="0">
                                  <a:latin typeface="Cambria Math" panose="02040503050406030204" pitchFamily="18" charset="0"/>
                                </a:rPr>
                              </m:ctrlPr>
                            </m:mPr>
                            <m:mr>
                              <m:e>
                                <m:r>
                                  <a:rPr lang="en-CA" b="0" i="1" smtClean="0">
                                    <a:latin typeface="Cambria Math" panose="02040503050406030204" pitchFamily="18" charset="0"/>
                                  </a:rPr>
                                  <m:t>1</m:t>
                                </m:r>
                              </m:e>
                            </m:mr>
                            <m:mr>
                              <m:e>
                                <m:r>
                                  <a:rPr lang="en-CA" b="0" i="1" smtClean="0">
                                    <a:latin typeface="Cambria Math" panose="02040503050406030204" pitchFamily="18" charset="0"/>
                                  </a:rPr>
                                  <m:t>0</m:t>
                                </m:r>
                              </m:e>
                            </m:mr>
                            <m:mr>
                              <m:e>
                                <m:r>
                                  <a:rPr lang="en-CA" b="0" i="1" smtClean="0">
                                    <a:latin typeface="Cambria Math" panose="02040503050406030204" pitchFamily="18" charset="0"/>
                                  </a:rPr>
                                  <m:t>⋮</m:t>
                                </m:r>
                              </m:e>
                            </m:mr>
                            <m:mr>
                              <m:e>
                                <m:r>
                                  <a:rPr lang="en-CA" b="0" i="1" smtClean="0">
                                    <a:latin typeface="Cambria Math" panose="02040503050406030204" pitchFamily="18" charset="0"/>
                                  </a:rPr>
                                  <m:t>0</m:t>
                                </m:r>
                              </m:e>
                            </m:mr>
                          </m:m>
                        </m:e>
                      </m:d>
                    </m:oMath>
                  </m:oMathPara>
                </a14:m>
                <a:endParaRPr lang="en-US" dirty="0"/>
              </a:p>
            </p:txBody>
          </p:sp>
        </mc:Choice>
        <mc:Fallback xmlns="">
          <p:sp>
            <p:nvSpPr>
              <p:cNvPr id="6" name="Rectangle 5">
                <a:extLst>
                  <a:ext uri="{FF2B5EF4-FFF2-40B4-BE49-F238E27FC236}">
                    <a16:creationId xmlns:a16="http://schemas.microsoft.com/office/drawing/2014/main" id="{B273FB42-DEDE-B642-37B4-CE634C671BED}"/>
                  </a:ext>
                </a:extLst>
              </p:cNvPr>
              <p:cNvSpPr>
                <a:spLocks noRot="1" noChangeAspect="1" noMove="1" noResize="1" noEditPoints="1" noAdjustHandles="1" noChangeArrowheads="1" noChangeShapeType="1" noTextEdit="1"/>
              </p:cNvSpPr>
              <p:nvPr/>
            </p:nvSpPr>
            <p:spPr>
              <a:xfrm>
                <a:off x="2851662" y="3937076"/>
                <a:ext cx="1291059" cy="1126975"/>
              </a:xfrm>
              <a:prstGeom prst="rect">
                <a:avLst/>
              </a:prstGeom>
              <a:blipFill>
                <a:blip r:embed="rId3"/>
                <a:stretch>
                  <a:fillRect b="-2247"/>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7" name="Rectangle 6">
                <a:extLst>
                  <a:ext uri="{FF2B5EF4-FFF2-40B4-BE49-F238E27FC236}">
                    <a16:creationId xmlns:a16="http://schemas.microsoft.com/office/drawing/2014/main" id="{D4DF8F0E-8FEC-6462-C4A6-285D5448D24E}"/>
                  </a:ext>
                </a:extLst>
              </p:cNvPr>
              <p:cNvSpPr/>
              <p:nvPr/>
            </p:nvSpPr>
            <p:spPr>
              <a:xfrm>
                <a:off x="4542861" y="3937075"/>
                <a:ext cx="1291059" cy="1126975"/>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r>
                        <a:rPr lang="en-CA" b="0" i="1" smtClean="0">
                          <a:latin typeface="Cambria Math" panose="02040503050406030204" pitchFamily="18" charset="0"/>
                        </a:rPr>
                        <m:t>|1⟩</m:t>
                      </m:r>
                      <m:r>
                        <a:rPr lang="en-US" b="0" i="1" smtClean="0">
                          <a:latin typeface="Cambria Math" panose="02040503050406030204" pitchFamily="18" charset="0"/>
                        </a:rPr>
                        <m:t>=</m:t>
                      </m:r>
                      <m:d>
                        <m:dPr>
                          <m:ctrlPr>
                            <a:rPr lang="en-US" b="0" i="1" smtClean="0">
                              <a:latin typeface="Cambria Math" panose="02040503050406030204" pitchFamily="18" charset="0"/>
                            </a:rPr>
                          </m:ctrlPr>
                        </m:dPr>
                        <m:e>
                          <m:m>
                            <m:mPr>
                              <m:mcs>
                                <m:mc>
                                  <m:mcPr>
                                    <m:count m:val="1"/>
                                    <m:mcJc m:val="center"/>
                                  </m:mcPr>
                                </m:mc>
                              </m:mcs>
                              <m:ctrlPr>
                                <a:rPr lang="en-US" i="1">
                                  <a:latin typeface="Cambria Math" panose="02040503050406030204" pitchFamily="18" charset="0"/>
                                </a:rPr>
                              </m:ctrlPr>
                            </m:mPr>
                            <m:mr>
                              <m:e>
                                <m:r>
                                  <m:rPr>
                                    <m:brk m:alnAt="7"/>
                                  </m:rPr>
                                  <a:rPr lang="en-CA" b="0" i="1" smtClean="0">
                                    <a:latin typeface="Cambria Math" panose="02040503050406030204" pitchFamily="18" charset="0"/>
                                  </a:rPr>
                                  <m:t>0</m:t>
                                </m:r>
                              </m:e>
                            </m:mr>
                            <m:mr>
                              <m:e>
                                <m:r>
                                  <a:rPr lang="en-CA" b="0" i="1" smtClean="0">
                                    <a:latin typeface="Cambria Math" panose="02040503050406030204" pitchFamily="18" charset="0"/>
                                  </a:rPr>
                                  <m:t>1</m:t>
                                </m:r>
                              </m:e>
                            </m:mr>
                            <m:mr>
                              <m:e>
                                <m:r>
                                  <a:rPr lang="en-CA" i="1">
                                    <a:latin typeface="Cambria Math" panose="02040503050406030204" pitchFamily="18" charset="0"/>
                                  </a:rPr>
                                  <m:t>⋮</m:t>
                                </m:r>
                              </m:e>
                            </m:mr>
                            <m:mr>
                              <m:e>
                                <m:r>
                                  <a:rPr lang="en-CA" i="1">
                                    <a:latin typeface="Cambria Math" panose="02040503050406030204" pitchFamily="18" charset="0"/>
                                  </a:rPr>
                                  <m:t>0</m:t>
                                </m:r>
                              </m:e>
                            </m:mr>
                          </m:m>
                        </m:e>
                      </m:d>
                    </m:oMath>
                  </m:oMathPara>
                </a14:m>
                <a:endParaRPr lang="en-US" dirty="0"/>
              </a:p>
            </p:txBody>
          </p:sp>
        </mc:Choice>
        <mc:Fallback xmlns="">
          <p:sp>
            <p:nvSpPr>
              <p:cNvPr id="7" name="Rectangle 6">
                <a:extLst>
                  <a:ext uri="{FF2B5EF4-FFF2-40B4-BE49-F238E27FC236}">
                    <a16:creationId xmlns:a16="http://schemas.microsoft.com/office/drawing/2014/main" id="{D4DF8F0E-8FEC-6462-C4A6-285D5448D24E}"/>
                  </a:ext>
                </a:extLst>
              </p:cNvPr>
              <p:cNvSpPr>
                <a:spLocks noRot="1" noChangeAspect="1" noMove="1" noResize="1" noEditPoints="1" noAdjustHandles="1" noChangeArrowheads="1" noChangeShapeType="1" noTextEdit="1"/>
              </p:cNvSpPr>
              <p:nvPr/>
            </p:nvSpPr>
            <p:spPr>
              <a:xfrm>
                <a:off x="4542861" y="3937075"/>
                <a:ext cx="1291059" cy="1126975"/>
              </a:xfrm>
              <a:prstGeom prst="rect">
                <a:avLst/>
              </a:prstGeom>
              <a:blipFill>
                <a:blip r:embed="rId4"/>
                <a:stretch>
                  <a:fillRect b="-2247"/>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8" name="Rectangle 7">
                <a:extLst>
                  <a:ext uri="{FF2B5EF4-FFF2-40B4-BE49-F238E27FC236}">
                    <a16:creationId xmlns:a16="http://schemas.microsoft.com/office/drawing/2014/main" id="{E54ED92C-8FE3-7965-BBA3-ABA3EB4685BB}"/>
                  </a:ext>
                </a:extLst>
              </p:cNvPr>
              <p:cNvSpPr/>
              <p:nvPr/>
            </p:nvSpPr>
            <p:spPr>
              <a:xfrm>
                <a:off x="7724404" y="3937075"/>
                <a:ext cx="1707134" cy="1126975"/>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r>
                        <a:rPr lang="en-CA" b="0" i="1" smtClean="0">
                          <a:latin typeface="Cambria Math" panose="02040503050406030204" pitchFamily="18" charset="0"/>
                        </a:rPr>
                        <m:t>|</m:t>
                      </m:r>
                      <m:r>
                        <a:rPr lang="en-CA" b="0" i="1" smtClean="0">
                          <a:latin typeface="Cambria Math" panose="02040503050406030204" pitchFamily="18" charset="0"/>
                        </a:rPr>
                        <m:t>𝑑</m:t>
                      </m:r>
                      <m:r>
                        <a:rPr lang="en-CA" b="0" i="1" smtClean="0">
                          <a:latin typeface="Cambria Math" panose="02040503050406030204" pitchFamily="18" charset="0"/>
                        </a:rPr>
                        <m:t>−1⟩=</m:t>
                      </m:r>
                      <m:d>
                        <m:dPr>
                          <m:ctrlPr>
                            <a:rPr lang="en-US" b="0" i="1" smtClean="0">
                              <a:latin typeface="Cambria Math" panose="02040503050406030204" pitchFamily="18" charset="0"/>
                            </a:rPr>
                          </m:ctrlPr>
                        </m:dPr>
                        <m:e>
                          <m:m>
                            <m:mPr>
                              <m:mcs>
                                <m:mc>
                                  <m:mcPr>
                                    <m:count m:val="1"/>
                                    <m:mcJc m:val="center"/>
                                  </m:mcPr>
                                </m:mc>
                              </m:mcs>
                              <m:ctrlPr>
                                <a:rPr lang="en-US" i="1">
                                  <a:latin typeface="Cambria Math" panose="02040503050406030204" pitchFamily="18" charset="0"/>
                                </a:rPr>
                              </m:ctrlPr>
                            </m:mPr>
                            <m:mr>
                              <m:e>
                                <m:r>
                                  <m:rPr>
                                    <m:brk m:alnAt="7"/>
                                  </m:rPr>
                                  <a:rPr lang="en-CA" b="0" i="1" smtClean="0">
                                    <a:latin typeface="Cambria Math" panose="02040503050406030204" pitchFamily="18" charset="0"/>
                                  </a:rPr>
                                  <m:t>0</m:t>
                                </m:r>
                              </m:e>
                            </m:mr>
                            <m:mr>
                              <m:e>
                                <m:r>
                                  <a:rPr lang="en-CA" i="1">
                                    <a:latin typeface="Cambria Math" panose="02040503050406030204" pitchFamily="18" charset="0"/>
                                  </a:rPr>
                                  <m:t>0</m:t>
                                </m:r>
                              </m:e>
                            </m:mr>
                            <m:mr>
                              <m:e>
                                <m:r>
                                  <a:rPr lang="en-CA" i="1">
                                    <a:latin typeface="Cambria Math" panose="02040503050406030204" pitchFamily="18" charset="0"/>
                                  </a:rPr>
                                  <m:t>⋮</m:t>
                                </m:r>
                              </m:e>
                            </m:mr>
                            <m:mr>
                              <m:e>
                                <m:r>
                                  <a:rPr lang="en-CA" b="0" i="1" smtClean="0">
                                    <a:latin typeface="Cambria Math" panose="02040503050406030204" pitchFamily="18" charset="0"/>
                                  </a:rPr>
                                  <m:t>1</m:t>
                                </m:r>
                              </m:e>
                            </m:mr>
                          </m:m>
                        </m:e>
                      </m:d>
                    </m:oMath>
                  </m:oMathPara>
                </a14:m>
                <a:endParaRPr lang="en-US" dirty="0"/>
              </a:p>
            </p:txBody>
          </p:sp>
        </mc:Choice>
        <mc:Fallback xmlns="">
          <p:sp>
            <p:nvSpPr>
              <p:cNvPr id="8" name="Rectangle 7">
                <a:extLst>
                  <a:ext uri="{FF2B5EF4-FFF2-40B4-BE49-F238E27FC236}">
                    <a16:creationId xmlns:a16="http://schemas.microsoft.com/office/drawing/2014/main" id="{E54ED92C-8FE3-7965-BBA3-ABA3EB4685BB}"/>
                  </a:ext>
                </a:extLst>
              </p:cNvPr>
              <p:cNvSpPr>
                <a:spLocks noRot="1" noChangeAspect="1" noMove="1" noResize="1" noEditPoints="1" noAdjustHandles="1" noChangeArrowheads="1" noChangeShapeType="1" noTextEdit="1"/>
              </p:cNvSpPr>
              <p:nvPr/>
            </p:nvSpPr>
            <p:spPr>
              <a:xfrm>
                <a:off x="7724404" y="3937075"/>
                <a:ext cx="1707134" cy="1126975"/>
              </a:xfrm>
              <a:prstGeom prst="rect">
                <a:avLst/>
              </a:prstGeom>
              <a:blipFill>
                <a:blip r:embed="rId5"/>
                <a:stretch>
                  <a:fillRect b="-1124"/>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9" name="Rectangle 8">
                <a:extLst>
                  <a:ext uri="{FF2B5EF4-FFF2-40B4-BE49-F238E27FC236}">
                    <a16:creationId xmlns:a16="http://schemas.microsoft.com/office/drawing/2014/main" id="{845499D5-F7AC-DC43-6BEE-0143F0FCC89F}"/>
                  </a:ext>
                </a:extLst>
              </p:cNvPr>
              <p:cNvSpPr/>
              <p:nvPr/>
            </p:nvSpPr>
            <p:spPr>
              <a:xfrm>
                <a:off x="6493718" y="4358023"/>
                <a:ext cx="461985" cy="400110"/>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r>
                        <a:rPr lang="en-CA" sz="2000" b="0" i="1" smtClean="0">
                          <a:latin typeface="Cambria Math" panose="02040503050406030204" pitchFamily="18" charset="0"/>
                        </a:rPr>
                        <m:t>⋯</m:t>
                      </m:r>
                    </m:oMath>
                  </m:oMathPara>
                </a14:m>
                <a:endParaRPr lang="en-US" sz="2000" dirty="0"/>
              </a:p>
            </p:txBody>
          </p:sp>
        </mc:Choice>
        <mc:Fallback xmlns="">
          <p:sp>
            <p:nvSpPr>
              <p:cNvPr id="9" name="Rectangle 8">
                <a:extLst>
                  <a:ext uri="{FF2B5EF4-FFF2-40B4-BE49-F238E27FC236}">
                    <a16:creationId xmlns:a16="http://schemas.microsoft.com/office/drawing/2014/main" id="{845499D5-F7AC-DC43-6BEE-0143F0FCC89F}"/>
                  </a:ext>
                </a:extLst>
              </p:cNvPr>
              <p:cNvSpPr>
                <a:spLocks noRot="1" noChangeAspect="1" noMove="1" noResize="1" noEditPoints="1" noAdjustHandles="1" noChangeArrowheads="1" noChangeShapeType="1" noTextEdit="1"/>
              </p:cNvSpPr>
              <p:nvPr/>
            </p:nvSpPr>
            <p:spPr>
              <a:xfrm>
                <a:off x="6493718" y="4358023"/>
                <a:ext cx="461985" cy="400110"/>
              </a:xfrm>
              <a:prstGeom prst="rect">
                <a:avLst/>
              </a:prstGeom>
              <a:blipFill>
                <a:blip r:embed="rId6"/>
                <a:stretch>
                  <a:fillRect/>
                </a:stretch>
              </a:blipFill>
            </p:spPr>
            <p:txBody>
              <a:bodyPr/>
              <a:lstStyle/>
              <a:p>
                <a:r>
                  <a:rPr lang="en-US">
                    <a:noFill/>
                  </a:rPr>
                  <a:t> </a:t>
                </a:r>
              </a:p>
            </p:txBody>
          </p:sp>
        </mc:Fallback>
      </mc:AlternateContent>
    </p:spTree>
    <p:extLst>
      <p:ext uri="{BB962C8B-B14F-4D97-AF65-F5344CB8AC3E}">
        <p14:creationId xmlns:p14="http://schemas.microsoft.com/office/powerpoint/2010/main" val="321127301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2" end="2"/>
                                            </p:txEl>
                                          </p:spTgt>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6"/>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7"/>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8"/>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9"/>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p:bldP spid="7" grpId="0"/>
      <p:bldP spid="8" grpId="0"/>
      <p:bldP spid="9" grpId="0"/>
    </p:bld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5EA996C-B5F6-B594-B19D-FDB3BDDBA4D7}"/>
              </a:ext>
            </a:extLst>
          </p:cNvPr>
          <p:cNvSpPr>
            <a:spLocks noGrp="1"/>
          </p:cNvSpPr>
          <p:nvPr>
            <p:ph type="title"/>
          </p:nvPr>
        </p:nvSpPr>
        <p:spPr/>
        <p:txBody>
          <a:bodyPr/>
          <a:lstStyle/>
          <a:p>
            <a:r>
              <a:rPr lang="en-US" dirty="0"/>
              <a:t>Transformation matrices</a:t>
            </a:r>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61AA8FCB-12CC-692A-1B75-ED3ACF8A8CF2}"/>
                  </a:ext>
                </a:extLst>
              </p:cNvPr>
              <p:cNvSpPr>
                <a:spLocks noGrp="1"/>
              </p:cNvSpPr>
              <p:nvPr>
                <p:ph idx="1"/>
              </p:nvPr>
            </p:nvSpPr>
            <p:spPr/>
            <p:txBody>
              <a:bodyPr>
                <a:normAutofit/>
              </a:bodyPr>
              <a:lstStyle/>
              <a:p>
                <a:r>
                  <a:rPr lang="en-CA" sz="2400" dirty="0"/>
                  <a:t>Reversible transformations correspond to</a:t>
                </a:r>
                <a:r>
                  <a:rPr lang="en-CA" sz="2400" b="0" dirty="0"/>
                  <a:t> </a:t>
                </a:r>
                <a14:m>
                  <m:oMath xmlns:m="http://schemas.openxmlformats.org/officeDocument/2006/math">
                    <m:r>
                      <a:rPr lang="en-CA" sz="2400" b="0" i="1" smtClean="0">
                        <a:latin typeface="Cambria Math" panose="02040503050406030204" pitchFamily="18" charset="0"/>
                      </a:rPr>
                      <m:t>𝑑</m:t>
                    </m:r>
                    <m:r>
                      <a:rPr lang="en-CA" sz="2400" b="0" i="1" smtClean="0">
                        <a:latin typeface="Cambria Math" panose="02040503050406030204" pitchFamily="18" charset="0"/>
                      </a:rPr>
                      <m:t>×</m:t>
                    </m:r>
                    <m:r>
                      <a:rPr lang="en-CA" sz="2400" b="0" i="1" smtClean="0">
                        <a:latin typeface="Cambria Math" panose="02040503050406030204" pitchFamily="18" charset="0"/>
                      </a:rPr>
                      <m:t>𝑑</m:t>
                    </m:r>
                  </m:oMath>
                </a14:m>
                <a:r>
                  <a:rPr lang="en-CA" sz="2400" dirty="0"/>
                  <a:t> </a:t>
                </a:r>
                <a:r>
                  <a:rPr lang="en-CA" sz="2400" b="1" i="1" dirty="0"/>
                  <a:t>permutation matrices</a:t>
                </a:r>
                <a:r>
                  <a:rPr lang="en-CA" sz="2400" dirty="0"/>
                  <a:t>.</a:t>
                </a:r>
              </a:p>
              <a:p>
                <a:endParaRPr lang="en-CA" sz="2400" dirty="0"/>
              </a:p>
              <a:p>
                <a:endParaRPr lang="en-CA" sz="2400" dirty="0"/>
              </a:p>
              <a:p>
                <a:pPr marL="0" indent="0">
                  <a:buNone/>
                </a:pPr>
                <a:endParaRPr lang="en-CA" sz="2400" dirty="0"/>
              </a:p>
              <a:p>
                <a:endParaRPr lang="en-CA" sz="2400" dirty="0"/>
              </a:p>
              <a:p>
                <a:r>
                  <a:rPr lang="en-CA" sz="2400" dirty="0"/>
                  <a:t>Applying transformation </a:t>
                </a:r>
                <a14:m>
                  <m:oMath xmlns:m="http://schemas.openxmlformats.org/officeDocument/2006/math">
                    <m:r>
                      <a:rPr lang="en-CA" sz="2400" b="0" i="1" smtClean="0">
                        <a:latin typeface="Cambria Math" panose="02040503050406030204" pitchFamily="18" charset="0"/>
                      </a:rPr>
                      <m:t>𝑅</m:t>
                    </m:r>
                    <m:r>
                      <a:rPr lang="en-CA" sz="2400" b="0" i="1" smtClean="0">
                        <a:latin typeface="Cambria Math" panose="02040503050406030204" pitchFamily="18" charset="0"/>
                      </a:rPr>
                      <m:t> </m:t>
                    </m:r>
                  </m:oMath>
                </a14:m>
                <a:r>
                  <a:rPr lang="en-CA" sz="2400" dirty="0"/>
                  <a:t>to </a:t>
                </a:r>
                <a14:m>
                  <m:oMath xmlns:m="http://schemas.openxmlformats.org/officeDocument/2006/math">
                    <m:r>
                      <a:rPr lang="en-CA" sz="2400" b="0" i="1" smtClean="0">
                        <a:latin typeface="Cambria Math" panose="02040503050406030204" pitchFamily="18" charset="0"/>
                      </a:rPr>
                      <m:t>|</m:t>
                    </m:r>
                    <m:r>
                      <a:rPr lang="en-CA" sz="2400" b="0" i="1" smtClean="0">
                        <a:latin typeface="Cambria Math" panose="02040503050406030204" pitchFamily="18" charset="0"/>
                      </a:rPr>
                      <m:t>𝑥</m:t>
                    </m:r>
                    <m:r>
                      <a:rPr lang="en-CA" sz="2400" b="0" i="1" smtClean="0">
                        <a:latin typeface="Cambria Math" panose="02040503050406030204" pitchFamily="18" charset="0"/>
                      </a:rPr>
                      <m:t>⟩</m:t>
                    </m:r>
                  </m:oMath>
                </a14:m>
                <a:r>
                  <a:rPr lang="en-CA" sz="2400" dirty="0"/>
                  <a:t> corresponds to </a:t>
                </a:r>
                <a:r>
                  <a:rPr lang="en-CA" sz="2400" dirty="0" smtClean="0"/>
                  <a:t>mat-</a:t>
                </a:r>
                <a:r>
                  <a:rPr lang="en-CA" sz="2400" dirty="0" err="1" smtClean="0"/>
                  <a:t>vec</a:t>
                </a:r>
                <a:r>
                  <a:rPr lang="en-CA" sz="2400" dirty="0" smtClean="0"/>
                  <a:t> </a:t>
                </a:r>
                <a:r>
                  <a:rPr lang="en-CA" sz="2400" dirty="0"/>
                  <a:t>multiplication.</a:t>
                </a:r>
              </a:p>
            </p:txBody>
          </p:sp>
        </mc:Choice>
        <mc:Fallback xmlns="">
          <p:sp>
            <p:nvSpPr>
              <p:cNvPr id="3" name="Content Placeholder 2">
                <a:extLst>
                  <a:ext uri="{FF2B5EF4-FFF2-40B4-BE49-F238E27FC236}">
                    <a16:creationId xmlns:a16="http://schemas.microsoft.com/office/drawing/2014/main" id="{61AA8FCB-12CC-692A-1B75-ED3ACF8A8CF2}"/>
                  </a:ext>
                </a:extLst>
              </p:cNvPr>
              <p:cNvSpPr>
                <a:spLocks noGrp="1" noRot="1" noChangeAspect="1" noMove="1" noResize="1" noEditPoints="1" noAdjustHandles="1" noChangeArrowheads="1" noChangeShapeType="1" noTextEdit="1"/>
              </p:cNvSpPr>
              <p:nvPr>
                <p:ph idx="1"/>
              </p:nvPr>
            </p:nvSpPr>
            <p:spPr>
              <a:blipFill>
                <a:blip r:embed="rId2"/>
                <a:stretch>
                  <a:fillRect l="-812" t="-1961"/>
                </a:stretch>
              </a:blipFill>
            </p:spPr>
            <p:txBody>
              <a:bodyPr/>
              <a:lstStyle/>
              <a:p>
                <a:r>
                  <a:rPr lang="ko-KR" altLang="en-US">
                    <a:noFill/>
                  </a:rPr>
                  <a:t> </a:t>
                </a:r>
              </a:p>
            </p:txBody>
          </p:sp>
        </mc:Fallback>
      </mc:AlternateContent>
      <mc:AlternateContent xmlns:mc="http://schemas.openxmlformats.org/markup-compatibility/2006" xmlns:a14="http://schemas.microsoft.com/office/drawing/2010/main">
        <mc:Choice Requires="a14">
          <p:sp>
            <p:nvSpPr>
              <p:cNvPr id="6" name="Rectangle 5">
                <a:extLst>
                  <a:ext uri="{FF2B5EF4-FFF2-40B4-BE49-F238E27FC236}">
                    <a16:creationId xmlns:a16="http://schemas.microsoft.com/office/drawing/2014/main" id="{E2666600-D6A4-A09D-F2EC-67701DCC16F3}"/>
                  </a:ext>
                </a:extLst>
              </p:cNvPr>
              <p:cNvSpPr/>
              <p:nvPr/>
            </p:nvSpPr>
            <p:spPr>
              <a:xfrm>
                <a:off x="4208975" y="2604094"/>
                <a:ext cx="2240485" cy="1055995"/>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r>
                        <a:rPr lang="en-CA" b="0" i="1" smtClean="0">
                          <a:latin typeface="Cambria Math" panose="02040503050406030204" pitchFamily="18" charset="0"/>
                        </a:rPr>
                        <m:t>𝑅</m:t>
                      </m:r>
                      <m:r>
                        <a:rPr lang="en-CA" b="0" i="1" smtClean="0">
                          <a:latin typeface="Cambria Math" panose="02040503050406030204" pitchFamily="18" charset="0"/>
                        </a:rPr>
                        <m:t>=</m:t>
                      </m:r>
                      <m:d>
                        <m:dPr>
                          <m:ctrlPr>
                            <a:rPr lang="en-CA" b="0" i="1" smtClean="0">
                              <a:latin typeface="Cambria Math" panose="02040503050406030204" pitchFamily="18" charset="0"/>
                            </a:rPr>
                          </m:ctrlPr>
                        </m:dPr>
                        <m:e>
                          <m:m>
                            <m:mPr>
                              <m:mcs>
                                <m:mc>
                                  <m:mcPr>
                                    <m:count m:val="2"/>
                                    <m:mcJc m:val="center"/>
                                  </m:mcPr>
                                </m:mc>
                              </m:mcs>
                              <m:ctrlPr>
                                <a:rPr lang="en-CA" b="0" i="1" smtClean="0">
                                  <a:latin typeface="Cambria Math" panose="02040503050406030204" pitchFamily="18" charset="0"/>
                                </a:rPr>
                              </m:ctrlPr>
                            </m:mPr>
                            <m:mr>
                              <m:e>
                                <m:m>
                                  <m:mPr>
                                    <m:mcs>
                                      <m:mc>
                                        <m:mcPr>
                                          <m:count m:val="2"/>
                                          <m:mcJc m:val="center"/>
                                        </m:mcPr>
                                      </m:mc>
                                    </m:mcs>
                                    <m:ctrlPr>
                                      <a:rPr lang="en-CA" b="0" i="1" smtClean="0">
                                        <a:latin typeface="Cambria Math" panose="02040503050406030204" pitchFamily="18" charset="0"/>
                                      </a:rPr>
                                    </m:ctrlPr>
                                  </m:mPr>
                                  <m:mr>
                                    <m:e>
                                      <m:r>
                                        <m:rPr>
                                          <m:brk m:alnAt="7"/>
                                        </m:rPr>
                                        <a:rPr lang="en-CA" b="0" i="1" smtClean="0">
                                          <a:latin typeface="Cambria Math" panose="02040503050406030204" pitchFamily="18" charset="0"/>
                                        </a:rPr>
                                        <m:t>0</m:t>
                                      </m:r>
                                    </m:e>
                                    <m:e>
                                      <m:r>
                                        <a:rPr lang="en-CA" b="0" i="1" smtClean="0">
                                          <a:latin typeface="Cambria Math" panose="02040503050406030204" pitchFamily="18" charset="0"/>
                                        </a:rPr>
                                        <m:t>0</m:t>
                                      </m:r>
                                    </m:e>
                                  </m:mr>
                                  <m:mr>
                                    <m:e>
                                      <m:r>
                                        <a:rPr lang="en-CA" b="0" i="1" smtClean="0">
                                          <a:latin typeface="Cambria Math" panose="02040503050406030204" pitchFamily="18" charset="0"/>
                                        </a:rPr>
                                        <m:t>0</m:t>
                                      </m:r>
                                    </m:e>
                                    <m:e>
                                      <m:r>
                                        <a:rPr lang="en-CA" b="0" i="1" smtClean="0">
                                          <a:latin typeface="Cambria Math" panose="02040503050406030204" pitchFamily="18" charset="0"/>
                                        </a:rPr>
                                        <m:t>0</m:t>
                                      </m:r>
                                    </m:e>
                                  </m:mr>
                                </m:m>
                              </m:e>
                              <m:e>
                                <m:m>
                                  <m:mPr>
                                    <m:mcs>
                                      <m:mc>
                                        <m:mcPr>
                                          <m:count m:val="2"/>
                                          <m:mcJc m:val="center"/>
                                        </m:mcPr>
                                      </m:mc>
                                    </m:mcs>
                                    <m:ctrlPr>
                                      <a:rPr lang="en-CA" b="0" i="1" smtClean="0">
                                        <a:latin typeface="Cambria Math" panose="02040503050406030204" pitchFamily="18" charset="0"/>
                                      </a:rPr>
                                    </m:ctrlPr>
                                  </m:mPr>
                                  <m:mr>
                                    <m:e>
                                      <m:r>
                                        <m:rPr>
                                          <m:brk m:alnAt="7"/>
                                        </m:rPr>
                                        <a:rPr lang="en-CA" b="1" i="1" smtClean="0">
                                          <a:solidFill>
                                            <a:srgbClr val="C00000"/>
                                          </a:solidFill>
                                          <a:latin typeface="Cambria Math" panose="02040503050406030204" pitchFamily="18" charset="0"/>
                                        </a:rPr>
                                        <m:t>𝟏</m:t>
                                      </m:r>
                                    </m:e>
                                    <m:e>
                                      <m:r>
                                        <a:rPr lang="en-CA" b="0" i="1" smtClean="0">
                                          <a:latin typeface="Cambria Math" panose="02040503050406030204" pitchFamily="18" charset="0"/>
                                        </a:rPr>
                                        <m:t>0</m:t>
                                      </m:r>
                                    </m:e>
                                  </m:mr>
                                  <m:mr>
                                    <m:e>
                                      <m:r>
                                        <a:rPr lang="en-CA" b="0" i="1" smtClean="0">
                                          <a:latin typeface="Cambria Math" panose="02040503050406030204" pitchFamily="18" charset="0"/>
                                        </a:rPr>
                                        <m:t>0</m:t>
                                      </m:r>
                                    </m:e>
                                    <m:e>
                                      <m:r>
                                        <a:rPr lang="en-CA" b="1" i="1" smtClean="0">
                                          <a:solidFill>
                                            <a:srgbClr val="C00000"/>
                                          </a:solidFill>
                                          <a:latin typeface="Cambria Math" panose="02040503050406030204" pitchFamily="18" charset="0"/>
                                        </a:rPr>
                                        <m:t>𝟏</m:t>
                                      </m:r>
                                    </m:e>
                                  </m:mr>
                                </m:m>
                              </m:e>
                            </m:mr>
                            <m:mr>
                              <m:e>
                                <m:m>
                                  <m:mPr>
                                    <m:mcs>
                                      <m:mc>
                                        <m:mcPr>
                                          <m:count m:val="2"/>
                                          <m:mcJc m:val="center"/>
                                        </m:mcPr>
                                      </m:mc>
                                    </m:mcs>
                                    <m:ctrlPr>
                                      <a:rPr lang="en-CA" b="0" i="1" smtClean="0">
                                        <a:latin typeface="Cambria Math" panose="02040503050406030204" pitchFamily="18" charset="0"/>
                                      </a:rPr>
                                    </m:ctrlPr>
                                  </m:mPr>
                                  <m:mr>
                                    <m:e>
                                      <m:r>
                                        <m:rPr>
                                          <m:brk m:alnAt="7"/>
                                        </m:rPr>
                                        <a:rPr lang="en-CA" b="1" i="1" smtClean="0">
                                          <a:solidFill>
                                            <a:srgbClr val="C00000"/>
                                          </a:solidFill>
                                          <a:latin typeface="Cambria Math" panose="02040503050406030204" pitchFamily="18" charset="0"/>
                                        </a:rPr>
                                        <m:t>𝟏</m:t>
                                      </m:r>
                                    </m:e>
                                    <m:e>
                                      <m:r>
                                        <a:rPr lang="en-CA" b="0" i="1" smtClean="0">
                                          <a:latin typeface="Cambria Math" panose="02040503050406030204" pitchFamily="18" charset="0"/>
                                        </a:rPr>
                                        <m:t>0</m:t>
                                      </m:r>
                                    </m:e>
                                  </m:mr>
                                  <m:mr>
                                    <m:e>
                                      <m:r>
                                        <a:rPr lang="en-CA" b="0" i="1" smtClean="0">
                                          <a:latin typeface="Cambria Math" panose="02040503050406030204" pitchFamily="18" charset="0"/>
                                        </a:rPr>
                                        <m:t>0</m:t>
                                      </m:r>
                                    </m:e>
                                    <m:e>
                                      <m:r>
                                        <a:rPr lang="en-CA" b="1" i="1" smtClean="0">
                                          <a:solidFill>
                                            <a:srgbClr val="C00000"/>
                                          </a:solidFill>
                                          <a:latin typeface="Cambria Math" panose="02040503050406030204" pitchFamily="18" charset="0"/>
                                        </a:rPr>
                                        <m:t>𝟏</m:t>
                                      </m:r>
                                    </m:e>
                                  </m:mr>
                                </m:m>
                              </m:e>
                              <m:e>
                                <m:m>
                                  <m:mPr>
                                    <m:mcs>
                                      <m:mc>
                                        <m:mcPr>
                                          <m:count m:val="2"/>
                                          <m:mcJc m:val="center"/>
                                        </m:mcPr>
                                      </m:mc>
                                    </m:mcs>
                                    <m:ctrlPr>
                                      <a:rPr lang="en-CA" b="0" i="1" smtClean="0">
                                        <a:latin typeface="Cambria Math" panose="02040503050406030204" pitchFamily="18" charset="0"/>
                                      </a:rPr>
                                    </m:ctrlPr>
                                  </m:mPr>
                                  <m:mr>
                                    <m:e>
                                      <m:r>
                                        <m:rPr>
                                          <m:brk m:alnAt="7"/>
                                        </m:rPr>
                                        <a:rPr lang="en-CA" b="0" i="1" smtClean="0">
                                          <a:latin typeface="Cambria Math" panose="02040503050406030204" pitchFamily="18" charset="0"/>
                                        </a:rPr>
                                        <m:t>0</m:t>
                                      </m:r>
                                    </m:e>
                                    <m:e>
                                      <m:r>
                                        <a:rPr lang="en-CA" b="0" i="1" smtClean="0">
                                          <a:latin typeface="Cambria Math" panose="02040503050406030204" pitchFamily="18" charset="0"/>
                                        </a:rPr>
                                        <m:t>0</m:t>
                                      </m:r>
                                    </m:e>
                                  </m:mr>
                                  <m:mr>
                                    <m:e>
                                      <m:r>
                                        <a:rPr lang="en-CA" b="0" i="1" smtClean="0">
                                          <a:latin typeface="Cambria Math" panose="02040503050406030204" pitchFamily="18" charset="0"/>
                                        </a:rPr>
                                        <m:t>0</m:t>
                                      </m:r>
                                    </m:e>
                                    <m:e>
                                      <m:r>
                                        <a:rPr lang="en-CA" b="0" i="1" smtClean="0">
                                          <a:latin typeface="Cambria Math" panose="02040503050406030204" pitchFamily="18" charset="0"/>
                                        </a:rPr>
                                        <m:t>0</m:t>
                                      </m:r>
                                    </m:e>
                                  </m:mr>
                                </m:m>
                              </m:e>
                            </m:mr>
                          </m:m>
                        </m:e>
                      </m:d>
                    </m:oMath>
                  </m:oMathPara>
                </a14:m>
                <a:endParaRPr lang="en-US" dirty="0"/>
              </a:p>
            </p:txBody>
          </p:sp>
        </mc:Choice>
        <mc:Fallback xmlns="">
          <p:sp>
            <p:nvSpPr>
              <p:cNvPr id="6" name="Rectangle 5">
                <a:extLst>
                  <a:ext uri="{FF2B5EF4-FFF2-40B4-BE49-F238E27FC236}">
                    <a16:creationId xmlns:a16="http://schemas.microsoft.com/office/drawing/2014/main" id="{E2666600-D6A4-A09D-F2EC-67701DCC16F3}"/>
                  </a:ext>
                </a:extLst>
              </p:cNvPr>
              <p:cNvSpPr>
                <a:spLocks noRot="1" noChangeAspect="1" noMove="1" noResize="1" noEditPoints="1" noAdjustHandles="1" noChangeArrowheads="1" noChangeShapeType="1" noTextEdit="1"/>
              </p:cNvSpPr>
              <p:nvPr/>
            </p:nvSpPr>
            <p:spPr>
              <a:xfrm>
                <a:off x="4208975" y="2604094"/>
                <a:ext cx="2240485" cy="1055995"/>
              </a:xfrm>
              <a:prstGeom prst="rect">
                <a:avLst/>
              </a:prstGeom>
              <a:blipFill>
                <a:blip r:embed="rId3"/>
                <a:stretch>
                  <a:fillRect b="-2381"/>
                </a:stretch>
              </a:blipFill>
            </p:spPr>
            <p:txBody>
              <a:bodyPr/>
              <a:lstStyle/>
              <a:p>
                <a:r>
                  <a:rPr lang="en-US">
                    <a:noFill/>
                  </a:rPr>
                  <a:t> </a:t>
                </a:r>
              </a:p>
            </p:txBody>
          </p:sp>
        </mc:Fallback>
      </mc:AlternateContent>
      <p:sp>
        <p:nvSpPr>
          <p:cNvPr id="7" name="Rectangle 6">
            <a:extLst>
              <a:ext uri="{FF2B5EF4-FFF2-40B4-BE49-F238E27FC236}">
                <a16:creationId xmlns:a16="http://schemas.microsoft.com/office/drawing/2014/main" id="{2EDF7646-10FB-3664-64E7-34AF253AF787}"/>
              </a:ext>
            </a:extLst>
          </p:cNvPr>
          <p:cNvSpPr/>
          <p:nvPr/>
        </p:nvSpPr>
        <p:spPr>
          <a:xfrm>
            <a:off x="8189074" y="2280928"/>
            <a:ext cx="4379383" cy="646331"/>
          </a:xfrm>
          <a:prstGeom prst="rect">
            <a:avLst/>
          </a:prstGeom>
        </p:spPr>
        <p:txBody>
          <a:bodyPr wrap="square">
            <a:spAutoFit/>
          </a:bodyPr>
          <a:lstStyle/>
          <a:p>
            <a:r>
              <a:rPr lang="en-CA" dirty="0">
                <a:solidFill>
                  <a:srgbClr val="C00000"/>
                </a:solidFill>
              </a:rPr>
              <a:t>Matrix with exactly one 1 in </a:t>
            </a:r>
            <a:br>
              <a:rPr lang="en-CA" dirty="0">
                <a:solidFill>
                  <a:srgbClr val="C00000"/>
                </a:solidFill>
              </a:rPr>
            </a:br>
            <a:r>
              <a:rPr lang="en-CA" dirty="0">
                <a:solidFill>
                  <a:srgbClr val="C00000"/>
                </a:solidFill>
              </a:rPr>
              <a:t>each column and row</a:t>
            </a:r>
            <a:endParaRPr lang="en-US" dirty="0">
              <a:solidFill>
                <a:srgbClr val="C00000"/>
              </a:solidFill>
            </a:endParaRPr>
          </a:p>
        </p:txBody>
      </p:sp>
      <mc:AlternateContent xmlns:mc="http://schemas.openxmlformats.org/markup-compatibility/2006" xmlns:a14="http://schemas.microsoft.com/office/drawing/2010/main">
        <mc:Choice Requires="a14">
          <p:sp>
            <p:nvSpPr>
              <p:cNvPr id="8" name="Rectangle 7">
                <a:extLst>
                  <a:ext uri="{FF2B5EF4-FFF2-40B4-BE49-F238E27FC236}">
                    <a16:creationId xmlns:a16="http://schemas.microsoft.com/office/drawing/2014/main" id="{4EFE5C74-7F83-DA81-B5F3-813A3273DB80}"/>
                  </a:ext>
                </a:extLst>
              </p:cNvPr>
              <p:cNvSpPr/>
              <p:nvPr/>
            </p:nvSpPr>
            <p:spPr>
              <a:xfrm>
                <a:off x="3447099" y="4815593"/>
                <a:ext cx="4353051" cy="1126975"/>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d>
                        <m:dPr>
                          <m:begChr m:val="|"/>
                          <m:endChr m:val="⟩"/>
                          <m:ctrlPr>
                            <a:rPr lang="en-CA" b="0" i="1" smtClean="0">
                              <a:latin typeface="Cambria Math" panose="02040503050406030204" pitchFamily="18" charset="0"/>
                            </a:rPr>
                          </m:ctrlPr>
                        </m:dPr>
                        <m:e>
                          <m:r>
                            <a:rPr lang="en-CA" b="0" i="1" smtClean="0">
                              <a:latin typeface="Cambria Math" panose="02040503050406030204" pitchFamily="18" charset="0"/>
                            </a:rPr>
                            <m:t>𝑦</m:t>
                          </m:r>
                        </m:e>
                      </m:d>
                      <m:r>
                        <a:rPr lang="en-CA" b="0" i="1" smtClean="0">
                          <a:latin typeface="Cambria Math" panose="02040503050406030204" pitchFamily="18" charset="0"/>
                        </a:rPr>
                        <m:t>=</m:t>
                      </m:r>
                      <m:r>
                        <a:rPr lang="en-CA" b="0" i="1" smtClean="0">
                          <a:latin typeface="Cambria Math" panose="02040503050406030204" pitchFamily="18" charset="0"/>
                        </a:rPr>
                        <m:t>𝑅</m:t>
                      </m:r>
                      <m:d>
                        <m:dPr>
                          <m:begChr m:val="|"/>
                          <m:endChr m:val="⟩"/>
                          <m:ctrlPr>
                            <a:rPr lang="en-CA" b="0" i="1" smtClean="0">
                              <a:latin typeface="Cambria Math" panose="02040503050406030204" pitchFamily="18" charset="0"/>
                            </a:rPr>
                          </m:ctrlPr>
                        </m:dPr>
                        <m:e>
                          <m:r>
                            <a:rPr lang="en-CA" b="0" i="1" smtClean="0">
                              <a:latin typeface="Cambria Math" panose="02040503050406030204" pitchFamily="18" charset="0"/>
                            </a:rPr>
                            <m:t>𝑥</m:t>
                          </m:r>
                        </m:e>
                      </m:d>
                      <m:r>
                        <a:rPr lang="en-CA" b="0" i="1" smtClean="0">
                          <a:latin typeface="Cambria Math" panose="02040503050406030204" pitchFamily="18" charset="0"/>
                        </a:rPr>
                        <m:t>=</m:t>
                      </m:r>
                      <m:d>
                        <m:dPr>
                          <m:ctrlPr>
                            <a:rPr lang="en-CA" b="0" i="1" smtClean="0">
                              <a:latin typeface="Cambria Math" panose="02040503050406030204" pitchFamily="18" charset="0"/>
                            </a:rPr>
                          </m:ctrlPr>
                        </m:dPr>
                        <m:e>
                          <m:m>
                            <m:mPr>
                              <m:mcs>
                                <m:mc>
                                  <m:mcPr>
                                    <m:count m:val="2"/>
                                    <m:mcJc m:val="center"/>
                                  </m:mcPr>
                                </m:mc>
                              </m:mcs>
                              <m:ctrlPr>
                                <a:rPr lang="en-CA" b="0" i="1" smtClean="0">
                                  <a:latin typeface="Cambria Math" panose="02040503050406030204" pitchFamily="18" charset="0"/>
                                </a:rPr>
                              </m:ctrlPr>
                            </m:mPr>
                            <m:mr>
                              <m:e>
                                <m:m>
                                  <m:mPr>
                                    <m:mcs>
                                      <m:mc>
                                        <m:mcPr>
                                          <m:count m:val="2"/>
                                          <m:mcJc m:val="center"/>
                                        </m:mcPr>
                                      </m:mc>
                                    </m:mcs>
                                    <m:ctrlPr>
                                      <a:rPr lang="en-CA" b="0" i="1" smtClean="0">
                                        <a:latin typeface="Cambria Math" panose="02040503050406030204" pitchFamily="18" charset="0"/>
                                      </a:rPr>
                                    </m:ctrlPr>
                                  </m:mPr>
                                  <m:mr>
                                    <m:e>
                                      <m:r>
                                        <m:rPr>
                                          <m:brk m:alnAt="7"/>
                                        </m:rPr>
                                        <a:rPr lang="en-CA" b="0" i="1" smtClean="0">
                                          <a:latin typeface="Cambria Math" panose="02040503050406030204" pitchFamily="18" charset="0"/>
                                        </a:rPr>
                                        <m:t>0</m:t>
                                      </m:r>
                                    </m:e>
                                    <m:e>
                                      <m:r>
                                        <a:rPr lang="en-CA" b="0" i="1" smtClean="0">
                                          <a:latin typeface="Cambria Math" panose="02040503050406030204" pitchFamily="18" charset="0"/>
                                        </a:rPr>
                                        <m:t>0</m:t>
                                      </m:r>
                                    </m:e>
                                  </m:mr>
                                  <m:mr>
                                    <m:e>
                                      <m:r>
                                        <a:rPr lang="en-CA" b="0" i="1" smtClean="0">
                                          <a:latin typeface="Cambria Math" panose="02040503050406030204" pitchFamily="18" charset="0"/>
                                        </a:rPr>
                                        <m:t>0</m:t>
                                      </m:r>
                                    </m:e>
                                    <m:e>
                                      <m:r>
                                        <a:rPr lang="en-CA" b="0" i="1" smtClean="0">
                                          <a:latin typeface="Cambria Math" panose="02040503050406030204" pitchFamily="18" charset="0"/>
                                        </a:rPr>
                                        <m:t>0</m:t>
                                      </m:r>
                                    </m:e>
                                  </m:mr>
                                </m:m>
                              </m:e>
                              <m:e>
                                <m:m>
                                  <m:mPr>
                                    <m:mcs>
                                      <m:mc>
                                        <m:mcPr>
                                          <m:count m:val="2"/>
                                          <m:mcJc m:val="center"/>
                                        </m:mcPr>
                                      </m:mc>
                                    </m:mcs>
                                    <m:ctrlPr>
                                      <a:rPr lang="en-CA" b="0" i="1" smtClean="0">
                                        <a:latin typeface="Cambria Math" panose="02040503050406030204" pitchFamily="18" charset="0"/>
                                      </a:rPr>
                                    </m:ctrlPr>
                                  </m:mPr>
                                  <m:mr>
                                    <m:e>
                                      <m:r>
                                        <m:rPr>
                                          <m:brk m:alnAt="7"/>
                                        </m:rPr>
                                        <a:rPr lang="en-CA" b="0" i="1" smtClean="0">
                                          <a:latin typeface="Cambria Math" panose="02040503050406030204" pitchFamily="18" charset="0"/>
                                        </a:rPr>
                                        <m:t>1</m:t>
                                      </m:r>
                                    </m:e>
                                    <m:e>
                                      <m:r>
                                        <a:rPr lang="en-CA" b="0" i="1" smtClean="0">
                                          <a:latin typeface="Cambria Math" panose="02040503050406030204" pitchFamily="18" charset="0"/>
                                        </a:rPr>
                                        <m:t>0</m:t>
                                      </m:r>
                                    </m:e>
                                  </m:mr>
                                  <m:mr>
                                    <m:e>
                                      <m:r>
                                        <a:rPr lang="en-CA" b="0" i="1" smtClean="0">
                                          <a:latin typeface="Cambria Math" panose="02040503050406030204" pitchFamily="18" charset="0"/>
                                        </a:rPr>
                                        <m:t>0</m:t>
                                      </m:r>
                                    </m:e>
                                    <m:e>
                                      <m:r>
                                        <a:rPr lang="en-CA" b="0" i="1" smtClean="0">
                                          <a:latin typeface="Cambria Math" panose="02040503050406030204" pitchFamily="18" charset="0"/>
                                        </a:rPr>
                                        <m:t>1</m:t>
                                      </m:r>
                                    </m:e>
                                  </m:mr>
                                </m:m>
                              </m:e>
                            </m:mr>
                            <m:mr>
                              <m:e>
                                <m:m>
                                  <m:mPr>
                                    <m:mcs>
                                      <m:mc>
                                        <m:mcPr>
                                          <m:count m:val="2"/>
                                          <m:mcJc m:val="center"/>
                                        </m:mcPr>
                                      </m:mc>
                                    </m:mcs>
                                    <m:ctrlPr>
                                      <a:rPr lang="en-CA" b="0" i="1" smtClean="0">
                                        <a:latin typeface="Cambria Math" panose="02040503050406030204" pitchFamily="18" charset="0"/>
                                      </a:rPr>
                                    </m:ctrlPr>
                                  </m:mPr>
                                  <m:mr>
                                    <m:e>
                                      <m:r>
                                        <m:rPr>
                                          <m:brk m:alnAt="7"/>
                                        </m:rPr>
                                        <a:rPr lang="en-CA" b="0" i="1" smtClean="0">
                                          <a:latin typeface="Cambria Math" panose="02040503050406030204" pitchFamily="18" charset="0"/>
                                        </a:rPr>
                                        <m:t>1</m:t>
                                      </m:r>
                                    </m:e>
                                    <m:e>
                                      <m:r>
                                        <a:rPr lang="en-CA" b="0" i="1" smtClean="0">
                                          <a:latin typeface="Cambria Math" panose="02040503050406030204" pitchFamily="18" charset="0"/>
                                        </a:rPr>
                                        <m:t>0</m:t>
                                      </m:r>
                                    </m:e>
                                  </m:mr>
                                  <m:mr>
                                    <m:e>
                                      <m:r>
                                        <a:rPr lang="en-CA" b="0" i="1" smtClean="0">
                                          <a:latin typeface="Cambria Math" panose="02040503050406030204" pitchFamily="18" charset="0"/>
                                        </a:rPr>
                                        <m:t>0</m:t>
                                      </m:r>
                                    </m:e>
                                    <m:e>
                                      <m:r>
                                        <a:rPr lang="en-CA" b="0" i="1" smtClean="0">
                                          <a:latin typeface="Cambria Math" panose="02040503050406030204" pitchFamily="18" charset="0"/>
                                        </a:rPr>
                                        <m:t>1</m:t>
                                      </m:r>
                                    </m:e>
                                  </m:mr>
                                </m:m>
                              </m:e>
                              <m:e>
                                <m:m>
                                  <m:mPr>
                                    <m:mcs>
                                      <m:mc>
                                        <m:mcPr>
                                          <m:count m:val="2"/>
                                          <m:mcJc m:val="center"/>
                                        </m:mcPr>
                                      </m:mc>
                                    </m:mcs>
                                    <m:ctrlPr>
                                      <a:rPr lang="en-CA" b="0" i="1" smtClean="0">
                                        <a:latin typeface="Cambria Math" panose="02040503050406030204" pitchFamily="18" charset="0"/>
                                      </a:rPr>
                                    </m:ctrlPr>
                                  </m:mPr>
                                  <m:mr>
                                    <m:e>
                                      <m:r>
                                        <m:rPr>
                                          <m:brk m:alnAt="7"/>
                                        </m:rPr>
                                        <a:rPr lang="en-CA" b="0" i="1" smtClean="0">
                                          <a:latin typeface="Cambria Math" panose="02040503050406030204" pitchFamily="18" charset="0"/>
                                        </a:rPr>
                                        <m:t>0</m:t>
                                      </m:r>
                                    </m:e>
                                    <m:e>
                                      <m:r>
                                        <a:rPr lang="en-CA" b="0" i="1" smtClean="0">
                                          <a:latin typeface="Cambria Math" panose="02040503050406030204" pitchFamily="18" charset="0"/>
                                        </a:rPr>
                                        <m:t>0</m:t>
                                      </m:r>
                                    </m:e>
                                  </m:mr>
                                  <m:mr>
                                    <m:e>
                                      <m:r>
                                        <a:rPr lang="en-CA" b="0" i="1" smtClean="0">
                                          <a:latin typeface="Cambria Math" panose="02040503050406030204" pitchFamily="18" charset="0"/>
                                        </a:rPr>
                                        <m:t>0</m:t>
                                      </m:r>
                                    </m:e>
                                    <m:e>
                                      <m:r>
                                        <a:rPr lang="en-CA" b="0" i="1" smtClean="0">
                                          <a:latin typeface="Cambria Math" panose="02040503050406030204" pitchFamily="18" charset="0"/>
                                        </a:rPr>
                                        <m:t>0</m:t>
                                      </m:r>
                                    </m:e>
                                  </m:mr>
                                </m:m>
                              </m:e>
                            </m:mr>
                          </m:m>
                        </m:e>
                      </m:d>
                      <m:d>
                        <m:dPr>
                          <m:ctrlPr>
                            <a:rPr lang="en-US" b="0" i="1" smtClean="0">
                              <a:latin typeface="Cambria Math" panose="02040503050406030204" pitchFamily="18" charset="0"/>
                            </a:rPr>
                          </m:ctrlPr>
                        </m:dPr>
                        <m:e>
                          <m:m>
                            <m:mPr>
                              <m:mcs>
                                <m:mc>
                                  <m:mcPr>
                                    <m:count m:val="1"/>
                                    <m:mcJc m:val="center"/>
                                  </m:mcPr>
                                </m:mc>
                              </m:mcs>
                              <m:ctrlPr>
                                <a:rPr lang="en-US" i="1">
                                  <a:latin typeface="Cambria Math" panose="02040503050406030204" pitchFamily="18" charset="0"/>
                                </a:rPr>
                              </m:ctrlPr>
                            </m:mPr>
                            <m:mr>
                              <m:e>
                                <m:r>
                                  <m:rPr>
                                    <m:brk m:alnAt="7"/>
                                  </m:rPr>
                                  <a:rPr lang="en-CA" b="0" i="1" smtClean="0">
                                    <a:latin typeface="Cambria Math" panose="02040503050406030204" pitchFamily="18" charset="0"/>
                                  </a:rPr>
                                  <m:t>0</m:t>
                                </m:r>
                              </m:e>
                            </m:mr>
                            <m:mr>
                              <m:e>
                                <m:r>
                                  <a:rPr lang="en-CA" b="0" i="1" smtClean="0">
                                    <a:latin typeface="Cambria Math" panose="02040503050406030204" pitchFamily="18" charset="0"/>
                                  </a:rPr>
                                  <m:t>1</m:t>
                                </m:r>
                              </m:e>
                            </m:mr>
                            <m:mr>
                              <m:e>
                                <m:r>
                                  <a:rPr lang="en-CA" b="0" i="1" smtClean="0">
                                    <a:latin typeface="Cambria Math" panose="02040503050406030204" pitchFamily="18" charset="0"/>
                                  </a:rPr>
                                  <m:t>0</m:t>
                                </m:r>
                              </m:e>
                            </m:mr>
                            <m:mr>
                              <m:e>
                                <m:r>
                                  <a:rPr lang="en-CA" i="1">
                                    <a:latin typeface="Cambria Math" panose="02040503050406030204" pitchFamily="18" charset="0"/>
                                  </a:rPr>
                                  <m:t>0</m:t>
                                </m:r>
                              </m:e>
                            </m:mr>
                          </m:m>
                        </m:e>
                      </m:d>
                      <m:r>
                        <a:rPr lang="en-CA" b="0" i="1" smtClean="0">
                          <a:latin typeface="Cambria Math" panose="02040503050406030204" pitchFamily="18" charset="0"/>
                        </a:rPr>
                        <m:t>=</m:t>
                      </m:r>
                      <m:d>
                        <m:dPr>
                          <m:ctrlPr>
                            <a:rPr lang="en-US" b="0" i="1" smtClean="0">
                              <a:latin typeface="Cambria Math" panose="02040503050406030204" pitchFamily="18" charset="0"/>
                            </a:rPr>
                          </m:ctrlPr>
                        </m:dPr>
                        <m:e>
                          <m:m>
                            <m:mPr>
                              <m:mcs>
                                <m:mc>
                                  <m:mcPr>
                                    <m:count m:val="1"/>
                                    <m:mcJc m:val="center"/>
                                  </m:mcPr>
                                </m:mc>
                              </m:mcs>
                              <m:ctrlPr>
                                <a:rPr lang="en-US" i="1">
                                  <a:latin typeface="Cambria Math" panose="02040503050406030204" pitchFamily="18" charset="0"/>
                                </a:rPr>
                              </m:ctrlPr>
                            </m:mPr>
                            <m:mr>
                              <m:e>
                                <m:r>
                                  <a:rPr lang="en-CA" b="0" i="1" smtClean="0">
                                    <a:latin typeface="Cambria Math" panose="02040503050406030204" pitchFamily="18" charset="0"/>
                                  </a:rPr>
                                  <m:t>0</m:t>
                                </m:r>
                              </m:e>
                            </m:mr>
                            <m:mr>
                              <m:e>
                                <m:r>
                                  <a:rPr lang="en-CA" b="0" i="1" smtClean="0">
                                    <a:latin typeface="Cambria Math" panose="02040503050406030204" pitchFamily="18" charset="0"/>
                                  </a:rPr>
                                  <m:t>0</m:t>
                                </m:r>
                              </m:e>
                            </m:mr>
                            <m:mr>
                              <m:e>
                                <m:r>
                                  <a:rPr lang="en-CA" b="0" i="1" smtClean="0">
                                    <a:latin typeface="Cambria Math" panose="02040503050406030204" pitchFamily="18" charset="0"/>
                                  </a:rPr>
                                  <m:t>0</m:t>
                                </m:r>
                              </m:e>
                            </m:mr>
                            <m:mr>
                              <m:e>
                                <m:r>
                                  <a:rPr lang="en-CA" b="0" i="1" smtClean="0">
                                    <a:latin typeface="Cambria Math" panose="02040503050406030204" pitchFamily="18" charset="0"/>
                                  </a:rPr>
                                  <m:t>1</m:t>
                                </m:r>
                              </m:e>
                            </m:mr>
                          </m:m>
                        </m:e>
                      </m:d>
                    </m:oMath>
                  </m:oMathPara>
                </a14:m>
                <a:endParaRPr lang="en-US" dirty="0"/>
              </a:p>
            </p:txBody>
          </p:sp>
        </mc:Choice>
        <mc:Fallback xmlns="">
          <p:sp>
            <p:nvSpPr>
              <p:cNvPr id="8" name="Rectangle 7">
                <a:extLst>
                  <a:ext uri="{FF2B5EF4-FFF2-40B4-BE49-F238E27FC236}">
                    <a16:creationId xmlns:a16="http://schemas.microsoft.com/office/drawing/2014/main" id="{4EFE5C74-7F83-DA81-B5F3-813A3273DB80}"/>
                  </a:ext>
                </a:extLst>
              </p:cNvPr>
              <p:cNvSpPr>
                <a:spLocks noRot="1" noChangeAspect="1" noMove="1" noResize="1" noEditPoints="1" noAdjustHandles="1" noChangeArrowheads="1" noChangeShapeType="1" noTextEdit="1"/>
              </p:cNvSpPr>
              <p:nvPr/>
            </p:nvSpPr>
            <p:spPr>
              <a:xfrm>
                <a:off x="3447099" y="4815593"/>
                <a:ext cx="4353051" cy="1126975"/>
              </a:xfrm>
              <a:prstGeom prst="rect">
                <a:avLst/>
              </a:prstGeom>
              <a:blipFill>
                <a:blip r:embed="rId4"/>
                <a:stretch>
                  <a:fillRect b="-1111"/>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4" name="직사각형 3"/>
              <p:cNvSpPr/>
              <p:nvPr/>
            </p:nvSpPr>
            <p:spPr>
              <a:xfrm>
                <a:off x="1712325" y="4815593"/>
                <a:ext cx="1321003" cy="1126975"/>
              </a:xfrm>
              <a:prstGeom prst="rect">
                <a:avLst/>
              </a:prstGeom>
            </p:spPr>
            <p:txBody>
              <a:bodyPr wrap="none">
                <a:spAutoFit/>
              </a:bodyPr>
              <a:lstStyle/>
              <a:p>
                <a14:m>
                  <m:oMath xmlns:m="http://schemas.openxmlformats.org/officeDocument/2006/math">
                    <m:d>
                      <m:dPr>
                        <m:begChr m:val="|"/>
                        <m:endChr m:val="⟩"/>
                        <m:ctrlPr>
                          <a:rPr lang="en-US" altLang="ko-KR" b="0" i="1" smtClean="0">
                            <a:latin typeface="Cambria Math" panose="02040503050406030204" pitchFamily="18" charset="0"/>
                          </a:rPr>
                        </m:ctrlPr>
                      </m:dPr>
                      <m:e>
                        <m:r>
                          <a:rPr lang="en-US" altLang="ko-KR" b="0" i="1" smtClean="0">
                            <a:latin typeface="Cambria Math" panose="02040503050406030204" pitchFamily="18" charset="0"/>
                          </a:rPr>
                          <m:t>𝑥</m:t>
                        </m:r>
                      </m:e>
                    </m:d>
                    <m:r>
                      <a:rPr lang="en-US" altLang="ko-KR" b="0" i="1" smtClean="0">
                        <a:latin typeface="Cambria Math" panose="02040503050406030204" pitchFamily="18" charset="0"/>
                      </a:rPr>
                      <m:t>=</m:t>
                    </m:r>
                    <m:d>
                      <m:dPr>
                        <m:ctrlPr>
                          <a:rPr lang="en-US" altLang="ko-KR" i="1">
                            <a:latin typeface="Cambria Math" panose="02040503050406030204" pitchFamily="18" charset="0"/>
                          </a:rPr>
                        </m:ctrlPr>
                      </m:dPr>
                      <m:e>
                        <m:m>
                          <m:mPr>
                            <m:mcs>
                              <m:mc>
                                <m:mcPr>
                                  <m:count m:val="1"/>
                                  <m:mcJc m:val="center"/>
                                </m:mcPr>
                              </m:mc>
                            </m:mcs>
                            <m:ctrlPr>
                              <a:rPr lang="en-US" altLang="ko-KR" i="1">
                                <a:latin typeface="Cambria Math" panose="02040503050406030204" pitchFamily="18" charset="0"/>
                              </a:rPr>
                            </m:ctrlPr>
                          </m:mPr>
                          <m:mr>
                            <m:e>
                              <m:r>
                                <m:rPr>
                                  <m:brk m:alnAt="7"/>
                                </m:rPr>
                                <a:rPr lang="en-CA" altLang="ko-KR" i="1">
                                  <a:latin typeface="Cambria Math" panose="02040503050406030204" pitchFamily="18" charset="0"/>
                                </a:rPr>
                                <m:t>0</m:t>
                              </m:r>
                            </m:e>
                          </m:mr>
                          <m:mr>
                            <m:e>
                              <m:r>
                                <a:rPr lang="en-CA" altLang="ko-KR" i="1">
                                  <a:latin typeface="Cambria Math" panose="02040503050406030204" pitchFamily="18" charset="0"/>
                                </a:rPr>
                                <m:t>1</m:t>
                              </m:r>
                            </m:e>
                          </m:mr>
                          <m:mr>
                            <m:e>
                              <m:r>
                                <a:rPr lang="en-CA" altLang="ko-KR" i="1">
                                  <a:latin typeface="Cambria Math" panose="02040503050406030204" pitchFamily="18" charset="0"/>
                                </a:rPr>
                                <m:t>0</m:t>
                              </m:r>
                            </m:e>
                          </m:mr>
                          <m:mr>
                            <m:e>
                              <m:r>
                                <a:rPr lang="en-CA" altLang="ko-KR" i="1">
                                  <a:latin typeface="Cambria Math" panose="02040503050406030204" pitchFamily="18" charset="0"/>
                                </a:rPr>
                                <m:t>0</m:t>
                              </m:r>
                            </m:e>
                          </m:mr>
                        </m:m>
                      </m:e>
                    </m:d>
                  </m:oMath>
                </a14:m>
                <a:r>
                  <a:rPr lang="en-US" altLang="ko-KR" dirty="0" smtClean="0"/>
                  <a:t>,</a:t>
                </a:r>
                <a:endParaRPr lang="ko-KR" altLang="en-US" dirty="0"/>
              </a:p>
            </p:txBody>
          </p:sp>
        </mc:Choice>
        <mc:Fallback xmlns="">
          <p:sp>
            <p:nvSpPr>
              <p:cNvPr id="4" name="직사각형 3"/>
              <p:cNvSpPr>
                <a:spLocks noRot="1" noChangeAspect="1" noMove="1" noResize="1" noEditPoints="1" noAdjustHandles="1" noChangeArrowheads="1" noChangeShapeType="1" noTextEdit="1"/>
              </p:cNvSpPr>
              <p:nvPr/>
            </p:nvSpPr>
            <p:spPr>
              <a:xfrm>
                <a:off x="1712325" y="4815593"/>
                <a:ext cx="1321003" cy="1126975"/>
              </a:xfrm>
              <a:prstGeom prst="rect">
                <a:avLst/>
              </a:prstGeom>
              <a:blipFill>
                <a:blip r:embed="rId5"/>
                <a:stretch>
                  <a:fillRect/>
                </a:stretch>
              </a:blipFill>
            </p:spPr>
            <p:txBody>
              <a:bodyPr/>
              <a:lstStyle/>
              <a:p>
                <a:r>
                  <a:rPr lang="ko-KR" altLang="en-US">
                    <a:noFill/>
                  </a:rPr>
                  <a:t> </a:t>
                </a:r>
              </a:p>
            </p:txBody>
          </p:sp>
        </mc:Fallback>
      </mc:AlternateContent>
    </p:spTree>
    <p:extLst>
      <p:ext uri="{BB962C8B-B14F-4D97-AF65-F5344CB8AC3E}">
        <p14:creationId xmlns:p14="http://schemas.microsoft.com/office/powerpoint/2010/main" val="102991843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5" end="5"/>
                                            </p:txEl>
                                          </p:spTgt>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p:bld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5EA996C-B5F6-B594-B19D-FDB3BDDBA4D7}"/>
              </a:ext>
            </a:extLst>
          </p:cNvPr>
          <p:cNvSpPr>
            <a:spLocks noGrp="1"/>
          </p:cNvSpPr>
          <p:nvPr>
            <p:ph type="title"/>
          </p:nvPr>
        </p:nvSpPr>
        <p:spPr/>
        <p:txBody>
          <a:bodyPr/>
          <a:lstStyle/>
          <a:p>
            <a:r>
              <a:rPr lang="en-US" dirty="0"/>
              <a:t>Transformation matrices</a:t>
            </a:r>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61AA8FCB-12CC-692A-1B75-ED3ACF8A8CF2}"/>
                  </a:ext>
                </a:extLst>
              </p:cNvPr>
              <p:cNvSpPr>
                <a:spLocks noGrp="1"/>
              </p:cNvSpPr>
              <p:nvPr>
                <p:ph idx="1"/>
              </p:nvPr>
            </p:nvSpPr>
            <p:spPr/>
            <p:txBody>
              <a:bodyPr>
                <a:normAutofit/>
              </a:bodyPr>
              <a:lstStyle/>
              <a:p>
                <a:r>
                  <a:rPr lang="en-CA" sz="2400" dirty="0"/>
                  <a:t>The transformation corresponding to applying </a:t>
                </a:r>
                <a14:m>
                  <m:oMath xmlns:m="http://schemas.openxmlformats.org/officeDocument/2006/math">
                    <m:r>
                      <a:rPr lang="en-CA" sz="2400" b="0" i="1" smtClean="0">
                        <a:latin typeface="Cambria Math" panose="02040503050406030204" pitchFamily="18" charset="0"/>
                      </a:rPr>
                      <m:t>𝑅</m:t>
                    </m:r>
                  </m:oMath>
                </a14:m>
                <a:r>
                  <a:rPr lang="en-CA" sz="2400" dirty="0"/>
                  <a:t> first and then </a:t>
                </a:r>
                <a14:m>
                  <m:oMath xmlns:m="http://schemas.openxmlformats.org/officeDocument/2006/math">
                    <m:r>
                      <a:rPr lang="en-CA" sz="2400" b="0" i="1" smtClean="0">
                        <a:latin typeface="Cambria Math" panose="02040503050406030204" pitchFamily="18" charset="0"/>
                      </a:rPr>
                      <m:t>𝑈</m:t>
                    </m:r>
                  </m:oMath>
                </a14:m>
                <a:r>
                  <a:rPr lang="en-CA" sz="2400" dirty="0"/>
                  <a:t> </a:t>
                </a:r>
                <a:r>
                  <a:rPr lang="en-CA" sz="2400" dirty="0" smtClean="0"/>
                  <a:t/>
                </a:r>
                <a:br>
                  <a:rPr lang="en-CA" sz="2400" dirty="0" smtClean="0"/>
                </a:br>
                <a:r>
                  <a:rPr lang="en-CA" sz="2400" dirty="0" smtClean="0"/>
                  <a:t>corresponds </a:t>
                </a:r>
                <a:r>
                  <a:rPr lang="en-CA" sz="2400" dirty="0"/>
                  <a:t>to the matrix product </a:t>
                </a:r>
                <a14:m>
                  <m:oMath xmlns:m="http://schemas.openxmlformats.org/officeDocument/2006/math">
                    <m:r>
                      <a:rPr lang="en-CA" sz="2400" b="0" i="1" smtClean="0">
                        <a:latin typeface="Cambria Math" panose="02040503050406030204" pitchFamily="18" charset="0"/>
                      </a:rPr>
                      <m:t>𝑈𝑅</m:t>
                    </m:r>
                  </m:oMath>
                </a14:m>
                <a:r>
                  <a:rPr lang="en-CA" sz="2400" dirty="0"/>
                  <a:t>. </a:t>
                </a:r>
                <a:r>
                  <a:rPr lang="en-CA" sz="2400" b="1" i="1" dirty="0">
                    <a:solidFill>
                      <a:srgbClr val="C00000"/>
                    </a:solidFill>
                  </a:rPr>
                  <a:t>Note</a:t>
                </a:r>
                <a:r>
                  <a:rPr lang="en-CA" sz="2400" dirty="0"/>
                  <a:t>: order matters!</a:t>
                </a:r>
              </a:p>
              <a:p>
                <a:endParaRPr lang="en-CA" sz="2400" dirty="0"/>
              </a:p>
              <a:p>
                <a:r>
                  <a:rPr lang="en-CA" sz="2400" dirty="0"/>
                  <a:t>The inverse transformation </a:t>
                </a:r>
                <a14:m>
                  <m:oMath xmlns:m="http://schemas.openxmlformats.org/officeDocument/2006/math">
                    <m:sSup>
                      <m:sSupPr>
                        <m:ctrlPr>
                          <a:rPr lang="en-CA" sz="2400" b="0" i="1" smtClean="0">
                            <a:latin typeface="Cambria Math" panose="02040503050406030204" pitchFamily="18" charset="0"/>
                          </a:rPr>
                        </m:ctrlPr>
                      </m:sSupPr>
                      <m:e>
                        <m:r>
                          <a:rPr lang="en-CA" sz="2400" b="0" i="1" smtClean="0">
                            <a:latin typeface="Cambria Math" panose="02040503050406030204" pitchFamily="18" charset="0"/>
                          </a:rPr>
                          <m:t>𝑅</m:t>
                        </m:r>
                      </m:e>
                      <m:sup>
                        <m:r>
                          <a:rPr lang="en-CA" sz="2400" b="0" i="1" smtClean="0">
                            <a:latin typeface="Cambria Math" panose="02040503050406030204" pitchFamily="18" charset="0"/>
                          </a:rPr>
                          <m:t>−1</m:t>
                        </m:r>
                      </m:sup>
                    </m:sSup>
                  </m:oMath>
                </a14:m>
                <a:r>
                  <a:rPr lang="en-CA" sz="2400" dirty="0"/>
                  <a:t> is simply the matrix inverse of </a:t>
                </a:r>
                <a14:m>
                  <m:oMath xmlns:m="http://schemas.openxmlformats.org/officeDocument/2006/math">
                    <m:r>
                      <a:rPr lang="en-CA" sz="2400" b="0" i="1" smtClean="0">
                        <a:latin typeface="Cambria Math" panose="02040503050406030204" pitchFamily="18" charset="0"/>
                      </a:rPr>
                      <m:t>𝑅</m:t>
                    </m:r>
                  </m:oMath>
                </a14:m>
                <a:r>
                  <a:rPr lang="en-CA" sz="2400" dirty="0"/>
                  <a:t>.</a:t>
                </a:r>
              </a:p>
              <a:p>
                <a:endParaRPr lang="en-CA" sz="2400" dirty="0"/>
              </a:p>
              <a:p>
                <a:r>
                  <a:rPr lang="en-CA" sz="2400" dirty="0"/>
                  <a:t>Since </a:t>
                </a:r>
                <a14:m>
                  <m:oMath xmlns:m="http://schemas.openxmlformats.org/officeDocument/2006/math">
                    <m:r>
                      <a:rPr lang="en-CA" sz="2400" b="0" i="1" smtClean="0">
                        <a:latin typeface="Cambria Math" panose="02040503050406030204" pitchFamily="18" charset="0"/>
                      </a:rPr>
                      <m:t>𝑅</m:t>
                    </m:r>
                  </m:oMath>
                </a14:m>
                <a:r>
                  <a:rPr lang="en-CA" sz="2400" dirty="0"/>
                  <a:t> is a permutation matrix, </a:t>
                </a:r>
                <a14:m>
                  <m:oMath xmlns:m="http://schemas.openxmlformats.org/officeDocument/2006/math">
                    <m:sSup>
                      <m:sSupPr>
                        <m:ctrlPr>
                          <a:rPr lang="en-CA" sz="2400" b="0" i="1" smtClean="0">
                            <a:latin typeface="Cambria Math" panose="02040503050406030204" pitchFamily="18" charset="0"/>
                          </a:rPr>
                        </m:ctrlPr>
                      </m:sSupPr>
                      <m:e>
                        <m:r>
                          <a:rPr lang="en-CA" sz="2400" b="0" i="1" smtClean="0">
                            <a:latin typeface="Cambria Math" panose="02040503050406030204" pitchFamily="18" charset="0"/>
                          </a:rPr>
                          <m:t>𝑅</m:t>
                        </m:r>
                      </m:e>
                      <m:sup>
                        <m:r>
                          <a:rPr lang="en-CA" sz="2400" b="0" i="1" smtClean="0">
                            <a:latin typeface="Cambria Math" panose="02040503050406030204" pitchFamily="18" charset="0"/>
                          </a:rPr>
                          <m:t>−1</m:t>
                        </m:r>
                      </m:sup>
                    </m:sSup>
                  </m:oMath>
                </a14:m>
                <a:r>
                  <a:rPr lang="en-CA" sz="2400" dirty="0"/>
                  <a:t> is also the </a:t>
                </a:r>
                <a:r>
                  <a:rPr lang="en-CA" sz="2400" b="1" i="1" dirty="0"/>
                  <a:t>transpose</a:t>
                </a:r>
                <a:r>
                  <a:rPr lang="en-CA" sz="2400" dirty="0"/>
                  <a:t> </a:t>
                </a:r>
                <a14:m>
                  <m:oMath xmlns:m="http://schemas.openxmlformats.org/officeDocument/2006/math">
                    <m:sSup>
                      <m:sSupPr>
                        <m:ctrlPr>
                          <a:rPr lang="en-CA" sz="2400" b="0" i="1" smtClean="0">
                            <a:latin typeface="Cambria Math" panose="02040503050406030204" pitchFamily="18" charset="0"/>
                          </a:rPr>
                        </m:ctrlPr>
                      </m:sSupPr>
                      <m:e>
                        <m:r>
                          <a:rPr lang="en-CA" sz="2400" b="0" i="1" smtClean="0">
                            <a:latin typeface="Cambria Math" panose="02040503050406030204" pitchFamily="18" charset="0"/>
                          </a:rPr>
                          <m:t>𝑅</m:t>
                        </m:r>
                      </m:e>
                      <m:sup>
                        <m:r>
                          <a:rPr lang="en-CA" sz="2400" b="0" i="1" smtClean="0">
                            <a:latin typeface="Cambria Math" panose="02040503050406030204" pitchFamily="18" charset="0"/>
                          </a:rPr>
                          <m:t>⊤</m:t>
                        </m:r>
                      </m:sup>
                    </m:sSup>
                  </m:oMath>
                </a14:m>
                <a:r>
                  <a:rPr lang="en-CA" sz="2400" dirty="0"/>
                  <a:t> of </a:t>
                </a:r>
                <a14:m>
                  <m:oMath xmlns:m="http://schemas.openxmlformats.org/officeDocument/2006/math">
                    <m:r>
                      <a:rPr lang="en-CA" sz="2400" b="0" i="1" smtClean="0">
                        <a:latin typeface="Cambria Math" panose="02040503050406030204" pitchFamily="18" charset="0"/>
                      </a:rPr>
                      <m:t>𝑅</m:t>
                    </m:r>
                  </m:oMath>
                </a14:m>
                <a:r>
                  <a:rPr lang="en-CA" sz="2400" dirty="0"/>
                  <a:t>, </a:t>
                </a:r>
                <a:br>
                  <a:rPr lang="en-CA" sz="2400" dirty="0"/>
                </a:br>
                <a:r>
                  <a:rPr lang="en-CA" sz="2400" dirty="0"/>
                  <a:t>where the rows and columns of </a:t>
                </a:r>
                <a14:m>
                  <m:oMath xmlns:m="http://schemas.openxmlformats.org/officeDocument/2006/math">
                    <m:r>
                      <a:rPr lang="en-CA" sz="2400" b="0" i="1" smtClean="0">
                        <a:latin typeface="Cambria Math" panose="02040503050406030204" pitchFamily="18" charset="0"/>
                      </a:rPr>
                      <m:t>𝑅</m:t>
                    </m:r>
                  </m:oMath>
                </a14:m>
                <a:r>
                  <a:rPr lang="en-CA" sz="2400" dirty="0"/>
                  <a:t> are switched.</a:t>
                </a:r>
                <a:br>
                  <a:rPr lang="en-CA" sz="2400" dirty="0"/>
                </a:br>
                <a:r>
                  <a:rPr lang="en-CA" sz="2400" dirty="0"/>
                  <a:t/>
                </a:r>
                <a:br>
                  <a:rPr lang="en-CA" sz="2400" dirty="0"/>
                </a:br>
                <a:endParaRPr lang="en-CA" sz="2400" dirty="0"/>
              </a:p>
            </p:txBody>
          </p:sp>
        </mc:Choice>
        <mc:Fallback xmlns="">
          <p:sp>
            <p:nvSpPr>
              <p:cNvPr id="3" name="Content Placeholder 2">
                <a:extLst>
                  <a:ext uri="{FF2B5EF4-FFF2-40B4-BE49-F238E27FC236}">
                    <a16:creationId xmlns:a16="http://schemas.microsoft.com/office/drawing/2014/main" id="{61AA8FCB-12CC-692A-1B75-ED3ACF8A8CF2}"/>
                  </a:ext>
                </a:extLst>
              </p:cNvPr>
              <p:cNvSpPr>
                <a:spLocks noGrp="1" noRot="1" noChangeAspect="1" noMove="1" noResize="1" noEditPoints="1" noAdjustHandles="1" noChangeArrowheads="1" noChangeShapeType="1" noTextEdit="1"/>
              </p:cNvSpPr>
              <p:nvPr>
                <p:ph idx="1"/>
              </p:nvPr>
            </p:nvSpPr>
            <p:spPr>
              <a:blipFill>
                <a:blip r:embed="rId2"/>
                <a:stretch>
                  <a:fillRect l="-812" t="-1961"/>
                </a:stretch>
              </a:blipFill>
            </p:spPr>
            <p:txBody>
              <a:bodyPr/>
              <a:lstStyle/>
              <a:p>
                <a:r>
                  <a:rPr lang="ko-KR" altLang="en-US">
                    <a:noFill/>
                  </a:rPr>
                  <a:t> </a:t>
                </a:r>
              </a:p>
            </p:txBody>
          </p:sp>
        </mc:Fallback>
      </mc:AlternateContent>
      <mc:AlternateContent xmlns:mc="http://schemas.openxmlformats.org/markup-compatibility/2006" xmlns:a14="http://schemas.microsoft.com/office/drawing/2010/main">
        <mc:Choice Requires="a14">
          <p:sp>
            <p:nvSpPr>
              <p:cNvPr id="4" name="Rectangle 3">
                <a:extLst>
                  <a:ext uri="{FF2B5EF4-FFF2-40B4-BE49-F238E27FC236}">
                    <a16:creationId xmlns:a16="http://schemas.microsoft.com/office/drawing/2014/main" id="{F4397BEB-68A3-98BF-0C40-559BC3C95042}"/>
                  </a:ext>
                </a:extLst>
              </p:cNvPr>
              <p:cNvSpPr/>
              <p:nvPr/>
            </p:nvSpPr>
            <p:spPr>
              <a:xfrm>
                <a:off x="2465900" y="5004394"/>
                <a:ext cx="2240485" cy="1055995"/>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r>
                        <a:rPr lang="en-CA" b="0" i="1" smtClean="0">
                          <a:latin typeface="Cambria Math" panose="02040503050406030204" pitchFamily="18" charset="0"/>
                        </a:rPr>
                        <m:t>𝑅</m:t>
                      </m:r>
                      <m:r>
                        <a:rPr lang="en-CA" b="0" i="1" smtClean="0">
                          <a:latin typeface="Cambria Math" panose="02040503050406030204" pitchFamily="18" charset="0"/>
                        </a:rPr>
                        <m:t>=</m:t>
                      </m:r>
                      <m:d>
                        <m:dPr>
                          <m:ctrlPr>
                            <a:rPr lang="en-CA" b="0" i="1" smtClean="0">
                              <a:latin typeface="Cambria Math" panose="02040503050406030204" pitchFamily="18" charset="0"/>
                            </a:rPr>
                          </m:ctrlPr>
                        </m:dPr>
                        <m:e>
                          <m:m>
                            <m:mPr>
                              <m:mcs>
                                <m:mc>
                                  <m:mcPr>
                                    <m:count m:val="2"/>
                                    <m:mcJc m:val="center"/>
                                  </m:mcPr>
                                </m:mc>
                              </m:mcs>
                              <m:ctrlPr>
                                <a:rPr lang="en-CA" b="0" i="1" smtClean="0">
                                  <a:solidFill>
                                    <a:schemeClr val="tx1"/>
                                  </a:solidFill>
                                  <a:latin typeface="Cambria Math" panose="02040503050406030204" pitchFamily="18" charset="0"/>
                                </a:rPr>
                              </m:ctrlPr>
                            </m:mPr>
                            <m:mr>
                              <m:e>
                                <m:m>
                                  <m:mPr>
                                    <m:mcs>
                                      <m:mc>
                                        <m:mcPr>
                                          <m:count m:val="2"/>
                                          <m:mcJc m:val="center"/>
                                        </m:mcPr>
                                      </m:mc>
                                    </m:mcs>
                                    <m:ctrlPr>
                                      <a:rPr lang="en-CA" b="0" i="1" smtClean="0">
                                        <a:solidFill>
                                          <a:schemeClr val="tx1"/>
                                        </a:solidFill>
                                        <a:latin typeface="Cambria Math" panose="02040503050406030204" pitchFamily="18" charset="0"/>
                                      </a:rPr>
                                    </m:ctrlPr>
                                  </m:mPr>
                                  <m:mr>
                                    <m:e>
                                      <m:r>
                                        <m:rPr>
                                          <m:brk m:alnAt="7"/>
                                        </m:rPr>
                                        <a:rPr lang="en-CA" b="0" i="1" smtClean="0">
                                          <a:solidFill>
                                            <a:schemeClr val="tx1"/>
                                          </a:solidFill>
                                          <a:latin typeface="Cambria Math" panose="02040503050406030204" pitchFamily="18" charset="0"/>
                                        </a:rPr>
                                        <m:t>0</m:t>
                                      </m:r>
                                    </m:e>
                                    <m:e>
                                      <m:r>
                                        <a:rPr lang="en-CA" b="0" i="1" smtClean="0">
                                          <a:solidFill>
                                            <a:schemeClr val="tx1"/>
                                          </a:solidFill>
                                          <a:latin typeface="Cambria Math" panose="02040503050406030204" pitchFamily="18" charset="0"/>
                                        </a:rPr>
                                        <m:t>0</m:t>
                                      </m:r>
                                    </m:e>
                                  </m:mr>
                                  <m:mr>
                                    <m:e>
                                      <m:r>
                                        <a:rPr lang="en-CA" b="0" i="1" smtClean="0">
                                          <a:solidFill>
                                            <a:schemeClr val="tx1"/>
                                          </a:solidFill>
                                          <a:latin typeface="Cambria Math" panose="02040503050406030204" pitchFamily="18" charset="0"/>
                                        </a:rPr>
                                        <m:t>0</m:t>
                                      </m:r>
                                    </m:e>
                                    <m:e>
                                      <m:r>
                                        <a:rPr lang="en-CA" b="0" i="1" smtClean="0">
                                          <a:solidFill>
                                            <a:schemeClr val="tx1"/>
                                          </a:solidFill>
                                          <a:latin typeface="Cambria Math" panose="02040503050406030204" pitchFamily="18" charset="0"/>
                                        </a:rPr>
                                        <m:t>0</m:t>
                                      </m:r>
                                    </m:e>
                                  </m:mr>
                                </m:m>
                              </m:e>
                              <m:e>
                                <m:m>
                                  <m:mPr>
                                    <m:mcs>
                                      <m:mc>
                                        <m:mcPr>
                                          <m:count m:val="2"/>
                                          <m:mcJc m:val="center"/>
                                        </m:mcPr>
                                      </m:mc>
                                    </m:mcs>
                                    <m:ctrlPr>
                                      <a:rPr lang="en-CA" b="0" i="1" smtClean="0">
                                        <a:solidFill>
                                          <a:schemeClr val="tx1"/>
                                        </a:solidFill>
                                        <a:latin typeface="Cambria Math" panose="02040503050406030204" pitchFamily="18" charset="0"/>
                                      </a:rPr>
                                    </m:ctrlPr>
                                  </m:mPr>
                                  <m:mr>
                                    <m:e>
                                      <m:r>
                                        <m:rPr>
                                          <m:brk m:alnAt="7"/>
                                        </m:rPr>
                                        <a:rPr lang="en-CA" b="1" i="1" smtClean="0">
                                          <a:solidFill>
                                            <a:srgbClr val="C00000"/>
                                          </a:solidFill>
                                          <a:latin typeface="Cambria Math" panose="02040503050406030204" pitchFamily="18" charset="0"/>
                                        </a:rPr>
                                        <m:t>𝟏</m:t>
                                      </m:r>
                                    </m:e>
                                    <m:e>
                                      <m:r>
                                        <a:rPr lang="en-CA" b="0" i="1" smtClean="0">
                                          <a:solidFill>
                                            <a:schemeClr val="tx1"/>
                                          </a:solidFill>
                                          <a:latin typeface="Cambria Math" panose="02040503050406030204" pitchFamily="18" charset="0"/>
                                        </a:rPr>
                                        <m:t>0</m:t>
                                      </m:r>
                                    </m:e>
                                  </m:mr>
                                  <m:mr>
                                    <m:e>
                                      <m:r>
                                        <a:rPr lang="en-CA" b="0" i="1" smtClean="0">
                                          <a:solidFill>
                                            <a:schemeClr val="tx1"/>
                                          </a:solidFill>
                                          <a:latin typeface="Cambria Math" panose="02040503050406030204" pitchFamily="18" charset="0"/>
                                        </a:rPr>
                                        <m:t>0</m:t>
                                      </m:r>
                                    </m:e>
                                    <m:e>
                                      <m:r>
                                        <a:rPr lang="en-CA" b="1" i="1" smtClean="0">
                                          <a:solidFill>
                                            <a:srgbClr val="C00000"/>
                                          </a:solidFill>
                                          <a:latin typeface="Cambria Math" panose="02040503050406030204" pitchFamily="18" charset="0"/>
                                        </a:rPr>
                                        <m:t>𝟏</m:t>
                                      </m:r>
                                    </m:e>
                                  </m:mr>
                                </m:m>
                              </m:e>
                            </m:mr>
                            <m:mr>
                              <m:e>
                                <m:m>
                                  <m:mPr>
                                    <m:mcs>
                                      <m:mc>
                                        <m:mcPr>
                                          <m:count m:val="2"/>
                                          <m:mcJc m:val="center"/>
                                        </m:mcPr>
                                      </m:mc>
                                    </m:mcs>
                                    <m:ctrlPr>
                                      <a:rPr lang="en-CA" b="0" i="1" smtClean="0">
                                        <a:solidFill>
                                          <a:schemeClr val="tx1"/>
                                        </a:solidFill>
                                        <a:latin typeface="Cambria Math" panose="02040503050406030204" pitchFamily="18" charset="0"/>
                                      </a:rPr>
                                    </m:ctrlPr>
                                  </m:mPr>
                                  <m:mr>
                                    <m:e>
                                      <m:r>
                                        <a:rPr lang="en-CA" b="0" i="1" smtClean="0">
                                          <a:solidFill>
                                            <a:schemeClr val="tx1"/>
                                          </a:solidFill>
                                          <a:latin typeface="Cambria Math" panose="02040503050406030204" pitchFamily="18" charset="0"/>
                                        </a:rPr>
                                        <m:t>0</m:t>
                                      </m:r>
                                    </m:e>
                                    <m:e>
                                      <m:r>
                                        <a:rPr lang="en-CA" b="1" i="1" smtClean="0">
                                          <a:solidFill>
                                            <a:srgbClr val="C00000"/>
                                          </a:solidFill>
                                          <a:latin typeface="Cambria Math" panose="02040503050406030204" pitchFamily="18" charset="0"/>
                                        </a:rPr>
                                        <m:t>𝟏</m:t>
                                      </m:r>
                                    </m:e>
                                  </m:mr>
                                  <m:mr>
                                    <m:e>
                                      <m:r>
                                        <a:rPr lang="en-CA" b="1" i="1" smtClean="0">
                                          <a:solidFill>
                                            <a:srgbClr val="C00000"/>
                                          </a:solidFill>
                                          <a:latin typeface="Cambria Math" panose="02040503050406030204" pitchFamily="18" charset="0"/>
                                        </a:rPr>
                                        <m:t>𝟏</m:t>
                                      </m:r>
                                    </m:e>
                                    <m:e>
                                      <m:r>
                                        <a:rPr lang="en-CA" b="0" i="1" smtClean="0">
                                          <a:solidFill>
                                            <a:schemeClr val="tx1"/>
                                          </a:solidFill>
                                          <a:latin typeface="Cambria Math" panose="02040503050406030204" pitchFamily="18" charset="0"/>
                                        </a:rPr>
                                        <m:t>0</m:t>
                                      </m:r>
                                    </m:e>
                                  </m:mr>
                                </m:m>
                              </m:e>
                              <m:e>
                                <m:m>
                                  <m:mPr>
                                    <m:mcs>
                                      <m:mc>
                                        <m:mcPr>
                                          <m:count m:val="2"/>
                                          <m:mcJc m:val="center"/>
                                        </m:mcPr>
                                      </m:mc>
                                    </m:mcs>
                                    <m:ctrlPr>
                                      <a:rPr lang="en-CA" b="0" i="1" smtClean="0">
                                        <a:solidFill>
                                          <a:schemeClr val="tx1"/>
                                        </a:solidFill>
                                        <a:latin typeface="Cambria Math" panose="02040503050406030204" pitchFamily="18" charset="0"/>
                                      </a:rPr>
                                    </m:ctrlPr>
                                  </m:mPr>
                                  <m:mr>
                                    <m:e>
                                      <m:r>
                                        <m:rPr>
                                          <m:brk m:alnAt="7"/>
                                        </m:rPr>
                                        <a:rPr lang="en-CA" b="0" i="1" smtClean="0">
                                          <a:solidFill>
                                            <a:schemeClr val="tx1"/>
                                          </a:solidFill>
                                          <a:latin typeface="Cambria Math" panose="02040503050406030204" pitchFamily="18" charset="0"/>
                                        </a:rPr>
                                        <m:t>0</m:t>
                                      </m:r>
                                    </m:e>
                                    <m:e>
                                      <m:r>
                                        <a:rPr lang="en-CA" b="0" i="1" smtClean="0">
                                          <a:solidFill>
                                            <a:schemeClr val="tx1"/>
                                          </a:solidFill>
                                          <a:latin typeface="Cambria Math" panose="02040503050406030204" pitchFamily="18" charset="0"/>
                                        </a:rPr>
                                        <m:t>0</m:t>
                                      </m:r>
                                    </m:e>
                                  </m:mr>
                                  <m:mr>
                                    <m:e>
                                      <m:r>
                                        <a:rPr lang="en-CA" b="0" i="1" smtClean="0">
                                          <a:solidFill>
                                            <a:schemeClr val="tx1"/>
                                          </a:solidFill>
                                          <a:latin typeface="Cambria Math" panose="02040503050406030204" pitchFamily="18" charset="0"/>
                                        </a:rPr>
                                        <m:t>0</m:t>
                                      </m:r>
                                    </m:e>
                                    <m:e>
                                      <m:r>
                                        <a:rPr lang="en-CA" b="0" i="1" smtClean="0">
                                          <a:solidFill>
                                            <a:schemeClr val="tx1"/>
                                          </a:solidFill>
                                          <a:latin typeface="Cambria Math" panose="02040503050406030204" pitchFamily="18" charset="0"/>
                                        </a:rPr>
                                        <m:t>0</m:t>
                                      </m:r>
                                    </m:e>
                                  </m:mr>
                                </m:m>
                              </m:e>
                            </m:mr>
                          </m:m>
                        </m:e>
                      </m:d>
                    </m:oMath>
                  </m:oMathPara>
                </a14:m>
                <a:endParaRPr lang="en-US" dirty="0"/>
              </a:p>
            </p:txBody>
          </p:sp>
        </mc:Choice>
        <mc:Fallback xmlns="">
          <p:sp>
            <p:nvSpPr>
              <p:cNvPr id="4" name="Rectangle 3">
                <a:extLst>
                  <a:ext uri="{FF2B5EF4-FFF2-40B4-BE49-F238E27FC236}">
                    <a16:creationId xmlns:a16="http://schemas.microsoft.com/office/drawing/2014/main" id="{F4397BEB-68A3-98BF-0C40-559BC3C95042}"/>
                  </a:ext>
                </a:extLst>
              </p:cNvPr>
              <p:cNvSpPr>
                <a:spLocks noRot="1" noChangeAspect="1" noMove="1" noResize="1" noEditPoints="1" noAdjustHandles="1" noChangeArrowheads="1" noChangeShapeType="1" noTextEdit="1"/>
              </p:cNvSpPr>
              <p:nvPr/>
            </p:nvSpPr>
            <p:spPr>
              <a:xfrm>
                <a:off x="2465900" y="5004394"/>
                <a:ext cx="2240485" cy="1055995"/>
              </a:xfrm>
              <a:prstGeom prst="rect">
                <a:avLst/>
              </a:prstGeom>
              <a:blipFill>
                <a:blip r:embed="rId3"/>
                <a:stretch>
                  <a:fillRect b="-2381"/>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5" name="Rectangle 4">
                <a:extLst>
                  <a:ext uri="{FF2B5EF4-FFF2-40B4-BE49-F238E27FC236}">
                    <a16:creationId xmlns:a16="http://schemas.microsoft.com/office/drawing/2014/main" id="{65EB2A90-AC12-9B41-F232-E5CECF5F6C82}"/>
                  </a:ext>
                </a:extLst>
              </p:cNvPr>
              <p:cNvSpPr/>
              <p:nvPr/>
            </p:nvSpPr>
            <p:spPr>
              <a:xfrm>
                <a:off x="6733100" y="5004393"/>
                <a:ext cx="2375971" cy="1055995"/>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sSup>
                        <m:sSupPr>
                          <m:ctrlPr>
                            <a:rPr lang="en-CA" b="0" i="1" smtClean="0">
                              <a:latin typeface="Cambria Math" panose="02040503050406030204" pitchFamily="18" charset="0"/>
                            </a:rPr>
                          </m:ctrlPr>
                        </m:sSupPr>
                        <m:e>
                          <m:r>
                            <a:rPr lang="en-CA" b="0" i="1" smtClean="0">
                              <a:latin typeface="Cambria Math" panose="02040503050406030204" pitchFamily="18" charset="0"/>
                            </a:rPr>
                            <m:t>𝑅</m:t>
                          </m:r>
                        </m:e>
                        <m:sup>
                          <m:r>
                            <a:rPr lang="en-CA" b="0" i="1" smtClean="0">
                              <a:latin typeface="Cambria Math" panose="02040503050406030204" pitchFamily="18" charset="0"/>
                            </a:rPr>
                            <m:t>⊤</m:t>
                          </m:r>
                        </m:sup>
                      </m:sSup>
                      <m:r>
                        <a:rPr lang="en-CA" b="0" i="1" smtClean="0">
                          <a:latin typeface="Cambria Math" panose="02040503050406030204" pitchFamily="18" charset="0"/>
                        </a:rPr>
                        <m:t>=</m:t>
                      </m:r>
                      <m:d>
                        <m:dPr>
                          <m:ctrlPr>
                            <a:rPr lang="en-CA" b="0" i="1" smtClean="0">
                              <a:latin typeface="Cambria Math" panose="02040503050406030204" pitchFamily="18" charset="0"/>
                            </a:rPr>
                          </m:ctrlPr>
                        </m:dPr>
                        <m:e>
                          <m:m>
                            <m:mPr>
                              <m:mcs>
                                <m:mc>
                                  <m:mcPr>
                                    <m:count m:val="2"/>
                                    <m:mcJc m:val="center"/>
                                  </m:mcPr>
                                </m:mc>
                              </m:mcs>
                              <m:ctrlPr>
                                <a:rPr lang="en-CA" b="0" i="1" smtClean="0">
                                  <a:solidFill>
                                    <a:schemeClr val="tx1"/>
                                  </a:solidFill>
                                  <a:latin typeface="Cambria Math" panose="02040503050406030204" pitchFamily="18" charset="0"/>
                                </a:rPr>
                              </m:ctrlPr>
                            </m:mPr>
                            <m:mr>
                              <m:e>
                                <m:m>
                                  <m:mPr>
                                    <m:mcs>
                                      <m:mc>
                                        <m:mcPr>
                                          <m:count m:val="2"/>
                                          <m:mcJc m:val="center"/>
                                        </m:mcPr>
                                      </m:mc>
                                    </m:mcs>
                                    <m:ctrlPr>
                                      <a:rPr lang="en-CA" b="0" i="1" smtClean="0">
                                        <a:solidFill>
                                          <a:schemeClr val="tx1"/>
                                        </a:solidFill>
                                        <a:latin typeface="Cambria Math" panose="02040503050406030204" pitchFamily="18" charset="0"/>
                                      </a:rPr>
                                    </m:ctrlPr>
                                  </m:mPr>
                                  <m:mr>
                                    <m:e>
                                      <m:r>
                                        <m:rPr>
                                          <m:brk m:alnAt="7"/>
                                        </m:rPr>
                                        <a:rPr lang="en-CA" b="0" i="1" smtClean="0">
                                          <a:solidFill>
                                            <a:schemeClr val="tx1"/>
                                          </a:solidFill>
                                          <a:latin typeface="Cambria Math" panose="02040503050406030204" pitchFamily="18" charset="0"/>
                                        </a:rPr>
                                        <m:t>0</m:t>
                                      </m:r>
                                    </m:e>
                                    <m:e>
                                      <m:r>
                                        <a:rPr lang="en-CA" b="0" i="1" smtClean="0">
                                          <a:solidFill>
                                            <a:schemeClr val="tx1"/>
                                          </a:solidFill>
                                          <a:latin typeface="Cambria Math" panose="02040503050406030204" pitchFamily="18" charset="0"/>
                                        </a:rPr>
                                        <m:t>0</m:t>
                                      </m:r>
                                    </m:e>
                                  </m:mr>
                                  <m:mr>
                                    <m:e>
                                      <m:r>
                                        <a:rPr lang="en-CA" b="0" i="1" smtClean="0">
                                          <a:solidFill>
                                            <a:schemeClr val="tx1"/>
                                          </a:solidFill>
                                          <a:latin typeface="Cambria Math" panose="02040503050406030204" pitchFamily="18" charset="0"/>
                                        </a:rPr>
                                        <m:t>0</m:t>
                                      </m:r>
                                    </m:e>
                                    <m:e>
                                      <m:r>
                                        <a:rPr lang="en-CA" b="0" i="1" smtClean="0">
                                          <a:solidFill>
                                            <a:schemeClr val="tx1"/>
                                          </a:solidFill>
                                          <a:latin typeface="Cambria Math" panose="02040503050406030204" pitchFamily="18" charset="0"/>
                                        </a:rPr>
                                        <m:t>0</m:t>
                                      </m:r>
                                    </m:e>
                                  </m:mr>
                                </m:m>
                              </m:e>
                              <m:e>
                                <m:m>
                                  <m:mPr>
                                    <m:mcs>
                                      <m:mc>
                                        <m:mcPr>
                                          <m:count m:val="2"/>
                                          <m:mcJc m:val="center"/>
                                        </m:mcPr>
                                      </m:mc>
                                    </m:mcs>
                                    <m:ctrlPr>
                                      <a:rPr lang="en-CA" b="0" i="1" smtClean="0">
                                        <a:solidFill>
                                          <a:schemeClr val="tx1"/>
                                        </a:solidFill>
                                        <a:latin typeface="Cambria Math" panose="02040503050406030204" pitchFamily="18" charset="0"/>
                                      </a:rPr>
                                    </m:ctrlPr>
                                  </m:mPr>
                                  <m:mr>
                                    <m:e>
                                      <m:r>
                                        <a:rPr lang="en-CA" b="0" i="1" smtClean="0">
                                          <a:solidFill>
                                            <a:schemeClr val="tx1"/>
                                          </a:solidFill>
                                          <a:latin typeface="Cambria Math" panose="02040503050406030204" pitchFamily="18" charset="0"/>
                                        </a:rPr>
                                        <m:t>0</m:t>
                                      </m:r>
                                    </m:e>
                                    <m:e>
                                      <m:r>
                                        <a:rPr lang="en-CA" b="1" i="1" smtClean="0">
                                          <a:solidFill>
                                            <a:srgbClr val="C00000"/>
                                          </a:solidFill>
                                          <a:latin typeface="Cambria Math" panose="02040503050406030204" pitchFamily="18" charset="0"/>
                                        </a:rPr>
                                        <m:t>𝟏</m:t>
                                      </m:r>
                                    </m:e>
                                  </m:mr>
                                  <m:mr>
                                    <m:e>
                                      <m:r>
                                        <a:rPr lang="en-CA" b="1" i="1" smtClean="0">
                                          <a:solidFill>
                                            <a:srgbClr val="C00000"/>
                                          </a:solidFill>
                                          <a:latin typeface="Cambria Math" panose="02040503050406030204" pitchFamily="18" charset="0"/>
                                        </a:rPr>
                                        <m:t>𝟏</m:t>
                                      </m:r>
                                    </m:e>
                                    <m:e>
                                      <m:r>
                                        <a:rPr lang="en-CA" b="0" i="1" smtClean="0">
                                          <a:solidFill>
                                            <a:schemeClr val="tx1"/>
                                          </a:solidFill>
                                          <a:latin typeface="Cambria Math" panose="02040503050406030204" pitchFamily="18" charset="0"/>
                                        </a:rPr>
                                        <m:t>0</m:t>
                                      </m:r>
                                    </m:e>
                                  </m:mr>
                                </m:m>
                              </m:e>
                            </m:mr>
                            <m:mr>
                              <m:e>
                                <m:m>
                                  <m:mPr>
                                    <m:mcs>
                                      <m:mc>
                                        <m:mcPr>
                                          <m:count m:val="2"/>
                                          <m:mcJc m:val="center"/>
                                        </m:mcPr>
                                      </m:mc>
                                    </m:mcs>
                                    <m:ctrlPr>
                                      <a:rPr lang="en-CA" b="0" i="1" smtClean="0">
                                        <a:solidFill>
                                          <a:schemeClr val="tx1"/>
                                        </a:solidFill>
                                        <a:latin typeface="Cambria Math" panose="02040503050406030204" pitchFamily="18" charset="0"/>
                                      </a:rPr>
                                    </m:ctrlPr>
                                  </m:mPr>
                                  <m:mr>
                                    <m:e>
                                      <m:r>
                                        <m:rPr>
                                          <m:brk m:alnAt="7"/>
                                        </m:rPr>
                                        <a:rPr lang="en-CA" b="1" i="1" smtClean="0">
                                          <a:solidFill>
                                            <a:srgbClr val="C00000"/>
                                          </a:solidFill>
                                          <a:latin typeface="Cambria Math" panose="02040503050406030204" pitchFamily="18" charset="0"/>
                                        </a:rPr>
                                        <m:t>𝟏</m:t>
                                      </m:r>
                                    </m:e>
                                    <m:e>
                                      <m:r>
                                        <a:rPr lang="en-CA" b="0" i="1" smtClean="0">
                                          <a:solidFill>
                                            <a:schemeClr val="tx1"/>
                                          </a:solidFill>
                                          <a:latin typeface="Cambria Math" panose="02040503050406030204" pitchFamily="18" charset="0"/>
                                        </a:rPr>
                                        <m:t>0</m:t>
                                      </m:r>
                                    </m:e>
                                  </m:mr>
                                  <m:mr>
                                    <m:e>
                                      <m:r>
                                        <a:rPr lang="en-CA" b="0" i="1" smtClean="0">
                                          <a:solidFill>
                                            <a:schemeClr val="tx1"/>
                                          </a:solidFill>
                                          <a:latin typeface="Cambria Math" panose="02040503050406030204" pitchFamily="18" charset="0"/>
                                        </a:rPr>
                                        <m:t>0</m:t>
                                      </m:r>
                                    </m:e>
                                    <m:e>
                                      <m:r>
                                        <a:rPr lang="en-CA" b="1" i="1" smtClean="0">
                                          <a:solidFill>
                                            <a:srgbClr val="C00000"/>
                                          </a:solidFill>
                                          <a:latin typeface="Cambria Math" panose="02040503050406030204" pitchFamily="18" charset="0"/>
                                        </a:rPr>
                                        <m:t>𝟏</m:t>
                                      </m:r>
                                    </m:e>
                                  </m:mr>
                                </m:m>
                              </m:e>
                              <m:e>
                                <m:m>
                                  <m:mPr>
                                    <m:mcs>
                                      <m:mc>
                                        <m:mcPr>
                                          <m:count m:val="2"/>
                                          <m:mcJc m:val="center"/>
                                        </m:mcPr>
                                      </m:mc>
                                    </m:mcs>
                                    <m:ctrlPr>
                                      <a:rPr lang="en-CA" b="0" i="1" smtClean="0">
                                        <a:solidFill>
                                          <a:schemeClr val="tx1"/>
                                        </a:solidFill>
                                        <a:latin typeface="Cambria Math" panose="02040503050406030204" pitchFamily="18" charset="0"/>
                                      </a:rPr>
                                    </m:ctrlPr>
                                  </m:mPr>
                                  <m:mr>
                                    <m:e>
                                      <m:r>
                                        <m:rPr>
                                          <m:brk m:alnAt="7"/>
                                        </m:rPr>
                                        <a:rPr lang="en-CA" b="0" i="1" smtClean="0">
                                          <a:solidFill>
                                            <a:schemeClr val="tx1"/>
                                          </a:solidFill>
                                          <a:latin typeface="Cambria Math" panose="02040503050406030204" pitchFamily="18" charset="0"/>
                                        </a:rPr>
                                        <m:t>0</m:t>
                                      </m:r>
                                    </m:e>
                                    <m:e>
                                      <m:r>
                                        <a:rPr lang="en-CA" b="0" i="1" smtClean="0">
                                          <a:solidFill>
                                            <a:schemeClr val="tx1"/>
                                          </a:solidFill>
                                          <a:latin typeface="Cambria Math" panose="02040503050406030204" pitchFamily="18" charset="0"/>
                                        </a:rPr>
                                        <m:t>0</m:t>
                                      </m:r>
                                    </m:e>
                                  </m:mr>
                                  <m:mr>
                                    <m:e>
                                      <m:r>
                                        <a:rPr lang="en-CA" b="0" i="1" smtClean="0">
                                          <a:solidFill>
                                            <a:schemeClr val="tx1"/>
                                          </a:solidFill>
                                          <a:latin typeface="Cambria Math" panose="02040503050406030204" pitchFamily="18" charset="0"/>
                                        </a:rPr>
                                        <m:t>0</m:t>
                                      </m:r>
                                    </m:e>
                                    <m:e>
                                      <m:r>
                                        <a:rPr lang="en-CA" b="0" i="1" smtClean="0">
                                          <a:solidFill>
                                            <a:schemeClr val="tx1"/>
                                          </a:solidFill>
                                          <a:latin typeface="Cambria Math" panose="02040503050406030204" pitchFamily="18" charset="0"/>
                                        </a:rPr>
                                        <m:t>0</m:t>
                                      </m:r>
                                    </m:e>
                                  </m:mr>
                                </m:m>
                              </m:e>
                            </m:mr>
                          </m:m>
                        </m:e>
                      </m:d>
                    </m:oMath>
                  </m:oMathPara>
                </a14:m>
                <a:endParaRPr lang="en-US" dirty="0"/>
              </a:p>
            </p:txBody>
          </p:sp>
        </mc:Choice>
        <mc:Fallback xmlns="">
          <p:sp>
            <p:nvSpPr>
              <p:cNvPr id="5" name="Rectangle 4">
                <a:extLst>
                  <a:ext uri="{FF2B5EF4-FFF2-40B4-BE49-F238E27FC236}">
                    <a16:creationId xmlns:a16="http://schemas.microsoft.com/office/drawing/2014/main" id="{65EB2A90-AC12-9B41-F232-E5CECF5F6C82}"/>
                  </a:ext>
                </a:extLst>
              </p:cNvPr>
              <p:cNvSpPr>
                <a:spLocks noRot="1" noChangeAspect="1" noMove="1" noResize="1" noEditPoints="1" noAdjustHandles="1" noChangeArrowheads="1" noChangeShapeType="1" noTextEdit="1"/>
              </p:cNvSpPr>
              <p:nvPr/>
            </p:nvSpPr>
            <p:spPr>
              <a:xfrm>
                <a:off x="6733100" y="5004393"/>
                <a:ext cx="2375971" cy="1055995"/>
              </a:xfrm>
              <a:prstGeom prst="rect">
                <a:avLst/>
              </a:prstGeom>
              <a:blipFill>
                <a:blip r:embed="rId4"/>
                <a:stretch>
                  <a:fillRect b="-2381"/>
                </a:stretch>
              </a:blipFill>
            </p:spPr>
            <p:txBody>
              <a:bodyPr/>
              <a:lstStyle/>
              <a:p>
                <a:r>
                  <a:rPr lang="en-US">
                    <a:noFill/>
                  </a:rPr>
                  <a:t> </a:t>
                </a:r>
              </a:p>
            </p:txBody>
          </p:sp>
        </mc:Fallback>
      </mc:AlternateContent>
    </p:spTree>
    <p:extLst>
      <p:ext uri="{BB962C8B-B14F-4D97-AF65-F5344CB8AC3E}">
        <p14:creationId xmlns:p14="http://schemas.microsoft.com/office/powerpoint/2010/main" val="45262783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4"/>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5" grpId="0"/>
    </p:bld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A3F49E5-65FB-08CE-4816-82136F4DF962}"/>
              </a:ext>
            </a:extLst>
          </p:cNvPr>
          <p:cNvSpPr>
            <a:spLocks noGrp="1"/>
          </p:cNvSpPr>
          <p:nvPr>
            <p:ph type="title"/>
          </p:nvPr>
        </p:nvSpPr>
        <p:spPr/>
        <p:txBody>
          <a:bodyPr/>
          <a:lstStyle/>
          <a:p>
            <a:r>
              <a:rPr lang="en-US" dirty="0"/>
              <a:t>Tensor </a:t>
            </a:r>
            <a:r>
              <a:rPr lang="en-US" dirty="0" smtClean="0"/>
              <a:t>products in linear algebra</a:t>
            </a:r>
            <a:endParaRPr lang="en-US" dirty="0"/>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08FEC4ED-DD4A-992F-7DCC-150195B37A39}"/>
                  </a:ext>
                </a:extLst>
              </p:cNvPr>
              <p:cNvSpPr>
                <a:spLocks noGrp="1"/>
              </p:cNvSpPr>
              <p:nvPr>
                <p:ph idx="1"/>
              </p:nvPr>
            </p:nvSpPr>
            <p:spPr/>
            <p:txBody>
              <a:bodyPr>
                <a:normAutofit/>
              </a:bodyPr>
              <a:lstStyle/>
              <a:p>
                <a:r>
                  <a:rPr lang="en-US" sz="2400" dirty="0"/>
                  <a:t>Let </a:t>
                </a:r>
                <a14:m>
                  <m:oMath xmlns:m="http://schemas.openxmlformats.org/officeDocument/2006/math">
                    <m:sSub>
                      <m:sSubPr>
                        <m:ctrlPr>
                          <a:rPr lang="en-CA" sz="2400" i="1">
                            <a:latin typeface="Cambria Math" panose="02040503050406030204" pitchFamily="18" charset="0"/>
                          </a:rPr>
                        </m:ctrlPr>
                      </m:sSubPr>
                      <m:e>
                        <m:r>
                          <a:rPr lang="en-CA" sz="2400" i="1">
                            <a:latin typeface="Cambria Math" panose="02040503050406030204" pitchFamily="18" charset="0"/>
                          </a:rPr>
                          <m:t>𝑆</m:t>
                        </m:r>
                      </m:e>
                      <m:sub>
                        <m:r>
                          <a:rPr lang="en-CA" sz="2400" i="1">
                            <a:latin typeface="Cambria Math" panose="02040503050406030204" pitchFamily="18" charset="0"/>
                          </a:rPr>
                          <m:t>1</m:t>
                        </m:r>
                      </m:sub>
                    </m:sSub>
                    <m:r>
                      <a:rPr lang="en-CA" sz="2400" b="0" i="1" smtClean="0">
                        <a:latin typeface="Cambria Math" panose="02040503050406030204" pitchFamily="18" charset="0"/>
                      </a:rPr>
                      <m:t>,</m:t>
                    </m:r>
                  </m:oMath>
                </a14:m>
                <a:r>
                  <a:rPr lang="en-CA" sz="2400" dirty="0"/>
                  <a:t> </a:t>
                </a:r>
                <a14:m>
                  <m:oMath xmlns:m="http://schemas.openxmlformats.org/officeDocument/2006/math">
                    <m:sSub>
                      <m:sSubPr>
                        <m:ctrlPr>
                          <a:rPr lang="en-CA" sz="2400" i="1">
                            <a:latin typeface="Cambria Math" panose="02040503050406030204" pitchFamily="18" charset="0"/>
                          </a:rPr>
                        </m:ctrlPr>
                      </m:sSubPr>
                      <m:e>
                        <m:r>
                          <a:rPr lang="en-CA" sz="2400" i="1">
                            <a:latin typeface="Cambria Math" panose="02040503050406030204" pitchFamily="18" charset="0"/>
                          </a:rPr>
                          <m:t>𝑆</m:t>
                        </m:r>
                      </m:e>
                      <m:sub>
                        <m:r>
                          <a:rPr lang="en-CA" sz="2400" b="0" i="1" smtClean="0">
                            <a:latin typeface="Cambria Math" panose="02040503050406030204" pitchFamily="18" charset="0"/>
                          </a:rPr>
                          <m:t>2</m:t>
                        </m:r>
                      </m:sub>
                    </m:sSub>
                  </m:oMath>
                </a14:m>
                <a:r>
                  <a:rPr lang="en-US" sz="2400" dirty="0"/>
                  <a:t> be </a:t>
                </a:r>
                <a14:m>
                  <m:oMath xmlns:m="http://schemas.openxmlformats.org/officeDocument/2006/math">
                    <m:r>
                      <a:rPr lang="en-CA" sz="2400" b="0" i="1" smtClean="0">
                        <a:latin typeface="Cambria Math" panose="02040503050406030204" pitchFamily="18" charset="0"/>
                      </a:rPr>
                      <m:t>𝑑</m:t>
                    </m:r>
                  </m:oMath>
                </a14:m>
                <a:r>
                  <a:rPr lang="en-US" sz="2400" dirty="0"/>
                  <a:t>-dim systems, and </a:t>
                </a:r>
                <a14:m>
                  <m:oMath xmlns:m="http://schemas.openxmlformats.org/officeDocument/2006/math">
                    <m:d>
                      <m:dPr>
                        <m:begChr m:val="|"/>
                        <m:endChr m:val="⟩"/>
                        <m:ctrlPr>
                          <a:rPr lang="en-CA" sz="2400" b="0" i="1" smtClean="0">
                            <a:latin typeface="Cambria Math" panose="02040503050406030204" pitchFamily="18" charset="0"/>
                          </a:rPr>
                        </m:ctrlPr>
                      </m:dPr>
                      <m:e>
                        <m:r>
                          <a:rPr lang="en-CA" sz="2400" b="0" i="1" smtClean="0">
                            <a:latin typeface="Cambria Math" panose="02040503050406030204" pitchFamily="18" charset="0"/>
                          </a:rPr>
                          <m:t>𝑥</m:t>
                        </m:r>
                      </m:e>
                    </m:d>
                    <m:r>
                      <a:rPr lang="en-CA" sz="2400" b="0" i="1" smtClean="0">
                        <a:latin typeface="Cambria Math" panose="02040503050406030204" pitchFamily="18" charset="0"/>
                      </a:rPr>
                      <m:t>,|</m:t>
                    </m:r>
                    <m:r>
                      <a:rPr lang="en-CA" sz="2400" b="0" i="1" smtClean="0">
                        <a:latin typeface="Cambria Math" panose="02040503050406030204" pitchFamily="18" charset="0"/>
                      </a:rPr>
                      <m:t>𝑦</m:t>
                    </m:r>
                    <m:r>
                      <a:rPr lang="en-CA" sz="2400" b="0" i="1" smtClean="0">
                        <a:latin typeface="Cambria Math" panose="02040503050406030204" pitchFamily="18" charset="0"/>
                      </a:rPr>
                      <m:t>⟩</m:t>
                    </m:r>
                  </m:oMath>
                </a14:m>
                <a:r>
                  <a:rPr lang="en-US" sz="2400" dirty="0"/>
                  <a:t> are </a:t>
                </a:r>
                <a14:m>
                  <m:oMath xmlns:m="http://schemas.openxmlformats.org/officeDocument/2006/math">
                    <m:r>
                      <a:rPr lang="en-CA" sz="2400" b="0" i="1" smtClean="0">
                        <a:latin typeface="Cambria Math" panose="02040503050406030204" pitchFamily="18" charset="0"/>
                      </a:rPr>
                      <m:t>𝑑</m:t>
                    </m:r>
                  </m:oMath>
                </a14:m>
                <a:r>
                  <a:rPr lang="en-US" sz="2400" dirty="0"/>
                  <a:t>-dim states.</a:t>
                </a:r>
              </a:p>
              <a:p>
                <a:endParaRPr lang="en-US" sz="2400" dirty="0"/>
              </a:p>
              <a:p>
                <a:r>
                  <a:rPr lang="en-US" sz="2400" dirty="0"/>
                  <a:t>The tensor product state </a:t>
                </a:r>
                <a14:m>
                  <m:oMath xmlns:m="http://schemas.openxmlformats.org/officeDocument/2006/math">
                    <m:d>
                      <m:dPr>
                        <m:begChr m:val="|"/>
                        <m:endChr m:val="⟩"/>
                        <m:ctrlPr>
                          <a:rPr lang="en-CA" sz="2400" b="0" i="1" smtClean="0">
                            <a:latin typeface="Cambria Math" panose="02040503050406030204" pitchFamily="18" charset="0"/>
                          </a:rPr>
                        </m:ctrlPr>
                      </m:dPr>
                      <m:e>
                        <m:r>
                          <a:rPr lang="en-CA" sz="2400" b="0" i="1" smtClean="0">
                            <a:latin typeface="Cambria Math" panose="02040503050406030204" pitchFamily="18" charset="0"/>
                          </a:rPr>
                          <m:t>𝑥</m:t>
                        </m:r>
                      </m:e>
                    </m:d>
                    <m:r>
                      <a:rPr lang="en-CA" sz="2400" b="0" i="1" smtClean="0">
                        <a:latin typeface="Cambria Math" panose="02040503050406030204" pitchFamily="18" charset="0"/>
                      </a:rPr>
                      <m:t>⊗|</m:t>
                    </m:r>
                    <m:r>
                      <a:rPr lang="en-CA" sz="2400" b="0" i="1" smtClean="0">
                        <a:latin typeface="Cambria Math" panose="02040503050406030204" pitchFamily="18" charset="0"/>
                      </a:rPr>
                      <m:t>𝑦</m:t>
                    </m:r>
                    <m:r>
                      <a:rPr lang="en-CA" sz="2400" b="0" i="1" smtClean="0">
                        <a:latin typeface="Cambria Math" panose="02040503050406030204" pitchFamily="18" charset="0"/>
                      </a:rPr>
                      <m:t>⟩</m:t>
                    </m:r>
                  </m:oMath>
                </a14:m>
                <a:r>
                  <a:rPr lang="en-US" sz="2400" dirty="0"/>
                  <a:t> is represented as </a:t>
                </a:r>
                <a14:m>
                  <m:oMath xmlns:m="http://schemas.openxmlformats.org/officeDocument/2006/math">
                    <m:sSup>
                      <m:sSupPr>
                        <m:ctrlPr>
                          <a:rPr lang="en-CA" sz="2400" b="0" i="1" smtClean="0">
                            <a:latin typeface="Cambria Math" panose="02040503050406030204" pitchFamily="18" charset="0"/>
                          </a:rPr>
                        </m:ctrlPr>
                      </m:sSupPr>
                      <m:e>
                        <m:r>
                          <a:rPr lang="en-CA" sz="2400" b="0" i="1" smtClean="0">
                            <a:latin typeface="Cambria Math" panose="02040503050406030204" pitchFamily="18" charset="0"/>
                          </a:rPr>
                          <m:t>𝑑</m:t>
                        </m:r>
                      </m:e>
                      <m:sup>
                        <m:r>
                          <a:rPr lang="en-CA" sz="2400" b="0" i="1" smtClean="0">
                            <a:latin typeface="Cambria Math" panose="02040503050406030204" pitchFamily="18" charset="0"/>
                          </a:rPr>
                          <m:t>2</m:t>
                        </m:r>
                      </m:sup>
                    </m:sSup>
                  </m:oMath>
                </a14:m>
                <a:r>
                  <a:rPr lang="en-US" sz="2400" dirty="0"/>
                  <a:t>-dim vector </a:t>
                </a:r>
                <a:r>
                  <a:rPr lang="en-US" sz="2400" dirty="0" smtClean="0"/>
                  <a:t/>
                </a:r>
                <a:br>
                  <a:rPr lang="en-US" sz="2400" dirty="0" smtClean="0"/>
                </a:br>
                <a:r>
                  <a:rPr lang="en-US" sz="2400" dirty="0" smtClean="0"/>
                  <a:t>where </a:t>
                </a:r>
                <a:r>
                  <a:rPr lang="en-US" sz="2400" dirty="0"/>
                  <a:t>entries are indexed by some ordering of all states of </a:t>
                </a:r>
                <a14:m>
                  <m:oMath xmlns:m="http://schemas.openxmlformats.org/officeDocument/2006/math">
                    <m:sSub>
                      <m:sSubPr>
                        <m:ctrlPr>
                          <a:rPr lang="en-CA" sz="2400" b="0" i="1" smtClean="0">
                            <a:latin typeface="Cambria Math" panose="02040503050406030204" pitchFamily="18" charset="0"/>
                          </a:rPr>
                        </m:ctrlPr>
                      </m:sSubPr>
                      <m:e>
                        <m:r>
                          <a:rPr lang="en-CA" sz="2400" b="0" i="1" smtClean="0">
                            <a:latin typeface="Cambria Math" panose="02040503050406030204" pitchFamily="18" charset="0"/>
                          </a:rPr>
                          <m:t>𝑆</m:t>
                        </m:r>
                      </m:e>
                      <m:sub>
                        <m:r>
                          <a:rPr lang="en-CA" sz="2400" b="0" i="1" smtClean="0">
                            <a:latin typeface="Cambria Math" panose="02040503050406030204" pitchFamily="18" charset="0"/>
                          </a:rPr>
                          <m:t>1</m:t>
                        </m:r>
                      </m:sub>
                    </m:sSub>
                    <m:r>
                      <a:rPr lang="en-CA" sz="2400" b="0" i="1" smtClean="0">
                        <a:latin typeface="Cambria Math" panose="02040503050406030204" pitchFamily="18" charset="0"/>
                      </a:rPr>
                      <m:t>⊗</m:t>
                    </m:r>
                    <m:sSub>
                      <m:sSubPr>
                        <m:ctrlPr>
                          <a:rPr lang="en-CA" sz="2400" b="0" i="1" smtClean="0">
                            <a:latin typeface="Cambria Math" panose="02040503050406030204" pitchFamily="18" charset="0"/>
                          </a:rPr>
                        </m:ctrlPr>
                      </m:sSubPr>
                      <m:e>
                        <m:r>
                          <a:rPr lang="en-CA" sz="2400" b="0" i="1" smtClean="0">
                            <a:latin typeface="Cambria Math" panose="02040503050406030204" pitchFamily="18" charset="0"/>
                          </a:rPr>
                          <m:t>𝑆</m:t>
                        </m:r>
                      </m:e>
                      <m:sub>
                        <m:r>
                          <a:rPr lang="en-CA" sz="2400" b="0" i="1" smtClean="0">
                            <a:latin typeface="Cambria Math" panose="02040503050406030204" pitchFamily="18" charset="0"/>
                          </a:rPr>
                          <m:t>2</m:t>
                        </m:r>
                      </m:sub>
                    </m:sSub>
                  </m:oMath>
                </a14:m>
                <a:r>
                  <a:rPr lang="en-US" sz="2400" dirty="0"/>
                  <a:t>.</a:t>
                </a:r>
              </a:p>
              <a:p>
                <a:endParaRPr lang="en-US" sz="2400" dirty="0"/>
              </a:p>
              <a:p>
                <a:r>
                  <a:rPr lang="en-US" sz="2400" dirty="0"/>
                  <a:t>The tensor product transformation </a:t>
                </a:r>
                <a14:m>
                  <m:oMath xmlns:m="http://schemas.openxmlformats.org/officeDocument/2006/math">
                    <m:sSub>
                      <m:sSubPr>
                        <m:ctrlPr>
                          <a:rPr lang="en-CA" sz="2400" b="0" i="1" smtClean="0">
                            <a:latin typeface="Cambria Math" panose="02040503050406030204" pitchFamily="18" charset="0"/>
                          </a:rPr>
                        </m:ctrlPr>
                      </m:sSubPr>
                      <m:e>
                        <m:r>
                          <a:rPr lang="en-CA" sz="2400" b="0" i="1" smtClean="0">
                            <a:latin typeface="Cambria Math" panose="02040503050406030204" pitchFamily="18" charset="0"/>
                          </a:rPr>
                          <m:t>𝑅</m:t>
                        </m:r>
                      </m:e>
                      <m:sub>
                        <m:r>
                          <a:rPr lang="en-CA" sz="2400" b="0" i="1" smtClean="0">
                            <a:latin typeface="Cambria Math" panose="02040503050406030204" pitchFamily="18" charset="0"/>
                          </a:rPr>
                          <m:t>1</m:t>
                        </m:r>
                      </m:sub>
                    </m:sSub>
                    <m:r>
                      <a:rPr lang="en-CA" sz="2400" b="0" i="1" smtClean="0">
                        <a:latin typeface="Cambria Math" panose="02040503050406030204" pitchFamily="18" charset="0"/>
                      </a:rPr>
                      <m:t>⊗</m:t>
                    </m:r>
                    <m:sSub>
                      <m:sSubPr>
                        <m:ctrlPr>
                          <a:rPr lang="en-CA" sz="2400" b="0" i="1" smtClean="0">
                            <a:latin typeface="Cambria Math" panose="02040503050406030204" pitchFamily="18" charset="0"/>
                          </a:rPr>
                        </m:ctrlPr>
                      </m:sSubPr>
                      <m:e>
                        <m:r>
                          <a:rPr lang="en-CA" sz="2400" b="0" i="1" smtClean="0">
                            <a:latin typeface="Cambria Math" panose="02040503050406030204" pitchFamily="18" charset="0"/>
                          </a:rPr>
                          <m:t>𝑅</m:t>
                        </m:r>
                      </m:e>
                      <m:sub>
                        <m:r>
                          <a:rPr lang="en-CA" sz="2400" b="0" i="1" smtClean="0">
                            <a:latin typeface="Cambria Math" panose="02040503050406030204" pitchFamily="18" charset="0"/>
                          </a:rPr>
                          <m:t>2</m:t>
                        </m:r>
                      </m:sub>
                    </m:sSub>
                  </m:oMath>
                </a14:m>
                <a:r>
                  <a:rPr lang="en-US" sz="2400" dirty="0"/>
                  <a:t> is represented as </a:t>
                </a:r>
                <a14:m>
                  <m:oMath xmlns:m="http://schemas.openxmlformats.org/officeDocument/2006/math">
                    <m:sSup>
                      <m:sSupPr>
                        <m:ctrlPr>
                          <a:rPr lang="en-CA" sz="2400" b="0" i="1" smtClean="0">
                            <a:latin typeface="Cambria Math" panose="02040503050406030204" pitchFamily="18" charset="0"/>
                          </a:rPr>
                        </m:ctrlPr>
                      </m:sSupPr>
                      <m:e>
                        <m:r>
                          <a:rPr lang="en-CA" sz="2400" b="0" i="1" smtClean="0">
                            <a:latin typeface="Cambria Math" panose="02040503050406030204" pitchFamily="18" charset="0"/>
                          </a:rPr>
                          <m:t>𝑑</m:t>
                        </m:r>
                      </m:e>
                      <m:sup>
                        <m:r>
                          <a:rPr lang="en-CA" sz="2400" b="0" i="1" smtClean="0">
                            <a:latin typeface="Cambria Math" panose="02040503050406030204" pitchFamily="18" charset="0"/>
                          </a:rPr>
                          <m:t>2</m:t>
                        </m:r>
                      </m:sup>
                    </m:sSup>
                    <m:r>
                      <a:rPr lang="en-CA" sz="2400" b="0" i="1" smtClean="0">
                        <a:latin typeface="Cambria Math" panose="02040503050406030204" pitchFamily="18" charset="0"/>
                      </a:rPr>
                      <m:t>×</m:t>
                    </m:r>
                    <m:sSup>
                      <m:sSupPr>
                        <m:ctrlPr>
                          <a:rPr lang="en-CA" sz="2400" b="0" i="1" smtClean="0">
                            <a:latin typeface="Cambria Math" panose="02040503050406030204" pitchFamily="18" charset="0"/>
                          </a:rPr>
                        </m:ctrlPr>
                      </m:sSupPr>
                      <m:e>
                        <m:r>
                          <a:rPr lang="en-CA" sz="2400" b="0" i="1" smtClean="0">
                            <a:latin typeface="Cambria Math" panose="02040503050406030204" pitchFamily="18" charset="0"/>
                          </a:rPr>
                          <m:t>𝑑</m:t>
                        </m:r>
                      </m:e>
                      <m:sup>
                        <m:r>
                          <a:rPr lang="en-CA" sz="2400" b="0" i="1" smtClean="0">
                            <a:latin typeface="Cambria Math" panose="02040503050406030204" pitchFamily="18" charset="0"/>
                          </a:rPr>
                          <m:t>2</m:t>
                        </m:r>
                      </m:sup>
                    </m:sSup>
                  </m:oMath>
                </a14:m>
                <a:r>
                  <a:rPr lang="en-US" sz="2400" dirty="0"/>
                  <a:t> </a:t>
                </a:r>
                <a:r>
                  <a:rPr lang="en-US" sz="2400" dirty="0" smtClean="0"/>
                  <a:t/>
                </a:r>
                <a:br>
                  <a:rPr lang="en-US" sz="2400" dirty="0" smtClean="0"/>
                </a:br>
                <a:r>
                  <a:rPr lang="en-US" sz="2400" dirty="0" smtClean="0"/>
                  <a:t>matrix </a:t>
                </a:r>
                <a:r>
                  <a:rPr lang="en-US" sz="2400" dirty="0"/>
                  <a:t>where rows/columns are indexed by the </a:t>
                </a:r>
                <a:r>
                  <a:rPr lang="en-US" sz="2400" b="1" dirty="0"/>
                  <a:t>same</a:t>
                </a:r>
                <a:r>
                  <a:rPr lang="en-US" sz="2400" dirty="0"/>
                  <a:t> ordering of states.</a:t>
                </a:r>
              </a:p>
              <a:p>
                <a:endParaRPr lang="en-US" sz="2400" dirty="0"/>
              </a:p>
              <a:p>
                <a:r>
                  <a:rPr lang="en-US" sz="2400" dirty="0"/>
                  <a:t>Vector/matrix representations of tensor products implicitly use </a:t>
                </a:r>
                <a:r>
                  <a:rPr lang="en-US" sz="2400" dirty="0" smtClean="0"/>
                  <a:t/>
                </a:r>
                <a:br>
                  <a:rPr lang="en-US" sz="2400" dirty="0" smtClean="0"/>
                </a:br>
                <a:r>
                  <a:rPr lang="en-US" sz="2400" dirty="0" smtClean="0"/>
                  <a:t>some </a:t>
                </a:r>
                <a:r>
                  <a:rPr lang="en-US" sz="2400" dirty="0"/>
                  <a:t>ordering that changes depending on textbook/scientist/API/blog</a:t>
                </a:r>
                <a:r>
                  <a:rPr lang="en-US" sz="2400" dirty="0" smtClean="0"/>
                  <a:t>…</a:t>
                </a:r>
                <a:endParaRPr lang="en-US" sz="2400" dirty="0"/>
              </a:p>
            </p:txBody>
          </p:sp>
        </mc:Choice>
        <mc:Fallback xmlns="">
          <p:sp>
            <p:nvSpPr>
              <p:cNvPr id="3" name="Content Placeholder 2">
                <a:extLst>
                  <a:ext uri="{FF2B5EF4-FFF2-40B4-BE49-F238E27FC236}">
                    <a16:creationId xmlns:a16="http://schemas.microsoft.com/office/drawing/2014/main" id="{08FEC4ED-DD4A-992F-7DCC-150195B37A39}"/>
                  </a:ext>
                </a:extLst>
              </p:cNvPr>
              <p:cNvSpPr>
                <a:spLocks noGrp="1" noRot="1" noChangeAspect="1" noMove="1" noResize="1" noEditPoints="1" noAdjustHandles="1" noChangeArrowheads="1" noChangeShapeType="1" noTextEdit="1"/>
              </p:cNvSpPr>
              <p:nvPr>
                <p:ph idx="1"/>
              </p:nvPr>
            </p:nvSpPr>
            <p:spPr>
              <a:blipFill>
                <a:blip r:embed="rId2"/>
                <a:stretch>
                  <a:fillRect l="-812" t="-1961" r="-812"/>
                </a:stretch>
              </a:blipFill>
            </p:spPr>
            <p:txBody>
              <a:bodyPr/>
              <a:lstStyle/>
              <a:p>
                <a:r>
                  <a:rPr lang="ko-KR" altLang="en-US">
                    <a:noFill/>
                  </a:rPr>
                  <a:t> </a:t>
                </a:r>
              </a:p>
            </p:txBody>
          </p:sp>
        </mc:Fallback>
      </mc:AlternateContent>
    </p:spTree>
    <p:extLst>
      <p:ext uri="{BB962C8B-B14F-4D97-AF65-F5344CB8AC3E}">
        <p14:creationId xmlns:p14="http://schemas.microsoft.com/office/powerpoint/2010/main" val="277777751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6" end="6"/>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93CAEB7-56BF-8E4A-BF36-35090F5FBC49}"/>
              </a:ext>
            </a:extLst>
          </p:cNvPr>
          <p:cNvSpPr>
            <a:spLocks noGrp="1"/>
          </p:cNvSpPr>
          <p:nvPr>
            <p:ph type="title"/>
          </p:nvPr>
        </p:nvSpPr>
        <p:spPr/>
        <p:txBody>
          <a:bodyPr/>
          <a:lstStyle/>
          <a:p>
            <a:r>
              <a:rPr lang="en-US" dirty="0"/>
              <a:t>Tensor products, representations</a:t>
            </a:r>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DD63AD8D-2082-0D41-BCB0-15A86F83C21B}"/>
                  </a:ext>
                </a:extLst>
              </p:cNvPr>
              <p:cNvSpPr>
                <a:spLocks noGrp="1"/>
              </p:cNvSpPr>
              <p:nvPr>
                <p:ph idx="1"/>
              </p:nvPr>
            </p:nvSpPr>
            <p:spPr>
              <a:xfrm>
                <a:off x="838200" y="1448014"/>
                <a:ext cx="10515600" cy="4830548"/>
              </a:xfrm>
            </p:spPr>
            <p:txBody>
              <a:bodyPr>
                <a:noAutofit/>
              </a:bodyPr>
              <a:lstStyle/>
              <a:p>
                <a:pPr>
                  <a:lnSpc>
                    <a:spcPct val="100000"/>
                  </a:lnSpc>
                </a:pPr>
                <a:r>
                  <a:rPr lang="en-CA" sz="2200" dirty="0"/>
                  <a:t>Let </a:t>
                </a:r>
                <a14:m>
                  <m:oMath xmlns:m="http://schemas.openxmlformats.org/officeDocument/2006/math">
                    <m:d>
                      <m:dPr>
                        <m:begChr m:val="|"/>
                        <m:endChr m:val="⟩"/>
                        <m:ctrlPr>
                          <a:rPr lang="en-CA" sz="2200" i="1">
                            <a:latin typeface="Cambria Math" panose="02040503050406030204" pitchFamily="18" charset="0"/>
                          </a:rPr>
                        </m:ctrlPr>
                      </m:dPr>
                      <m:e>
                        <m:r>
                          <a:rPr lang="en-CA" sz="2200" b="0" i="1" smtClean="0">
                            <a:latin typeface="Cambria Math" panose="02040503050406030204" pitchFamily="18" charset="0"/>
                          </a:rPr>
                          <m:t>𝑣</m:t>
                        </m:r>
                      </m:e>
                    </m:d>
                    <m:r>
                      <a:rPr lang="en-US" sz="2200" i="1">
                        <a:latin typeface="Cambria Math" panose="02040503050406030204" pitchFamily="18" charset="0"/>
                      </a:rPr>
                      <m:t>=</m:t>
                    </m:r>
                    <m:d>
                      <m:dPr>
                        <m:ctrlPr>
                          <a:rPr lang="en-US" sz="2200" i="1">
                            <a:latin typeface="Cambria Math" panose="02040503050406030204" pitchFamily="18" charset="0"/>
                          </a:rPr>
                        </m:ctrlPr>
                      </m:dPr>
                      <m:e>
                        <m:m>
                          <m:mPr>
                            <m:mcs>
                              <m:mc>
                                <m:mcPr>
                                  <m:count m:val="1"/>
                                  <m:mcJc m:val="center"/>
                                </m:mcPr>
                              </m:mc>
                            </m:mcs>
                            <m:ctrlPr>
                              <a:rPr lang="en-US" sz="2200" i="1">
                                <a:latin typeface="Cambria Math" panose="02040503050406030204" pitchFamily="18" charset="0"/>
                              </a:rPr>
                            </m:ctrlPr>
                          </m:mPr>
                          <m:mr>
                            <m:e>
                              <m:sSub>
                                <m:sSubPr>
                                  <m:ctrlPr>
                                    <a:rPr lang="en-CA" sz="2200" i="1">
                                      <a:latin typeface="Cambria Math" panose="02040503050406030204" pitchFamily="18" charset="0"/>
                                    </a:rPr>
                                  </m:ctrlPr>
                                </m:sSubPr>
                                <m:e>
                                  <m:r>
                                    <a:rPr lang="en-CA" sz="2200" b="0" i="1" smtClean="0">
                                      <a:latin typeface="Cambria Math" panose="02040503050406030204" pitchFamily="18" charset="0"/>
                                    </a:rPr>
                                    <m:t>𝑣</m:t>
                                  </m:r>
                                </m:e>
                                <m:sub>
                                  <m:r>
                                    <a:rPr lang="en-CA" sz="2200" b="0" i="1" smtClean="0">
                                      <a:latin typeface="Cambria Math" panose="02040503050406030204" pitchFamily="18" charset="0"/>
                                    </a:rPr>
                                    <m:t>1</m:t>
                                  </m:r>
                                </m:sub>
                              </m:sSub>
                            </m:e>
                          </m:mr>
                          <m:mr>
                            <m:e>
                              <m:r>
                                <a:rPr lang="en-US" sz="2200" i="1">
                                  <a:latin typeface="Cambria Math" panose="02040503050406030204" pitchFamily="18" charset="0"/>
                                </a:rPr>
                                <m:t>⋮</m:t>
                              </m:r>
                            </m:e>
                          </m:mr>
                          <m:mr>
                            <m:e>
                              <m:sSub>
                                <m:sSubPr>
                                  <m:ctrlPr>
                                    <a:rPr lang="en-CA" sz="2200" i="1">
                                      <a:latin typeface="Cambria Math" panose="02040503050406030204" pitchFamily="18" charset="0"/>
                                    </a:rPr>
                                  </m:ctrlPr>
                                </m:sSubPr>
                                <m:e>
                                  <m:r>
                                    <a:rPr lang="en-CA" sz="2200" b="0" i="1" smtClean="0">
                                      <a:latin typeface="Cambria Math" panose="02040503050406030204" pitchFamily="18" charset="0"/>
                                    </a:rPr>
                                    <m:t>𝑣</m:t>
                                  </m:r>
                                </m:e>
                                <m:sub>
                                  <m:r>
                                    <a:rPr lang="en-CA" sz="2200" b="0" i="1" smtClean="0">
                                      <a:latin typeface="Cambria Math" panose="02040503050406030204" pitchFamily="18" charset="0"/>
                                    </a:rPr>
                                    <m:t>𝑑</m:t>
                                  </m:r>
                                </m:sub>
                              </m:sSub>
                            </m:e>
                          </m:mr>
                        </m:m>
                      </m:e>
                    </m:d>
                  </m:oMath>
                </a14:m>
                <a:r>
                  <a:rPr lang="en-US" sz="2200" dirty="0"/>
                  <a:t>, </a:t>
                </a:r>
                <a14:m>
                  <m:oMath xmlns:m="http://schemas.openxmlformats.org/officeDocument/2006/math">
                    <m:d>
                      <m:dPr>
                        <m:begChr m:val="|"/>
                        <m:endChr m:val="⟩"/>
                        <m:ctrlPr>
                          <a:rPr lang="en-CA" sz="2200" i="1">
                            <a:latin typeface="Cambria Math" panose="02040503050406030204" pitchFamily="18" charset="0"/>
                          </a:rPr>
                        </m:ctrlPr>
                      </m:dPr>
                      <m:e>
                        <m:r>
                          <a:rPr lang="en-CA" sz="2200" b="0" i="1" smtClean="0">
                            <a:latin typeface="Cambria Math" panose="02040503050406030204" pitchFamily="18" charset="0"/>
                          </a:rPr>
                          <m:t>𝑤</m:t>
                        </m:r>
                      </m:e>
                    </m:d>
                    <m:r>
                      <a:rPr lang="en-US" sz="2200" i="1">
                        <a:latin typeface="Cambria Math" panose="02040503050406030204" pitchFamily="18" charset="0"/>
                      </a:rPr>
                      <m:t>=</m:t>
                    </m:r>
                    <m:d>
                      <m:dPr>
                        <m:ctrlPr>
                          <a:rPr lang="en-US" sz="2200" i="1">
                            <a:latin typeface="Cambria Math" panose="02040503050406030204" pitchFamily="18" charset="0"/>
                          </a:rPr>
                        </m:ctrlPr>
                      </m:dPr>
                      <m:e>
                        <m:m>
                          <m:mPr>
                            <m:mcs>
                              <m:mc>
                                <m:mcPr>
                                  <m:count m:val="1"/>
                                  <m:mcJc m:val="center"/>
                                </m:mcPr>
                              </m:mc>
                            </m:mcs>
                            <m:ctrlPr>
                              <a:rPr lang="en-US" sz="2200" i="1">
                                <a:latin typeface="Cambria Math" panose="02040503050406030204" pitchFamily="18" charset="0"/>
                              </a:rPr>
                            </m:ctrlPr>
                          </m:mPr>
                          <m:mr>
                            <m:e>
                              <m:sSub>
                                <m:sSubPr>
                                  <m:ctrlPr>
                                    <a:rPr lang="en-CA" sz="2200" b="0" i="1" smtClean="0">
                                      <a:latin typeface="Cambria Math" panose="02040503050406030204" pitchFamily="18" charset="0"/>
                                    </a:rPr>
                                  </m:ctrlPr>
                                </m:sSubPr>
                                <m:e>
                                  <m:r>
                                    <a:rPr lang="en-CA" sz="2200" b="0" i="1" smtClean="0">
                                      <a:latin typeface="Cambria Math" panose="02040503050406030204" pitchFamily="18" charset="0"/>
                                    </a:rPr>
                                    <m:t>𝑤</m:t>
                                  </m:r>
                                </m:e>
                                <m:sub>
                                  <m:r>
                                    <a:rPr lang="en-CA" sz="2200" b="0" i="1" smtClean="0">
                                      <a:latin typeface="Cambria Math" panose="02040503050406030204" pitchFamily="18" charset="0"/>
                                    </a:rPr>
                                    <m:t>1</m:t>
                                  </m:r>
                                </m:sub>
                              </m:sSub>
                            </m:e>
                          </m:mr>
                          <m:mr>
                            <m:e>
                              <m:r>
                                <a:rPr lang="en-US" sz="2200" i="1">
                                  <a:latin typeface="Cambria Math" panose="02040503050406030204" pitchFamily="18" charset="0"/>
                                </a:rPr>
                                <m:t>⋮</m:t>
                              </m:r>
                            </m:e>
                          </m:mr>
                          <m:mr>
                            <m:e>
                              <m:sSub>
                                <m:sSubPr>
                                  <m:ctrlPr>
                                    <a:rPr lang="en-CA" sz="2200" i="1">
                                      <a:latin typeface="Cambria Math" panose="02040503050406030204" pitchFamily="18" charset="0"/>
                                    </a:rPr>
                                  </m:ctrlPr>
                                </m:sSubPr>
                                <m:e>
                                  <m:r>
                                    <a:rPr lang="en-CA" sz="2200" b="0" i="1" smtClean="0">
                                      <a:latin typeface="Cambria Math" panose="02040503050406030204" pitchFamily="18" charset="0"/>
                                    </a:rPr>
                                    <m:t>𝑤</m:t>
                                  </m:r>
                                </m:e>
                                <m:sub>
                                  <m:r>
                                    <a:rPr lang="en-CA" sz="2200" b="0" i="1" smtClean="0">
                                      <a:latin typeface="Cambria Math" panose="02040503050406030204" pitchFamily="18" charset="0"/>
                                    </a:rPr>
                                    <m:t>𝑑</m:t>
                                  </m:r>
                                </m:sub>
                              </m:sSub>
                            </m:e>
                          </m:mr>
                        </m:m>
                      </m:e>
                    </m:d>
                  </m:oMath>
                </a14:m>
                <a:r>
                  <a:rPr lang="en-US" sz="2200" dirty="0"/>
                  <a:t>. Then </a:t>
                </a:r>
                <a14:m>
                  <m:oMath xmlns:m="http://schemas.openxmlformats.org/officeDocument/2006/math">
                    <m:d>
                      <m:dPr>
                        <m:begChr m:val="|"/>
                        <m:endChr m:val="⟩"/>
                        <m:ctrlPr>
                          <a:rPr lang="en-CA" sz="2200" i="1">
                            <a:latin typeface="Cambria Math" panose="02040503050406030204" pitchFamily="18" charset="0"/>
                          </a:rPr>
                        </m:ctrlPr>
                      </m:dPr>
                      <m:e>
                        <m:r>
                          <a:rPr lang="en-CA" sz="2200" i="1">
                            <a:latin typeface="Cambria Math" panose="02040503050406030204" pitchFamily="18" charset="0"/>
                          </a:rPr>
                          <m:t>𝑣</m:t>
                        </m:r>
                      </m:e>
                    </m:d>
                    <m:r>
                      <a:rPr lang="en-CA" sz="2200" b="0" i="1" smtClean="0">
                        <a:latin typeface="Cambria Math" panose="02040503050406030204" pitchFamily="18" charset="0"/>
                      </a:rPr>
                      <m:t>⊗</m:t>
                    </m:r>
                    <m:d>
                      <m:dPr>
                        <m:begChr m:val="|"/>
                        <m:endChr m:val="⟩"/>
                        <m:ctrlPr>
                          <a:rPr lang="en-CA" sz="2200" b="0" i="1" smtClean="0">
                            <a:latin typeface="Cambria Math" panose="02040503050406030204" pitchFamily="18" charset="0"/>
                          </a:rPr>
                        </m:ctrlPr>
                      </m:dPr>
                      <m:e>
                        <m:r>
                          <a:rPr lang="en-CA" sz="2200" b="0" i="1" smtClean="0">
                            <a:latin typeface="Cambria Math" panose="02040503050406030204" pitchFamily="18" charset="0"/>
                          </a:rPr>
                          <m:t>𝑤</m:t>
                        </m:r>
                      </m:e>
                    </m:d>
                    <m:r>
                      <a:rPr lang="en-CA" sz="2200" b="0" i="0" smtClean="0">
                        <a:latin typeface="Cambria Math" panose="02040503050406030204" pitchFamily="18" charset="0"/>
                      </a:rPr>
                      <m:t>=</m:t>
                    </m:r>
                    <m:d>
                      <m:dPr>
                        <m:ctrlPr>
                          <a:rPr lang="en-US" sz="2200" i="1">
                            <a:latin typeface="Cambria Math" panose="02040503050406030204" pitchFamily="18" charset="0"/>
                          </a:rPr>
                        </m:ctrlPr>
                      </m:dPr>
                      <m:e>
                        <m:m>
                          <m:mPr>
                            <m:mcs>
                              <m:mc>
                                <m:mcPr>
                                  <m:count m:val="1"/>
                                  <m:mcJc m:val="center"/>
                                </m:mcPr>
                              </m:mc>
                            </m:mcs>
                            <m:ctrlPr>
                              <a:rPr lang="en-US" sz="2200" i="1">
                                <a:latin typeface="Cambria Math" panose="02040503050406030204" pitchFamily="18" charset="0"/>
                              </a:rPr>
                            </m:ctrlPr>
                          </m:mPr>
                          <m:mr>
                            <m:e>
                              <m:eqArr>
                                <m:eqArrPr>
                                  <m:ctrlPr>
                                    <a:rPr lang="en-CA" sz="2200" i="1">
                                      <a:latin typeface="Cambria Math" panose="02040503050406030204" pitchFamily="18" charset="0"/>
                                    </a:rPr>
                                  </m:ctrlPr>
                                </m:eqArrPr>
                                <m:e>
                                  <m:sSub>
                                    <m:sSubPr>
                                      <m:ctrlPr>
                                        <a:rPr lang="en-CA" sz="2200" i="1">
                                          <a:latin typeface="Cambria Math" panose="02040503050406030204" pitchFamily="18" charset="0"/>
                                        </a:rPr>
                                      </m:ctrlPr>
                                    </m:sSubPr>
                                    <m:e>
                                      <m:sSub>
                                        <m:sSubPr>
                                          <m:ctrlPr>
                                            <a:rPr lang="en-CA" sz="2200" b="0" i="1" smtClean="0">
                                              <a:latin typeface="Cambria Math" panose="02040503050406030204" pitchFamily="18" charset="0"/>
                                            </a:rPr>
                                          </m:ctrlPr>
                                        </m:sSubPr>
                                        <m:e>
                                          <m:r>
                                            <a:rPr lang="en-CA" sz="2200" b="0" i="1" smtClean="0">
                                              <a:latin typeface="Cambria Math" panose="02040503050406030204" pitchFamily="18" charset="0"/>
                                            </a:rPr>
                                            <m:t>𝑣</m:t>
                                          </m:r>
                                        </m:e>
                                        <m:sub>
                                          <m:r>
                                            <a:rPr lang="en-CA" sz="2200" b="0" i="1" smtClean="0">
                                              <a:latin typeface="Cambria Math" panose="02040503050406030204" pitchFamily="18" charset="0"/>
                                            </a:rPr>
                                            <m:t>1</m:t>
                                          </m:r>
                                        </m:sub>
                                      </m:sSub>
                                      <m:r>
                                        <a:rPr lang="en-CA" sz="2200" i="1">
                                          <a:latin typeface="Cambria Math" panose="02040503050406030204" pitchFamily="18" charset="0"/>
                                        </a:rPr>
                                        <m:t>𝑤</m:t>
                                      </m:r>
                                    </m:e>
                                    <m:sub>
                                      <m:r>
                                        <a:rPr lang="en-CA" sz="2200" i="1">
                                          <a:latin typeface="Cambria Math" panose="02040503050406030204" pitchFamily="18" charset="0"/>
                                        </a:rPr>
                                        <m:t>1</m:t>
                                      </m:r>
                                    </m:sub>
                                  </m:sSub>
                                </m:e>
                                <m:e>
                                  <m:sSub>
                                    <m:sSubPr>
                                      <m:ctrlPr>
                                        <a:rPr lang="en-CA" sz="2200" b="0" i="1" smtClean="0">
                                          <a:latin typeface="Cambria Math" panose="02040503050406030204" pitchFamily="18" charset="0"/>
                                        </a:rPr>
                                      </m:ctrlPr>
                                    </m:sSubPr>
                                    <m:e>
                                      <m:r>
                                        <a:rPr lang="en-CA" sz="2200" b="0" i="1" smtClean="0">
                                          <a:latin typeface="Cambria Math" panose="02040503050406030204" pitchFamily="18" charset="0"/>
                                        </a:rPr>
                                        <m:t>𝑣</m:t>
                                      </m:r>
                                    </m:e>
                                    <m:sub>
                                      <m:r>
                                        <a:rPr lang="en-CA" sz="2200" b="0" i="1" smtClean="0">
                                          <a:latin typeface="Cambria Math" panose="02040503050406030204" pitchFamily="18" charset="0"/>
                                        </a:rPr>
                                        <m:t>1</m:t>
                                      </m:r>
                                    </m:sub>
                                  </m:sSub>
                                  <m:sSub>
                                    <m:sSubPr>
                                      <m:ctrlPr>
                                        <a:rPr lang="en-CA" sz="2200" b="0" i="1" smtClean="0">
                                          <a:latin typeface="Cambria Math" panose="02040503050406030204" pitchFamily="18" charset="0"/>
                                        </a:rPr>
                                      </m:ctrlPr>
                                    </m:sSubPr>
                                    <m:e>
                                      <m:r>
                                        <a:rPr lang="en-CA" sz="2200" b="0" i="1" smtClean="0">
                                          <a:latin typeface="Cambria Math" panose="02040503050406030204" pitchFamily="18" charset="0"/>
                                        </a:rPr>
                                        <m:t>𝑤</m:t>
                                      </m:r>
                                    </m:e>
                                    <m:sub>
                                      <m:r>
                                        <a:rPr lang="en-CA" sz="2200" b="0" i="1" smtClean="0">
                                          <a:latin typeface="Cambria Math" panose="02040503050406030204" pitchFamily="18" charset="0"/>
                                        </a:rPr>
                                        <m:t>2</m:t>
                                      </m:r>
                                    </m:sub>
                                  </m:sSub>
                                </m:e>
                              </m:eqArr>
                            </m:e>
                          </m:mr>
                          <m:mr>
                            <m:e>
                              <m:r>
                                <a:rPr lang="en-US" sz="2200" i="1">
                                  <a:latin typeface="Cambria Math" panose="02040503050406030204" pitchFamily="18" charset="0"/>
                                </a:rPr>
                                <m:t>⋮</m:t>
                              </m:r>
                            </m:e>
                          </m:mr>
                          <m:mr>
                            <m:e>
                              <m:eqArr>
                                <m:eqArrPr>
                                  <m:ctrlPr>
                                    <a:rPr lang="en-CA" sz="2200" b="0" i="1" smtClean="0">
                                      <a:latin typeface="Cambria Math" panose="02040503050406030204" pitchFamily="18" charset="0"/>
                                    </a:rPr>
                                  </m:ctrlPr>
                                </m:eqArrPr>
                                <m:e>
                                  <m:sSub>
                                    <m:sSubPr>
                                      <m:ctrlPr>
                                        <a:rPr lang="en-CA" sz="2200" b="0" i="1" smtClean="0">
                                          <a:latin typeface="Cambria Math" panose="02040503050406030204" pitchFamily="18" charset="0"/>
                                        </a:rPr>
                                      </m:ctrlPr>
                                    </m:sSubPr>
                                    <m:e>
                                      <m:r>
                                        <a:rPr lang="en-CA" sz="2200" b="0" i="1" smtClean="0">
                                          <a:latin typeface="Cambria Math" panose="02040503050406030204" pitchFamily="18" charset="0"/>
                                        </a:rPr>
                                        <m:t>𝑣</m:t>
                                      </m:r>
                                    </m:e>
                                    <m:sub>
                                      <m:r>
                                        <a:rPr lang="en-CA" sz="2200" b="0" i="1" smtClean="0">
                                          <a:latin typeface="Cambria Math" panose="02040503050406030204" pitchFamily="18" charset="0"/>
                                        </a:rPr>
                                        <m:t>2</m:t>
                                      </m:r>
                                    </m:sub>
                                  </m:sSub>
                                  <m:sSub>
                                    <m:sSubPr>
                                      <m:ctrlPr>
                                        <a:rPr lang="en-CA" sz="2200" i="1">
                                          <a:latin typeface="Cambria Math" panose="02040503050406030204" pitchFamily="18" charset="0"/>
                                        </a:rPr>
                                      </m:ctrlPr>
                                    </m:sSubPr>
                                    <m:e>
                                      <m:r>
                                        <a:rPr lang="en-CA" sz="2200" i="1">
                                          <a:latin typeface="Cambria Math" panose="02040503050406030204" pitchFamily="18" charset="0"/>
                                        </a:rPr>
                                        <m:t>𝑤</m:t>
                                      </m:r>
                                    </m:e>
                                    <m:sub>
                                      <m:r>
                                        <a:rPr lang="en-CA" sz="2200" b="0" i="1" smtClean="0">
                                          <a:latin typeface="Cambria Math" panose="02040503050406030204" pitchFamily="18" charset="0"/>
                                        </a:rPr>
                                        <m:t>1</m:t>
                                      </m:r>
                                    </m:sub>
                                  </m:sSub>
                                </m:e>
                                <m:e>
                                  <m:r>
                                    <a:rPr lang="en-CA" sz="2200" b="0" i="1" smtClean="0">
                                      <a:latin typeface="Cambria Math" panose="02040503050406030204" pitchFamily="18" charset="0"/>
                                    </a:rPr>
                                    <m:t>⋮</m:t>
                                  </m:r>
                                </m:e>
                                <m:e>
                                  <m:sSub>
                                    <m:sSubPr>
                                      <m:ctrlPr>
                                        <a:rPr lang="en-CA" sz="2200" b="0" i="1" smtClean="0">
                                          <a:latin typeface="Cambria Math" panose="02040503050406030204" pitchFamily="18" charset="0"/>
                                        </a:rPr>
                                      </m:ctrlPr>
                                    </m:sSubPr>
                                    <m:e>
                                      <m:r>
                                        <a:rPr lang="en-CA" sz="2200" b="0" i="1" smtClean="0">
                                          <a:latin typeface="Cambria Math" panose="02040503050406030204" pitchFamily="18" charset="0"/>
                                        </a:rPr>
                                        <m:t>𝑣</m:t>
                                      </m:r>
                                    </m:e>
                                    <m:sub>
                                      <m:r>
                                        <a:rPr lang="en-CA" sz="2200" b="0" i="1" smtClean="0">
                                          <a:latin typeface="Cambria Math" panose="02040503050406030204" pitchFamily="18" charset="0"/>
                                        </a:rPr>
                                        <m:t>𝑑</m:t>
                                      </m:r>
                                    </m:sub>
                                  </m:sSub>
                                  <m:sSub>
                                    <m:sSubPr>
                                      <m:ctrlPr>
                                        <a:rPr lang="en-CA" sz="2200" b="0" i="1" smtClean="0">
                                          <a:latin typeface="Cambria Math" panose="02040503050406030204" pitchFamily="18" charset="0"/>
                                        </a:rPr>
                                      </m:ctrlPr>
                                    </m:sSubPr>
                                    <m:e>
                                      <m:r>
                                        <a:rPr lang="en-CA" sz="2200" b="0" i="1" smtClean="0">
                                          <a:latin typeface="Cambria Math" panose="02040503050406030204" pitchFamily="18" charset="0"/>
                                        </a:rPr>
                                        <m:t>𝑤</m:t>
                                      </m:r>
                                    </m:e>
                                    <m:sub>
                                      <m:r>
                                        <a:rPr lang="en-CA" sz="2200" b="0" i="1" smtClean="0">
                                          <a:latin typeface="Cambria Math" panose="02040503050406030204" pitchFamily="18" charset="0"/>
                                        </a:rPr>
                                        <m:t>𝑑</m:t>
                                      </m:r>
                                    </m:sub>
                                  </m:sSub>
                                </m:e>
                              </m:eqArr>
                            </m:e>
                          </m:mr>
                        </m:m>
                      </m:e>
                    </m:d>
                  </m:oMath>
                </a14:m>
                <a:r>
                  <a:rPr lang="en-US" sz="2200" dirty="0"/>
                  <a:t>. </a:t>
                </a:r>
              </a:p>
              <a:p>
                <a:pPr>
                  <a:lnSpc>
                    <a:spcPct val="100000"/>
                  </a:lnSpc>
                </a:pPr>
                <a:endParaRPr lang="en-US" sz="2200" dirty="0"/>
              </a:p>
              <a:p>
                <a:pPr>
                  <a:lnSpc>
                    <a:spcPct val="100000"/>
                  </a:lnSpc>
                </a:pPr>
                <a:r>
                  <a:rPr lang="en-US" sz="2200" dirty="0"/>
                  <a:t>Let </a:t>
                </a:r>
                <a14:m>
                  <m:oMath xmlns:m="http://schemas.openxmlformats.org/officeDocument/2006/math">
                    <m:r>
                      <a:rPr lang="en-CA" sz="2200" b="0" i="1" smtClean="0">
                        <a:latin typeface="Cambria Math" panose="02040503050406030204" pitchFamily="18" charset="0"/>
                        <a:ea typeface="Cambria Math" panose="02040503050406030204" pitchFamily="18" charset="0"/>
                      </a:rPr>
                      <m:t>𝐴</m:t>
                    </m:r>
                    <m:r>
                      <a:rPr lang="en-US" sz="2200" i="1">
                        <a:latin typeface="Cambria Math" panose="02040503050406030204" pitchFamily="18" charset="0"/>
                        <a:ea typeface="Cambria Math" panose="02040503050406030204" pitchFamily="18" charset="0"/>
                      </a:rPr>
                      <m:t>=</m:t>
                    </m:r>
                    <m:d>
                      <m:dPr>
                        <m:ctrlPr>
                          <a:rPr lang="en-US" sz="2200" i="1" smtClean="0">
                            <a:latin typeface="Cambria Math" panose="02040503050406030204" pitchFamily="18" charset="0"/>
                            <a:ea typeface="Cambria Math" panose="02040503050406030204" pitchFamily="18" charset="0"/>
                          </a:rPr>
                        </m:ctrlPr>
                      </m:dPr>
                      <m:e>
                        <m:m>
                          <m:mPr>
                            <m:mcs>
                              <m:mc>
                                <m:mcPr>
                                  <m:count m:val="3"/>
                                  <m:mcJc m:val="center"/>
                                </m:mcPr>
                              </m:mc>
                            </m:mcs>
                            <m:ctrlPr>
                              <a:rPr lang="en-US" sz="2200" i="1" smtClean="0">
                                <a:latin typeface="Cambria Math" panose="02040503050406030204" pitchFamily="18" charset="0"/>
                                <a:ea typeface="Cambria Math" panose="02040503050406030204" pitchFamily="18" charset="0"/>
                              </a:rPr>
                            </m:ctrlPr>
                          </m:mPr>
                          <m:mr>
                            <m:e>
                              <m:sSub>
                                <m:sSubPr>
                                  <m:ctrlPr>
                                    <a:rPr lang="en-CA" sz="2200" b="0" i="1" smtClean="0">
                                      <a:latin typeface="Cambria Math" panose="02040503050406030204" pitchFamily="18" charset="0"/>
                                      <a:ea typeface="Cambria Math" panose="02040503050406030204" pitchFamily="18" charset="0"/>
                                    </a:rPr>
                                  </m:ctrlPr>
                                </m:sSubPr>
                                <m:e>
                                  <m:r>
                                    <m:rPr>
                                      <m:brk m:alnAt="7"/>
                                    </m:rPr>
                                    <a:rPr lang="en-CA" sz="2200" b="0" i="1" smtClean="0">
                                      <a:latin typeface="Cambria Math" panose="02040503050406030204" pitchFamily="18" charset="0"/>
                                      <a:ea typeface="Cambria Math" panose="02040503050406030204" pitchFamily="18" charset="0"/>
                                    </a:rPr>
                                    <m:t>𝐴</m:t>
                                  </m:r>
                                </m:e>
                                <m:sub>
                                  <m:r>
                                    <a:rPr lang="en-CA" sz="2200" b="0" i="1" smtClean="0">
                                      <a:latin typeface="Cambria Math" panose="02040503050406030204" pitchFamily="18" charset="0"/>
                                      <a:ea typeface="Cambria Math" panose="02040503050406030204" pitchFamily="18" charset="0"/>
                                    </a:rPr>
                                    <m:t>11</m:t>
                                  </m:r>
                                </m:sub>
                              </m:sSub>
                            </m:e>
                            <m:e>
                              <m:r>
                                <a:rPr lang="en-US" sz="2200" i="1" smtClean="0">
                                  <a:latin typeface="Cambria Math" panose="02040503050406030204" pitchFamily="18" charset="0"/>
                                  <a:ea typeface="Cambria Math" panose="02040503050406030204" pitchFamily="18" charset="0"/>
                                </a:rPr>
                                <m:t>⋯</m:t>
                              </m:r>
                            </m:e>
                            <m:e>
                              <m:sSub>
                                <m:sSubPr>
                                  <m:ctrlPr>
                                    <a:rPr lang="en-CA" sz="2200" b="0" i="1" smtClean="0">
                                      <a:latin typeface="Cambria Math" panose="02040503050406030204" pitchFamily="18" charset="0"/>
                                      <a:ea typeface="Cambria Math" panose="02040503050406030204" pitchFamily="18" charset="0"/>
                                    </a:rPr>
                                  </m:ctrlPr>
                                </m:sSubPr>
                                <m:e>
                                  <m:r>
                                    <a:rPr lang="en-CA" sz="2200" b="0" i="1" smtClean="0">
                                      <a:latin typeface="Cambria Math" panose="02040503050406030204" pitchFamily="18" charset="0"/>
                                      <a:ea typeface="Cambria Math" panose="02040503050406030204" pitchFamily="18" charset="0"/>
                                    </a:rPr>
                                    <m:t>𝐴</m:t>
                                  </m:r>
                                </m:e>
                                <m:sub>
                                  <m:r>
                                    <a:rPr lang="en-CA" sz="2200" b="0" i="1" smtClean="0">
                                      <a:latin typeface="Cambria Math" panose="02040503050406030204" pitchFamily="18" charset="0"/>
                                      <a:ea typeface="Cambria Math" panose="02040503050406030204" pitchFamily="18" charset="0"/>
                                    </a:rPr>
                                    <m:t>1</m:t>
                                  </m:r>
                                  <m:r>
                                    <a:rPr lang="en-CA" sz="2200" b="0" i="1" smtClean="0">
                                      <a:latin typeface="Cambria Math" panose="02040503050406030204" pitchFamily="18" charset="0"/>
                                      <a:ea typeface="Cambria Math" panose="02040503050406030204" pitchFamily="18" charset="0"/>
                                    </a:rPr>
                                    <m:t>𝑑</m:t>
                                  </m:r>
                                </m:sub>
                              </m:sSub>
                            </m:e>
                          </m:mr>
                          <m:mr>
                            <m:e>
                              <m:r>
                                <a:rPr lang="en-US" sz="2200" i="1" smtClean="0">
                                  <a:latin typeface="Cambria Math" panose="02040503050406030204" pitchFamily="18" charset="0"/>
                                  <a:ea typeface="Cambria Math" panose="02040503050406030204" pitchFamily="18" charset="0"/>
                                </a:rPr>
                                <m:t>⋮</m:t>
                              </m:r>
                            </m:e>
                            <m:e>
                              <m:r>
                                <a:rPr lang="en-US" sz="2200" i="1" smtClean="0">
                                  <a:latin typeface="Cambria Math" panose="02040503050406030204" pitchFamily="18" charset="0"/>
                                  <a:ea typeface="Cambria Math" panose="02040503050406030204" pitchFamily="18" charset="0"/>
                                </a:rPr>
                                <m:t>⋱</m:t>
                              </m:r>
                            </m:e>
                            <m:e>
                              <m:r>
                                <a:rPr lang="en-US" sz="2200" i="1" smtClean="0">
                                  <a:latin typeface="Cambria Math" panose="02040503050406030204" pitchFamily="18" charset="0"/>
                                  <a:ea typeface="Cambria Math" panose="02040503050406030204" pitchFamily="18" charset="0"/>
                                </a:rPr>
                                <m:t>⋮</m:t>
                              </m:r>
                            </m:e>
                          </m:mr>
                          <m:mr>
                            <m:e>
                              <m:sSub>
                                <m:sSubPr>
                                  <m:ctrlPr>
                                    <a:rPr lang="en-CA" sz="2200" b="0" i="1" smtClean="0">
                                      <a:latin typeface="Cambria Math" panose="02040503050406030204" pitchFamily="18" charset="0"/>
                                      <a:ea typeface="Cambria Math" panose="02040503050406030204" pitchFamily="18" charset="0"/>
                                    </a:rPr>
                                  </m:ctrlPr>
                                </m:sSubPr>
                                <m:e>
                                  <m:r>
                                    <a:rPr lang="en-CA" sz="2200" b="0" i="1" smtClean="0">
                                      <a:latin typeface="Cambria Math" panose="02040503050406030204" pitchFamily="18" charset="0"/>
                                      <a:ea typeface="Cambria Math" panose="02040503050406030204" pitchFamily="18" charset="0"/>
                                    </a:rPr>
                                    <m:t>𝐴</m:t>
                                  </m:r>
                                </m:e>
                                <m:sub>
                                  <m:r>
                                    <a:rPr lang="en-CA" sz="2200" b="0" i="1" smtClean="0">
                                      <a:latin typeface="Cambria Math" panose="02040503050406030204" pitchFamily="18" charset="0"/>
                                      <a:ea typeface="Cambria Math" panose="02040503050406030204" pitchFamily="18" charset="0"/>
                                    </a:rPr>
                                    <m:t>𝑑</m:t>
                                  </m:r>
                                  <m:r>
                                    <a:rPr lang="en-CA" sz="2200" b="0" i="1" smtClean="0">
                                      <a:latin typeface="Cambria Math" panose="02040503050406030204" pitchFamily="18" charset="0"/>
                                      <a:ea typeface="Cambria Math" panose="02040503050406030204" pitchFamily="18" charset="0"/>
                                    </a:rPr>
                                    <m:t>1</m:t>
                                  </m:r>
                                </m:sub>
                              </m:sSub>
                            </m:e>
                            <m:e>
                              <m:r>
                                <a:rPr lang="en-US" sz="2200" i="1" smtClean="0">
                                  <a:latin typeface="Cambria Math" panose="02040503050406030204" pitchFamily="18" charset="0"/>
                                  <a:ea typeface="Cambria Math" panose="02040503050406030204" pitchFamily="18" charset="0"/>
                                </a:rPr>
                                <m:t>⋯</m:t>
                              </m:r>
                            </m:e>
                            <m:e>
                              <m:sSub>
                                <m:sSubPr>
                                  <m:ctrlPr>
                                    <a:rPr lang="en-CA" sz="2200" b="0" i="1" smtClean="0">
                                      <a:latin typeface="Cambria Math" panose="02040503050406030204" pitchFamily="18" charset="0"/>
                                      <a:ea typeface="Cambria Math" panose="02040503050406030204" pitchFamily="18" charset="0"/>
                                    </a:rPr>
                                  </m:ctrlPr>
                                </m:sSubPr>
                                <m:e>
                                  <m:r>
                                    <a:rPr lang="en-CA" sz="2200" b="0" i="1" smtClean="0">
                                      <a:latin typeface="Cambria Math" panose="02040503050406030204" pitchFamily="18" charset="0"/>
                                      <a:ea typeface="Cambria Math" panose="02040503050406030204" pitchFamily="18" charset="0"/>
                                    </a:rPr>
                                    <m:t>𝐴</m:t>
                                  </m:r>
                                </m:e>
                                <m:sub>
                                  <m:r>
                                    <a:rPr lang="en-CA" sz="2200" b="0" i="1" smtClean="0">
                                      <a:latin typeface="Cambria Math" panose="02040503050406030204" pitchFamily="18" charset="0"/>
                                      <a:ea typeface="Cambria Math" panose="02040503050406030204" pitchFamily="18" charset="0"/>
                                    </a:rPr>
                                    <m:t>𝑑𝑑</m:t>
                                  </m:r>
                                </m:sub>
                              </m:sSub>
                            </m:e>
                          </m:mr>
                        </m:m>
                      </m:e>
                    </m:d>
                  </m:oMath>
                </a14:m>
                <a:r>
                  <a:rPr lang="en-US" sz="2200" dirty="0"/>
                  <a:t>, and </a:t>
                </a:r>
                <a14:m>
                  <m:oMath xmlns:m="http://schemas.openxmlformats.org/officeDocument/2006/math">
                    <m:r>
                      <a:rPr lang="en-CA" sz="2200" b="0" i="1" smtClean="0">
                        <a:latin typeface="Cambria Math" panose="02040503050406030204" pitchFamily="18" charset="0"/>
                        <a:ea typeface="Cambria Math" panose="02040503050406030204" pitchFamily="18" charset="0"/>
                      </a:rPr>
                      <m:t>𝐵</m:t>
                    </m:r>
                    <m:r>
                      <a:rPr lang="en-US" sz="2200" i="1">
                        <a:latin typeface="Cambria Math" panose="02040503050406030204" pitchFamily="18" charset="0"/>
                        <a:ea typeface="Cambria Math" panose="02040503050406030204" pitchFamily="18" charset="0"/>
                      </a:rPr>
                      <m:t>=</m:t>
                    </m:r>
                    <m:d>
                      <m:dPr>
                        <m:ctrlPr>
                          <a:rPr lang="en-US" sz="2200" i="1">
                            <a:latin typeface="Cambria Math" panose="02040503050406030204" pitchFamily="18" charset="0"/>
                            <a:ea typeface="Cambria Math" panose="02040503050406030204" pitchFamily="18" charset="0"/>
                          </a:rPr>
                        </m:ctrlPr>
                      </m:dPr>
                      <m:e>
                        <m:m>
                          <m:mPr>
                            <m:mcs>
                              <m:mc>
                                <m:mcPr>
                                  <m:count m:val="3"/>
                                  <m:mcJc m:val="center"/>
                                </m:mcPr>
                              </m:mc>
                            </m:mcs>
                            <m:ctrlPr>
                              <a:rPr lang="en-US" sz="2200" i="1">
                                <a:latin typeface="Cambria Math" panose="02040503050406030204" pitchFamily="18" charset="0"/>
                                <a:ea typeface="Cambria Math" panose="02040503050406030204" pitchFamily="18" charset="0"/>
                              </a:rPr>
                            </m:ctrlPr>
                          </m:mPr>
                          <m:mr>
                            <m:e>
                              <m:sSub>
                                <m:sSubPr>
                                  <m:ctrlPr>
                                    <a:rPr lang="en-CA" sz="2200" i="1" smtClean="0">
                                      <a:latin typeface="Cambria Math" panose="02040503050406030204" pitchFamily="18" charset="0"/>
                                      <a:ea typeface="Cambria Math" panose="02040503050406030204" pitchFamily="18" charset="0"/>
                                    </a:rPr>
                                  </m:ctrlPr>
                                </m:sSubPr>
                                <m:e>
                                  <m:r>
                                    <a:rPr lang="en-CA" sz="2200" b="0" i="1" smtClean="0">
                                      <a:latin typeface="Cambria Math" panose="02040503050406030204" pitchFamily="18" charset="0"/>
                                      <a:ea typeface="Cambria Math" panose="02040503050406030204" pitchFamily="18" charset="0"/>
                                    </a:rPr>
                                    <m:t>𝐵</m:t>
                                  </m:r>
                                </m:e>
                                <m:sub>
                                  <m:r>
                                    <a:rPr lang="en-CA" sz="2200" i="1">
                                      <a:latin typeface="Cambria Math" panose="02040503050406030204" pitchFamily="18" charset="0"/>
                                      <a:ea typeface="Cambria Math" panose="02040503050406030204" pitchFamily="18" charset="0"/>
                                    </a:rPr>
                                    <m:t>11</m:t>
                                  </m:r>
                                </m:sub>
                              </m:sSub>
                            </m:e>
                            <m:e>
                              <m:r>
                                <a:rPr lang="en-US" sz="2200" i="1">
                                  <a:latin typeface="Cambria Math" panose="02040503050406030204" pitchFamily="18" charset="0"/>
                                  <a:ea typeface="Cambria Math" panose="02040503050406030204" pitchFamily="18" charset="0"/>
                                </a:rPr>
                                <m:t>⋯</m:t>
                              </m:r>
                            </m:e>
                            <m:e>
                              <m:sSub>
                                <m:sSubPr>
                                  <m:ctrlPr>
                                    <a:rPr lang="en-CA" sz="2200" i="1">
                                      <a:latin typeface="Cambria Math" panose="02040503050406030204" pitchFamily="18" charset="0"/>
                                      <a:ea typeface="Cambria Math" panose="02040503050406030204" pitchFamily="18" charset="0"/>
                                    </a:rPr>
                                  </m:ctrlPr>
                                </m:sSubPr>
                                <m:e>
                                  <m:r>
                                    <a:rPr lang="en-CA" sz="2200" b="0" i="1" smtClean="0">
                                      <a:latin typeface="Cambria Math" panose="02040503050406030204" pitchFamily="18" charset="0"/>
                                      <a:ea typeface="Cambria Math" panose="02040503050406030204" pitchFamily="18" charset="0"/>
                                    </a:rPr>
                                    <m:t>𝐵</m:t>
                                  </m:r>
                                </m:e>
                                <m:sub>
                                  <m:r>
                                    <a:rPr lang="en-CA" sz="2200" i="1">
                                      <a:latin typeface="Cambria Math" panose="02040503050406030204" pitchFamily="18" charset="0"/>
                                      <a:ea typeface="Cambria Math" panose="02040503050406030204" pitchFamily="18" charset="0"/>
                                    </a:rPr>
                                    <m:t>1</m:t>
                                  </m:r>
                                  <m:r>
                                    <a:rPr lang="en-CA" sz="2200" b="0" i="1" smtClean="0">
                                      <a:latin typeface="Cambria Math" panose="02040503050406030204" pitchFamily="18" charset="0"/>
                                      <a:ea typeface="Cambria Math" panose="02040503050406030204" pitchFamily="18" charset="0"/>
                                    </a:rPr>
                                    <m:t>𝑑</m:t>
                                  </m:r>
                                </m:sub>
                              </m:sSub>
                            </m:e>
                          </m:mr>
                          <m:mr>
                            <m:e>
                              <m:r>
                                <a:rPr lang="en-US" sz="2200" i="1">
                                  <a:latin typeface="Cambria Math" panose="02040503050406030204" pitchFamily="18" charset="0"/>
                                  <a:ea typeface="Cambria Math" panose="02040503050406030204" pitchFamily="18" charset="0"/>
                                </a:rPr>
                                <m:t>⋮</m:t>
                              </m:r>
                            </m:e>
                            <m:e>
                              <m:r>
                                <a:rPr lang="en-US" sz="2200" i="1">
                                  <a:latin typeface="Cambria Math" panose="02040503050406030204" pitchFamily="18" charset="0"/>
                                  <a:ea typeface="Cambria Math" panose="02040503050406030204" pitchFamily="18" charset="0"/>
                                </a:rPr>
                                <m:t>⋱</m:t>
                              </m:r>
                            </m:e>
                            <m:e>
                              <m:r>
                                <a:rPr lang="en-US" sz="2200" i="1">
                                  <a:latin typeface="Cambria Math" panose="02040503050406030204" pitchFamily="18" charset="0"/>
                                  <a:ea typeface="Cambria Math" panose="02040503050406030204" pitchFamily="18" charset="0"/>
                                </a:rPr>
                                <m:t>⋮</m:t>
                              </m:r>
                            </m:e>
                          </m:mr>
                          <m:mr>
                            <m:e>
                              <m:sSub>
                                <m:sSubPr>
                                  <m:ctrlPr>
                                    <a:rPr lang="en-CA" sz="2200" i="1">
                                      <a:latin typeface="Cambria Math" panose="02040503050406030204" pitchFamily="18" charset="0"/>
                                      <a:ea typeface="Cambria Math" panose="02040503050406030204" pitchFamily="18" charset="0"/>
                                    </a:rPr>
                                  </m:ctrlPr>
                                </m:sSubPr>
                                <m:e>
                                  <m:r>
                                    <a:rPr lang="en-CA" sz="2200" b="0" i="1" smtClean="0">
                                      <a:latin typeface="Cambria Math" panose="02040503050406030204" pitchFamily="18" charset="0"/>
                                      <a:ea typeface="Cambria Math" panose="02040503050406030204" pitchFamily="18" charset="0"/>
                                    </a:rPr>
                                    <m:t>𝐵</m:t>
                                  </m:r>
                                </m:e>
                                <m:sub>
                                  <m:r>
                                    <a:rPr lang="en-CA" sz="2200" b="0" i="1" smtClean="0">
                                      <a:latin typeface="Cambria Math" panose="02040503050406030204" pitchFamily="18" charset="0"/>
                                      <a:ea typeface="Cambria Math" panose="02040503050406030204" pitchFamily="18" charset="0"/>
                                    </a:rPr>
                                    <m:t>𝑑</m:t>
                                  </m:r>
                                  <m:r>
                                    <a:rPr lang="en-CA" sz="2200" i="1">
                                      <a:latin typeface="Cambria Math" panose="02040503050406030204" pitchFamily="18" charset="0"/>
                                      <a:ea typeface="Cambria Math" panose="02040503050406030204" pitchFamily="18" charset="0"/>
                                    </a:rPr>
                                    <m:t>1</m:t>
                                  </m:r>
                                </m:sub>
                              </m:sSub>
                            </m:e>
                            <m:e>
                              <m:r>
                                <a:rPr lang="en-US" sz="2200" i="1">
                                  <a:latin typeface="Cambria Math" panose="02040503050406030204" pitchFamily="18" charset="0"/>
                                  <a:ea typeface="Cambria Math" panose="02040503050406030204" pitchFamily="18" charset="0"/>
                                </a:rPr>
                                <m:t>⋯</m:t>
                              </m:r>
                            </m:e>
                            <m:e>
                              <m:sSub>
                                <m:sSubPr>
                                  <m:ctrlPr>
                                    <a:rPr lang="en-CA" sz="2200" i="1">
                                      <a:latin typeface="Cambria Math" panose="02040503050406030204" pitchFamily="18" charset="0"/>
                                      <a:ea typeface="Cambria Math" panose="02040503050406030204" pitchFamily="18" charset="0"/>
                                    </a:rPr>
                                  </m:ctrlPr>
                                </m:sSubPr>
                                <m:e>
                                  <m:r>
                                    <a:rPr lang="en-CA" sz="2200" b="0" i="1" smtClean="0">
                                      <a:latin typeface="Cambria Math" panose="02040503050406030204" pitchFamily="18" charset="0"/>
                                      <a:ea typeface="Cambria Math" panose="02040503050406030204" pitchFamily="18" charset="0"/>
                                    </a:rPr>
                                    <m:t>𝐵</m:t>
                                  </m:r>
                                </m:e>
                                <m:sub>
                                  <m:r>
                                    <a:rPr lang="en-CA" sz="2200" b="0" i="1" smtClean="0">
                                      <a:latin typeface="Cambria Math" panose="02040503050406030204" pitchFamily="18" charset="0"/>
                                      <a:ea typeface="Cambria Math" panose="02040503050406030204" pitchFamily="18" charset="0"/>
                                    </a:rPr>
                                    <m:t>𝑑𝑑</m:t>
                                  </m:r>
                                </m:sub>
                              </m:sSub>
                            </m:e>
                          </m:mr>
                        </m:m>
                      </m:e>
                    </m:d>
                  </m:oMath>
                </a14:m>
                <a:r>
                  <a:rPr lang="en-US" sz="2200" dirty="0"/>
                  <a:t>. </a:t>
                </a:r>
                <a:br>
                  <a:rPr lang="en-US" sz="2200" dirty="0"/>
                </a:br>
                <a:r>
                  <a:rPr lang="en-US" sz="2200" dirty="0"/>
                  <a:t/>
                </a:r>
                <a:br>
                  <a:rPr lang="en-US" sz="2200" dirty="0"/>
                </a:br>
                <a:r>
                  <a:rPr lang="en-US" sz="2200" dirty="0"/>
                  <a:t>Then </a:t>
                </a:r>
                <a14:m>
                  <m:oMath xmlns:m="http://schemas.openxmlformats.org/officeDocument/2006/math">
                    <m:r>
                      <a:rPr lang="en-CA" sz="2200" i="1">
                        <a:latin typeface="Cambria Math" panose="02040503050406030204" pitchFamily="18" charset="0"/>
                        <a:ea typeface="Cambria Math" panose="02040503050406030204" pitchFamily="18" charset="0"/>
                      </a:rPr>
                      <m:t>𝐴</m:t>
                    </m:r>
                    <m:r>
                      <a:rPr lang="en-CA" sz="2200" b="0" i="1" smtClean="0">
                        <a:latin typeface="Cambria Math" panose="02040503050406030204" pitchFamily="18" charset="0"/>
                        <a:ea typeface="Cambria Math" panose="02040503050406030204" pitchFamily="18" charset="0"/>
                      </a:rPr>
                      <m:t>⊗</m:t>
                    </m:r>
                    <m:r>
                      <a:rPr lang="en-CA" sz="2200" b="0" i="1" smtClean="0">
                        <a:latin typeface="Cambria Math" panose="02040503050406030204" pitchFamily="18" charset="0"/>
                        <a:ea typeface="Cambria Math" panose="02040503050406030204" pitchFamily="18" charset="0"/>
                      </a:rPr>
                      <m:t>𝐵</m:t>
                    </m:r>
                    <m:r>
                      <a:rPr lang="en-CA" sz="2200" b="0" i="1" smtClean="0">
                        <a:latin typeface="Cambria Math" panose="02040503050406030204" pitchFamily="18" charset="0"/>
                        <a:ea typeface="Cambria Math" panose="02040503050406030204" pitchFamily="18" charset="0"/>
                      </a:rPr>
                      <m:t> =</m:t>
                    </m:r>
                    <m:d>
                      <m:dPr>
                        <m:ctrlPr>
                          <a:rPr lang="en-US" sz="2200" i="1">
                            <a:latin typeface="Cambria Math" panose="02040503050406030204" pitchFamily="18" charset="0"/>
                            <a:ea typeface="Cambria Math" panose="02040503050406030204" pitchFamily="18" charset="0"/>
                          </a:rPr>
                        </m:ctrlPr>
                      </m:dPr>
                      <m:e>
                        <m:m>
                          <m:mPr>
                            <m:mcs>
                              <m:mc>
                                <m:mcPr>
                                  <m:count m:val="3"/>
                                  <m:mcJc m:val="center"/>
                                </m:mcPr>
                              </m:mc>
                            </m:mcs>
                            <m:ctrlPr>
                              <a:rPr lang="en-US" sz="2200" i="1">
                                <a:latin typeface="Cambria Math" panose="02040503050406030204" pitchFamily="18" charset="0"/>
                                <a:ea typeface="Cambria Math" panose="02040503050406030204" pitchFamily="18" charset="0"/>
                              </a:rPr>
                            </m:ctrlPr>
                          </m:mPr>
                          <m:mr>
                            <m:e>
                              <m:sSub>
                                <m:sSubPr>
                                  <m:ctrlPr>
                                    <a:rPr lang="en-CA" sz="2200" i="1">
                                      <a:latin typeface="Cambria Math" panose="02040503050406030204" pitchFamily="18" charset="0"/>
                                      <a:ea typeface="Cambria Math" panose="02040503050406030204" pitchFamily="18" charset="0"/>
                                    </a:rPr>
                                  </m:ctrlPr>
                                </m:sSubPr>
                                <m:e>
                                  <m:r>
                                    <m:rPr>
                                      <m:brk m:alnAt="7"/>
                                    </m:rPr>
                                    <a:rPr lang="en-CA" sz="2200" i="1">
                                      <a:latin typeface="Cambria Math" panose="02040503050406030204" pitchFamily="18" charset="0"/>
                                      <a:ea typeface="Cambria Math" panose="02040503050406030204" pitchFamily="18" charset="0"/>
                                    </a:rPr>
                                    <m:t>𝐴</m:t>
                                  </m:r>
                                </m:e>
                                <m:sub>
                                  <m:r>
                                    <a:rPr lang="en-CA" sz="2200" i="1">
                                      <a:latin typeface="Cambria Math" panose="02040503050406030204" pitchFamily="18" charset="0"/>
                                      <a:ea typeface="Cambria Math" panose="02040503050406030204" pitchFamily="18" charset="0"/>
                                    </a:rPr>
                                    <m:t>11</m:t>
                                  </m:r>
                                </m:sub>
                              </m:sSub>
                              <m:r>
                                <a:rPr lang="en-CA" sz="2200" b="0" i="1" smtClean="0">
                                  <a:latin typeface="Cambria Math" panose="02040503050406030204" pitchFamily="18" charset="0"/>
                                  <a:ea typeface="Cambria Math" panose="02040503050406030204" pitchFamily="18" charset="0"/>
                                </a:rPr>
                                <m:t>𝐵</m:t>
                              </m:r>
                            </m:e>
                            <m:e>
                              <m:r>
                                <a:rPr lang="en-US" sz="2200" i="1">
                                  <a:latin typeface="Cambria Math" panose="02040503050406030204" pitchFamily="18" charset="0"/>
                                  <a:ea typeface="Cambria Math" panose="02040503050406030204" pitchFamily="18" charset="0"/>
                                </a:rPr>
                                <m:t>⋯</m:t>
                              </m:r>
                            </m:e>
                            <m:e>
                              <m:sSub>
                                <m:sSubPr>
                                  <m:ctrlPr>
                                    <a:rPr lang="en-CA" sz="2200" i="1">
                                      <a:latin typeface="Cambria Math" panose="02040503050406030204" pitchFamily="18" charset="0"/>
                                      <a:ea typeface="Cambria Math" panose="02040503050406030204" pitchFamily="18" charset="0"/>
                                    </a:rPr>
                                  </m:ctrlPr>
                                </m:sSubPr>
                                <m:e>
                                  <m:r>
                                    <a:rPr lang="en-CA" sz="2200" i="1">
                                      <a:latin typeface="Cambria Math" panose="02040503050406030204" pitchFamily="18" charset="0"/>
                                      <a:ea typeface="Cambria Math" panose="02040503050406030204" pitchFamily="18" charset="0"/>
                                    </a:rPr>
                                    <m:t>𝐴</m:t>
                                  </m:r>
                                </m:e>
                                <m:sub>
                                  <m:r>
                                    <a:rPr lang="en-CA" sz="2200" i="1">
                                      <a:latin typeface="Cambria Math" panose="02040503050406030204" pitchFamily="18" charset="0"/>
                                      <a:ea typeface="Cambria Math" panose="02040503050406030204" pitchFamily="18" charset="0"/>
                                    </a:rPr>
                                    <m:t>1</m:t>
                                  </m:r>
                                  <m:r>
                                    <a:rPr lang="en-CA" sz="2200" b="0" i="1" smtClean="0">
                                      <a:latin typeface="Cambria Math" panose="02040503050406030204" pitchFamily="18" charset="0"/>
                                      <a:ea typeface="Cambria Math" panose="02040503050406030204" pitchFamily="18" charset="0"/>
                                    </a:rPr>
                                    <m:t>𝑑</m:t>
                                  </m:r>
                                </m:sub>
                              </m:sSub>
                              <m:r>
                                <a:rPr lang="en-CA" sz="2200" b="0" i="1" smtClean="0">
                                  <a:latin typeface="Cambria Math" panose="02040503050406030204" pitchFamily="18" charset="0"/>
                                  <a:ea typeface="Cambria Math" panose="02040503050406030204" pitchFamily="18" charset="0"/>
                                </a:rPr>
                                <m:t>𝐵</m:t>
                              </m:r>
                            </m:e>
                          </m:mr>
                          <m:mr>
                            <m:e>
                              <m:r>
                                <a:rPr lang="en-US" sz="2200" i="1">
                                  <a:latin typeface="Cambria Math" panose="02040503050406030204" pitchFamily="18" charset="0"/>
                                  <a:ea typeface="Cambria Math" panose="02040503050406030204" pitchFamily="18" charset="0"/>
                                </a:rPr>
                                <m:t>⋮</m:t>
                              </m:r>
                            </m:e>
                            <m:e>
                              <m:r>
                                <a:rPr lang="en-US" sz="2200" i="1">
                                  <a:latin typeface="Cambria Math" panose="02040503050406030204" pitchFamily="18" charset="0"/>
                                  <a:ea typeface="Cambria Math" panose="02040503050406030204" pitchFamily="18" charset="0"/>
                                </a:rPr>
                                <m:t>⋱</m:t>
                              </m:r>
                            </m:e>
                            <m:e>
                              <m:r>
                                <a:rPr lang="en-US" sz="2200" i="1">
                                  <a:latin typeface="Cambria Math" panose="02040503050406030204" pitchFamily="18" charset="0"/>
                                  <a:ea typeface="Cambria Math" panose="02040503050406030204" pitchFamily="18" charset="0"/>
                                </a:rPr>
                                <m:t>⋮</m:t>
                              </m:r>
                            </m:e>
                          </m:mr>
                          <m:mr>
                            <m:e>
                              <m:sSub>
                                <m:sSubPr>
                                  <m:ctrlPr>
                                    <a:rPr lang="en-CA" sz="2200" i="1">
                                      <a:latin typeface="Cambria Math" panose="02040503050406030204" pitchFamily="18" charset="0"/>
                                      <a:ea typeface="Cambria Math" panose="02040503050406030204" pitchFamily="18" charset="0"/>
                                    </a:rPr>
                                  </m:ctrlPr>
                                </m:sSubPr>
                                <m:e>
                                  <m:r>
                                    <a:rPr lang="en-CA" sz="2200" i="1">
                                      <a:latin typeface="Cambria Math" panose="02040503050406030204" pitchFamily="18" charset="0"/>
                                      <a:ea typeface="Cambria Math" panose="02040503050406030204" pitchFamily="18" charset="0"/>
                                    </a:rPr>
                                    <m:t>𝐴</m:t>
                                  </m:r>
                                </m:e>
                                <m:sub>
                                  <m:r>
                                    <a:rPr lang="en-CA" sz="2200" b="0" i="1" smtClean="0">
                                      <a:latin typeface="Cambria Math" panose="02040503050406030204" pitchFamily="18" charset="0"/>
                                      <a:ea typeface="Cambria Math" panose="02040503050406030204" pitchFamily="18" charset="0"/>
                                    </a:rPr>
                                    <m:t>𝑑</m:t>
                                  </m:r>
                                  <m:r>
                                    <a:rPr lang="en-CA" sz="2200" i="1">
                                      <a:latin typeface="Cambria Math" panose="02040503050406030204" pitchFamily="18" charset="0"/>
                                      <a:ea typeface="Cambria Math" panose="02040503050406030204" pitchFamily="18" charset="0"/>
                                    </a:rPr>
                                    <m:t>1</m:t>
                                  </m:r>
                                </m:sub>
                              </m:sSub>
                              <m:r>
                                <a:rPr lang="en-CA" sz="2200" b="0" i="1" smtClean="0">
                                  <a:latin typeface="Cambria Math" panose="02040503050406030204" pitchFamily="18" charset="0"/>
                                  <a:ea typeface="Cambria Math" panose="02040503050406030204" pitchFamily="18" charset="0"/>
                                </a:rPr>
                                <m:t>𝐵</m:t>
                              </m:r>
                            </m:e>
                            <m:e>
                              <m:r>
                                <a:rPr lang="en-US" sz="2200" i="1">
                                  <a:latin typeface="Cambria Math" panose="02040503050406030204" pitchFamily="18" charset="0"/>
                                  <a:ea typeface="Cambria Math" panose="02040503050406030204" pitchFamily="18" charset="0"/>
                                </a:rPr>
                                <m:t>⋯</m:t>
                              </m:r>
                            </m:e>
                            <m:e>
                              <m:sSub>
                                <m:sSubPr>
                                  <m:ctrlPr>
                                    <a:rPr lang="en-CA" sz="2200" i="1">
                                      <a:latin typeface="Cambria Math" panose="02040503050406030204" pitchFamily="18" charset="0"/>
                                      <a:ea typeface="Cambria Math" panose="02040503050406030204" pitchFamily="18" charset="0"/>
                                    </a:rPr>
                                  </m:ctrlPr>
                                </m:sSubPr>
                                <m:e>
                                  <m:r>
                                    <a:rPr lang="en-CA" sz="2200" i="1">
                                      <a:latin typeface="Cambria Math" panose="02040503050406030204" pitchFamily="18" charset="0"/>
                                      <a:ea typeface="Cambria Math" panose="02040503050406030204" pitchFamily="18" charset="0"/>
                                    </a:rPr>
                                    <m:t>𝐴</m:t>
                                  </m:r>
                                </m:e>
                                <m:sub>
                                  <m:r>
                                    <a:rPr lang="en-CA" sz="2200" b="0" i="1" smtClean="0">
                                      <a:latin typeface="Cambria Math" panose="02040503050406030204" pitchFamily="18" charset="0"/>
                                      <a:ea typeface="Cambria Math" panose="02040503050406030204" pitchFamily="18" charset="0"/>
                                    </a:rPr>
                                    <m:t>𝑑𝑑</m:t>
                                  </m:r>
                                </m:sub>
                              </m:sSub>
                              <m:r>
                                <a:rPr lang="en-CA" sz="2200" b="0" i="1" smtClean="0">
                                  <a:latin typeface="Cambria Math" panose="02040503050406030204" pitchFamily="18" charset="0"/>
                                  <a:ea typeface="Cambria Math" panose="02040503050406030204" pitchFamily="18" charset="0"/>
                                </a:rPr>
                                <m:t>𝐵</m:t>
                              </m:r>
                            </m:e>
                          </m:mr>
                        </m:m>
                      </m:e>
                    </m:d>
                  </m:oMath>
                </a14:m>
                <a:r>
                  <a:rPr lang="en-US" sz="2200" dirty="0"/>
                  <a:t> is a </a:t>
                </a:r>
                <a14:m>
                  <m:oMath xmlns:m="http://schemas.openxmlformats.org/officeDocument/2006/math">
                    <m:sSup>
                      <m:sSupPr>
                        <m:ctrlPr>
                          <a:rPr lang="en-CA" sz="2200" b="0" i="1" smtClean="0">
                            <a:latin typeface="Cambria Math" panose="02040503050406030204" pitchFamily="18" charset="0"/>
                          </a:rPr>
                        </m:ctrlPr>
                      </m:sSupPr>
                      <m:e>
                        <m:r>
                          <a:rPr lang="en-CA" sz="2200" i="1" smtClean="0">
                            <a:latin typeface="Cambria Math" panose="02040503050406030204" pitchFamily="18" charset="0"/>
                          </a:rPr>
                          <m:t>𝑑</m:t>
                        </m:r>
                      </m:e>
                      <m:sup>
                        <m:r>
                          <a:rPr lang="en-CA" sz="2200" b="0" i="1" smtClean="0">
                            <a:latin typeface="Cambria Math" panose="02040503050406030204" pitchFamily="18" charset="0"/>
                          </a:rPr>
                          <m:t>2</m:t>
                        </m:r>
                      </m:sup>
                    </m:sSup>
                    <m:r>
                      <a:rPr lang="en-CA" sz="2200" b="0" i="1" smtClean="0">
                        <a:latin typeface="Cambria Math" panose="02040503050406030204" pitchFamily="18" charset="0"/>
                      </a:rPr>
                      <m:t>×</m:t>
                    </m:r>
                    <m:sSup>
                      <m:sSupPr>
                        <m:ctrlPr>
                          <a:rPr lang="en-CA" sz="2200" b="0" i="1" smtClean="0">
                            <a:latin typeface="Cambria Math" panose="02040503050406030204" pitchFamily="18" charset="0"/>
                          </a:rPr>
                        </m:ctrlPr>
                      </m:sSupPr>
                      <m:e>
                        <m:r>
                          <a:rPr lang="en-CA" sz="2200" b="0" i="1" smtClean="0">
                            <a:latin typeface="Cambria Math" panose="02040503050406030204" pitchFamily="18" charset="0"/>
                          </a:rPr>
                          <m:t>𝑑</m:t>
                        </m:r>
                      </m:e>
                      <m:sup>
                        <m:r>
                          <a:rPr lang="en-CA" sz="2200" b="0" i="1" smtClean="0">
                            <a:latin typeface="Cambria Math" panose="02040503050406030204" pitchFamily="18" charset="0"/>
                          </a:rPr>
                          <m:t>2</m:t>
                        </m:r>
                      </m:sup>
                    </m:sSup>
                    <m:r>
                      <a:rPr lang="en-CA" sz="2200" b="0" i="1" smtClean="0">
                        <a:latin typeface="Cambria Math" panose="02040503050406030204" pitchFamily="18" charset="0"/>
                      </a:rPr>
                      <m:t> </m:t>
                    </m:r>
                  </m:oMath>
                </a14:m>
                <a:r>
                  <a:rPr lang="en-US" sz="2200" dirty="0"/>
                  <a:t>block matrix. </a:t>
                </a:r>
              </a:p>
            </p:txBody>
          </p:sp>
        </mc:Choice>
        <mc:Fallback xmlns="">
          <p:sp>
            <p:nvSpPr>
              <p:cNvPr id="3" name="Content Placeholder 2">
                <a:extLst>
                  <a:ext uri="{FF2B5EF4-FFF2-40B4-BE49-F238E27FC236}">
                    <a16:creationId xmlns:a16="http://schemas.microsoft.com/office/drawing/2014/main" id="{DD63AD8D-2082-0D41-BCB0-15A86F83C21B}"/>
                  </a:ext>
                </a:extLst>
              </p:cNvPr>
              <p:cNvSpPr>
                <a:spLocks noGrp="1" noRot="1" noChangeAspect="1" noMove="1" noResize="1" noEditPoints="1" noAdjustHandles="1" noChangeArrowheads="1" noChangeShapeType="1" noTextEdit="1"/>
              </p:cNvSpPr>
              <p:nvPr>
                <p:ph idx="1"/>
              </p:nvPr>
            </p:nvSpPr>
            <p:spPr>
              <a:xfrm>
                <a:off x="838200" y="1448014"/>
                <a:ext cx="10515600" cy="4830548"/>
              </a:xfrm>
              <a:blipFill>
                <a:blip r:embed="rId2"/>
                <a:stretch>
                  <a:fillRect l="-724"/>
                </a:stretch>
              </a:blipFill>
            </p:spPr>
            <p:txBody>
              <a:bodyPr/>
              <a:lstStyle/>
              <a:p>
                <a:r>
                  <a:rPr lang="en-US">
                    <a:noFill/>
                  </a:rPr>
                  <a:t> </a:t>
                </a:r>
              </a:p>
            </p:txBody>
          </p:sp>
        </mc:Fallback>
      </mc:AlternateContent>
      <p:pic>
        <p:nvPicPr>
          <p:cNvPr id="4" name="Picture 3">
            <a:extLst>
              <a:ext uri="{FF2B5EF4-FFF2-40B4-BE49-F238E27FC236}">
                <a16:creationId xmlns:a16="http://schemas.microsoft.com/office/drawing/2014/main" id="{B0785BAD-86E1-2055-D9D2-3970135B2597}"/>
              </a:ext>
            </a:extLst>
          </p:cNvPr>
          <p:cNvPicPr>
            <a:picLocks noChangeAspect="1"/>
          </p:cNvPicPr>
          <p:nvPr/>
        </p:nvPicPr>
        <p:blipFill>
          <a:blip r:embed="rId3"/>
          <a:srcRect/>
          <a:stretch/>
        </p:blipFill>
        <p:spPr>
          <a:xfrm>
            <a:off x="5036286" y="4254286"/>
            <a:ext cx="6663717" cy="2311400"/>
          </a:xfrm>
          <a:prstGeom prst="rect">
            <a:avLst/>
          </a:prstGeom>
          <a:ln w="38100">
            <a:solidFill>
              <a:srgbClr val="7030A0"/>
            </a:solidFill>
          </a:ln>
        </p:spPr>
      </p:pic>
      <mc:AlternateContent xmlns:mc="http://schemas.openxmlformats.org/markup-compatibility/2006" xmlns:a14="http://schemas.microsoft.com/office/drawing/2010/main">
        <mc:Choice Requires="a14">
          <p:sp>
            <p:nvSpPr>
              <p:cNvPr id="5" name="타원형 설명선 4"/>
              <p:cNvSpPr/>
              <p:nvPr/>
            </p:nvSpPr>
            <p:spPr>
              <a:xfrm>
                <a:off x="8417859" y="1810871"/>
                <a:ext cx="1488141" cy="564776"/>
              </a:xfrm>
              <a:prstGeom prst="wedgeEllipseCallout">
                <a:avLst>
                  <a:gd name="adj1" fmla="val -68910"/>
                  <a:gd name="adj2" fmla="val 14881"/>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14:m>
                  <m:oMath xmlns:m="http://schemas.openxmlformats.org/officeDocument/2006/math">
                    <m:sSup>
                      <m:sSupPr>
                        <m:ctrlPr>
                          <a:rPr lang="en-US" altLang="ko-KR" b="0" i="1" smtClean="0">
                            <a:latin typeface="Cambria Math" panose="02040503050406030204" pitchFamily="18" charset="0"/>
                          </a:rPr>
                        </m:ctrlPr>
                      </m:sSupPr>
                      <m:e>
                        <m:r>
                          <a:rPr lang="en-US" altLang="ko-KR" b="0" i="1" smtClean="0">
                            <a:latin typeface="Cambria Math" panose="02040503050406030204" pitchFamily="18" charset="0"/>
                          </a:rPr>
                          <m:t>𝑑</m:t>
                        </m:r>
                      </m:e>
                      <m:sup>
                        <m:r>
                          <a:rPr lang="en-US" altLang="ko-KR" b="0" i="1" smtClean="0">
                            <a:latin typeface="Cambria Math" panose="02040503050406030204" pitchFamily="18" charset="0"/>
                          </a:rPr>
                          <m:t>2</m:t>
                        </m:r>
                      </m:sup>
                    </m:sSup>
                  </m:oMath>
                </a14:m>
                <a:r>
                  <a:rPr lang="ko-KR" altLang="en-US" dirty="0" smtClean="0"/>
                  <a:t> </a:t>
                </a:r>
                <a:r>
                  <a:rPr lang="en-US" altLang="ko-KR" dirty="0" smtClean="0"/>
                  <a:t>dim</a:t>
                </a:r>
                <a:endParaRPr lang="ko-KR" altLang="en-US" dirty="0"/>
              </a:p>
            </p:txBody>
          </p:sp>
        </mc:Choice>
        <mc:Fallback xmlns="">
          <p:sp>
            <p:nvSpPr>
              <p:cNvPr id="5" name="타원형 설명선 4"/>
              <p:cNvSpPr>
                <a:spLocks noRot="1" noChangeAspect="1" noMove="1" noResize="1" noEditPoints="1" noAdjustHandles="1" noChangeArrowheads="1" noChangeShapeType="1" noTextEdit="1"/>
              </p:cNvSpPr>
              <p:nvPr/>
            </p:nvSpPr>
            <p:spPr>
              <a:xfrm>
                <a:off x="8417859" y="1810871"/>
                <a:ext cx="1488141" cy="564776"/>
              </a:xfrm>
              <a:prstGeom prst="wedgeEllipseCallout">
                <a:avLst>
                  <a:gd name="adj1" fmla="val -68910"/>
                  <a:gd name="adj2" fmla="val 14881"/>
                </a:avLst>
              </a:prstGeom>
              <a:blipFill>
                <a:blip r:embed="rId4"/>
                <a:stretch>
                  <a:fillRect/>
                </a:stretch>
              </a:blipFill>
            </p:spPr>
            <p:txBody>
              <a:bodyPr/>
              <a:lstStyle/>
              <a:p>
                <a:r>
                  <a:rPr lang="ko-KR" altLang="en-US">
                    <a:noFill/>
                  </a:rPr>
                  <a:t> </a:t>
                </a:r>
              </a:p>
            </p:txBody>
          </p:sp>
        </mc:Fallback>
      </mc:AlternateContent>
      <mc:AlternateContent xmlns:mc="http://schemas.openxmlformats.org/markup-compatibility/2006" xmlns:a14="http://schemas.microsoft.com/office/drawing/2010/main">
        <mc:Choice Requires="a14">
          <p:sp>
            <p:nvSpPr>
              <p:cNvPr id="6" name="타원형 설명선 5"/>
              <p:cNvSpPr/>
              <p:nvPr/>
            </p:nvSpPr>
            <p:spPr>
              <a:xfrm>
                <a:off x="2034988" y="6306671"/>
                <a:ext cx="2133600" cy="564776"/>
              </a:xfrm>
              <a:prstGeom prst="wedgeEllipseCallout">
                <a:avLst>
                  <a:gd name="adj1" fmla="val 24464"/>
                  <a:gd name="adj2" fmla="val -80357"/>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14:m>
                  <m:oMath xmlns:m="http://schemas.openxmlformats.org/officeDocument/2006/math">
                    <m:sSup>
                      <m:sSupPr>
                        <m:ctrlPr>
                          <a:rPr lang="en-US" altLang="ko-KR" b="0" i="1" smtClean="0">
                            <a:latin typeface="Cambria Math" panose="02040503050406030204" pitchFamily="18" charset="0"/>
                          </a:rPr>
                        </m:ctrlPr>
                      </m:sSupPr>
                      <m:e>
                        <m:r>
                          <a:rPr lang="en-US" altLang="ko-KR" b="0" i="1" smtClean="0">
                            <a:latin typeface="Cambria Math" panose="02040503050406030204" pitchFamily="18" charset="0"/>
                          </a:rPr>
                          <m:t>𝑑</m:t>
                        </m:r>
                      </m:e>
                      <m:sup>
                        <m:r>
                          <a:rPr lang="en-US" altLang="ko-KR" b="0" i="1" smtClean="0">
                            <a:latin typeface="Cambria Math" panose="02040503050406030204" pitchFamily="18" charset="0"/>
                          </a:rPr>
                          <m:t>2</m:t>
                        </m:r>
                      </m:sup>
                    </m:sSup>
                    <m:r>
                      <a:rPr lang="en-US" altLang="ko-KR" b="0" i="1" smtClean="0">
                        <a:latin typeface="Cambria Math" panose="02040503050406030204" pitchFamily="18" charset="0"/>
                      </a:rPr>
                      <m:t>×</m:t>
                    </m:r>
                    <m:sSup>
                      <m:sSupPr>
                        <m:ctrlPr>
                          <a:rPr lang="en-US" altLang="ko-KR" b="0" i="1" smtClean="0">
                            <a:latin typeface="Cambria Math" panose="02040503050406030204" pitchFamily="18" charset="0"/>
                          </a:rPr>
                        </m:ctrlPr>
                      </m:sSupPr>
                      <m:e>
                        <m:r>
                          <a:rPr lang="en-US" altLang="ko-KR" b="0" i="1" smtClean="0">
                            <a:latin typeface="Cambria Math" panose="02040503050406030204" pitchFamily="18" charset="0"/>
                          </a:rPr>
                          <m:t>𝑑</m:t>
                        </m:r>
                      </m:e>
                      <m:sup>
                        <m:r>
                          <a:rPr lang="en-US" altLang="ko-KR" b="0" i="1" smtClean="0">
                            <a:latin typeface="Cambria Math" panose="02040503050406030204" pitchFamily="18" charset="0"/>
                          </a:rPr>
                          <m:t>2</m:t>
                        </m:r>
                      </m:sup>
                    </m:sSup>
                  </m:oMath>
                </a14:m>
                <a:r>
                  <a:rPr lang="ko-KR" altLang="en-US" dirty="0" smtClean="0"/>
                  <a:t> </a:t>
                </a:r>
                <a:r>
                  <a:rPr lang="en-US" altLang="ko-KR" dirty="0" smtClean="0"/>
                  <a:t>mat</a:t>
                </a:r>
                <a:endParaRPr lang="ko-KR" altLang="en-US" dirty="0"/>
              </a:p>
            </p:txBody>
          </p:sp>
        </mc:Choice>
        <mc:Fallback xmlns="">
          <p:sp>
            <p:nvSpPr>
              <p:cNvPr id="6" name="타원형 설명선 5"/>
              <p:cNvSpPr>
                <a:spLocks noRot="1" noChangeAspect="1" noMove="1" noResize="1" noEditPoints="1" noAdjustHandles="1" noChangeArrowheads="1" noChangeShapeType="1" noTextEdit="1"/>
              </p:cNvSpPr>
              <p:nvPr/>
            </p:nvSpPr>
            <p:spPr>
              <a:xfrm>
                <a:off x="2034988" y="6306671"/>
                <a:ext cx="2133600" cy="564776"/>
              </a:xfrm>
              <a:prstGeom prst="wedgeEllipseCallout">
                <a:avLst>
                  <a:gd name="adj1" fmla="val 24464"/>
                  <a:gd name="adj2" fmla="val -80357"/>
                </a:avLst>
              </a:prstGeom>
              <a:blipFill>
                <a:blip r:embed="rId5"/>
                <a:stretch>
                  <a:fillRect/>
                </a:stretch>
              </a:blipFill>
            </p:spPr>
            <p:txBody>
              <a:bodyPr/>
              <a:lstStyle/>
              <a:p>
                <a:r>
                  <a:rPr lang="ko-KR" altLang="en-US">
                    <a:noFill/>
                  </a:rPr>
                  <a:t> </a:t>
                </a:r>
              </a:p>
            </p:txBody>
          </p:sp>
        </mc:Fallback>
      </mc:AlternateContent>
    </p:spTree>
    <p:extLst>
      <p:ext uri="{BB962C8B-B14F-4D97-AF65-F5344CB8AC3E}">
        <p14:creationId xmlns:p14="http://schemas.microsoft.com/office/powerpoint/2010/main" val="238285879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6"/>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P spid="6" grpId="0" animBg="1"/>
    </p:bld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A3F49E5-65FB-08CE-4816-82136F4DF962}"/>
              </a:ext>
            </a:extLst>
          </p:cNvPr>
          <p:cNvSpPr>
            <a:spLocks noGrp="1"/>
          </p:cNvSpPr>
          <p:nvPr>
            <p:ph type="title"/>
          </p:nvPr>
        </p:nvSpPr>
        <p:spPr/>
        <p:txBody>
          <a:bodyPr/>
          <a:lstStyle/>
          <a:p>
            <a:r>
              <a:rPr lang="en-US" dirty="0"/>
              <a:t>Tensor products, bits</a:t>
            </a:r>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08FEC4ED-DD4A-992F-7DCC-150195B37A39}"/>
                  </a:ext>
                </a:extLst>
              </p:cNvPr>
              <p:cNvSpPr>
                <a:spLocks noGrp="1"/>
              </p:cNvSpPr>
              <p:nvPr>
                <p:ph idx="1"/>
              </p:nvPr>
            </p:nvSpPr>
            <p:spPr>
              <a:xfrm>
                <a:off x="838200" y="1825625"/>
                <a:ext cx="10906125" cy="588964"/>
              </a:xfrm>
            </p:spPr>
            <p:txBody>
              <a:bodyPr>
                <a:normAutofit/>
              </a:bodyPr>
              <a:lstStyle/>
              <a:p>
                <a:pPr marL="0" indent="0">
                  <a:buNone/>
                </a:pPr>
                <a14:m>
                  <m:oMath xmlns:m="http://schemas.openxmlformats.org/officeDocument/2006/math">
                    <m:r>
                      <a:rPr lang="en-US" sz="2400" i="1" smtClean="0">
                        <a:latin typeface="Cambria Math" panose="02040503050406030204" pitchFamily="18" charset="0"/>
                      </a:rPr>
                      <m:t>𝑆</m:t>
                    </m:r>
                  </m:oMath>
                </a14:m>
                <a:r>
                  <a:rPr lang="en-US" sz="2400" dirty="0"/>
                  <a:t> is a bit, i.e., </a:t>
                </a:r>
                <a14:m>
                  <m:oMath xmlns:m="http://schemas.openxmlformats.org/officeDocument/2006/math">
                    <m:r>
                      <a:rPr lang="en-CA" sz="2400" b="0" i="1" smtClean="0">
                        <a:latin typeface="Cambria Math" panose="02040503050406030204" pitchFamily="18" charset="0"/>
                      </a:rPr>
                      <m:t>𝑑</m:t>
                    </m:r>
                    <m:r>
                      <a:rPr lang="en-CA" sz="2400" b="0" i="1" smtClean="0">
                        <a:latin typeface="Cambria Math" panose="02040503050406030204" pitchFamily="18" charset="0"/>
                      </a:rPr>
                      <m:t>=2</m:t>
                    </m:r>
                  </m:oMath>
                </a14:m>
                <a:r>
                  <a:rPr lang="en-US" sz="2400" dirty="0"/>
                  <a:t>. Vector representation of states:</a:t>
                </a:r>
                <a:endParaRPr lang="en-US" sz="2000" dirty="0"/>
              </a:p>
              <a:p>
                <a:pPr lvl="1"/>
                <a:endParaRPr lang="en-US" sz="2000" dirty="0"/>
              </a:p>
              <a:p>
                <a:pPr marL="457200" lvl="1" indent="0">
                  <a:buNone/>
                </a:pPr>
                <a:endParaRPr lang="en-US" sz="2000" dirty="0"/>
              </a:p>
            </p:txBody>
          </p:sp>
        </mc:Choice>
        <mc:Fallback xmlns="">
          <p:sp>
            <p:nvSpPr>
              <p:cNvPr id="3" name="Content Placeholder 2">
                <a:extLst>
                  <a:ext uri="{FF2B5EF4-FFF2-40B4-BE49-F238E27FC236}">
                    <a16:creationId xmlns:a16="http://schemas.microsoft.com/office/drawing/2014/main" id="{08FEC4ED-DD4A-992F-7DCC-150195B37A39}"/>
                  </a:ext>
                </a:extLst>
              </p:cNvPr>
              <p:cNvSpPr>
                <a:spLocks noGrp="1" noRot="1" noChangeAspect="1" noMove="1" noResize="1" noEditPoints="1" noAdjustHandles="1" noChangeArrowheads="1" noChangeShapeType="1" noTextEdit="1"/>
              </p:cNvSpPr>
              <p:nvPr>
                <p:ph idx="1"/>
              </p:nvPr>
            </p:nvSpPr>
            <p:spPr>
              <a:xfrm>
                <a:off x="838200" y="1825625"/>
                <a:ext cx="10906125" cy="588964"/>
              </a:xfrm>
              <a:blipFill>
                <a:blip r:embed="rId3"/>
                <a:stretch>
                  <a:fillRect l="-233" t="-12500"/>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5" name="Rectangle 4">
                <a:extLst>
                  <a:ext uri="{FF2B5EF4-FFF2-40B4-BE49-F238E27FC236}">
                    <a16:creationId xmlns:a16="http://schemas.microsoft.com/office/drawing/2014/main" id="{62A66247-3CEF-5E11-40DB-832BCBF06013}"/>
                  </a:ext>
                </a:extLst>
              </p:cNvPr>
              <p:cNvSpPr/>
              <p:nvPr/>
            </p:nvSpPr>
            <p:spPr>
              <a:xfrm>
                <a:off x="1991859" y="2576927"/>
                <a:ext cx="1725922" cy="810799"/>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d>
                        <m:dPr>
                          <m:begChr m:val="|"/>
                          <m:endChr m:val="⟩"/>
                          <m:ctrlPr>
                            <a:rPr lang="en-US" sz="2800" i="1" smtClean="0">
                              <a:latin typeface="Cambria Math" panose="02040503050406030204" pitchFamily="18" charset="0"/>
                              <a:ea typeface="Cambria Math" panose="02040503050406030204" pitchFamily="18" charset="0"/>
                            </a:rPr>
                          </m:ctrlPr>
                        </m:dPr>
                        <m:e>
                          <m:r>
                            <a:rPr lang="en-US" sz="2800" i="1">
                              <a:latin typeface="Cambria Math" panose="02040503050406030204" pitchFamily="18" charset="0"/>
                              <a:ea typeface="Cambria Math" panose="02040503050406030204" pitchFamily="18" charset="0"/>
                            </a:rPr>
                            <m:t>0</m:t>
                          </m:r>
                        </m:e>
                      </m:d>
                      <m:r>
                        <a:rPr lang="en-US" sz="2800" b="0" i="1" smtClean="0">
                          <a:latin typeface="Cambria Math" panose="02040503050406030204" pitchFamily="18" charset="0"/>
                          <a:ea typeface="Cambria Math" panose="02040503050406030204" pitchFamily="18" charset="0"/>
                        </a:rPr>
                        <m:t>=</m:t>
                      </m:r>
                      <m:d>
                        <m:dPr>
                          <m:ctrlPr>
                            <a:rPr lang="en-US" sz="2800" b="0" i="1" smtClean="0">
                              <a:latin typeface="Cambria Math" panose="02040503050406030204" pitchFamily="18" charset="0"/>
                              <a:ea typeface="Cambria Math" panose="02040503050406030204" pitchFamily="18" charset="0"/>
                            </a:rPr>
                          </m:ctrlPr>
                        </m:dPr>
                        <m:e>
                          <m:eqArr>
                            <m:eqArrPr>
                              <m:ctrlPr>
                                <a:rPr lang="en-US" sz="2800" b="0" i="1" smtClean="0">
                                  <a:latin typeface="Cambria Math" panose="02040503050406030204" pitchFamily="18" charset="0"/>
                                  <a:ea typeface="Cambria Math" panose="02040503050406030204" pitchFamily="18" charset="0"/>
                                </a:rPr>
                              </m:ctrlPr>
                            </m:eqArrPr>
                            <m:e>
                              <m:r>
                                <a:rPr lang="en-US" sz="2800" b="0" i="1" smtClean="0">
                                  <a:latin typeface="Cambria Math" panose="02040503050406030204" pitchFamily="18" charset="0"/>
                                  <a:ea typeface="Cambria Math" panose="02040503050406030204" pitchFamily="18" charset="0"/>
                                </a:rPr>
                                <m:t>1</m:t>
                              </m:r>
                            </m:e>
                            <m:e>
                              <m:r>
                                <a:rPr lang="en-US" sz="2800" b="0" i="1" smtClean="0">
                                  <a:latin typeface="Cambria Math" panose="02040503050406030204" pitchFamily="18" charset="0"/>
                                  <a:ea typeface="Cambria Math" panose="02040503050406030204" pitchFamily="18" charset="0"/>
                                </a:rPr>
                                <m:t>0</m:t>
                              </m:r>
                            </m:e>
                          </m:eqArr>
                        </m:e>
                      </m:d>
                    </m:oMath>
                  </m:oMathPara>
                </a14:m>
                <a:endParaRPr lang="en-US" sz="2800" dirty="0"/>
              </a:p>
            </p:txBody>
          </p:sp>
        </mc:Choice>
        <mc:Fallback xmlns="">
          <p:sp>
            <p:nvSpPr>
              <p:cNvPr id="5" name="Rectangle 4">
                <a:extLst>
                  <a:ext uri="{FF2B5EF4-FFF2-40B4-BE49-F238E27FC236}">
                    <a16:creationId xmlns:a16="http://schemas.microsoft.com/office/drawing/2014/main" id="{62A66247-3CEF-5E11-40DB-832BCBF06013}"/>
                  </a:ext>
                </a:extLst>
              </p:cNvPr>
              <p:cNvSpPr>
                <a:spLocks noRot="1" noChangeAspect="1" noMove="1" noResize="1" noEditPoints="1" noAdjustHandles="1" noChangeArrowheads="1" noChangeShapeType="1" noTextEdit="1"/>
              </p:cNvSpPr>
              <p:nvPr/>
            </p:nvSpPr>
            <p:spPr>
              <a:xfrm>
                <a:off x="1991859" y="2576927"/>
                <a:ext cx="1725922" cy="810799"/>
              </a:xfrm>
              <a:prstGeom prst="rect">
                <a:avLst/>
              </a:prstGeom>
              <a:blipFill>
                <a:blip r:embed="rId4"/>
                <a:stretch>
                  <a:fillRect b="-9375"/>
                </a:stretch>
              </a:blipFill>
            </p:spPr>
            <p:txBody>
              <a:bodyPr/>
              <a:lstStyle/>
              <a:p>
                <a:r>
                  <a:rPr lang="en-US">
                    <a:noFill/>
                  </a:rPr>
                  <a:t> </a:t>
                </a:r>
              </a:p>
            </p:txBody>
          </p:sp>
        </mc:Fallback>
      </mc:AlternateContent>
      <p:sp>
        <p:nvSpPr>
          <p:cNvPr id="10" name="Content Placeholder 2">
            <a:extLst>
              <a:ext uri="{FF2B5EF4-FFF2-40B4-BE49-F238E27FC236}">
                <a16:creationId xmlns:a16="http://schemas.microsoft.com/office/drawing/2014/main" id="{3BC82C4C-52AC-9EBD-F2AF-2BFEC2847F60}"/>
              </a:ext>
            </a:extLst>
          </p:cNvPr>
          <p:cNvSpPr txBox="1">
            <a:spLocks/>
          </p:cNvSpPr>
          <p:nvPr/>
        </p:nvSpPr>
        <p:spPr>
          <a:xfrm>
            <a:off x="838199" y="3854448"/>
            <a:ext cx="10906125" cy="588964"/>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Font typeface="Arial" panose="020B0604020202020204" pitchFamily="34" charset="0"/>
              <a:buNone/>
            </a:pPr>
            <a:r>
              <a:rPr lang="en-US" sz="2400" dirty="0"/>
              <a:t>Transformations:</a:t>
            </a:r>
            <a:endParaRPr lang="en-US" sz="2000" dirty="0"/>
          </a:p>
          <a:p>
            <a:pPr lvl="1"/>
            <a:endParaRPr lang="en-US" sz="2000" dirty="0"/>
          </a:p>
          <a:p>
            <a:pPr marL="457200" lvl="1" indent="0">
              <a:buFont typeface="Arial" panose="020B0604020202020204" pitchFamily="34" charset="0"/>
              <a:buNone/>
            </a:pPr>
            <a:endParaRPr lang="en-US" sz="2000" dirty="0"/>
          </a:p>
        </p:txBody>
      </p:sp>
      <mc:AlternateContent xmlns:mc="http://schemas.openxmlformats.org/markup-compatibility/2006" xmlns:a14="http://schemas.microsoft.com/office/drawing/2010/main">
        <mc:Choice Requires="a14">
          <p:sp>
            <p:nvSpPr>
              <p:cNvPr id="11" name="Rectangle 10">
                <a:extLst>
                  <a:ext uri="{FF2B5EF4-FFF2-40B4-BE49-F238E27FC236}">
                    <a16:creationId xmlns:a16="http://schemas.microsoft.com/office/drawing/2014/main" id="{475C5C43-E7CE-2D82-8454-332CC038E65E}"/>
                  </a:ext>
                </a:extLst>
              </p:cNvPr>
              <p:cNvSpPr/>
              <p:nvPr/>
            </p:nvSpPr>
            <p:spPr>
              <a:xfrm>
                <a:off x="7071582" y="4742526"/>
                <a:ext cx="1809406" cy="708143"/>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r>
                        <a:rPr lang="en-US" sz="2400" b="0" i="1" smtClean="0">
                          <a:latin typeface="Cambria Math" panose="02040503050406030204" pitchFamily="18" charset="0"/>
                          <a:ea typeface="Cambria Math" panose="02040503050406030204" pitchFamily="18" charset="0"/>
                        </a:rPr>
                        <m:t>𝑋</m:t>
                      </m:r>
                      <m:r>
                        <a:rPr lang="en-US" sz="2400" b="0" i="1" smtClean="0">
                          <a:latin typeface="Cambria Math" panose="02040503050406030204" pitchFamily="18" charset="0"/>
                          <a:ea typeface="Cambria Math" panose="02040503050406030204" pitchFamily="18" charset="0"/>
                        </a:rPr>
                        <m:t>=</m:t>
                      </m:r>
                      <m:d>
                        <m:dPr>
                          <m:ctrlPr>
                            <a:rPr lang="en-US" sz="2400" b="0" i="1" smtClean="0">
                              <a:latin typeface="Cambria Math" panose="02040503050406030204" pitchFamily="18" charset="0"/>
                              <a:ea typeface="Cambria Math" panose="02040503050406030204" pitchFamily="18" charset="0"/>
                            </a:rPr>
                          </m:ctrlPr>
                        </m:dPr>
                        <m:e>
                          <m:m>
                            <m:mPr>
                              <m:mcs>
                                <m:mc>
                                  <m:mcPr>
                                    <m:count m:val="2"/>
                                    <m:mcJc m:val="center"/>
                                  </m:mcPr>
                                </m:mc>
                              </m:mcs>
                              <m:ctrlPr>
                                <a:rPr lang="en-US" sz="2400" b="0" i="1" smtClean="0">
                                  <a:solidFill>
                                    <a:schemeClr val="tx1"/>
                                  </a:solidFill>
                                  <a:latin typeface="Cambria Math" panose="02040503050406030204" pitchFamily="18" charset="0"/>
                                  <a:ea typeface="Cambria Math" panose="02040503050406030204" pitchFamily="18" charset="0"/>
                                </a:rPr>
                              </m:ctrlPr>
                            </m:mPr>
                            <m:mr>
                              <m:e>
                                <m:r>
                                  <m:rPr>
                                    <m:brk m:alnAt="7"/>
                                  </m:rPr>
                                  <a:rPr lang="en-US" sz="2400" b="0" i="1" smtClean="0">
                                    <a:solidFill>
                                      <a:schemeClr val="tx1"/>
                                    </a:solidFill>
                                    <a:latin typeface="Cambria Math" panose="02040503050406030204" pitchFamily="18" charset="0"/>
                                    <a:ea typeface="Cambria Math" panose="02040503050406030204" pitchFamily="18" charset="0"/>
                                  </a:rPr>
                                  <m:t>0</m:t>
                                </m:r>
                              </m:e>
                              <m:e>
                                <m:r>
                                  <a:rPr lang="en-US" sz="2400" b="0" i="1" smtClean="0">
                                    <a:solidFill>
                                      <a:schemeClr val="tx1"/>
                                    </a:solidFill>
                                    <a:latin typeface="Cambria Math" panose="02040503050406030204" pitchFamily="18" charset="0"/>
                                    <a:ea typeface="Cambria Math" panose="02040503050406030204" pitchFamily="18" charset="0"/>
                                  </a:rPr>
                                  <m:t>1</m:t>
                                </m:r>
                              </m:e>
                            </m:mr>
                            <m:mr>
                              <m:e>
                                <m:r>
                                  <a:rPr lang="en-US" sz="2400" b="0" i="1" smtClean="0">
                                    <a:solidFill>
                                      <a:schemeClr val="tx1"/>
                                    </a:solidFill>
                                    <a:latin typeface="Cambria Math" panose="02040503050406030204" pitchFamily="18" charset="0"/>
                                    <a:ea typeface="Cambria Math" panose="02040503050406030204" pitchFamily="18" charset="0"/>
                                  </a:rPr>
                                  <m:t>1</m:t>
                                </m:r>
                              </m:e>
                              <m:e>
                                <m:r>
                                  <a:rPr lang="en-US" sz="2400" b="0" i="1" smtClean="0">
                                    <a:solidFill>
                                      <a:schemeClr val="tx1"/>
                                    </a:solidFill>
                                    <a:latin typeface="Cambria Math" panose="02040503050406030204" pitchFamily="18" charset="0"/>
                                    <a:ea typeface="Cambria Math" panose="02040503050406030204" pitchFamily="18" charset="0"/>
                                  </a:rPr>
                                  <m:t>0</m:t>
                                </m:r>
                              </m:e>
                            </m:mr>
                          </m:m>
                        </m:e>
                      </m:d>
                    </m:oMath>
                  </m:oMathPara>
                </a14:m>
                <a:endParaRPr lang="en-US" sz="2400" dirty="0"/>
              </a:p>
            </p:txBody>
          </p:sp>
        </mc:Choice>
        <mc:Fallback xmlns="">
          <p:sp>
            <p:nvSpPr>
              <p:cNvPr id="11" name="Rectangle 10">
                <a:extLst>
                  <a:ext uri="{FF2B5EF4-FFF2-40B4-BE49-F238E27FC236}">
                    <a16:creationId xmlns:a16="http://schemas.microsoft.com/office/drawing/2014/main" id="{475C5C43-E7CE-2D82-8454-332CC038E65E}"/>
                  </a:ext>
                </a:extLst>
              </p:cNvPr>
              <p:cNvSpPr>
                <a:spLocks noRot="1" noChangeAspect="1" noMove="1" noResize="1" noEditPoints="1" noAdjustHandles="1" noChangeArrowheads="1" noChangeShapeType="1" noTextEdit="1"/>
              </p:cNvSpPr>
              <p:nvPr/>
            </p:nvSpPr>
            <p:spPr>
              <a:xfrm>
                <a:off x="7071582" y="4742526"/>
                <a:ext cx="1809406" cy="708143"/>
              </a:xfrm>
              <a:prstGeom prst="rect">
                <a:avLst/>
              </a:prstGeom>
              <a:blipFill>
                <a:blip r:embed="rId5"/>
                <a:stretch>
                  <a:fillRect b="-7018"/>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2" name="Rectangle 11">
                <a:extLst>
                  <a:ext uri="{FF2B5EF4-FFF2-40B4-BE49-F238E27FC236}">
                    <a16:creationId xmlns:a16="http://schemas.microsoft.com/office/drawing/2014/main" id="{430BFB5C-1F0C-FD45-1CA4-932AD28A7035}"/>
                  </a:ext>
                </a:extLst>
              </p:cNvPr>
              <p:cNvSpPr/>
              <p:nvPr/>
            </p:nvSpPr>
            <p:spPr>
              <a:xfrm>
                <a:off x="1987885" y="4742527"/>
                <a:ext cx="1729896" cy="708143"/>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r>
                        <a:rPr lang="en-US" sz="2400" b="0" i="1" smtClean="0">
                          <a:latin typeface="Cambria Math" panose="02040503050406030204" pitchFamily="18" charset="0"/>
                          <a:ea typeface="Cambria Math" panose="02040503050406030204" pitchFamily="18" charset="0"/>
                        </a:rPr>
                        <m:t>𝐼</m:t>
                      </m:r>
                      <m:r>
                        <a:rPr lang="en-US" sz="2400" b="0" i="1" smtClean="0">
                          <a:latin typeface="Cambria Math" panose="02040503050406030204" pitchFamily="18" charset="0"/>
                          <a:ea typeface="Cambria Math" panose="02040503050406030204" pitchFamily="18" charset="0"/>
                        </a:rPr>
                        <m:t>=</m:t>
                      </m:r>
                      <m:d>
                        <m:dPr>
                          <m:ctrlPr>
                            <a:rPr lang="en-US" sz="2400" b="0" i="1" smtClean="0">
                              <a:latin typeface="Cambria Math" panose="02040503050406030204" pitchFamily="18" charset="0"/>
                              <a:ea typeface="Cambria Math" panose="02040503050406030204" pitchFamily="18" charset="0"/>
                            </a:rPr>
                          </m:ctrlPr>
                        </m:dPr>
                        <m:e>
                          <m:m>
                            <m:mPr>
                              <m:mcs>
                                <m:mc>
                                  <m:mcPr>
                                    <m:count m:val="2"/>
                                    <m:mcJc m:val="center"/>
                                  </m:mcPr>
                                </m:mc>
                              </m:mcs>
                              <m:ctrlPr>
                                <a:rPr lang="en-US" sz="2400" b="0" i="1" smtClean="0">
                                  <a:latin typeface="Cambria Math" panose="02040503050406030204" pitchFamily="18" charset="0"/>
                                  <a:ea typeface="Cambria Math" panose="02040503050406030204" pitchFamily="18" charset="0"/>
                                </a:rPr>
                              </m:ctrlPr>
                            </m:mPr>
                            <m:mr>
                              <m:e>
                                <m:r>
                                  <a:rPr lang="en-US" sz="2400" b="0" i="1" smtClean="0">
                                    <a:latin typeface="Cambria Math" panose="02040503050406030204" pitchFamily="18" charset="0"/>
                                    <a:ea typeface="Cambria Math" panose="02040503050406030204" pitchFamily="18" charset="0"/>
                                  </a:rPr>
                                  <m:t>1</m:t>
                                </m:r>
                              </m:e>
                              <m:e>
                                <m:r>
                                  <a:rPr lang="en-US" sz="2400" b="0" i="1" smtClean="0">
                                    <a:latin typeface="Cambria Math" panose="02040503050406030204" pitchFamily="18" charset="0"/>
                                    <a:ea typeface="Cambria Math" panose="02040503050406030204" pitchFamily="18" charset="0"/>
                                  </a:rPr>
                                  <m:t>0</m:t>
                                </m:r>
                              </m:e>
                            </m:mr>
                            <m:mr>
                              <m:e>
                                <m:r>
                                  <a:rPr lang="en-US" sz="2400" b="0" i="1" smtClean="0">
                                    <a:latin typeface="Cambria Math" panose="02040503050406030204" pitchFamily="18" charset="0"/>
                                    <a:ea typeface="Cambria Math" panose="02040503050406030204" pitchFamily="18" charset="0"/>
                                  </a:rPr>
                                  <m:t>0</m:t>
                                </m:r>
                              </m:e>
                              <m:e>
                                <m:r>
                                  <a:rPr lang="en-US" sz="2400" b="0" i="1" smtClean="0">
                                    <a:latin typeface="Cambria Math" panose="02040503050406030204" pitchFamily="18" charset="0"/>
                                    <a:ea typeface="Cambria Math" panose="02040503050406030204" pitchFamily="18" charset="0"/>
                                  </a:rPr>
                                  <m:t>1</m:t>
                                </m:r>
                              </m:e>
                            </m:mr>
                          </m:m>
                        </m:e>
                      </m:d>
                    </m:oMath>
                  </m:oMathPara>
                </a14:m>
                <a:endParaRPr lang="en-US" sz="2400" dirty="0"/>
              </a:p>
            </p:txBody>
          </p:sp>
        </mc:Choice>
        <mc:Fallback xmlns="">
          <p:sp>
            <p:nvSpPr>
              <p:cNvPr id="12" name="Rectangle 11">
                <a:extLst>
                  <a:ext uri="{FF2B5EF4-FFF2-40B4-BE49-F238E27FC236}">
                    <a16:creationId xmlns:a16="http://schemas.microsoft.com/office/drawing/2014/main" id="{430BFB5C-1F0C-FD45-1CA4-932AD28A7035}"/>
                  </a:ext>
                </a:extLst>
              </p:cNvPr>
              <p:cNvSpPr>
                <a:spLocks noRot="1" noChangeAspect="1" noMove="1" noResize="1" noEditPoints="1" noAdjustHandles="1" noChangeArrowheads="1" noChangeShapeType="1" noTextEdit="1"/>
              </p:cNvSpPr>
              <p:nvPr/>
            </p:nvSpPr>
            <p:spPr>
              <a:xfrm>
                <a:off x="1987885" y="4742527"/>
                <a:ext cx="1729896" cy="708143"/>
              </a:xfrm>
              <a:prstGeom prst="rect">
                <a:avLst/>
              </a:prstGeom>
              <a:blipFill>
                <a:blip r:embed="rId6"/>
                <a:stretch>
                  <a:fillRect b="-7018"/>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3" name="Rectangle 12">
                <a:extLst>
                  <a:ext uri="{FF2B5EF4-FFF2-40B4-BE49-F238E27FC236}">
                    <a16:creationId xmlns:a16="http://schemas.microsoft.com/office/drawing/2014/main" id="{D1401B7A-BFD7-F4F8-F0AE-E86B11478C12}"/>
                  </a:ext>
                </a:extLst>
              </p:cNvPr>
              <p:cNvSpPr/>
              <p:nvPr/>
            </p:nvSpPr>
            <p:spPr>
              <a:xfrm>
                <a:off x="7071582" y="2555823"/>
                <a:ext cx="1503360" cy="705771"/>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d>
                        <m:dPr>
                          <m:begChr m:val="|"/>
                          <m:endChr m:val="⟩"/>
                          <m:ctrlPr>
                            <a:rPr lang="en-US" sz="2400" i="1" smtClean="0">
                              <a:latin typeface="Cambria Math" panose="02040503050406030204" pitchFamily="18" charset="0"/>
                              <a:ea typeface="Cambria Math" panose="02040503050406030204" pitchFamily="18" charset="0"/>
                            </a:rPr>
                          </m:ctrlPr>
                        </m:dPr>
                        <m:e>
                          <m:r>
                            <a:rPr lang="en-US" sz="2400" b="0" i="1" smtClean="0">
                              <a:latin typeface="Cambria Math" panose="02040503050406030204" pitchFamily="18" charset="0"/>
                              <a:ea typeface="Cambria Math" panose="02040503050406030204" pitchFamily="18" charset="0"/>
                            </a:rPr>
                            <m:t>1</m:t>
                          </m:r>
                        </m:e>
                      </m:d>
                      <m:r>
                        <a:rPr lang="en-US" sz="2400" b="0" i="1" smtClean="0">
                          <a:latin typeface="Cambria Math" panose="02040503050406030204" pitchFamily="18" charset="0"/>
                          <a:ea typeface="Cambria Math" panose="02040503050406030204" pitchFamily="18" charset="0"/>
                        </a:rPr>
                        <m:t>=</m:t>
                      </m:r>
                      <m:d>
                        <m:dPr>
                          <m:ctrlPr>
                            <a:rPr lang="en-US" sz="2400" b="0" i="1" smtClean="0">
                              <a:latin typeface="Cambria Math" panose="02040503050406030204" pitchFamily="18" charset="0"/>
                              <a:ea typeface="Cambria Math" panose="02040503050406030204" pitchFamily="18" charset="0"/>
                            </a:rPr>
                          </m:ctrlPr>
                        </m:dPr>
                        <m:e>
                          <m:eqArr>
                            <m:eqArrPr>
                              <m:ctrlPr>
                                <a:rPr lang="en-US" sz="2400" b="0" i="1" smtClean="0">
                                  <a:latin typeface="Cambria Math" panose="02040503050406030204" pitchFamily="18" charset="0"/>
                                  <a:ea typeface="Cambria Math" panose="02040503050406030204" pitchFamily="18" charset="0"/>
                                </a:rPr>
                              </m:ctrlPr>
                            </m:eqArrPr>
                            <m:e>
                              <m:r>
                                <a:rPr lang="en-US" sz="2400" b="0" i="1" smtClean="0">
                                  <a:latin typeface="Cambria Math" panose="02040503050406030204" pitchFamily="18" charset="0"/>
                                  <a:ea typeface="Cambria Math" panose="02040503050406030204" pitchFamily="18" charset="0"/>
                                </a:rPr>
                                <m:t>0</m:t>
                              </m:r>
                            </m:e>
                            <m:e>
                              <m:r>
                                <a:rPr lang="en-US" sz="2400" b="0" i="1" smtClean="0">
                                  <a:latin typeface="Cambria Math" panose="02040503050406030204" pitchFamily="18" charset="0"/>
                                  <a:ea typeface="Cambria Math" panose="02040503050406030204" pitchFamily="18" charset="0"/>
                                </a:rPr>
                                <m:t>1</m:t>
                              </m:r>
                            </m:e>
                          </m:eqArr>
                        </m:e>
                      </m:d>
                    </m:oMath>
                  </m:oMathPara>
                </a14:m>
                <a:endParaRPr lang="en-US" sz="2400" dirty="0"/>
              </a:p>
            </p:txBody>
          </p:sp>
        </mc:Choice>
        <mc:Fallback xmlns="">
          <p:sp>
            <p:nvSpPr>
              <p:cNvPr id="13" name="Rectangle 12">
                <a:extLst>
                  <a:ext uri="{FF2B5EF4-FFF2-40B4-BE49-F238E27FC236}">
                    <a16:creationId xmlns:a16="http://schemas.microsoft.com/office/drawing/2014/main" id="{D1401B7A-BFD7-F4F8-F0AE-E86B11478C12}"/>
                  </a:ext>
                </a:extLst>
              </p:cNvPr>
              <p:cNvSpPr>
                <a:spLocks noRot="1" noChangeAspect="1" noMove="1" noResize="1" noEditPoints="1" noAdjustHandles="1" noChangeArrowheads="1" noChangeShapeType="1" noTextEdit="1"/>
              </p:cNvSpPr>
              <p:nvPr/>
            </p:nvSpPr>
            <p:spPr>
              <a:xfrm>
                <a:off x="7071582" y="2555823"/>
                <a:ext cx="1503360" cy="705771"/>
              </a:xfrm>
              <a:prstGeom prst="rect">
                <a:avLst/>
              </a:prstGeom>
              <a:blipFill>
                <a:blip r:embed="rId7"/>
                <a:stretch>
                  <a:fillRect b="-8929"/>
                </a:stretch>
              </a:blipFill>
            </p:spPr>
            <p:txBody>
              <a:bodyPr/>
              <a:lstStyle/>
              <a:p>
                <a:r>
                  <a:rPr lang="en-US">
                    <a:noFill/>
                  </a:rPr>
                  <a:t> </a:t>
                </a:r>
              </a:p>
            </p:txBody>
          </p:sp>
        </mc:Fallback>
      </mc:AlternateContent>
    </p:spTree>
    <p:extLst>
      <p:ext uri="{BB962C8B-B14F-4D97-AF65-F5344CB8AC3E}">
        <p14:creationId xmlns:p14="http://schemas.microsoft.com/office/powerpoint/2010/main" val="330231287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0"/>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12"/>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11"/>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 grpId="0"/>
      <p:bldP spid="11" grpId="0"/>
      <p:bldP spid="12" grpId="0"/>
    </p:bld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A3F49E5-65FB-08CE-4816-82136F4DF962}"/>
              </a:ext>
            </a:extLst>
          </p:cNvPr>
          <p:cNvSpPr>
            <a:spLocks noGrp="1"/>
          </p:cNvSpPr>
          <p:nvPr>
            <p:ph type="title"/>
          </p:nvPr>
        </p:nvSpPr>
        <p:spPr/>
        <p:txBody>
          <a:bodyPr/>
          <a:lstStyle/>
          <a:p>
            <a:r>
              <a:rPr lang="en-US" dirty="0"/>
              <a:t>Tensor products, bits</a:t>
            </a:r>
          </a:p>
        </p:txBody>
      </p:sp>
      <p:sp>
        <p:nvSpPr>
          <p:cNvPr id="3" name="Content Placeholder 2">
            <a:extLst>
              <a:ext uri="{FF2B5EF4-FFF2-40B4-BE49-F238E27FC236}">
                <a16:creationId xmlns:a16="http://schemas.microsoft.com/office/drawing/2014/main" id="{08FEC4ED-DD4A-992F-7DCC-150195B37A39}"/>
              </a:ext>
            </a:extLst>
          </p:cNvPr>
          <p:cNvSpPr>
            <a:spLocks noGrp="1"/>
          </p:cNvSpPr>
          <p:nvPr>
            <p:ph idx="1"/>
          </p:nvPr>
        </p:nvSpPr>
        <p:spPr>
          <a:xfrm>
            <a:off x="838200" y="1825625"/>
            <a:ext cx="10906125" cy="588964"/>
          </a:xfrm>
        </p:spPr>
        <p:txBody>
          <a:bodyPr>
            <a:normAutofit/>
          </a:bodyPr>
          <a:lstStyle/>
          <a:p>
            <a:pPr marL="0" indent="0">
              <a:buNone/>
            </a:pPr>
            <a:r>
              <a:rPr lang="en-US" sz="2400" dirty="0"/>
              <a:t>Vector representation of two bits:</a:t>
            </a:r>
            <a:endParaRPr lang="en-US" sz="2000" dirty="0"/>
          </a:p>
          <a:p>
            <a:pPr lvl="1"/>
            <a:endParaRPr lang="en-US" sz="2000" dirty="0"/>
          </a:p>
          <a:p>
            <a:pPr marL="457200" lvl="1" indent="0">
              <a:buNone/>
            </a:pPr>
            <a:endParaRPr lang="en-US" sz="2000" dirty="0"/>
          </a:p>
        </p:txBody>
      </p:sp>
      <p:grpSp>
        <p:nvGrpSpPr>
          <p:cNvPr id="4" name="Group 3">
            <a:extLst>
              <a:ext uri="{FF2B5EF4-FFF2-40B4-BE49-F238E27FC236}">
                <a16:creationId xmlns:a16="http://schemas.microsoft.com/office/drawing/2014/main" id="{67EA6D0E-DB1D-C244-A738-D9D4F5AEED70}"/>
              </a:ext>
            </a:extLst>
          </p:cNvPr>
          <p:cNvGrpSpPr/>
          <p:nvPr/>
        </p:nvGrpSpPr>
        <p:grpSpPr>
          <a:xfrm>
            <a:off x="1987885" y="2549526"/>
            <a:ext cx="8606752" cy="1055998"/>
            <a:chOff x="1880614" y="4602967"/>
            <a:chExt cx="8606752" cy="1055998"/>
          </a:xfrm>
        </p:grpSpPr>
        <mc:AlternateContent xmlns:mc="http://schemas.openxmlformats.org/markup-compatibility/2006" xmlns:a14="http://schemas.microsoft.com/office/drawing/2010/main">
          <mc:Choice Requires="a14">
            <p:sp>
              <p:nvSpPr>
                <p:cNvPr id="5" name="Rectangle 4">
                  <a:extLst>
                    <a:ext uri="{FF2B5EF4-FFF2-40B4-BE49-F238E27FC236}">
                      <a16:creationId xmlns:a16="http://schemas.microsoft.com/office/drawing/2014/main" id="{62A66247-3CEF-5E11-40DB-832BCBF06013}"/>
                    </a:ext>
                  </a:extLst>
                </p:cNvPr>
                <p:cNvSpPr/>
                <p:nvPr/>
              </p:nvSpPr>
              <p:spPr>
                <a:xfrm>
                  <a:off x="1880614" y="4602970"/>
                  <a:ext cx="1882182" cy="1055995"/>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d>
                          <m:dPr>
                            <m:begChr m:val="|"/>
                            <m:endChr m:val="⟩"/>
                            <m:ctrlPr>
                              <a:rPr lang="en-US" i="1" smtClean="0">
                                <a:latin typeface="Cambria Math" panose="02040503050406030204" pitchFamily="18" charset="0"/>
                                <a:ea typeface="Cambria Math" panose="02040503050406030204" pitchFamily="18" charset="0"/>
                              </a:rPr>
                            </m:ctrlPr>
                          </m:dPr>
                          <m:e>
                            <m:r>
                              <a:rPr lang="en-US" i="1">
                                <a:latin typeface="Cambria Math" panose="02040503050406030204" pitchFamily="18" charset="0"/>
                                <a:ea typeface="Cambria Math" panose="02040503050406030204" pitchFamily="18" charset="0"/>
                              </a:rPr>
                              <m:t>0</m:t>
                            </m:r>
                          </m:e>
                        </m:d>
                        <m:r>
                          <a:rPr lang="en-US" i="1">
                            <a:latin typeface="Cambria Math" panose="02040503050406030204" pitchFamily="18" charset="0"/>
                            <a:ea typeface="Cambria Math" panose="02040503050406030204" pitchFamily="18" charset="0"/>
                          </a:rPr>
                          <m:t>⊗</m:t>
                        </m:r>
                        <m:d>
                          <m:dPr>
                            <m:begChr m:val="|"/>
                            <m:endChr m:val="⟩"/>
                            <m:ctrlPr>
                              <a:rPr lang="en-US" i="1">
                                <a:latin typeface="Cambria Math" panose="02040503050406030204" pitchFamily="18" charset="0"/>
                                <a:ea typeface="Cambria Math" panose="02040503050406030204" pitchFamily="18" charset="0"/>
                              </a:rPr>
                            </m:ctrlPr>
                          </m:dPr>
                          <m:e>
                            <m:r>
                              <a:rPr lang="en-US" i="1">
                                <a:latin typeface="Cambria Math" panose="02040503050406030204" pitchFamily="18" charset="0"/>
                                <a:ea typeface="Cambria Math" panose="02040503050406030204" pitchFamily="18" charset="0"/>
                              </a:rPr>
                              <m:t>0</m:t>
                            </m:r>
                          </m:e>
                        </m:d>
                        <m:r>
                          <a:rPr lang="en-US" b="0" i="1" smtClean="0">
                            <a:latin typeface="Cambria Math" panose="02040503050406030204" pitchFamily="18" charset="0"/>
                            <a:ea typeface="Cambria Math" panose="02040503050406030204" pitchFamily="18" charset="0"/>
                          </a:rPr>
                          <m:t>=</m:t>
                        </m:r>
                        <m:d>
                          <m:dPr>
                            <m:ctrlPr>
                              <a:rPr lang="en-US" b="0" i="1" smtClean="0">
                                <a:latin typeface="Cambria Math" panose="02040503050406030204" pitchFamily="18" charset="0"/>
                                <a:ea typeface="Cambria Math" panose="02040503050406030204" pitchFamily="18" charset="0"/>
                              </a:rPr>
                            </m:ctrlPr>
                          </m:dPr>
                          <m:e>
                            <m:m>
                              <m:mPr>
                                <m:mcs>
                                  <m:mc>
                                    <m:mcPr>
                                      <m:count m:val="1"/>
                                      <m:mcJc m:val="center"/>
                                    </m:mcPr>
                                  </m:mc>
                                </m:mcs>
                                <m:ctrlPr>
                                  <a:rPr lang="en-US" b="0" i="1" smtClean="0">
                                    <a:latin typeface="Cambria Math" panose="02040503050406030204" pitchFamily="18" charset="0"/>
                                    <a:ea typeface="Cambria Math" panose="02040503050406030204" pitchFamily="18" charset="0"/>
                                  </a:rPr>
                                </m:ctrlPr>
                              </m:mPr>
                              <m:mr>
                                <m:e>
                                  <m:r>
                                    <m:rPr>
                                      <m:brk m:alnAt="7"/>
                                    </m:rPr>
                                    <a:rPr lang="en-US" b="0" i="1" smtClean="0">
                                      <a:latin typeface="Cambria Math" panose="02040503050406030204" pitchFamily="18" charset="0"/>
                                      <a:ea typeface="Cambria Math" panose="02040503050406030204" pitchFamily="18" charset="0"/>
                                    </a:rPr>
                                    <m:t>1</m:t>
                                  </m:r>
                                </m:e>
                              </m:mr>
                              <m:mr>
                                <m:e>
                                  <m:r>
                                    <a:rPr lang="en-US" b="0" i="1" smtClean="0">
                                      <a:latin typeface="Cambria Math" panose="02040503050406030204" pitchFamily="18" charset="0"/>
                                      <a:ea typeface="Cambria Math" panose="02040503050406030204" pitchFamily="18" charset="0"/>
                                    </a:rPr>
                                    <m:t>0</m:t>
                                  </m:r>
                                </m:e>
                              </m:mr>
                              <m:mr>
                                <m:e>
                                  <m:eqArr>
                                    <m:eqArrPr>
                                      <m:ctrlPr>
                                        <a:rPr lang="en-US" b="0" i="1" smtClean="0">
                                          <a:latin typeface="Cambria Math" panose="02040503050406030204" pitchFamily="18" charset="0"/>
                                          <a:ea typeface="Cambria Math" panose="02040503050406030204" pitchFamily="18" charset="0"/>
                                        </a:rPr>
                                      </m:ctrlPr>
                                    </m:eqArrPr>
                                    <m:e>
                                      <m:r>
                                        <a:rPr lang="en-US" b="0" i="1" smtClean="0">
                                          <a:latin typeface="Cambria Math" panose="02040503050406030204" pitchFamily="18" charset="0"/>
                                          <a:ea typeface="Cambria Math" panose="02040503050406030204" pitchFamily="18" charset="0"/>
                                        </a:rPr>
                                        <m:t>0</m:t>
                                      </m:r>
                                    </m:e>
                                    <m:e>
                                      <m:r>
                                        <a:rPr lang="en-US" b="0" i="1" smtClean="0">
                                          <a:latin typeface="Cambria Math" panose="02040503050406030204" pitchFamily="18" charset="0"/>
                                        </a:rPr>
                                        <m:t>0</m:t>
                                      </m:r>
                                    </m:e>
                                  </m:eqArr>
                                </m:e>
                              </m:mr>
                            </m:m>
                          </m:e>
                        </m:d>
                      </m:oMath>
                    </m:oMathPara>
                  </a14:m>
                  <a:endParaRPr lang="en-US" dirty="0"/>
                </a:p>
              </p:txBody>
            </p:sp>
          </mc:Choice>
          <mc:Fallback xmlns="">
            <p:sp>
              <p:nvSpPr>
                <p:cNvPr id="19" name="Rectangle 18">
                  <a:extLst>
                    <a:ext uri="{FF2B5EF4-FFF2-40B4-BE49-F238E27FC236}">
                      <a16:creationId xmlns:a16="http://schemas.microsoft.com/office/drawing/2014/main" id="{A8219BF3-1672-6A4F-B0DC-925E36ACB2F8}"/>
                    </a:ext>
                  </a:extLst>
                </p:cNvPr>
                <p:cNvSpPr>
                  <a:spLocks noRot="1" noChangeAspect="1" noMove="1" noResize="1" noEditPoints="1" noAdjustHandles="1" noChangeArrowheads="1" noChangeShapeType="1" noTextEdit="1"/>
                </p:cNvSpPr>
                <p:nvPr/>
              </p:nvSpPr>
              <p:spPr>
                <a:xfrm>
                  <a:off x="1880614" y="4602970"/>
                  <a:ext cx="1882182" cy="1055995"/>
                </a:xfrm>
                <a:prstGeom prst="rect">
                  <a:avLst/>
                </a:prstGeom>
                <a:blipFill>
                  <a:blip r:embed="rId4"/>
                  <a:stretch>
                    <a:fillRect b="-2410"/>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6" name="Rectangle 5">
                  <a:extLst>
                    <a:ext uri="{FF2B5EF4-FFF2-40B4-BE49-F238E27FC236}">
                      <a16:creationId xmlns:a16="http://schemas.microsoft.com/office/drawing/2014/main" id="{7105DBD6-3487-0EFB-B920-BF5988982DA5}"/>
                    </a:ext>
                  </a:extLst>
                </p:cNvPr>
                <p:cNvSpPr/>
                <p:nvPr/>
              </p:nvSpPr>
              <p:spPr>
                <a:xfrm>
                  <a:off x="4122137" y="4602967"/>
                  <a:ext cx="1882182" cy="1054199"/>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d>
                          <m:dPr>
                            <m:begChr m:val="|"/>
                            <m:endChr m:val="⟩"/>
                            <m:ctrlPr>
                              <a:rPr lang="en-US" i="1" smtClean="0">
                                <a:latin typeface="Cambria Math" panose="02040503050406030204" pitchFamily="18" charset="0"/>
                                <a:ea typeface="Cambria Math" panose="02040503050406030204" pitchFamily="18" charset="0"/>
                              </a:rPr>
                            </m:ctrlPr>
                          </m:dPr>
                          <m:e>
                            <m:r>
                              <a:rPr lang="en-US" b="0" i="1" smtClean="0">
                                <a:latin typeface="Cambria Math" panose="02040503050406030204" pitchFamily="18" charset="0"/>
                                <a:ea typeface="Cambria Math" panose="02040503050406030204" pitchFamily="18" charset="0"/>
                              </a:rPr>
                              <m:t>0</m:t>
                            </m:r>
                          </m:e>
                        </m:d>
                        <m:r>
                          <a:rPr lang="en-US" i="1">
                            <a:latin typeface="Cambria Math" panose="02040503050406030204" pitchFamily="18" charset="0"/>
                            <a:ea typeface="Cambria Math" panose="02040503050406030204" pitchFamily="18" charset="0"/>
                          </a:rPr>
                          <m:t>⊗</m:t>
                        </m:r>
                        <m:d>
                          <m:dPr>
                            <m:begChr m:val="|"/>
                            <m:endChr m:val="⟩"/>
                            <m:ctrlPr>
                              <a:rPr lang="en-US" i="1">
                                <a:latin typeface="Cambria Math" panose="02040503050406030204" pitchFamily="18" charset="0"/>
                                <a:ea typeface="Cambria Math" panose="02040503050406030204" pitchFamily="18" charset="0"/>
                              </a:rPr>
                            </m:ctrlPr>
                          </m:dPr>
                          <m:e>
                            <m:r>
                              <a:rPr lang="en-US" b="0" i="1" smtClean="0">
                                <a:latin typeface="Cambria Math" panose="02040503050406030204" pitchFamily="18" charset="0"/>
                                <a:ea typeface="Cambria Math" panose="02040503050406030204" pitchFamily="18" charset="0"/>
                              </a:rPr>
                              <m:t>1</m:t>
                            </m:r>
                          </m:e>
                        </m:d>
                        <m:r>
                          <a:rPr lang="en-US" b="0" i="1" smtClean="0">
                            <a:latin typeface="Cambria Math" panose="02040503050406030204" pitchFamily="18" charset="0"/>
                            <a:ea typeface="Cambria Math" panose="02040503050406030204" pitchFamily="18" charset="0"/>
                          </a:rPr>
                          <m:t>=</m:t>
                        </m:r>
                        <m:d>
                          <m:dPr>
                            <m:ctrlPr>
                              <a:rPr lang="en-US" b="0" i="1" smtClean="0">
                                <a:latin typeface="Cambria Math" panose="02040503050406030204" pitchFamily="18" charset="0"/>
                                <a:ea typeface="Cambria Math" panose="02040503050406030204" pitchFamily="18" charset="0"/>
                              </a:rPr>
                            </m:ctrlPr>
                          </m:dPr>
                          <m:e>
                            <m:m>
                              <m:mPr>
                                <m:mcs>
                                  <m:mc>
                                    <m:mcPr>
                                      <m:count m:val="1"/>
                                      <m:mcJc m:val="center"/>
                                    </m:mcPr>
                                  </m:mc>
                                </m:mcs>
                                <m:ctrlPr>
                                  <a:rPr lang="en-US" b="0" i="1" smtClean="0">
                                    <a:latin typeface="Cambria Math" panose="02040503050406030204" pitchFamily="18" charset="0"/>
                                    <a:ea typeface="Cambria Math" panose="02040503050406030204" pitchFamily="18" charset="0"/>
                                  </a:rPr>
                                </m:ctrlPr>
                              </m:mPr>
                              <m:mr>
                                <m:e>
                                  <m:r>
                                    <m:rPr>
                                      <m:brk m:alnAt="7"/>
                                    </m:rPr>
                                    <a:rPr lang="en-US" b="0" i="1" smtClean="0">
                                      <a:latin typeface="Cambria Math" panose="02040503050406030204" pitchFamily="18" charset="0"/>
                                      <a:ea typeface="Cambria Math" panose="02040503050406030204" pitchFamily="18" charset="0"/>
                                    </a:rPr>
                                    <m:t>0</m:t>
                                  </m:r>
                                </m:e>
                              </m:mr>
                              <m:mr>
                                <m:e>
                                  <m:r>
                                    <a:rPr lang="en-US" b="0" i="1" smtClean="0">
                                      <a:latin typeface="Cambria Math" panose="02040503050406030204" pitchFamily="18" charset="0"/>
                                      <a:ea typeface="Cambria Math" panose="02040503050406030204" pitchFamily="18" charset="0"/>
                                    </a:rPr>
                                    <m:t>1</m:t>
                                  </m:r>
                                </m:e>
                              </m:mr>
                              <m:mr>
                                <m:e>
                                  <m:eqArr>
                                    <m:eqArrPr>
                                      <m:ctrlPr>
                                        <a:rPr lang="en-US" b="0" i="1" smtClean="0">
                                          <a:latin typeface="Cambria Math" panose="02040503050406030204" pitchFamily="18" charset="0"/>
                                          <a:ea typeface="Cambria Math" panose="02040503050406030204" pitchFamily="18" charset="0"/>
                                        </a:rPr>
                                      </m:ctrlPr>
                                    </m:eqArrPr>
                                    <m:e>
                                      <m:r>
                                        <a:rPr lang="en-US" b="0" i="1" smtClean="0">
                                          <a:latin typeface="Cambria Math" panose="02040503050406030204" pitchFamily="18" charset="0"/>
                                          <a:ea typeface="Cambria Math" panose="02040503050406030204" pitchFamily="18" charset="0"/>
                                        </a:rPr>
                                        <m:t>0</m:t>
                                      </m:r>
                                    </m:e>
                                    <m:e>
                                      <m:r>
                                        <a:rPr lang="en-US" b="0" i="1" smtClean="0">
                                          <a:latin typeface="Cambria Math" panose="02040503050406030204" pitchFamily="18" charset="0"/>
                                        </a:rPr>
                                        <m:t>0</m:t>
                                      </m:r>
                                    </m:e>
                                  </m:eqArr>
                                </m:e>
                              </m:mr>
                            </m:m>
                          </m:e>
                        </m:d>
                      </m:oMath>
                    </m:oMathPara>
                  </a14:m>
                  <a:endParaRPr lang="en-US" dirty="0"/>
                </a:p>
              </p:txBody>
            </p:sp>
          </mc:Choice>
          <mc:Fallback xmlns="">
            <p:sp>
              <p:nvSpPr>
                <p:cNvPr id="20" name="Rectangle 19">
                  <a:extLst>
                    <a:ext uri="{FF2B5EF4-FFF2-40B4-BE49-F238E27FC236}">
                      <a16:creationId xmlns:a16="http://schemas.microsoft.com/office/drawing/2014/main" id="{6BE7FECB-BE66-954D-A4BB-3A8753E1C0AF}"/>
                    </a:ext>
                  </a:extLst>
                </p:cNvPr>
                <p:cNvSpPr>
                  <a:spLocks noRot="1" noChangeAspect="1" noMove="1" noResize="1" noEditPoints="1" noAdjustHandles="1" noChangeArrowheads="1" noChangeShapeType="1" noTextEdit="1"/>
                </p:cNvSpPr>
                <p:nvPr/>
              </p:nvSpPr>
              <p:spPr>
                <a:xfrm>
                  <a:off x="4122137" y="4602967"/>
                  <a:ext cx="1882182" cy="1054199"/>
                </a:xfrm>
                <a:prstGeom prst="rect">
                  <a:avLst/>
                </a:prstGeom>
                <a:blipFill>
                  <a:blip r:embed="rId5"/>
                  <a:stretch>
                    <a:fillRect b="-2410"/>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7" name="Rectangle 6">
                  <a:extLst>
                    <a:ext uri="{FF2B5EF4-FFF2-40B4-BE49-F238E27FC236}">
                      <a16:creationId xmlns:a16="http://schemas.microsoft.com/office/drawing/2014/main" id="{725D0752-8F46-1949-4E9A-C2EAFC156405}"/>
                    </a:ext>
                  </a:extLst>
                </p:cNvPr>
                <p:cNvSpPr/>
                <p:nvPr/>
              </p:nvSpPr>
              <p:spPr>
                <a:xfrm>
                  <a:off x="6363661" y="4602968"/>
                  <a:ext cx="1882182" cy="1055995"/>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d>
                          <m:dPr>
                            <m:begChr m:val="|"/>
                            <m:endChr m:val="⟩"/>
                            <m:ctrlPr>
                              <a:rPr lang="en-US" i="1" smtClean="0">
                                <a:latin typeface="Cambria Math" panose="02040503050406030204" pitchFamily="18" charset="0"/>
                                <a:ea typeface="Cambria Math" panose="02040503050406030204" pitchFamily="18" charset="0"/>
                              </a:rPr>
                            </m:ctrlPr>
                          </m:dPr>
                          <m:e>
                            <m:r>
                              <a:rPr lang="en-US" b="0" i="1" smtClean="0">
                                <a:latin typeface="Cambria Math" panose="02040503050406030204" pitchFamily="18" charset="0"/>
                                <a:ea typeface="Cambria Math" panose="02040503050406030204" pitchFamily="18" charset="0"/>
                              </a:rPr>
                              <m:t>1</m:t>
                            </m:r>
                          </m:e>
                        </m:d>
                        <m:r>
                          <a:rPr lang="en-US" i="1">
                            <a:latin typeface="Cambria Math" panose="02040503050406030204" pitchFamily="18" charset="0"/>
                            <a:ea typeface="Cambria Math" panose="02040503050406030204" pitchFamily="18" charset="0"/>
                          </a:rPr>
                          <m:t>⊗</m:t>
                        </m:r>
                        <m:d>
                          <m:dPr>
                            <m:begChr m:val="|"/>
                            <m:endChr m:val="⟩"/>
                            <m:ctrlPr>
                              <a:rPr lang="en-US" i="1">
                                <a:latin typeface="Cambria Math" panose="02040503050406030204" pitchFamily="18" charset="0"/>
                                <a:ea typeface="Cambria Math" panose="02040503050406030204" pitchFamily="18" charset="0"/>
                              </a:rPr>
                            </m:ctrlPr>
                          </m:dPr>
                          <m:e>
                            <m:r>
                              <a:rPr lang="en-US" b="0" i="1" smtClean="0">
                                <a:latin typeface="Cambria Math" panose="02040503050406030204" pitchFamily="18" charset="0"/>
                                <a:ea typeface="Cambria Math" panose="02040503050406030204" pitchFamily="18" charset="0"/>
                              </a:rPr>
                              <m:t>0</m:t>
                            </m:r>
                          </m:e>
                        </m:d>
                        <m:r>
                          <a:rPr lang="en-US" b="0" i="1" smtClean="0">
                            <a:latin typeface="Cambria Math" panose="02040503050406030204" pitchFamily="18" charset="0"/>
                            <a:ea typeface="Cambria Math" panose="02040503050406030204" pitchFamily="18" charset="0"/>
                          </a:rPr>
                          <m:t>=</m:t>
                        </m:r>
                        <m:d>
                          <m:dPr>
                            <m:ctrlPr>
                              <a:rPr lang="en-US" b="0" i="1" smtClean="0">
                                <a:latin typeface="Cambria Math" panose="02040503050406030204" pitchFamily="18" charset="0"/>
                                <a:ea typeface="Cambria Math" panose="02040503050406030204" pitchFamily="18" charset="0"/>
                              </a:rPr>
                            </m:ctrlPr>
                          </m:dPr>
                          <m:e>
                            <m:m>
                              <m:mPr>
                                <m:mcs>
                                  <m:mc>
                                    <m:mcPr>
                                      <m:count m:val="1"/>
                                      <m:mcJc m:val="center"/>
                                    </m:mcPr>
                                  </m:mc>
                                </m:mcs>
                                <m:ctrlPr>
                                  <a:rPr lang="en-US" b="0" i="1" smtClean="0">
                                    <a:latin typeface="Cambria Math" panose="02040503050406030204" pitchFamily="18" charset="0"/>
                                    <a:ea typeface="Cambria Math" panose="02040503050406030204" pitchFamily="18" charset="0"/>
                                  </a:rPr>
                                </m:ctrlPr>
                              </m:mPr>
                              <m:mr>
                                <m:e>
                                  <m:r>
                                    <m:rPr>
                                      <m:brk m:alnAt="7"/>
                                    </m:rPr>
                                    <a:rPr lang="en-US" b="0" i="1" smtClean="0">
                                      <a:latin typeface="Cambria Math" panose="02040503050406030204" pitchFamily="18" charset="0"/>
                                      <a:ea typeface="Cambria Math" panose="02040503050406030204" pitchFamily="18" charset="0"/>
                                    </a:rPr>
                                    <m:t>0</m:t>
                                  </m:r>
                                </m:e>
                              </m:mr>
                              <m:mr>
                                <m:e>
                                  <m:r>
                                    <a:rPr lang="en-US" b="0" i="1" smtClean="0">
                                      <a:latin typeface="Cambria Math" panose="02040503050406030204" pitchFamily="18" charset="0"/>
                                      <a:ea typeface="Cambria Math" panose="02040503050406030204" pitchFamily="18" charset="0"/>
                                    </a:rPr>
                                    <m:t>0</m:t>
                                  </m:r>
                                </m:e>
                              </m:mr>
                              <m:mr>
                                <m:e>
                                  <m:eqArr>
                                    <m:eqArrPr>
                                      <m:ctrlPr>
                                        <a:rPr lang="en-US" b="0" i="1" smtClean="0">
                                          <a:latin typeface="Cambria Math" panose="02040503050406030204" pitchFamily="18" charset="0"/>
                                          <a:ea typeface="Cambria Math" panose="02040503050406030204" pitchFamily="18" charset="0"/>
                                        </a:rPr>
                                      </m:ctrlPr>
                                    </m:eqArrPr>
                                    <m:e>
                                      <m:r>
                                        <a:rPr lang="en-US" b="0" i="1" smtClean="0">
                                          <a:latin typeface="Cambria Math" panose="02040503050406030204" pitchFamily="18" charset="0"/>
                                          <a:ea typeface="Cambria Math" panose="02040503050406030204" pitchFamily="18" charset="0"/>
                                        </a:rPr>
                                        <m:t>1</m:t>
                                      </m:r>
                                    </m:e>
                                    <m:e>
                                      <m:r>
                                        <a:rPr lang="en-US" b="0" i="1" smtClean="0">
                                          <a:latin typeface="Cambria Math" panose="02040503050406030204" pitchFamily="18" charset="0"/>
                                        </a:rPr>
                                        <m:t>0</m:t>
                                      </m:r>
                                    </m:e>
                                  </m:eqArr>
                                </m:e>
                              </m:mr>
                            </m:m>
                          </m:e>
                        </m:d>
                      </m:oMath>
                    </m:oMathPara>
                  </a14:m>
                  <a:endParaRPr lang="en-US" dirty="0"/>
                </a:p>
              </p:txBody>
            </p:sp>
          </mc:Choice>
          <mc:Fallback xmlns="">
            <p:sp>
              <p:nvSpPr>
                <p:cNvPr id="21" name="Rectangle 20">
                  <a:extLst>
                    <a:ext uri="{FF2B5EF4-FFF2-40B4-BE49-F238E27FC236}">
                      <a16:creationId xmlns:a16="http://schemas.microsoft.com/office/drawing/2014/main" id="{0BD6004B-7254-C047-AF6F-E15C9A16FBA9}"/>
                    </a:ext>
                  </a:extLst>
                </p:cNvPr>
                <p:cNvSpPr>
                  <a:spLocks noRot="1" noChangeAspect="1" noMove="1" noResize="1" noEditPoints="1" noAdjustHandles="1" noChangeArrowheads="1" noChangeShapeType="1" noTextEdit="1"/>
                </p:cNvSpPr>
                <p:nvPr/>
              </p:nvSpPr>
              <p:spPr>
                <a:xfrm>
                  <a:off x="6363661" y="4602968"/>
                  <a:ext cx="1882182" cy="1055995"/>
                </a:xfrm>
                <a:prstGeom prst="rect">
                  <a:avLst/>
                </a:prstGeom>
                <a:blipFill>
                  <a:blip r:embed="rId6"/>
                  <a:stretch>
                    <a:fillRect b="-2410"/>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8" name="Rectangle 7">
                  <a:extLst>
                    <a:ext uri="{FF2B5EF4-FFF2-40B4-BE49-F238E27FC236}">
                      <a16:creationId xmlns:a16="http://schemas.microsoft.com/office/drawing/2014/main" id="{964B6BD9-3BEC-67E3-550D-05A4C23D85F7}"/>
                    </a:ext>
                  </a:extLst>
                </p:cNvPr>
                <p:cNvSpPr/>
                <p:nvPr/>
              </p:nvSpPr>
              <p:spPr>
                <a:xfrm>
                  <a:off x="8605184" y="4602967"/>
                  <a:ext cx="1882182" cy="1055995"/>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d>
                          <m:dPr>
                            <m:begChr m:val="|"/>
                            <m:endChr m:val="⟩"/>
                            <m:ctrlPr>
                              <a:rPr lang="en-US" i="1" smtClean="0">
                                <a:latin typeface="Cambria Math" panose="02040503050406030204" pitchFamily="18" charset="0"/>
                                <a:ea typeface="Cambria Math" panose="02040503050406030204" pitchFamily="18" charset="0"/>
                              </a:rPr>
                            </m:ctrlPr>
                          </m:dPr>
                          <m:e>
                            <m:r>
                              <a:rPr lang="en-US" b="0" i="1" smtClean="0">
                                <a:latin typeface="Cambria Math" panose="02040503050406030204" pitchFamily="18" charset="0"/>
                                <a:ea typeface="Cambria Math" panose="02040503050406030204" pitchFamily="18" charset="0"/>
                              </a:rPr>
                              <m:t>1</m:t>
                            </m:r>
                          </m:e>
                        </m:d>
                        <m:r>
                          <a:rPr lang="en-US" i="1">
                            <a:latin typeface="Cambria Math" panose="02040503050406030204" pitchFamily="18" charset="0"/>
                            <a:ea typeface="Cambria Math" panose="02040503050406030204" pitchFamily="18" charset="0"/>
                          </a:rPr>
                          <m:t>⊗</m:t>
                        </m:r>
                        <m:d>
                          <m:dPr>
                            <m:begChr m:val="|"/>
                            <m:endChr m:val="⟩"/>
                            <m:ctrlPr>
                              <a:rPr lang="en-US" i="1">
                                <a:latin typeface="Cambria Math" panose="02040503050406030204" pitchFamily="18" charset="0"/>
                                <a:ea typeface="Cambria Math" panose="02040503050406030204" pitchFamily="18" charset="0"/>
                              </a:rPr>
                            </m:ctrlPr>
                          </m:dPr>
                          <m:e>
                            <m:r>
                              <a:rPr lang="en-US" b="0" i="1" smtClean="0">
                                <a:latin typeface="Cambria Math" panose="02040503050406030204" pitchFamily="18" charset="0"/>
                                <a:ea typeface="Cambria Math" panose="02040503050406030204" pitchFamily="18" charset="0"/>
                              </a:rPr>
                              <m:t>1</m:t>
                            </m:r>
                          </m:e>
                        </m:d>
                        <m:r>
                          <a:rPr lang="en-US" b="0" i="1" smtClean="0">
                            <a:latin typeface="Cambria Math" panose="02040503050406030204" pitchFamily="18" charset="0"/>
                            <a:ea typeface="Cambria Math" panose="02040503050406030204" pitchFamily="18" charset="0"/>
                          </a:rPr>
                          <m:t>=</m:t>
                        </m:r>
                        <m:d>
                          <m:dPr>
                            <m:ctrlPr>
                              <a:rPr lang="en-US" b="0" i="1" smtClean="0">
                                <a:latin typeface="Cambria Math" panose="02040503050406030204" pitchFamily="18" charset="0"/>
                                <a:ea typeface="Cambria Math" panose="02040503050406030204" pitchFamily="18" charset="0"/>
                              </a:rPr>
                            </m:ctrlPr>
                          </m:dPr>
                          <m:e>
                            <m:m>
                              <m:mPr>
                                <m:mcs>
                                  <m:mc>
                                    <m:mcPr>
                                      <m:count m:val="1"/>
                                      <m:mcJc m:val="center"/>
                                    </m:mcPr>
                                  </m:mc>
                                </m:mcs>
                                <m:ctrlPr>
                                  <a:rPr lang="en-US" b="0" i="1" smtClean="0">
                                    <a:latin typeface="Cambria Math" panose="02040503050406030204" pitchFamily="18" charset="0"/>
                                    <a:ea typeface="Cambria Math" panose="02040503050406030204" pitchFamily="18" charset="0"/>
                                  </a:rPr>
                                </m:ctrlPr>
                              </m:mPr>
                              <m:mr>
                                <m:e>
                                  <m:r>
                                    <m:rPr>
                                      <m:brk m:alnAt="7"/>
                                    </m:rPr>
                                    <a:rPr lang="en-US" b="0" i="1" smtClean="0">
                                      <a:latin typeface="Cambria Math" panose="02040503050406030204" pitchFamily="18" charset="0"/>
                                      <a:ea typeface="Cambria Math" panose="02040503050406030204" pitchFamily="18" charset="0"/>
                                    </a:rPr>
                                    <m:t>0</m:t>
                                  </m:r>
                                </m:e>
                              </m:mr>
                              <m:mr>
                                <m:e>
                                  <m:r>
                                    <a:rPr lang="en-US" b="0" i="1" smtClean="0">
                                      <a:latin typeface="Cambria Math" panose="02040503050406030204" pitchFamily="18" charset="0"/>
                                      <a:ea typeface="Cambria Math" panose="02040503050406030204" pitchFamily="18" charset="0"/>
                                    </a:rPr>
                                    <m:t>0</m:t>
                                  </m:r>
                                </m:e>
                              </m:mr>
                              <m:mr>
                                <m:e>
                                  <m:eqArr>
                                    <m:eqArrPr>
                                      <m:ctrlPr>
                                        <a:rPr lang="en-US" b="0" i="1" smtClean="0">
                                          <a:latin typeface="Cambria Math" panose="02040503050406030204" pitchFamily="18" charset="0"/>
                                          <a:ea typeface="Cambria Math" panose="02040503050406030204" pitchFamily="18" charset="0"/>
                                        </a:rPr>
                                      </m:ctrlPr>
                                    </m:eqArrPr>
                                    <m:e>
                                      <m:r>
                                        <a:rPr lang="en-US" b="0" i="1" smtClean="0">
                                          <a:latin typeface="Cambria Math" panose="02040503050406030204" pitchFamily="18" charset="0"/>
                                          <a:ea typeface="Cambria Math" panose="02040503050406030204" pitchFamily="18" charset="0"/>
                                        </a:rPr>
                                        <m:t>0</m:t>
                                      </m:r>
                                    </m:e>
                                    <m:e>
                                      <m:r>
                                        <a:rPr lang="en-US" b="0" i="1" smtClean="0">
                                          <a:latin typeface="Cambria Math" panose="02040503050406030204" pitchFamily="18" charset="0"/>
                                        </a:rPr>
                                        <m:t>1</m:t>
                                      </m:r>
                                    </m:e>
                                  </m:eqArr>
                                </m:e>
                              </m:mr>
                            </m:m>
                          </m:e>
                        </m:d>
                      </m:oMath>
                    </m:oMathPara>
                  </a14:m>
                  <a:endParaRPr lang="en-US" dirty="0"/>
                </a:p>
              </p:txBody>
            </p:sp>
          </mc:Choice>
          <mc:Fallback xmlns="">
            <p:sp>
              <p:nvSpPr>
                <p:cNvPr id="22" name="Rectangle 21">
                  <a:extLst>
                    <a:ext uri="{FF2B5EF4-FFF2-40B4-BE49-F238E27FC236}">
                      <a16:creationId xmlns:a16="http://schemas.microsoft.com/office/drawing/2014/main" id="{87DB44E5-A57C-464A-B651-219B97AED235}"/>
                    </a:ext>
                  </a:extLst>
                </p:cNvPr>
                <p:cNvSpPr>
                  <a:spLocks noRot="1" noChangeAspect="1" noMove="1" noResize="1" noEditPoints="1" noAdjustHandles="1" noChangeArrowheads="1" noChangeShapeType="1" noTextEdit="1"/>
                </p:cNvSpPr>
                <p:nvPr/>
              </p:nvSpPr>
              <p:spPr>
                <a:xfrm>
                  <a:off x="8605184" y="4602967"/>
                  <a:ext cx="1882182" cy="1055995"/>
                </a:xfrm>
                <a:prstGeom prst="rect">
                  <a:avLst/>
                </a:prstGeom>
                <a:blipFill>
                  <a:blip r:embed="rId7"/>
                  <a:stretch>
                    <a:fillRect b="-2410"/>
                  </a:stretch>
                </a:blipFill>
              </p:spPr>
              <p:txBody>
                <a:bodyPr/>
                <a:lstStyle/>
                <a:p>
                  <a:r>
                    <a:rPr lang="en-US">
                      <a:noFill/>
                    </a:rPr>
                    <a:t> </a:t>
                  </a:r>
                </a:p>
              </p:txBody>
            </p:sp>
          </mc:Fallback>
        </mc:AlternateContent>
      </p:grpSp>
      <mc:AlternateContent xmlns:mc="http://schemas.openxmlformats.org/markup-compatibility/2006" xmlns:a14="http://schemas.microsoft.com/office/drawing/2010/main">
        <mc:Choice Requires="a14">
          <p:sp>
            <p:nvSpPr>
              <p:cNvPr id="9" name="Rectangle 8">
                <a:extLst>
                  <a:ext uri="{FF2B5EF4-FFF2-40B4-BE49-F238E27FC236}">
                    <a16:creationId xmlns:a16="http://schemas.microsoft.com/office/drawing/2014/main" id="{3F6D0652-136A-7AD5-2B27-E75E9CEF8E87}"/>
                  </a:ext>
                </a:extLst>
              </p:cNvPr>
              <p:cNvSpPr/>
              <p:nvPr/>
            </p:nvSpPr>
            <p:spPr>
              <a:xfrm>
                <a:off x="8690122" y="4639941"/>
                <a:ext cx="2692532" cy="1055995"/>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r>
                        <a:rPr lang="en-CA" b="0" i="1" smtClean="0">
                          <a:latin typeface="Cambria Math" panose="02040503050406030204" pitchFamily="18" charset="0"/>
                          <a:ea typeface="Cambria Math" panose="02040503050406030204" pitchFamily="18" charset="0"/>
                        </a:rPr>
                        <m:t>𝐶𝑁𝑂𝑇</m:t>
                      </m:r>
                      <m:r>
                        <a:rPr lang="en-US" b="0" i="1" smtClean="0">
                          <a:latin typeface="Cambria Math" panose="02040503050406030204" pitchFamily="18" charset="0"/>
                          <a:ea typeface="Cambria Math" panose="02040503050406030204" pitchFamily="18" charset="0"/>
                        </a:rPr>
                        <m:t>=</m:t>
                      </m:r>
                      <m:d>
                        <m:dPr>
                          <m:ctrlPr>
                            <a:rPr lang="en-US" b="0" i="1" smtClean="0">
                              <a:latin typeface="Cambria Math" panose="02040503050406030204" pitchFamily="18" charset="0"/>
                              <a:ea typeface="Cambria Math" panose="02040503050406030204" pitchFamily="18" charset="0"/>
                            </a:rPr>
                          </m:ctrlPr>
                        </m:dPr>
                        <m:e>
                          <m:m>
                            <m:mPr>
                              <m:mcs>
                                <m:mc>
                                  <m:mcPr>
                                    <m:count m:val="2"/>
                                    <m:mcJc m:val="center"/>
                                  </m:mcPr>
                                </m:mc>
                              </m:mcs>
                              <m:ctrlPr>
                                <a:rPr lang="en-US" b="0" i="1" smtClean="0">
                                  <a:latin typeface="Cambria Math" panose="02040503050406030204" pitchFamily="18" charset="0"/>
                                  <a:ea typeface="Cambria Math" panose="02040503050406030204" pitchFamily="18" charset="0"/>
                                </a:rPr>
                              </m:ctrlPr>
                            </m:mPr>
                            <m:mr>
                              <m:e>
                                <m:m>
                                  <m:mPr>
                                    <m:mcs>
                                      <m:mc>
                                        <m:mcPr>
                                          <m:count m:val="2"/>
                                          <m:mcJc m:val="center"/>
                                        </m:mcPr>
                                      </m:mc>
                                    </m:mcs>
                                    <m:ctrlPr>
                                      <a:rPr lang="en-US" b="0" i="1" smtClean="0">
                                        <a:latin typeface="Cambria Math" panose="02040503050406030204" pitchFamily="18" charset="0"/>
                                        <a:ea typeface="Cambria Math" panose="02040503050406030204" pitchFamily="18" charset="0"/>
                                      </a:rPr>
                                    </m:ctrlPr>
                                  </m:mPr>
                                  <m:mr>
                                    <m:e>
                                      <m:r>
                                        <m:rPr>
                                          <m:brk m:alnAt="7"/>
                                        </m:rPr>
                                        <a:rPr lang="en-CA" b="1" i="1" smtClean="0">
                                          <a:solidFill>
                                            <a:srgbClr val="C00000"/>
                                          </a:solidFill>
                                          <a:latin typeface="Cambria Math" panose="02040503050406030204" pitchFamily="18" charset="0"/>
                                          <a:ea typeface="Cambria Math" panose="02040503050406030204" pitchFamily="18" charset="0"/>
                                        </a:rPr>
                                        <m:t>𝟏</m:t>
                                      </m:r>
                                    </m:e>
                                    <m:e>
                                      <m:r>
                                        <a:rPr lang="en-CA" b="0" i="1" smtClean="0">
                                          <a:latin typeface="Cambria Math" panose="02040503050406030204" pitchFamily="18" charset="0"/>
                                          <a:ea typeface="Cambria Math" panose="02040503050406030204" pitchFamily="18" charset="0"/>
                                        </a:rPr>
                                        <m:t>0</m:t>
                                      </m:r>
                                    </m:e>
                                  </m:mr>
                                  <m:mr>
                                    <m:e>
                                      <m:r>
                                        <a:rPr lang="en-CA" b="0" i="1" smtClean="0">
                                          <a:latin typeface="Cambria Math" panose="02040503050406030204" pitchFamily="18" charset="0"/>
                                          <a:ea typeface="Cambria Math" panose="02040503050406030204" pitchFamily="18" charset="0"/>
                                        </a:rPr>
                                        <m:t>0</m:t>
                                      </m:r>
                                    </m:e>
                                    <m:e>
                                      <m:r>
                                        <a:rPr lang="en-CA" b="1" i="1" smtClean="0">
                                          <a:solidFill>
                                            <a:srgbClr val="C00000"/>
                                          </a:solidFill>
                                          <a:latin typeface="Cambria Math" panose="02040503050406030204" pitchFamily="18" charset="0"/>
                                          <a:ea typeface="Cambria Math" panose="02040503050406030204" pitchFamily="18" charset="0"/>
                                        </a:rPr>
                                        <m:t>𝟏</m:t>
                                      </m:r>
                                    </m:e>
                                  </m:mr>
                                </m:m>
                              </m:e>
                              <m:e/>
                            </m:mr>
                            <m:mr>
                              <m:e/>
                              <m:e>
                                <m:m>
                                  <m:mPr>
                                    <m:mcs>
                                      <m:mc>
                                        <m:mcPr>
                                          <m:count m:val="2"/>
                                          <m:mcJc m:val="center"/>
                                        </m:mcPr>
                                      </m:mc>
                                    </m:mcs>
                                    <m:ctrlPr>
                                      <a:rPr lang="en-US" b="0" i="1" smtClean="0">
                                        <a:latin typeface="Cambria Math" panose="02040503050406030204" pitchFamily="18" charset="0"/>
                                        <a:ea typeface="Cambria Math" panose="02040503050406030204" pitchFamily="18" charset="0"/>
                                      </a:rPr>
                                    </m:ctrlPr>
                                  </m:mPr>
                                  <m:mr>
                                    <m:e>
                                      <m:r>
                                        <m:rPr>
                                          <m:brk m:alnAt="7"/>
                                        </m:rPr>
                                        <a:rPr lang="en-CA" b="0" i="1" smtClean="0">
                                          <a:latin typeface="Cambria Math" panose="02040503050406030204" pitchFamily="18" charset="0"/>
                                          <a:ea typeface="Cambria Math" panose="02040503050406030204" pitchFamily="18" charset="0"/>
                                        </a:rPr>
                                        <m:t>0</m:t>
                                      </m:r>
                                    </m:e>
                                    <m:e>
                                      <m:r>
                                        <a:rPr lang="en-CA" b="1" i="1" smtClean="0">
                                          <a:solidFill>
                                            <a:srgbClr val="C00000"/>
                                          </a:solidFill>
                                          <a:latin typeface="Cambria Math" panose="02040503050406030204" pitchFamily="18" charset="0"/>
                                          <a:ea typeface="Cambria Math" panose="02040503050406030204" pitchFamily="18" charset="0"/>
                                        </a:rPr>
                                        <m:t>𝟏</m:t>
                                      </m:r>
                                    </m:e>
                                  </m:mr>
                                  <m:mr>
                                    <m:e>
                                      <m:r>
                                        <a:rPr lang="en-CA" b="1" i="1" smtClean="0">
                                          <a:solidFill>
                                            <a:srgbClr val="C00000"/>
                                          </a:solidFill>
                                          <a:latin typeface="Cambria Math" panose="02040503050406030204" pitchFamily="18" charset="0"/>
                                          <a:ea typeface="Cambria Math" panose="02040503050406030204" pitchFamily="18" charset="0"/>
                                        </a:rPr>
                                        <m:t>𝟏</m:t>
                                      </m:r>
                                    </m:e>
                                    <m:e>
                                      <m:r>
                                        <a:rPr lang="en-CA" b="0" i="1" smtClean="0">
                                          <a:latin typeface="Cambria Math" panose="02040503050406030204" pitchFamily="18" charset="0"/>
                                          <a:ea typeface="Cambria Math" panose="02040503050406030204" pitchFamily="18" charset="0"/>
                                        </a:rPr>
                                        <m:t>0</m:t>
                                      </m:r>
                                    </m:e>
                                  </m:mr>
                                </m:m>
                              </m:e>
                            </m:mr>
                          </m:m>
                        </m:e>
                      </m:d>
                    </m:oMath>
                  </m:oMathPara>
                </a14:m>
                <a:endParaRPr lang="en-US" dirty="0"/>
              </a:p>
            </p:txBody>
          </p:sp>
        </mc:Choice>
        <mc:Fallback xmlns="">
          <p:sp>
            <p:nvSpPr>
              <p:cNvPr id="9" name="Rectangle 8">
                <a:extLst>
                  <a:ext uri="{FF2B5EF4-FFF2-40B4-BE49-F238E27FC236}">
                    <a16:creationId xmlns:a16="http://schemas.microsoft.com/office/drawing/2014/main" id="{3F6D0652-136A-7AD5-2B27-E75E9CEF8E87}"/>
                  </a:ext>
                </a:extLst>
              </p:cNvPr>
              <p:cNvSpPr>
                <a:spLocks noRot="1" noChangeAspect="1" noMove="1" noResize="1" noEditPoints="1" noAdjustHandles="1" noChangeArrowheads="1" noChangeShapeType="1" noTextEdit="1"/>
              </p:cNvSpPr>
              <p:nvPr/>
            </p:nvSpPr>
            <p:spPr>
              <a:xfrm>
                <a:off x="8690122" y="4639941"/>
                <a:ext cx="2692532" cy="1055995"/>
              </a:xfrm>
              <a:prstGeom prst="rect">
                <a:avLst/>
              </a:prstGeom>
              <a:blipFill>
                <a:blip r:embed="rId8"/>
                <a:stretch>
                  <a:fillRect b="-2381"/>
                </a:stretch>
              </a:blipFill>
            </p:spPr>
            <p:txBody>
              <a:bodyPr/>
              <a:lstStyle/>
              <a:p>
                <a:r>
                  <a:rPr lang="en-US">
                    <a:noFill/>
                  </a:rPr>
                  <a:t> </a:t>
                </a:r>
              </a:p>
            </p:txBody>
          </p:sp>
        </mc:Fallback>
      </mc:AlternateContent>
      <p:sp>
        <p:nvSpPr>
          <p:cNvPr id="10" name="Content Placeholder 2">
            <a:extLst>
              <a:ext uri="{FF2B5EF4-FFF2-40B4-BE49-F238E27FC236}">
                <a16:creationId xmlns:a16="http://schemas.microsoft.com/office/drawing/2014/main" id="{3BC82C4C-52AC-9EBD-F2AF-2BFEC2847F60}"/>
              </a:ext>
            </a:extLst>
          </p:cNvPr>
          <p:cNvSpPr txBox="1">
            <a:spLocks/>
          </p:cNvSpPr>
          <p:nvPr/>
        </p:nvSpPr>
        <p:spPr>
          <a:xfrm>
            <a:off x="838199" y="3854448"/>
            <a:ext cx="10906125" cy="588964"/>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Font typeface="Arial" panose="020B0604020202020204" pitchFamily="34" charset="0"/>
              <a:buNone/>
            </a:pPr>
            <a:r>
              <a:rPr lang="en-US" sz="2400" dirty="0"/>
              <a:t>Matrix representation of transformations:</a:t>
            </a:r>
            <a:endParaRPr lang="en-US" sz="2000" dirty="0"/>
          </a:p>
          <a:p>
            <a:pPr lvl="1"/>
            <a:endParaRPr lang="en-US" sz="2000" dirty="0"/>
          </a:p>
          <a:p>
            <a:pPr marL="457200" lvl="1" indent="0">
              <a:buFont typeface="Arial" panose="020B0604020202020204" pitchFamily="34" charset="0"/>
              <a:buNone/>
            </a:pPr>
            <a:endParaRPr lang="en-US" sz="2000" dirty="0"/>
          </a:p>
        </p:txBody>
      </p:sp>
      <mc:AlternateContent xmlns:mc="http://schemas.openxmlformats.org/markup-compatibility/2006" xmlns:a14="http://schemas.microsoft.com/office/drawing/2010/main">
        <mc:Choice Requires="a14">
          <p:sp>
            <p:nvSpPr>
              <p:cNvPr id="11" name="Rectangle 10">
                <a:extLst>
                  <a:ext uri="{FF2B5EF4-FFF2-40B4-BE49-F238E27FC236}">
                    <a16:creationId xmlns:a16="http://schemas.microsoft.com/office/drawing/2014/main" id="{475C5C43-E7CE-2D82-8454-332CC038E65E}"/>
                  </a:ext>
                </a:extLst>
              </p:cNvPr>
              <p:cNvSpPr/>
              <p:nvPr/>
            </p:nvSpPr>
            <p:spPr>
              <a:xfrm>
                <a:off x="4577764" y="4639941"/>
                <a:ext cx="2998385" cy="1126975"/>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r>
                        <a:rPr lang="en-US" b="0" i="1" smtClean="0">
                          <a:latin typeface="Cambria Math" panose="02040503050406030204" pitchFamily="18" charset="0"/>
                          <a:ea typeface="Cambria Math" panose="02040503050406030204" pitchFamily="18" charset="0"/>
                        </a:rPr>
                        <m:t>𝑋</m:t>
                      </m:r>
                      <m:r>
                        <a:rPr lang="en-CA" b="0" i="1" smtClean="0">
                          <a:latin typeface="Cambria Math" panose="02040503050406030204" pitchFamily="18" charset="0"/>
                          <a:ea typeface="Cambria Math" panose="02040503050406030204" pitchFamily="18" charset="0"/>
                        </a:rPr>
                        <m:t>⊗</m:t>
                      </m:r>
                      <m:r>
                        <a:rPr lang="en-CA" b="0" i="1" smtClean="0">
                          <a:latin typeface="Cambria Math" panose="02040503050406030204" pitchFamily="18" charset="0"/>
                          <a:ea typeface="Cambria Math" panose="02040503050406030204" pitchFamily="18" charset="0"/>
                        </a:rPr>
                        <m:t>𝐼</m:t>
                      </m:r>
                      <m:r>
                        <a:rPr lang="en-US" b="0" i="1" smtClean="0">
                          <a:latin typeface="Cambria Math" panose="02040503050406030204" pitchFamily="18" charset="0"/>
                          <a:ea typeface="Cambria Math" panose="02040503050406030204" pitchFamily="18" charset="0"/>
                        </a:rPr>
                        <m:t>=</m:t>
                      </m:r>
                      <m:d>
                        <m:dPr>
                          <m:ctrlPr>
                            <a:rPr lang="en-US" b="0" i="1" smtClean="0">
                              <a:latin typeface="Cambria Math" panose="02040503050406030204" pitchFamily="18" charset="0"/>
                              <a:ea typeface="Cambria Math" panose="02040503050406030204" pitchFamily="18" charset="0"/>
                            </a:rPr>
                          </m:ctrlPr>
                        </m:dPr>
                        <m:e>
                          <m:m>
                            <m:mPr>
                              <m:mcs>
                                <m:mc>
                                  <m:mcPr>
                                    <m:count m:val="2"/>
                                    <m:mcJc m:val="center"/>
                                  </m:mcPr>
                                </m:mc>
                              </m:mcs>
                              <m:ctrlPr>
                                <a:rPr lang="en-US" b="0" i="1" smtClean="0">
                                  <a:latin typeface="Cambria Math" panose="02040503050406030204" pitchFamily="18" charset="0"/>
                                  <a:ea typeface="Cambria Math" panose="02040503050406030204" pitchFamily="18" charset="0"/>
                                </a:rPr>
                              </m:ctrlPr>
                            </m:mPr>
                            <m:mr>
                              <m:e>
                                <m:m>
                                  <m:mPr>
                                    <m:mcs>
                                      <m:mc>
                                        <m:mcPr>
                                          <m:count m:val="2"/>
                                          <m:mcJc m:val="center"/>
                                        </m:mcPr>
                                      </m:mc>
                                    </m:mcs>
                                    <m:ctrlPr>
                                      <a:rPr lang="en-US" b="0" i="1" smtClean="0">
                                        <a:latin typeface="Cambria Math" panose="02040503050406030204" pitchFamily="18" charset="0"/>
                                        <a:ea typeface="Cambria Math" panose="02040503050406030204" pitchFamily="18" charset="0"/>
                                      </a:rPr>
                                    </m:ctrlPr>
                                  </m:mPr>
                                  <m:mr>
                                    <m:e/>
                                    <m:e/>
                                  </m:mr>
                                  <m:mr>
                                    <m:e/>
                                    <m:e/>
                                  </m:mr>
                                </m:m>
                              </m:e>
                              <m:e>
                                <m:m>
                                  <m:mPr>
                                    <m:mcs>
                                      <m:mc>
                                        <m:mcPr>
                                          <m:count m:val="2"/>
                                          <m:mcJc m:val="center"/>
                                        </m:mcPr>
                                      </m:mc>
                                    </m:mcs>
                                    <m:ctrlPr>
                                      <a:rPr lang="en-US" b="0" i="1" smtClean="0">
                                        <a:latin typeface="Cambria Math" panose="02040503050406030204" pitchFamily="18" charset="0"/>
                                        <a:ea typeface="Cambria Math" panose="02040503050406030204" pitchFamily="18" charset="0"/>
                                      </a:rPr>
                                    </m:ctrlPr>
                                  </m:mPr>
                                  <m:mr>
                                    <m:e>
                                      <m:r>
                                        <m:rPr>
                                          <m:brk m:alnAt="7"/>
                                        </m:rPr>
                                        <a:rPr lang="en-CA" b="1" i="1" smtClean="0">
                                          <a:solidFill>
                                            <a:srgbClr val="C00000"/>
                                          </a:solidFill>
                                          <a:latin typeface="Cambria Math" panose="02040503050406030204" pitchFamily="18" charset="0"/>
                                          <a:ea typeface="Cambria Math" panose="02040503050406030204" pitchFamily="18" charset="0"/>
                                        </a:rPr>
                                        <m:t>𝟏</m:t>
                                      </m:r>
                                    </m:e>
                                    <m:e>
                                      <m:r>
                                        <a:rPr lang="en-CA" b="0" i="1" smtClean="0">
                                          <a:latin typeface="Cambria Math" panose="02040503050406030204" pitchFamily="18" charset="0"/>
                                          <a:ea typeface="Cambria Math" panose="02040503050406030204" pitchFamily="18" charset="0"/>
                                        </a:rPr>
                                        <m:t>0</m:t>
                                      </m:r>
                                    </m:e>
                                  </m:mr>
                                  <m:mr>
                                    <m:e>
                                      <m:r>
                                        <a:rPr lang="en-CA" b="0" i="1" smtClean="0">
                                          <a:latin typeface="Cambria Math" panose="02040503050406030204" pitchFamily="18" charset="0"/>
                                          <a:ea typeface="Cambria Math" panose="02040503050406030204" pitchFamily="18" charset="0"/>
                                        </a:rPr>
                                        <m:t>0</m:t>
                                      </m:r>
                                    </m:e>
                                    <m:e>
                                      <m:r>
                                        <a:rPr lang="en-CA" b="1" i="1" smtClean="0">
                                          <a:solidFill>
                                            <a:srgbClr val="C00000"/>
                                          </a:solidFill>
                                          <a:latin typeface="Cambria Math" panose="02040503050406030204" pitchFamily="18" charset="0"/>
                                          <a:ea typeface="Cambria Math" panose="02040503050406030204" pitchFamily="18" charset="0"/>
                                        </a:rPr>
                                        <m:t>𝟏</m:t>
                                      </m:r>
                                    </m:e>
                                  </m:mr>
                                </m:m>
                              </m:e>
                            </m:mr>
                            <m:mr>
                              <m:e>
                                <m:m>
                                  <m:mPr>
                                    <m:mcs>
                                      <m:mc>
                                        <m:mcPr>
                                          <m:count m:val="2"/>
                                          <m:mcJc m:val="center"/>
                                        </m:mcPr>
                                      </m:mc>
                                    </m:mcs>
                                    <m:ctrlPr>
                                      <a:rPr lang="en-US" b="0" i="1" smtClean="0">
                                        <a:latin typeface="Cambria Math" panose="02040503050406030204" pitchFamily="18" charset="0"/>
                                        <a:ea typeface="Cambria Math" panose="02040503050406030204" pitchFamily="18" charset="0"/>
                                      </a:rPr>
                                    </m:ctrlPr>
                                  </m:mPr>
                                  <m:mr>
                                    <m:e>
                                      <m:r>
                                        <m:rPr>
                                          <m:brk m:alnAt="7"/>
                                        </m:rPr>
                                        <a:rPr lang="en-CA" b="1" i="1" smtClean="0">
                                          <a:solidFill>
                                            <a:srgbClr val="C00000"/>
                                          </a:solidFill>
                                          <a:latin typeface="Cambria Math" panose="02040503050406030204" pitchFamily="18" charset="0"/>
                                          <a:ea typeface="Cambria Math" panose="02040503050406030204" pitchFamily="18" charset="0"/>
                                        </a:rPr>
                                        <m:t>𝟏</m:t>
                                      </m:r>
                                    </m:e>
                                    <m:e>
                                      <m:r>
                                        <a:rPr lang="en-CA" b="0" i="1" smtClean="0">
                                          <a:latin typeface="Cambria Math" panose="02040503050406030204" pitchFamily="18" charset="0"/>
                                          <a:ea typeface="Cambria Math" panose="02040503050406030204" pitchFamily="18" charset="0"/>
                                        </a:rPr>
                                        <m:t>0</m:t>
                                      </m:r>
                                    </m:e>
                                  </m:mr>
                                  <m:mr>
                                    <m:e>
                                      <m:r>
                                        <a:rPr lang="en-CA" b="0" i="1" smtClean="0">
                                          <a:latin typeface="Cambria Math" panose="02040503050406030204" pitchFamily="18" charset="0"/>
                                          <a:ea typeface="Cambria Math" panose="02040503050406030204" pitchFamily="18" charset="0"/>
                                        </a:rPr>
                                        <m:t>0</m:t>
                                      </m:r>
                                    </m:e>
                                    <m:e>
                                      <m:r>
                                        <a:rPr lang="en-CA" b="1" i="1" smtClean="0">
                                          <a:solidFill>
                                            <a:srgbClr val="C00000"/>
                                          </a:solidFill>
                                          <a:latin typeface="Cambria Math" panose="02040503050406030204" pitchFamily="18" charset="0"/>
                                          <a:ea typeface="Cambria Math" panose="02040503050406030204" pitchFamily="18" charset="0"/>
                                        </a:rPr>
                                        <m:t>𝟏</m:t>
                                      </m:r>
                                    </m:e>
                                  </m:mr>
                                </m:m>
                              </m:e>
                              <m:e>
                                <m:m>
                                  <m:mPr>
                                    <m:mcs>
                                      <m:mc>
                                        <m:mcPr>
                                          <m:count m:val="2"/>
                                          <m:mcJc m:val="center"/>
                                        </m:mcPr>
                                      </m:mc>
                                    </m:mcs>
                                    <m:ctrlPr>
                                      <a:rPr lang="en-US" b="0" i="1" smtClean="0">
                                        <a:latin typeface="Cambria Math" panose="02040503050406030204" pitchFamily="18" charset="0"/>
                                        <a:ea typeface="Cambria Math" panose="02040503050406030204" pitchFamily="18" charset="0"/>
                                      </a:rPr>
                                    </m:ctrlPr>
                                  </m:mPr>
                                  <m:mr>
                                    <m:e/>
                                    <m:e/>
                                  </m:mr>
                                  <m:mr>
                                    <m:e/>
                                    <m:e/>
                                  </m:mr>
                                </m:m>
                              </m:e>
                            </m:mr>
                          </m:m>
                        </m:e>
                      </m:d>
                    </m:oMath>
                  </m:oMathPara>
                </a14:m>
                <a:endParaRPr lang="en-US" dirty="0"/>
              </a:p>
            </p:txBody>
          </p:sp>
        </mc:Choice>
        <mc:Fallback xmlns="">
          <p:sp>
            <p:nvSpPr>
              <p:cNvPr id="11" name="Rectangle 10">
                <a:extLst>
                  <a:ext uri="{FF2B5EF4-FFF2-40B4-BE49-F238E27FC236}">
                    <a16:creationId xmlns:a16="http://schemas.microsoft.com/office/drawing/2014/main" id="{475C5C43-E7CE-2D82-8454-332CC038E65E}"/>
                  </a:ext>
                </a:extLst>
              </p:cNvPr>
              <p:cNvSpPr>
                <a:spLocks noRot="1" noChangeAspect="1" noMove="1" noResize="1" noEditPoints="1" noAdjustHandles="1" noChangeArrowheads="1" noChangeShapeType="1" noTextEdit="1"/>
              </p:cNvSpPr>
              <p:nvPr/>
            </p:nvSpPr>
            <p:spPr>
              <a:xfrm>
                <a:off x="4577764" y="4639941"/>
                <a:ext cx="2998385" cy="1126975"/>
              </a:xfrm>
              <a:prstGeom prst="rect">
                <a:avLst/>
              </a:prstGeom>
              <a:blipFill>
                <a:blip r:embed="rId9"/>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2" name="Rectangle 11">
                <a:extLst>
                  <a:ext uri="{FF2B5EF4-FFF2-40B4-BE49-F238E27FC236}">
                    <a16:creationId xmlns:a16="http://schemas.microsoft.com/office/drawing/2014/main" id="{430BFB5C-1F0C-FD45-1CA4-932AD28A7035}"/>
                  </a:ext>
                </a:extLst>
              </p:cNvPr>
              <p:cNvSpPr/>
              <p:nvPr/>
            </p:nvSpPr>
            <p:spPr>
              <a:xfrm>
                <a:off x="838199" y="4690572"/>
                <a:ext cx="2679580" cy="1055995"/>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r>
                        <a:rPr lang="en-CA" b="0" i="1" smtClean="0">
                          <a:latin typeface="Cambria Math" panose="02040503050406030204" pitchFamily="18" charset="0"/>
                          <a:ea typeface="Cambria Math" panose="02040503050406030204" pitchFamily="18" charset="0"/>
                        </a:rPr>
                        <m:t>𝐼</m:t>
                      </m:r>
                      <m:r>
                        <a:rPr lang="en-CA" b="0" i="1" smtClean="0">
                          <a:latin typeface="Cambria Math" panose="02040503050406030204" pitchFamily="18" charset="0"/>
                          <a:ea typeface="Cambria Math" panose="02040503050406030204" pitchFamily="18" charset="0"/>
                        </a:rPr>
                        <m:t>⊗</m:t>
                      </m:r>
                      <m:r>
                        <a:rPr lang="en-US" b="0" i="1" smtClean="0">
                          <a:latin typeface="Cambria Math" panose="02040503050406030204" pitchFamily="18" charset="0"/>
                          <a:ea typeface="Cambria Math" panose="02040503050406030204" pitchFamily="18" charset="0"/>
                        </a:rPr>
                        <m:t>𝑋</m:t>
                      </m:r>
                      <m:r>
                        <a:rPr lang="en-US" b="0" i="1" smtClean="0">
                          <a:latin typeface="Cambria Math" panose="02040503050406030204" pitchFamily="18" charset="0"/>
                          <a:ea typeface="Cambria Math" panose="02040503050406030204" pitchFamily="18" charset="0"/>
                        </a:rPr>
                        <m:t>=</m:t>
                      </m:r>
                      <m:d>
                        <m:dPr>
                          <m:ctrlPr>
                            <a:rPr lang="en-US" b="0" i="1" smtClean="0">
                              <a:latin typeface="Cambria Math" panose="02040503050406030204" pitchFamily="18" charset="0"/>
                              <a:ea typeface="Cambria Math" panose="02040503050406030204" pitchFamily="18" charset="0"/>
                            </a:rPr>
                          </m:ctrlPr>
                        </m:dPr>
                        <m:e>
                          <m:m>
                            <m:mPr>
                              <m:mcs>
                                <m:mc>
                                  <m:mcPr>
                                    <m:count m:val="2"/>
                                    <m:mcJc m:val="center"/>
                                  </m:mcPr>
                                </m:mc>
                              </m:mcs>
                              <m:ctrlPr>
                                <a:rPr lang="en-US" b="0" i="1" smtClean="0">
                                  <a:latin typeface="Cambria Math" panose="02040503050406030204" pitchFamily="18" charset="0"/>
                                  <a:ea typeface="Cambria Math" panose="02040503050406030204" pitchFamily="18" charset="0"/>
                                </a:rPr>
                              </m:ctrlPr>
                            </m:mPr>
                            <m:mr>
                              <m:e>
                                <m:m>
                                  <m:mPr>
                                    <m:mcs>
                                      <m:mc>
                                        <m:mcPr>
                                          <m:count m:val="2"/>
                                          <m:mcJc m:val="center"/>
                                        </m:mcPr>
                                      </m:mc>
                                    </m:mcs>
                                    <m:ctrlPr>
                                      <a:rPr lang="en-US" b="0" i="1" smtClean="0">
                                        <a:latin typeface="Cambria Math" panose="02040503050406030204" pitchFamily="18" charset="0"/>
                                        <a:ea typeface="Cambria Math" panose="02040503050406030204" pitchFamily="18" charset="0"/>
                                      </a:rPr>
                                    </m:ctrlPr>
                                  </m:mPr>
                                  <m:mr>
                                    <m:e>
                                      <m:r>
                                        <a:rPr lang="en-CA" b="0" i="1" smtClean="0">
                                          <a:latin typeface="Cambria Math" panose="02040503050406030204" pitchFamily="18" charset="0"/>
                                          <a:ea typeface="Cambria Math" panose="02040503050406030204" pitchFamily="18" charset="0"/>
                                        </a:rPr>
                                        <m:t>0</m:t>
                                      </m:r>
                                    </m:e>
                                    <m:e>
                                      <m:r>
                                        <a:rPr lang="en-CA" b="1" i="1" smtClean="0">
                                          <a:solidFill>
                                            <a:srgbClr val="C00000"/>
                                          </a:solidFill>
                                          <a:latin typeface="Cambria Math" panose="02040503050406030204" pitchFamily="18" charset="0"/>
                                          <a:ea typeface="Cambria Math" panose="02040503050406030204" pitchFamily="18" charset="0"/>
                                        </a:rPr>
                                        <m:t>𝟏</m:t>
                                      </m:r>
                                    </m:e>
                                  </m:mr>
                                  <m:mr>
                                    <m:e>
                                      <m:r>
                                        <a:rPr lang="en-CA" b="1" i="1" smtClean="0">
                                          <a:solidFill>
                                            <a:srgbClr val="C00000"/>
                                          </a:solidFill>
                                          <a:latin typeface="Cambria Math" panose="02040503050406030204" pitchFamily="18" charset="0"/>
                                          <a:ea typeface="Cambria Math" panose="02040503050406030204" pitchFamily="18" charset="0"/>
                                        </a:rPr>
                                        <m:t>𝟏</m:t>
                                      </m:r>
                                    </m:e>
                                    <m:e>
                                      <m:r>
                                        <m:rPr>
                                          <m:brk m:alnAt="7"/>
                                        </m:rPr>
                                        <a:rPr lang="en-CA" b="0" i="1" smtClean="0">
                                          <a:latin typeface="Cambria Math" panose="02040503050406030204" pitchFamily="18" charset="0"/>
                                          <a:ea typeface="Cambria Math" panose="02040503050406030204" pitchFamily="18" charset="0"/>
                                        </a:rPr>
                                        <m:t>0</m:t>
                                      </m:r>
                                    </m:e>
                                  </m:mr>
                                </m:m>
                              </m:e>
                              <m:e/>
                            </m:mr>
                            <m:mr>
                              <m:e/>
                              <m:e>
                                <m:m>
                                  <m:mPr>
                                    <m:mcs>
                                      <m:mc>
                                        <m:mcPr>
                                          <m:count m:val="2"/>
                                          <m:mcJc m:val="center"/>
                                        </m:mcPr>
                                      </m:mc>
                                    </m:mcs>
                                    <m:ctrlPr>
                                      <a:rPr lang="en-US" b="0" i="1" smtClean="0">
                                        <a:latin typeface="Cambria Math" panose="02040503050406030204" pitchFamily="18" charset="0"/>
                                        <a:ea typeface="Cambria Math" panose="02040503050406030204" pitchFamily="18" charset="0"/>
                                      </a:rPr>
                                    </m:ctrlPr>
                                  </m:mPr>
                                  <m:mr>
                                    <m:e>
                                      <m:r>
                                        <m:rPr>
                                          <m:brk m:alnAt="7"/>
                                        </m:rPr>
                                        <a:rPr lang="en-CA" b="0" i="1" smtClean="0">
                                          <a:latin typeface="Cambria Math" panose="02040503050406030204" pitchFamily="18" charset="0"/>
                                          <a:ea typeface="Cambria Math" panose="02040503050406030204" pitchFamily="18" charset="0"/>
                                        </a:rPr>
                                        <m:t>0</m:t>
                                      </m:r>
                                    </m:e>
                                    <m:e>
                                      <m:r>
                                        <a:rPr lang="en-CA" b="1" i="1" smtClean="0">
                                          <a:solidFill>
                                            <a:srgbClr val="C00000"/>
                                          </a:solidFill>
                                          <a:latin typeface="Cambria Math" panose="02040503050406030204" pitchFamily="18" charset="0"/>
                                          <a:ea typeface="Cambria Math" panose="02040503050406030204" pitchFamily="18" charset="0"/>
                                        </a:rPr>
                                        <m:t>𝟏</m:t>
                                      </m:r>
                                    </m:e>
                                  </m:mr>
                                  <m:mr>
                                    <m:e>
                                      <m:r>
                                        <a:rPr lang="en-CA" b="1" i="1" smtClean="0">
                                          <a:solidFill>
                                            <a:srgbClr val="C00000"/>
                                          </a:solidFill>
                                          <a:latin typeface="Cambria Math" panose="02040503050406030204" pitchFamily="18" charset="0"/>
                                          <a:ea typeface="Cambria Math" panose="02040503050406030204" pitchFamily="18" charset="0"/>
                                        </a:rPr>
                                        <m:t>𝟏</m:t>
                                      </m:r>
                                    </m:e>
                                    <m:e>
                                      <m:r>
                                        <a:rPr lang="en-CA" b="0" i="1" smtClean="0">
                                          <a:latin typeface="Cambria Math" panose="02040503050406030204" pitchFamily="18" charset="0"/>
                                          <a:ea typeface="Cambria Math" panose="02040503050406030204" pitchFamily="18" charset="0"/>
                                        </a:rPr>
                                        <m:t>0</m:t>
                                      </m:r>
                                    </m:e>
                                  </m:mr>
                                </m:m>
                              </m:e>
                            </m:mr>
                          </m:m>
                        </m:e>
                      </m:d>
                    </m:oMath>
                  </m:oMathPara>
                </a14:m>
                <a:endParaRPr lang="en-US" dirty="0"/>
              </a:p>
            </p:txBody>
          </p:sp>
        </mc:Choice>
        <mc:Fallback xmlns="">
          <p:sp>
            <p:nvSpPr>
              <p:cNvPr id="12" name="Rectangle 11">
                <a:extLst>
                  <a:ext uri="{FF2B5EF4-FFF2-40B4-BE49-F238E27FC236}">
                    <a16:creationId xmlns:a16="http://schemas.microsoft.com/office/drawing/2014/main" id="{430BFB5C-1F0C-FD45-1CA4-932AD28A7035}"/>
                  </a:ext>
                </a:extLst>
              </p:cNvPr>
              <p:cNvSpPr>
                <a:spLocks noRot="1" noChangeAspect="1" noMove="1" noResize="1" noEditPoints="1" noAdjustHandles="1" noChangeArrowheads="1" noChangeShapeType="1" noTextEdit="1"/>
              </p:cNvSpPr>
              <p:nvPr/>
            </p:nvSpPr>
            <p:spPr>
              <a:xfrm>
                <a:off x="838199" y="4690572"/>
                <a:ext cx="2679580" cy="1055995"/>
              </a:xfrm>
              <a:prstGeom prst="rect">
                <a:avLst/>
              </a:prstGeom>
              <a:blipFill>
                <a:blip r:embed="rId10"/>
                <a:stretch>
                  <a:fillRect b="-2381"/>
                </a:stretch>
              </a:blipFill>
            </p:spPr>
            <p:txBody>
              <a:bodyPr/>
              <a:lstStyle/>
              <a:p>
                <a:r>
                  <a:rPr lang="en-US">
                    <a:noFill/>
                  </a:rPr>
                  <a:t> </a:t>
                </a:r>
              </a:p>
            </p:txBody>
          </p:sp>
        </mc:Fallback>
      </mc:AlternateContent>
    </p:spTree>
    <p:extLst>
      <p:ext uri="{BB962C8B-B14F-4D97-AF65-F5344CB8AC3E}">
        <p14:creationId xmlns:p14="http://schemas.microsoft.com/office/powerpoint/2010/main" val="319902037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0"/>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12"/>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11"/>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9"/>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p:bldP spid="10" grpId="0"/>
      <p:bldP spid="11" grpId="0"/>
      <p:bldP spid="12" grpId="0"/>
    </p:bld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A2B6AB8-4C84-1448-01AA-904798889CB3}"/>
              </a:ext>
            </a:extLst>
          </p:cNvPr>
          <p:cNvSpPr>
            <a:spLocks noGrp="1"/>
          </p:cNvSpPr>
          <p:nvPr>
            <p:ph type="title"/>
          </p:nvPr>
        </p:nvSpPr>
        <p:spPr/>
        <p:txBody>
          <a:bodyPr/>
          <a:lstStyle/>
          <a:p>
            <a:r>
              <a:rPr lang="en-US" dirty="0"/>
              <a:t>Reversible </a:t>
            </a:r>
            <a:r>
              <a:rPr lang="en-US" dirty="0" smtClean="0"/>
              <a:t>circuits as matrix products</a:t>
            </a:r>
            <a:endParaRPr lang="en-US" dirty="0"/>
          </a:p>
        </p:txBody>
      </p:sp>
      <p:cxnSp>
        <p:nvCxnSpPr>
          <p:cNvPr id="4" name="Straight Connector 3">
            <a:extLst>
              <a:ext uri="{FF2B5EF4-FFF2-40B4-BE49-F238E27FC236}">
                <a16:creationId xmlns:a16="http://schemas.microsoft.com/office/drawing/2014/main" id="{B91E78E4-542E-3BF9-60EB-0A75C5E77BF2}"/>
              </a:ext>
            </a:extLst>
          </p:cNvPr>
          <p:cNvCxnSpPr>
            <a:cxnSpLocks/>
          </p:cNvCxnSpPr>
          <p:nvPr/>
        </p:nvCxnSpPr>
        <p:spPr>
          <a:xfrm>
            <a:off x="1621931" y="2655525"/>
            <a:ext cx="3881437" cy="0"/>
          </a:xfrm>
          <a:prstGeom prst="line">
            <a:avLst/>
          </a:prstGeom>
          <a:ln w="38100"/>
        </p:spPr>
        <p:style>
          <a:lnRef idx="1">
            <a:schemeClr val="accent1"/>
          </a:lnRef>
          <a:fillRef idx="0">
            <a:schemeClr val="accent1"/>
          </a:fillRef>
          <a:effectRef idx="0">
            <a:schemeClr val="accent1"/>
          </a:effectRef>
          <a:fontRef idx="minor">
            <a:schemeClr val="tx1"/>
          </a:fontRef>
        </p:style>
      </p:cxnSp>
      <p:cxnSp>
        <p:nvCxnSpPr>
          <p:cNvPr id="5" name="Straight Connector 4">
            <a:extLst>
              <a:ext uri="{FF2B5EF4-FFF2-40B4-BE49-F238E27FC236}">
                <a16:creationId xmlns:a16="http://schemas.microsoft.com/office/drawing/2014/main" id="{978AB706-375B-47F7-7B59-E9A1BCEE51D6}"/>
              </a:ext>
            </a:extLst>
          </p:cNvPr>
          <p:cNvCxnSpPr>
            <a:cxnSpLocks/>
          </p:cNvCxnSpPr>
          <p:nvPr/>
        </p:nvCxnSpPr>
        <p:spPr>
          <a:xfrm>
            <a:off x="1621931" y="3036526"/>
            <a:ext cx="3881437" cy="0"/>
          </a:xfrm>
          <a:prstGeom prst="line">
            <a:avLst/>
          </a:prstGeom>
          <a:ln w="38100"/>
        </p:spPr>
        <p:style>
          <a:lnRef idx="1">
            <a:schemeClr val="accent1"/>
          </a:lnRef>
          <a:fillRef idx="0">
            <a:schemeClr val="accent1"/>
          </a:fillRef>
          <a:effectRef idx="0">
            <a:schemeClr val="accent1"/>
          </a:effectRef>
          <a:fontRef idx="minor">
            <a:schemeClr val="tx1"/>
          </a:fontRef>
        </p:style>
      </p:cxnSp>
      <p:cxnSp>
        <p:nvCxnSpPr>
          <p:cNvPr id="6" name="Straight Connector 5">
            <a:extLst>
              <a:ext uri="{FF2B5EF4-FFF2-40B4-BE49-F238E27FC236}">
                <a16:creationId xmlns:a16="http://schemas.microsoft.com/office/drawing/2014/main" id="{BED5DF10-67D3-32D3-58D2-6D7F10D2B0CA}"/>
              </a:ext>
            </a:extLst>
          </p:cNvPr>
          <p:cNvCxnSpPr>
            <a:cxnSpLocks/>
          </p:cNvCxnSpPr>
          <p:nvPr/>
        </p:nvCxnSpPr>
        <p:spPr>
          <a:xfrm>
            <a:off x="1621931" y="3450863"/>
            <a:ext cx="3881437" cy="0"/>
          </a:xfrm>
          <a:prstGeom prst="line">
            <a:avLst/>
          </a:prstGeom>
          <a:ln w="38100"/>
        </p:spPr>
        <p:style>
          <a:lnRef idx="1">
            <a:schemeClr val="accent1"/>
          </a:lnRef>
          <a:fillRef idx="0">
            <a:schemeClr val="accent1"/>
          </a:fillRef>
          <a:effectRef idx="0">
            <a:schemeClr val="accent1"/>
          </a:effectRef>
          <a:fontRef idx="minor">
            <a:schemeClr val="tx1"/>
          </a:fontRef>
        </p:style>
      </p:cxnSp>
      <p:cxnSp>
        <p:nvCxnSpPr>
          <p:cNvPr id="24" name="Straight Connector 23">
            <a:extLst>
              <a:ext uri="{FF2B5EF4-FFF2-40B4-BE49-F238E27FC236}">
                <a16:creationId xmlns:a16="http://schemas.microsoft.com/office/drawing/2014/main" id="{C251F492-D539-8BC9-D978-FFDA40075D94}"/>
              </a:ext>
            </a:extLst>
          </p:cNvPr>
          <p:cNvCxnSpPr>
            <a:cxnSpLocks/>
            <a:stCxn id="25" idx="4"/>
            <a:endCxn id="26" idx="4"/>
          </p:cNvCxnSpPr>
          <p:nvPr/>
        </p:nvCxnSpPr>
        <p:spPr>
          <a:xfrm>
            <a:off x="2086297" y="2711971"/>
            <a:ext cx="4762" cy="412335"/>
          </a:xfrm>
          <a:prstGeom prst="line">
            <a:avLst/>
          </a:prstGeom>
          <a:ln w="38100"/>
        </p:spPr>
        <p:style>
          <a:lnRef idx="1">
            <a:schemeClr val="accent1"/>
          </a:lnRef>
          <a:fillRef idx="0">
            <a:schemeClr val="accent1"/>
          </a:fillRef>
          <a:effectRef idx="0">
            <a:schemeClr val="accent1"/>
          </a:effectRef>
          <a:fontRef idx="minor">
            <a:schemeClr val="tx1"/>
          </a:fontRef>
        </p:style>
      </p:cxnSp>
      <p:sp>
        <p:nvSpPr>
          <p:cNvPr id="25" name="Oval 24">
            <a:extLst>
              <a:ext uri="{FF2B5EF4-FFF2-40B4-BE49-F238E27FC236}">
                <a16:creationId xmlns:a16="http://schemas.microsoft.com/office/drawing/2014/main" id="{AB8B4065-5CE1-DAA6-8A24-DE0BD66656DA}"/>
              </a:ext>
            </a:extLst>
          </p:cNvPr>
          <p:cNvSpPr/>
          <p:nvPr/>
        </p:nvSpPr>
        <p:spPr>
          <a:xfrm>
            <a:off x="2010796" y="2549579"/>
            <a:ext cx="151002" cy="162392"/>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6" name="Oval 25">
            <a:extLst>
              <a:ext uri="{FF2B5EF4-FFF2-40B4-BE49-F238E27FC236}">
                <a16:creationId xmlns:a16="http://schemas.microsoft.com/office/drawing/2014/main" id="{63A30FB8-4FBA-074B-F80B-45B299B44464}"/>
              </a:ext>
            </a:extLst>
          </p:cNvPr>
          <p:cNvSpPr/>
          <p:nvPr/>
        </p:nvSpPr>
        <p:spPr>
          <a:xfrm>
            <a:off x="2010796" y="2920819"/>
            <a:ext cx="160526" cy="203487"/>
          </a:xfrm>
          <a:prstGeom prst="ellipse">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29" name="Straight Connector 28">
            <a:extLst>
              <a:ext uri="{FF2B5EF4-FFF2-40B4-BE49-F238E27FC236}">
                <a16:creationId xmlns:a16="http://schemas.microsoft.com/office/drawing/2014/main" id="{0EF03BBC-C955-CC47-DF5A-E2611905E73C}"/>
              </a:ext>
            </a:extLst>
          </p:cNvPr>
          <p:cNvCxnSpPr>
            <a:cxnSpLocks/>
            <a:stCxn id="30" idx="4"/>
            <a:endCxn id="31" idx="4"/>
          </p:cNvCxnSpPr>
          <p:nvPr/>
        </p:nvCxnSpPr>
        <p:spPr>
          <a:xfrm>
            <a:off x="2725781" y="3140271"/>
            <a:ext cx="4762" cy="412335"/>
          </a:xfrm>
          <a:prstGeom prst="line">
            <a:avLst/>
          </a:prstGeom>
          <a:ln w="38100"/>
        </p:spPr>
        <p:style>
          <a:lnRef idx="1">
            <a:schemeClr val="accent1"/>
          </a:lnRef>
          <a:fillRef idx="0">
            <a:schemeClr val="accent1"/>
          </a:fillRef>
          <a:effectRef idx="0">
            <a:schemeClr val="accent1"/>
          </a:effectRef>
          <a:fontRef idx="minor">
            <a:schemeClr val="tx1"/>
          </a:fontRef>
        </p:style>
      </p:cxnSp>
      <p:sp>
        <p:nvSpPr>
          <p:cNvPr id="30" name="Oval 29">
            <a:extLst>
              <a:ext uri="{FF2B5EF4-FFF2-40B4-BE49-F238E27FC236}">
                <a16:creationId xmlns:a16="http://schemas.microsoft.com/office/drawing/2014/main" id="{204D1E71-EF2F-F04C-E236-5066F4827A39}"/>
              </a:ext>
            </a:extLst>
          </p:cNvPr>
          <p:cNvSpPr/>
          <p:nvPr/>
        </p:nvSpPr>
        <p:spPr>
          <a:xfrm>
            <a:off x="2650280" y="2977879"/>
            <a:ext cx="151002" cy="162392"/>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1" name="Oval 30">
            <a:extLst>
              <a:ext uri="{FF2B5EF4-FFF2-40B4-BE49-F238E27FC236}">
                <a16:creationId xmlns:a16="http://schemas.microsoft.com/office/drawing/2014/main" id="{34F8237B-9095-798A-AB09-AD69A08160E8}"/>
              </a:ext>
            </a:extLst>
          </p:cNvPr>
          <p:cNvSpPr/>
          <p:nvPr/>
        </p:nvSpPr>
        <p:spPr>
          <a:xfrm>
            <a:off x="2650280" y="3349119"/>
            <a:ext cx="160526" cy="203487"/>
          </a:xfrm>
          <a:prstGeom prst="ellipse">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35" name="Straight Connector 34">
            <a:extLst>
              <a:ext uri="{FF2B5EF4-FFF2-40B4-BE49-F238E27FC236}">
                <a16:creationId xmlns:a16="http://schemas.microsoft.com/office/drawing/2014/main" id="{1E5F54C2-59F0-E7DA-012B-2A93BD4DC83D}"/>
              </a:ext>
            </a:extLst>
          </p:cNvPr>
          <p:cNvCxnSpPr>
            <a:cxnSpLocks/>
            <a:stCxn id="36" idx="4"/>
            <a:endCxn id="37" idx="0"/>
          </p:cNvCxnSpPr>
          <p:nvPr/>
        </p:nvCxnSpPr>
        <p:spPr>
          <a:xfrm flipV="1">
            <a:off x="3840911" y="2549579"/>
            <a:ext cx="0" cy="978649"/>
          </a:xfrm>
          <a:prstGeom prst="line">
            <a:avLst/>
          </a:prstGeom>
          <a:ln w="38100"/>
        </p:spPr>
        <p:style>
          <a:lnRef idx="1">
            <a:schemeClr val="accent1"/>
          </a:lnRef>
          <a:fillRef idx="0">
            <a:schemeClr val="accent1"/>
          </a:fillRef>
          <a:effectRef idx="0">
            <a:schemeClr val="accent1"/>
          </a:effectRef>
          <a:fontRef idx="minor">
            <a:schemeClr val="tx1"/>
          </a:fontRef>
        </p:style>
      </p:cxnSp>
      <p:sp>
        <p:nvSpPr>
          <p:cNvPr id="36" name="Oval 35">
            <a:extLst>
              <a:ext uri="{FF2B5EF4-FFF2-40B4-BE49-F238E27FC236}">
                <a16:creationId xmlns:a16="http://schemas.microsoft.com/office/drawing/2014/main" id="{0A7BD3D2-2C4E-A320-4218-FFF72F065583}"/>
              </a:ext>
            </a:extLst>
          </p:cNvPr>
          <p:cNvSpPr/>
          <p:nvPr/>
        </p:nvSpPr>
        <p:spPr>
          <a:xfrm>
            <a:off x="3765410" y="3365836"/>
            <a:ext cx="151002" cy="162392"/>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7" name="Oval 36">
            <a:extLst>
              <a:ext uri="{FF2B5EF4-FFF2-40B4-BE49-F238E27FC236}">
                <a16:creationId xmlns:a16="http://schemas.microsoft.com/office/drawing/2014/main" id="{9BB2BAD3-82D3-E0A2-EE4B-0EDC31F91CAF}"/>
              </a:ext>
            </a:extLst>
          </p:cNvPr>
          <p:cNvSpPr/>
          <p:nvPr/>
        </p:nvSpPr>
        <p:spPr>
          <a:xfrm>
            <a:off x="3760648" y="2549579"/>
            <a:ext cx="160526" cy="203487"/>
          </a:xfrm>
          <a:prstGeom prst="ellipse">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1" name="Rectangle 40">
            <a:extLst>
              <a:ext uri="{FF2B5EF4-FFF2-40B4-BE49-F238E27FC236}">
                <a16:creationId xmlns:a16="http://schemas.microsoft.com/office/drawing/2014/main" id="{855B4E78-2745-4AD9-372E-3BDB7C68F3CD}"/>
              </a:ext>
            </a:extLst>
          </p:cNvPr>
          <p:cNvSpPr/>
          <p:nvPr/>
        </p:nvSpPr>
        <p:spPr>
          <a:xfrm>
            <a:off x="4579693" y="2855494"/>
            <a:ext cx="738439" cy="407162"/>
          </a:xfrm>
          <a:prstGeom prst="rect">
            <a:avLst/>
          </a:prstGeom>
          <a:solidFill>
            <a:schemeClr val="accent1">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mc:AlternateContent xmlns:mc="http://schemas.openxmlformats.org/markup-compatibility/2006" xmlns:a14="http://schemas.microsoft.com/office/drawing/2010/main">
        <mc:Choice Requires="a14">
          <p:sp>
            <p:nvSpPr>
              <p:cNvPr id="43" name="TextBox 42">
                <a:extLst>
                  <a:ext uri="{FF2B5EF4-FFF2-40B4-BE49-F238E27FC236}">
                    <a16:creationId xmlns:a16="http://schemas.microsoft.com/office/drawing/2014/main" id="{94CC8C66-2F36-D8FA-B277-877F19EFD2F7}"/>
                  </a:ext>
                </a:extLst>
              </p:cNvPr>
              <p:cNvSpPr txBox="1"/>
              <p:nvPr/>
            </p:nvSpPr>
            <p:spPr>
              <a:xfrm>
                <a:off x="4579694" y="2874363"/>
                <a:ext cx="262436" cy="369332"/>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r>
                        <a:rPr lang="en-US" b="0" i="1" smtClean="0">
                          <a:latin typeface="Cambria Math" panose="02040503050406030204" pitchFamily="18" charset="0"/>
                        </a:rPr>
                        <m:t>𝑋</m:t>
                      </m:r>
                    </m:oMath>
                  </m:oMathPara>
                </a14:m>
                <a:endParaRPr lang="en-US" dirty="0"/>
              </a:p>
            </p:txBody>
          </p:sp>
        </mc:Choice>
        <mc:Fallback xmlns="">
          <p:sp>
            <p:nvSpPr>
              <p:cNvPr id="43" name="TextBox 42">
                <a:extLst>
                  <a:ext uri="{FF2B5EF4-FFF2-40B4-BE49-F238E27FC236}">
                    <a16:creationId xmlns:a16="http://schemas.microsoft.com/office/drawing/2014/main" id="{94CC8C66-2F36-D8FA-B277-877F19EFD2F7}"/>
                  </a:ext>
                </a:extLst>
              </p:cNvPr>
              <p:cNvSpPr txBox="1">
                <a:spLocks noRot="1" noChangeAspect="1" noMove="1" noResize="1" noEditPoints="1" noAdjustHandles="1" noChangeArrowheads="1" noChangeShapeType="1" noTextEdit="1"/>
              </p:cNvSpPr>
              <p:nvPr/>
            </p:nvSpPr>
            <p:spPr>
              <a:xfrm>
                <a:off x="4579694" y="2874363"/>
                <a:ext cx="262436" cy="369332"/>
              </a:xfrm>
              <a:prstGeom prst="rect">
                <a:avLst/>
              </a:prstGeom>
              <a:blipFill>
                <a:blip r:embed="rId2"/>
                <a:stretch>
                  <a:fillRect r="-18182"/>
                </a:stretch>
              </a:blipFill>
            </p:spPr>
            <p:txBody>
              <a:bodyPr/>
              <a:lstStyle/>
              <a:p>
                <a:r>
                  <a:rPr lang="en-US">
                    <a:noFill/>
                  </a:rPr>
                  <a:t> </a:t>
                </a:r>
              </a:p>
            </p:txBody>
          </p:sp>
        </mc:Fallback>
      </mc:AlternateContent>
      <p:cxnSp>
        <p:nvCxnSpPr>
          <p:cNvPr id="46" name="Straight Connector 45">
            <a:extLst>
              <a:ext uri="{FF2B5EF4-FFF2-40B4-BE49-F238E27FC236}">
                <a16:creationId xmlns:a16="http://schemas.microsoft.com/office/drawing/2014/main" id="{E95E7823-476B-6B69-D9AB-251CD032614F}"/>
              </a:ext>
            </a:extLst>
          </p:cNvPr>
          <p:cNvCxnSpPr>
            <a:cxnSpLocks/>
          </p:cNvCxnSpPr>
          <p:nvPr/>
        </p:nvCxnSpPr>
        <p:spPr>
          <a:xfrm>
            <a:off x="7722223" y="2735788"/>
            <a:ext cx="887866" cy="0"/>
          </a:xfrm>
          <a:prstGeom prst="line">
            <a:avLst/>
          </a:prstGeom>
          <a:ln w="38100"/>
        </p:spPr>
        <p:style>
          <a:lnRef idx="1">
            <a:schemeClr val="accent1"/>
          </a:lnRef>
          <a:fillRef idx="0">
            <a:schemeClr val="accent1"/>
          </a:fillRef>
          <a:effectRef idx="0">
            <a:schemeClr val="accent1"/>
          </a:effectRef>
          <a:fontRef idx="minor">
            <a:schemeClr val="tx1"/>
          </a:fontRef>
        </p:style>
      </p:cxnSp>
      <p:cxnSp>
        <p:nvCxnSpPr>
          <p:cNvPr id="47" name="Straight Connector 46">
            <a:extLst>
              <a:ext uri="{FF2B5EF4-FFF2-40B4-BE49-F238E27FC236}">
                <a16:creationId xmlns:a16="http://schemas.microsoft.com/office/drawing/2014/main" id="{0B6723A4-C950-915E-A495-C56DD524D533}"/>
              </a:ext>
            </a:extLst>
          </p:cNvPr>
          <p:cNvCxnSpPr>
            <a:cxnSpLocks/>
          </p:cNvCxnSpPr>
          <p:nvPr/>
        </p:nvCxnSpPr>
        <p:spPr>
          <a:xfrm>
            <a:off x="7722223" y="3116789"/>
            <a:ext cx="887866" cy="0"/>
          </a:xfrm>
          <a:prstGeom prst="line">
            <a:avLst/>
          </a:prstGeom>
          <a:ln w="38100"/>
        </p:spPr>
        <p:style>
          <a:lnRef idx="1">
            <a:schemeClr val="accent1"/>
          </a:lnRef>
          <a:fillRef idx="0">
            <a:schemeClr val="accent1"/>
          </a:fillRef>
          <a:effectRef idx="0">
            <a:schemeClr val="accent1"/>
          </a:effectRef>
          <a:fontRef idx="minor">
            <a:schemeClr val="tx1"/>
          </a:fontRef>
        </p:style>
      </p:cxnSp>
      <p:cxnSp>
        <p:nvCxnSpPr>
          <p:cNvPr id="48" name="Straight Connector 47">
            <a:extLst>
              <a:ext uri="{FF2B5EF4-FFF2-40B4-BE49-F238E27FC236}">
                <a16:creationId xmlns:a16="http://schemas.microsoft.com/office/drawing/2014/main" id="{6B2D63A5-DA8A-A49C-E713-AC5266557201}"/>
              </a:ext>
            </a:extLst>
          </p:cNvPr>
          <p:cNvCxnSpPr>
            <a:cxnSpLocks/>
            <a:stCxn id="49" idx="4"/>
            <a:endCxn id="50" idx="4"/>
          </p:cNvCxnSpPr>
          <p:nvPr/>
        </p:nvCxnSpPr>
        <p:spPr>
          <a:xfrm>
            <a:off x="8186589" y="2792234"/>
            <a:ext cx="4762" cy="412335"/>
          </a:xfrm>
          <a:prstGeom prst="line">
            <a:avLst/>
          </a:prstGeom>
          <a:ln w="38100"/>
        </p:spPr>
        <p:style>
          <a:lnRef idx="1">
            <a:schemeClr val="accent1"/>
          </a:lnRef>
          <a:fillRef idx="0">
            <a:schemeClr val="accent1"/>
          </a:fillRef>
          <a:effectRef idx="0">
            <a:schemeClr val="accent1"/>
          </a:effectRef>
          <a:fontRef idx="minor">
            <a:schemeClr val="tx1"/>
          </a:fontRef>
        </p:style>
      </p:cxnSp>
      <p:sp>
        <p:nvSpPr>
          <p:cNvPr id="49" name="Oval 48">
            <a:extLst>
              <a:ext uri="{FF2B5EF4-FFF2-40B4-BE49-F238E27FC236}">
                <a16:creationId xmlns:a16="http://schemas.microsoft.com/office/drawing/2014/main" id="{7409B2A2-257A-C892-637A-EFCC42529337}"/>
              </a:ext>
            </a:extLst>
          </p:cNvPr>
          <p:cNvSpPr/>
          <p:nvPr/>
        </p:nvSpPr>
        <p:spPr>
          <a:xfrm>
            <a:off x="8111088" y="2629842"/>
            <a:ext cx="151002" cy="162392"/>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0" name="Oval 49">
            <a:extLst>
              <a:ext uri="{FF2B5EF4-FFF2-40B4-BE49-F238E27FC236}">
                <a16:creationId xmlns:a16="http://schemas.microsoft.com/office/drawing/2014/main" id="{731DEB19-D2B3-D0FE-2635-C5C12ADDBDD3}"/>
              </a:ext>
            </a:extLst>
          </p:cNvPr>
          <p:cNvSpPr/>
          <p:nvPr/>
        </p:nvSpPr>
        <p:spPr>
          <a:xfrm>
            <a:off x="8111088" y="3001082"/>
            <a:ext cx="160526" cy="203487"/>
          </a:xfrm>
          <a:prstGeom prst="ellipse">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7" name="TextBox 56">
            <a:extLst>
              <a:ext uri="{FF2B5EF4-FFF2-40B4-BE49-F238E27FC236}">
                <a16:creationId xmlns:a16="http://schemas.microsoft.com/office/drawing/2014/main" id="{389549D6-D926-E6C4-939B-3F5B5233FE7A}"/>
              </a:ext>
            </a:extLst>
          </p:cNvPr>
          <p:cNvSpPr txBox="1"/>
          <p:nvPr/>
        </p:nvSpPr>
        <p:spPr>
          <a:xfrm>
            <a:off x="7527128" y="2097003"/>
            <a:ext cx="1651331" cy="307777"/>
          </a:xfrm>
          <a:prstGeom prst="rect">
            <a:avLst/>
          </a:prstGeom>
          <a:noFill/>
        </p:spPr>
        <p:txBody>
          <a:bodyPr wrap="square" rtlCol="0">
            <a:spAutoFit/>
          </a:bodyPr>
          <a:lstStyle/>
          <a:p>
            <a:r>
              <a:rPr lang="en-US" sz="1400" dirty="0"/>
              <a:t>CNOT gate</a:t>
            </a:r>
          </a:p>
        </p:txBody>
      </p:sp>
      <p:sp>
        <p:nvSpPr>
          <p:cNvPr id="58" name="TextBox 57">
            <a:extLst>
              <a:ext uri="{FF2B5EF4-FFF2-40B4-BE49-F238E27FC236}">
                <a16:creationId xmlns:a16="http://schemas.microsoft.com/office/drawing/2014/main" id="{4A1150F2-6D78-71A7-81BC-966916C94FF7}"/>
              </a:ext>
            </a:extLst>
          </p:cNvPr>
          <p:cNvSpPr txBox="1"/>
          <p:nvPr/>
        </p:nvSpPr>
        <p:spPr>
          <a:xfrm>
            <a:off x="7033284" y="2541975"/>
            <a:ext cx="660041" cy="369332"/>
          </a:xfrm>
          <a:prstGeom prst="rect">
            <a:avLst/>
          </a:prstGeom>
          <a:noFill/>
        </p:spPr>
        <p:txBody>
          <a:bodyPr wrap="square" rtlCol="0">
            <a:spAutoFit/>
          </a:bodyPr>
          <a:lstStyle/>
          <a:p>
            <a:r>
              <a:rPr lang="en-US" dirty="0"/>
              <a:t>ctrl</a:t>
            </a:r>
          </a:p>
        </p:txBody>
      </p:sp>
      <p:sp>
        <p:nvSpPr>
          <p:cNvPr id="59" name="TextBox 58">
            <a:extLst>
              <a:ext uri="{FF2B5EF4-FFF2-40B4-BE49-F238E27FC236}">
                <a16:creationId xmlns:a16="http://schemas.microsoft.com/office/drawing/2014/main" id="{0F723EE2-D46A-C11C-8365-53F1EAC32C97}"/>
              </a:ext>
            </a:extLst>
          </p:cNvPr>
          <p:cNvSpPr txBox="1"/>
          <p:nvPr/>
        </p:nvSpPr>
        <p:spPr>
          <a:xfrm>
            <a:off x="7033284" y="2885635"/>
            <a:ext cx="1651331" cy="369332"/>
          </a:xfrm>
          <a:prstGeom prst="rect">
            <a:avLst/>
          </a:prstGeom>
          <a:noFill/>
        </p:spPr>
        <p:txBody>
          <a:bodyPr wrap="square" rtlCol="0">
            <a:spAutoFit/>
          </a:bodyPr>
          <a:lstStyle/>
          <a:p>
            <a:r>
              <a:rPr lang="en-US" dirty="0" err="1"/>
              <a:t>tgt</a:t>
            </a:r>
            <a:endParaRPr lang="en-US" dirty="0"/>
          </a:p>
        </p:txBody>
      </p:sp>
      <p:cxnSp>
        <p:nvCxnSpPr>
          <p:cNvPr id="62" name="Straight Connector 61">
            <a:extLst>
              <a:ext uri="{FF2B5EF4-FFF2-40B4-BE49-F238E27FC236}">
                <a16:creationId xmlns:a16="http://schemas.microsoft.com/office/drawing/2014/main" id="{76790BBF-0DF5-0E92-2BEE-DC59A5903CDE}"/>
              </a:ext>
            </a:extLst>
          </p:cNvPr>
          <p:cNvCxnSpPr>
            <a:cxnSpLocks/>
          </p:cNvCxnSpPr>
          <p:nvPr/>
        </p:nvCxnSpPr>
        <p:spPr>
          <a:xfrm>
            <a:off x="9678443" y="2753839"/>
            <a:ext cx="1150996" cy="0"/>
          </a:xfrm>
          <a:prstGeom prst="line">
            <a:avLst/>
          </a:prstGeom>
          <a:ln w="38100"/>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63" name="TextBox 62">
                <a:extLst>
                  <a:ext uri="{FF2B5EF4-FFF2-40B4-BE49-F238E27FC236}">
                    <a16:creationId xmlns:a16="http://schemas.microsoft.com/office/drawing/2014/main" id="{8720BA48-174A-233D-BDA6-43D052787430}"/>
                  </a:ext>
                </a:extLst>
              </p:cNvPr>
              <p:cNvSpPr txBox="1"/>
              <p:nvPr/>
            </p:nvSpPr>
            <p:spPr>
              <a:xfrm>
                <a:off x="8989504" y="2560026"/>
                <a:ext cx="660041" cy="369332"/>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r>
                        <a:rPr lang="en-CA" b="0" i="1" smtClean="0">
                          <a:latin typeface="Cambria Math" panose="02040503050406030204" pitchFamily="18" charset="0"/>
                        </a:rPr>
                        <m:t>|</m:t>
                      </m:r>
                      <m:r>
                        <a:rPr lang="en-CA" b="0" i="1" smtClean="0">
                          <a:latin typeface="Cambria Math" panose="02040503050406030204" pitchFamily="18" charset="0"/>
                        </a:rPr>
                        <m:t>𝑎</m:t>
                      </m:r>
                      <m:r>
                        <a:rPr lang="en-CA" b="0" i="1" smtClean="0">
                          <a:latin typeface="Cambria Math" panose="02040503050406030204" pitchFamily="18" charset="0"/>
                        </a:rPr>
                        <m:t>⟩</m:t>
                      </m:r>
                    </m:oMath>
                  </m:oMathPara>
                </a14:m>
                <a:endParaRPr lang="en-US" dirty="0"/>
              </a:p>
            </p:txBody>
          </p:sp>
        </mc:Choice>
        <mc:Fallback xmlns="">
          <p:sp>
            <p:nvSpPr>
              <p:cNvPr id="63" name="TextBox 62">
                <a:extLst>
                  <a:ext uri="{FF2B5EF4-FFF2-40B4-BE49-F238E27FC236}">
                    <a16:creationId xmlns:a16="http://schemas.microsoft.com/office/drawing/2014/main" id="{8720BA48-174A-233D-BDA6-43D052787430}"/>
                  </a:ext>
                </a:extLst>
              </p:cNvPr>
              <p:cNvSpPr txBox="1">
                <a:spLocks noRot="1" noChangeAspect="1" noMove="1" noResize="1" noEditPoints="1" noAdjustHandles="1" noChangeArrowheads="1" noChangeShapeType="1" noTextEdit="1"/>
              </p:cNvSpPr>
              <p:nvPr/>
            </p:nvSpPr>
            <p:spPr>
              <a:xfrm>
                <a:off x="8989504" y="2560026"/>
                <a:ext cx="660041" cy="369332"/>
              </a:xfrm>
              <a:prstGeom prst="rect">
                <a:avLst/>
              </a:prstGeom>
              <a:blipFill>
                <a:blip r:embed="rId3"/>
                <a:stretch>
                  <a:fillRect b="-14754"/>
                </a:stretch>
              </a:blipFill>
            </p:spPr>
            <p:txBody>
              <a:bodyPr/>
              <a:lstStyle/>
              <a:p>
                <a:r>
                  <a:rPr lang="ko-KR" altLang="en-US">
                    <a:noFill/>
                  </a:rPr>
                  <a:t> </a:t>
                </a:r>
              </a:p>
            </p:txBody>
          </p:sp>
        </mc:Fallback>
      </mc:AlternateContent>
      <p:sp>
        <p:nvSpPr>
          <p:cNvPr id="64" name="Rectangle 63">
            <a:extLst>
              <a:ext uri="{FF2B5EF4-FFF2-40B4-BE49-F238E27FC236}">
                <a16:creationId xmlns:a16="http://schemas.microsoft.com/office/drawing/2014/main" id="{DD064357-CFBD-74AB-283D-6258239531AB}"/>
              </a:ext>
            </a:extLst>
          </p:cNvPr>
          <p:cNvSpPr/>
          <p:nvPr/>
        </p:nvSpPr>
        <p:spPr>
          <a:xfrm>
            <a:off x="9965149" y="2574335"/>
            <a:ext cx="601159" cy="407162"/>
          </a:xfrm>
          <a:prstGeom prst="rect">
            <a:avLst/>
          </a:prstGeom>
          <a:solidFill>
            <a:schemeClr val="accent1">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mc:AlternateContent xmlns:mc="http://schemas.openxmlformats.org/markup-compatibility/2006" xmlns:a14="http://schemas.microsoft.com/office/drawing/2010/main">
        <mc:Choice Requires="a14">
          <p:sp>
            <p:nvSpPr>
              <p:cNvPr id="65" name="TextBox 64">
                <a:extLst>
                  <a:ext uri="{FF2B5EF4-FFF2-40B4-BE49-F238E27FC236}">
                    <a16:creationId xmlns:a16="http://schemas.microsoft.com/office/drawing/2014/main" id="{65235A5B-9A22-3B6D-5F5A-828FCAFEA8F8}"/>
                  </a:ext>
                </a:extLst>
              </p:cNvPr>
              <p:cNvSpPr txBox="1"/>
              <p:nvPr/>
            </p:nvSpPr>
            <p:spPr>
              <a:xfrm>
                <a:off x="9965149" y="2593204"/>
                <a:ext cx="594127" cy="369332"/>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r>
                        <a:rPr lang="en-US" b="0" i="1" smtClean="0">
                          <a:latin typeface="Cambria Math" panose="02040503050406030204" pitchFamily="18" charset="0"/>
                        </a:rPr>
                        <m:t>𝑋</m:t>
                      </m:r>
                    </m:oMath>
                  </m:oMathPara>
                </a14:m>
                <a:endParaRPr lang="en-US" dirty="0"/>
              </a:p>
            </p:txBody>
          </p:sp>
        </mc:Choice>
        <mc:Fallback xmlns="">
          <p:sp>
            <p:nvSpPr>
              <p:cNvPr id="65" name="TextBox 64">
                <a:extLst>
                  <a:ext uri="{FF2B5EF4-FFF2-40B4-BE49-F238E27FC236}">
                    <a16:creationId xmlns:a16="http://schemas.microsoft.com/office/drawing/2014/main" id="{65235A5B-9A22-3B6D-5F5A-828FCAFEA8F8}"/>
                  </a:ext>
                </a:extLst>
              </p:cNvPr>
              <p:cNvSpPr txBox="1">
                <a:spLocks noRot="1" noChangeAspect="1" noMove="1" noResize="1" noEditPoints="1" noAdjustHandles="1" noChangeArrowheads="1" noChangeShapeType="1" noTextEdit="1"/>
              </p:cNvSpPr>
              <p:nvPr/>
            </p:nvSpPr>
            <p:spPr>
              <a:xfrm>
                <a:off x="9965149" y="2593204"/>
                <a:ext cx="594127" cy="369332"/>
              </a:xfrm>
              <a:prstGeom prst="rect">
                <a:avLst/>
              </a:prstGeom>
              <a:blipFill>
                <a:blip r:embed="rId4"/>
                <a:stretch>
                  <a:fillRect/>
                </a:stretch>
              </a:blipFill>
            </p:spPr>
            <p:txBody>
              <a:bodyPr/>
              <a:lstStyle/>
              <a:p>
                <a:r>
                  <a:rPr lang="ko-KR" altLang="en-US">
                    <a:noFill/>
                  </a:rPr>
                  <a:t> </a:t>
                </a:r>
              </a:p>
            </p:txBody>
          </p:sp>
        </mc:Fallback>
      </mc:AlternateContent>
      <mc:AlternateContent xmlns:mc="http://schemas.openxmlformats.org/markup-compatibility/2006" xmlns:a14="http://schemas.microsoft.com/office/drawing/2010/main">
        <mc:Choice Requires="a14">
          <p:sp>
            <p:nvSpPr>
              <p:cNvPr id="68" name="TextBox 67">
                <a:extLst>
                  <a:ext uri="{FF2B5EF4-FFF2-40B4-BE49-F238E27FC236}">
                    <a16:creationId xmlns:a16="http://schemas.microsoft.com/office/drawing/2014/main" id="{F9734B81-D098-43A9-7352-1C2CE3FC593C}"/>
                  </a:ext>
                </a:extLst>
              </p:cNvPr>
              <p:cNvSpPr txBox="1"/>
              <p:nvPr/>
            </p:nvSpPr>
            <p:spPr>
              <a:xfrm>
                <a:off x="10751901" y="2560026"/>
                <a:ext cx="1140956" cy="369332"/>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r>
                        <a:rPr lang="en-CA" b="0" i="1" smtClean="0">
                          <a:latin typeface="Cambria Math" panose="02040503050406030204" pitchFamily="18" charset="0"/>
                        </a:rPr>
                        <m:t>|</m:t>
                      </m:r>
                      <m:r>
                        <a:rPr lang="en-CA" b="0" i="1" smtClean="0">
                          <a:latin typeface="Cambria Math" panose="02040503050406030204" pitchFamily="18" charset="0"/>
                        </a:rPr>
                        <m:t>𝑎</m:t>
                      </m:r>
                      <m:r>
                        <a:rPr lang="en-CA" b="0" i="1" smtClean="0">
                          <a:latin typeface="Cambria Math" panose="02040503050406030204" pitchFamily="18" charset="0"/>
                        </a:rPr>
                        <m:t>⊕1⟩</m:t>
                      </m:r>
                    </m:oMath>
                  </m:oMathPara>
                </a14:m>
                <a:endParaRPr lang="en-US" dirty="0"/>
              </a:p>
            </p:txBody>
          </p:sp>
        </mc:Choice>
        <mc:Fallback xmlns="">
          <p:sp>
            <p:nvSpPr>
              <p:cNvPr id="68" name="TextBox 67">
                <a:extLst>
                  <a:ext uri="{FF2B5EF4-FFF2-40B4-BE49-F238E27FC236}">
                    <a16:creationId xmlns:a16="http://schemas.microsoft.com/office/drawing/2014/main" id="{F9734B81-D098-43A9-7352-1C2CE3FC593C}"/>
                  </a:ext>
                </a:extLst>
              </p:cNvPr>
              <p:cNvSpPr txBox="1">
                <a:spLocks noRot="1" noChangeAspect="1" noMove="1" noResize="1" noEditPoints="1" noAdjustHandles="1" noChangeArrowheads="1" noChangeShapeType="1" noTextEdit="1"/>
              </p:cNvSpPr>
              <p:nvPr/>
            </p:nvSpPr>
            <p:spPr>
              <a:xfrm>
                <a:off x="10751901" y="2560026"/>
                <a:ext cx="1140956" cy="369332"/>
              </a:xfrm>
              <a:prstGeom prst="rect">
                <a:avLst/>
              </a:prstGeom>
              <a:blipFill>
                <a:blip r:embed="rId5"/>
                <a:stretch>
                  <a:fillRect b="-14754"/>
                </a:stretch>
              </a:blipFill>
            </p:spPr>
            <p:txBody>
              <a:bodyPr/>
              <a:lstStyle/>
              <a:p>
                <a:r>
                  <a:rPr lang="ko-KR" altLang="en-US">
                    <a:noFill/>
                  </a:rPr>
                  <a:t> </a:t>
                </a:r>
              </a:p>
            </p:txBody>
          </p:sp>
        </mc:Fallback>
      </mc:AlternateContent>
      <mc:AlternateContent xmlns:mc="http://schemas.openxmlformats.org/markup-compatibility/2006" xmlns:a14="http://schemas.microsoft.com/office/drawing/2010/main">
        <mc:Choice Requires="a14">
          <p:sp>
            <p:nvSpPr>
              <p:cNvPr id="73" name="Rectangle 72">
                <a:extLst>
                  <a:ext uri="{FF2B5EF4-FFF2-40B4-BE49-F238E27FC236}">
                    <a16:creationId xmlns:a16="http://schemas.microsoft.com/office/drawing/2014/main" id="{9A87C957-842C-72F4-1C95-2F9DB1F48F2B}"/>
                  </a:ext>
                </a:extLst>
              </p:cNvPr>
              <p:cNvSpPr/>
              <p:nvPr/>
            </p:nvSpPr>
            <p:spPr>
              <a:xfrm>
                <a:off x="7285588" y="3601295"/>
                <a:ext cx="4420729" cy="3111878"/>
              </a:xfrm>
              <a:prstGeom prst="rect">
                <a:avLst/>
              </a:prstGeom>
            </p:spPr>
            <p:txBody>
              <a:bodyPr wrap="square">
                <a:spAutoFit/>
              </a:bodyPr>
              <a:lstStyle/>
              <a:p>
                <a:pPr marL="342900" indent="-342900">
                  <a:buAutoNum type="arabicPeriod"/>
                </a:pPr>
                <a:r>
                  <a:rPr lang="en-CA" sz="2400" b="1" dirty="0"/>
                  <a:t>Input:</a:t>
                </a:r>
                <a:r>
                  <a:rPr lang="en-CA" sz="2400" dirty="0"/>
                  <a:t> </a:t>
                </a:r>
                <a14:m>
                  <m:oMath xmlns:m="http://schemas.openxmlformats.org/officeDocument/2006/math">
                    <m:d>
                      <m:dPr>
                        <m:begChr m:val="|"/>
                        <m:endChr m:val="⟩"/>
                        <m:ctrlPr>
                          <a:rPr lang="en-CA" sz="2400" b="0" i="1" smtClean="0">
                            <a:latin typeface="Cambria Math" panose="02040503050406030204" pitchFamily="18" charset="0"/>
                          </a:rPr>
                        </m:ctrlPr>
                      </m:dPr>
                      <m:e>
                        <m:r>
                          <a:rPr lang="en-CA" sz="2400" b="0" i="1" smtClean="0">
                            <a:latin typeface="Cambria Math" panose="02040503050406030204" pitchFamily="18" charset="0"/>
                          </a:rPr>
                          <m:t>1,0,0</m:t>
                        </m:r>
                      </m:e>
                    </m:d>
                  </m:oMath>
                </a14:m>
                <a:endParaRPr lang="en-CA" sz="2400" b="0" dirty="0"/>
              </a:p>
              <a:p>
                <a:pPr marL="342900" indent="-342900">
                  <a:buAutoNum type="arabicPeriod"/>
                </a:pPr>
                <a14:m>
                  <m:oMath xmlns:m="http://schemas.openxmlformats.org/officeDocument/2006/math">
                    <m:r>
                      <a:rPr lang="en-CA" sz="2400" b="0" i="1" smtClean="0">
                        <a:latin typeface="Cambria Math" panose="02040503050406030204" pitchFamily="18" charset="0"/>
                      </a:rPr>
                      <m:t>𝐶𝑁𝑂</m:t>
                    </m:r>
                    <m:sSub>
                      <m:sSubPr>
                        <m:ctrlPr>
                          <a:rPr lang="en-CA" sz="2400" b="0" i="1" smtClean="0">
                            <a:latin typeface="Cambria Math" panose="02040503050406030204" pitchFamily="18" charset="0"/>
                          </a:rPr>
                        </m:ctrlPr>
                      </m:sSubPr>
                      <m:e>
                        <m:r>
                          <a:rPr lang="en-CA" sz="2400" b="0" i="1" smtClean="0">
                            <a:latin typeface="Cambria Math" panose="02040503050406030204" pitchFamily="18" charset="0"/>
                          </a:rPr>
                          <m:t>𝑇</m:t>
                        </m:r>
                      </m:e>
                      <m:sub>
                        <m:r>
                          <a:rPr lang="en-CA" sz="2400" b="0" i="1" smtClean="0">
                            <a:latin typeface="Cambria Math" panose="02040503050406030204" pitchFamily="18" charset="0"/>
                          </a:rPr>
                          <m:t>1,2</m:t>
                        </m:r>
                      </m:sub>
                    </m:sSub>
                    <m:d>
                      <m:dPr>
                        <m:begChr m:val="|"/>
                        <m:endChr m:val="⟩"/>
                        <m:ctrlPr>
                          <a:rPr lang="en-CA" sz="2400" b="0" i="1" smtClean="0">
                            <a:latin typeface="Cambria Math" panose="02040503050406030204" pitchFamily="18" charset="0"/>
                          </a:rPr>
                        </m:ctrlPr>
                      </m:dPr>
                      <m:e>
                        <m:r>
                          <a:rPr lang="en-CA" sz="2400" b="0" i="1" smtClean="0">
                            <a:latin typeface="Cambria Math" panose="02040503050406030204" pitchFamily="18" charset="0"/>
                          </a:rPr>
                          <m:t>1,0,0</m:t>
                        </m:r>
                      </m:e>
                    </m:d>
                    <m:r>
                      <a:rPr lang="en-CA" sz="2400" b="0" i="1" smtClean="0">
                        <a:latin typeface="Cambria Math" panose="02040503050406030204" pitchFamily="18" charset="0"/>
                      </a:rPr>
                      <m:t>=|1,1,0⟩</m:t>
                    </m:r>
                  </m:oMath>
                </a14:m>
                <a:endParaRPr lang="en-US" sz="2400" dirty="0"/>
              </a:p>
              <a:p>
                <a:pPr marL="342900" indent="-342900">
                  <a:buFontTx/>
                  <a:buAutoNum type="arabicPeriod"/>
                </a:pPr>
                <a14:m>
                  <m:oMath xmlns:m="http://schemas.openxmlformats.org/officeDocument/2006/math">
                    <m:r>
                      <a:rPr lang="en-CA" sz="2400" b="0" i="1" smtClean="0">
                        <a:latin typeface="Cambria Math" panose="02040503050406030204" pitchFamily="18" charset="0"/>
                      </a:rPr>
                      <m:t>𝐶𝑁𝑂</m:t>
                    </m:r>
                    <m:sSub>
                      <m:sSubPr>
                        <m:ctrlPr>
                          <a:rPr lang="en-CA" sz="2400" b="0" i="1" smtClean="0">
                            <a:latin typeface="Cambria Math" panose="02040503050406030204" pitchFamily="18" charset="0"/>
                          </a:rPr>
                        </m:ctrlPr>
                      </m:sSubPr>
                      <m:e>
                        <m:r>
                          <a:rPr lang="en-CA" sz="2400" b="0" i="1" smtClean="0">
                            <a:latin typeface="Cambria Math" panose="02040503050406030204" pitchFamily="18" charset="0"/>
                          </a:rPr>
                          <m:t>𝑇</m:t>
                        </m:r>
                      </m:e>
                      <m:sub>
                        <m:r>
                          <a:rPr lang="en-CA" sz="2400" b="0" i="1" smtClean="0">
                            <a:latin typeface="Cambria Math" panose="02040503050406030204" pitchFamily="18" charset="0"/>
                          </a:rPr>
                          <m:t>2,3</m:t>
                        </m:r>
                      </m:sub>
                    </m:sSub>
                    <m:d>
                      <m:dPr>
                        <m:begChr m:val="|"/>
                        <m:endChr m:val="⟩"/>
                        <m:ctrlPr>
                          <a:rPr lang="en-CA" sz="2400" b="0" i="1" smtClean="0">
                            <a:latin typeface="Cambria Math" panose="02040503050406030204" pitchFamily="18" charset="0"/>
                          </a:rPr>
                        </m:ctrlPr>
                      </m:dPr>
                      <m:e>
                        <m:r>
                          <a:rPr lang="en-CA" sz="2400" b="0" i="1" smtClean="0">
                            <a:latin typeface="Cambria Math" panose="02040503050406030204" pitchFamily="18" charset="0"/>
                          </a:rPr>
                          <m:t>1,1,0</m:t>
                        </m:r>
                      </m:e>
                    </m:d>
                    <m:r>
                      <a:rPr lang="en-CA" sz="2400" b="0" i="1" smtClean="0">
                        <a:latin typeface="Cambria Math" panose="02040503050406030204" pitchFamily="18" charset="0"/>
                      </a:rPr>
                      <m:t>=|1,1,1⟩</m:t>
                    </m:r>
                  </m:oMath>
                </a14:m>
                <a:endParaRPr lang="en-US" sz="2400" dirty="0"/>
              </a:p>
              <a:p>
                <a:pPr marL="342900" indent="-342900">
                  <a:buFontTx/>
                  <a:buAutoNum type="arabicPeriod"/>
                </a:pPr>
                <a14:m>
                  <m:oMath xmlns:m="http://schemas.openxmlformats.org/officeDocument/2006/math">
                    <m:r>
                      <a:rPr lang="en-CA" sz="2400" b="0" i="1" smtClean="0">
                        <a:latin typeface="Cambria Math" panose="02040503050406030204" pitchFamily="18" charset="0"/>
                      </a:rPr>
                      <m:t>𝐶𝑁𝑂</m:t>
                    </m:r>
                    <m:sSub>
                      <m:sSubPr>
                        <m:ctrlPr>
                          <a:rPr lang="en-CA" sz="2400" b="0" i="1" smtClean="0">
                            <a:latin typeface="Cambria Math" panose="02040503050406030204" pitchFamily="18" charset="0"/>
                          </a:rPr>
                        </m:ctrlPr>
                      </m:sSubPr>
                      <m:e>
                        <m:r>
                          <a:rPr lang="en-CA" sz="2400" b="0" i="1" smtClean="0">
                            <a:latin typeface="Cambria Math" panose="02040503050406030204" pitchFamily="18" charset="0"/>
                          </a:rPr>
                          <m:t>𝑇</m:t>
                        </m:r>
                      </m:e>
                      <m:sub>
                        <m:r>
                          <a:rPr lang="en-CA" sz="2400" b="0" i="1" smtClean="0">
                            <a:latin typeface="Cambria Math" panose="02040503050406030204" pitchFamily="18" charset="0"/>
                          </a:rPr>
                          <m:t>3,1</m:t>
                        </m:r>
                      </m:sub>
                    </m:sSub>
                    <m:d>
                      <m:dPr>
                        <m:begChr m:val="|"/>
                        <m:endChr m:val="⟩"/>
                        <m:ctrlPr>
                          <a:rPr lang="en-CA" sz="2400" b="0" i="1" smtClean="0">
                            <a:latin typeface="Cambria Math" panose="02040503050406030204" pitchFamily="18" charset="0"/>
                          </a:rPr>
                        </m:ctrlPr>
                      </m:dPr>
                      <m:e>
                        <m:r>
                          <a:rPr lang="en-CA" sz="2400" b="0" i="1" smtClean="0">
                            <a:latin typeface="Cambria Math" panose="02040503050406030204" pitchFamily="18" charset="0"/>
                          </a:rPr>
                          <m:t>1,1,1</m:t>
                        </m:r>
                      </m:e>
                    </m:d>
                    <m:r>
                      <a:rPr lang="en-CA" sz="2400" b="0" i="1" smtClean="0">
                        <a:latin typeface="Cambria Math" panose="02040503050406030204" pitchFamily="18" charset="0"/>
                      </a:rPr>
                      <m:t>=|0,1,1⟩</m:t>
                    </m:r>
                  </m:oMath>
                </a14:m>
                <a:endParaRPr lang="en-US" sz="2400" dirty="0"/>
              </a:p>
              <a:p>
                <a:pPr marL="342900" indent="-342900">
                  <a:buFontTx/>
                  <a:buAutoNum type="arabicPeriod"/>
                </a:pPr>
                <a14:m>
                  <m:oMath xmlns:m="http://schemas.openxmlformats.org/officeDocument/2006/math">
                    <m:sSub>
                      <m:sSubPr>
                        <m:ctrlPr>
                          <a:rPr lang="en-CA" sz="2400" b="0" i="1" smtClean="0">
                            <a:latin typeface="Cambria Math" panose="02040503050406030204" pitchFamily="18" charset="0"/>
                          </a:rPr>
                        </m:ctrlPr>
                      </m:sSubPr>
                      <m:e>
                        <m:r>
                          <a:rPr lang="en-US" sz="2400" b="0" i="1" smtClean="0">
                            <a:latin typeface="Cambria Math" panose="02040503050406030204" pitchFamily="18" charset="0"/>
                          </a:rPr>
                          <m:t>𝑋</m:t>
                        </m:r>
                      </m:e>
                      <m:sub>
                        <m:r>
                          <a:rPr lang="en-CA" sz="2400" b="0" i="1" smtClean="0">
                            <a:latin typeface="Cambria Math" panose="02040503050406030204" pitchFamily="18" charset="0"/>
                          </a:rPr>
                          <m:t>2</m:t>
                        </m:r>
                      </m:sub>
                    </m:sSub>
                    <m:d>
                      <m:dPr>
                        <m:begChr m:val="|"/>
                        <m:endChr m:val="⟩"/>
                        <m:ctrlPr>
                          <a:rPr lang="en-CA" sz="2400" b="0" i="1" smtClean="0">
                            <a:latin typeface="Cambria Math" panose="02040503050406030204" pitchFamily="18" charset="0"/>
                          </a:rPr>
                        </m:ctrlPr>
                      </m:dPr>
                      <m:e>
                        <m:r>
                          <a:rPr lang="en-CA" sz="2400" b="0" i="1" smtClean="0">
                            <a:latin typeface="Cambria Math" panose="02040503050406030204" pitchFamily="18" charset="0"/>
                          </a:rPr>
                          <m:t>0,1,1</m:t>
                        </m:r>
                      </m:e>
                    </m:d>
                    <m:r>
                      <a:rPr lang="en-CA" sz="2400" b="0" i="1" smtClean="0">
                        <a:latin typeface="Cambria Math" panose="02040503050406030204" pitchFamily="18" charset="0"/>
                      </a:rPr>
                      <m:t>=|0,0,1⟩</m:t>
                    </m:r>
                  </m:oMath>
                </a14:m>
                <a:endParaRPr lang="en-US" sz="2400" dirty="0"/>
              </a:p>
              <a:p>
                <a:pPr marL="342900" indent="-342900">
                  <a:buFontTx/>
                  <a:buAutoNum type="arabicPeriod"/>
                </a:pPr>
                <a:endParaRPr lang="en-US" sz="2400" dirty="0"/>
              </a:p>
              <a:p>
                <a:pPr marL="342900" indent="-342900">
                  <a:buFontTx/>
                  <a:buAutoNum type="arabicPeriod"/>
                </a:pPr>
                <a:endParaRPr lang="en-US" sz="2400" dirty="0"/>
              </a:p>
              <a:p>
                <a:pPr marL="342900" indent="-342900">
                  <a:buAutoNum type="arabicPeriod"/>
                </a:pPr>
                <a:endParaRPr lang="en-US" sz="2400" dirty="0"/>
              </a:p>
            </p:txBody>
          </p:sp>
        </mc:Choice>
        <mc:Fallback xmlns="">
          <p:sp>
            <p:nvSpPr>
              <p:cNvPr id="73" name="Rectangle 72">
                <a:extLst>
                  <a:ext uri="{FF2B5EF4-FFF2-40B4-BE49-F238E27FC236}">
                    <a16:creationId xmlns:a16="http://schemas.microsoft.com/office/drawing/2014/main" id="{9A87C957-842C-72F4-1C95-2F9DB1F48F2B}"/>
                  </a:ext>
                </a:extLst>
              </p:cNvPr>
              <p:cNvSpPr>
                <a:spLocks noRot="1" noChangeAspect="1" noMove="1" noResize="1" noEditPoints="1" noAdjustHandles="1" noChangeArrowheads="1" noChangeShapeType="1" noTextEdit="1"/>
              </p:cNvSpPr>
              <p:nvPr/>
            </p:nvSpPr>
            <p:spPr>
              <a:xfrm>
                <a:off x="7285588" y="3601295"/>
                <a:ext cx="4420729" cy="3111878"/>
              </a:xfrm>
              <a:prstGeom prst="rect">
                <a:avLst/>
              </a:prstGeom>
              <a:blipFill>
                <a:blip r:embed="rId6"/>
                <a:stretch>
                  <a:fillRect l="-2292" t="-1626"/>
                </a:stretch>
              </a:blipFill>
            </p:spPr>
            <p:txBody>
              <a:bodyPr/>
              <a:lstStyle/>
              <a:p>
                <a:r>
                  <a:rPr lang="en-US">
                    <a:noFill/>
                  </a:rPr>
                  <a:t> </a:t>
                </a:r>
              </a:p>
            </p:txBody>
          </p:sp>
        </mc:Fallback>
      </mc:AlternateContent>
      <p:cxnSp>
        <p:nvCxnSpPr>
          <p:cNvPr id="75" name="Straight Connector 74">
            <a:extLst>
              <a:ext uri="{FF2B5EF4-FFF2-40B4-BE49-F238E27FC236}">
                <a16:creationId xmlns:a16="http://schemas.microsoft.com/office/drawing/2014/main" id="{7637FDB0-5D0F-7720-173F-64F2523FF5CE}"/>
              </a:ext>
            </a:extLst>
          </p:cNvPr>
          <p:cNvCxnSpPr/>
          <p:nvPr/>
        </p:nvCxnSpPr>
        <p:spPr>
          <a:xfrm>
            <a:off x="1771650" y="2399272"/>
            <a:ext cx="0" cy="1464640"/>
          </a:xfrm>
          <a:prstGeom prst="line">
            <a:avLst/>
          </a:prstGeom>
          <a:ln w="38100">
            <a:solidFill>
              <a:schemeClr val="bg2">
                <a:lumMod val="50000"/>
              </a:schemeClr>
            </a:solidFill>
            <a:prstDash val="sysDash"/>
          </a:ln>
        </p:spPr>
        <p:style>
          <a:lnRef idx="1">
            <a:schemeClr val="accent1"/>
          </a:lnRef>
          <a:fillRef idx="0">
            <a:schemeClr val="accent1"/>
          </a:fillRef>
          <a:effectRef idx="0">
            <a:schemeClr val="accent1"/>
          </a:effectRef>
          <a:fontRef idx="minor">
            <a:schemeClr val="tx1"/>
          </a:fontRef>
        </p:style>
      </p:cxnSp>
      <p:sp>
        <p:nvSpPr>
          <p:cNvPr id="76" name="Oval 75">
            <a:extLst>
              <a:ext uri="{FF2B5EF4-FFF2-40B4-BE49-F238E27FC236}">
                <a16:creationId xmlns:a16="http://schemas.microsoft.com/office/drawing/2014/main" id="{66446FD7-D50E-BA14-E741-766B8FBEE614}"/>
              </a:ext>
            </a:extLst>
          </p:cNvPr>
          <p:cNvSpPr/>
          <p:nvPr/>
        </p:nvSpPr>
        <p:spPr>
          <a:xfrm>
            <a:off x="1579067" y="3990483"/>
            <a:ext cx="388865" cy="410191"/>
          </a:xfrm>
          <a:prstGeom prst="ellipse">
            <a:avLst/>
          </a:prstGeom>
          <a:solidFill>
            <a:srgbClr val="C00000"/>
          </a:solidFill>
          <a:ln>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7" name="TextBox 76">
            <a:extLst>
              <a:ext uri="{FF2B5EF4-FFF2-40B4-BE49-F238E27FC236}">
                <a16:creationId xmlns:a16="http://schemas.microsoft.com/office/drawing/2014/main" id="{378A7A83-33CF-2166-EC2E-9724D2C36D03}"/>
              </a:ext>
            </a:extLst>
          </p:cNvPr>
          <p:cNvSpPr txBox="1"/>
          <p:nvPr/>
        </p:nvSpPr>
        <p:spPr>
          <a:xfrm>
            <a:off x="1621931" y="4026075"/>
            <a:ext cx="317425" cy="307777"/>
          </a:xfrm>
          <a:prstGeom prst="rect">
            <a:avLst/>
          </a:prstGeom>
          <a:noFill/>
        </p:spPr>
        <p:txBody>
          <a:bodyPr wrap="square" rtlCol="0">
            <a:spAutoFit/>
          </a:bodyPr>
          <a:lstStyle/>
          <a:p>
            <a:r>
              <a:rPr lang="en-US" sz="1400" b="1" dirty="0">
                <a:solidFill>
                  <a:schemeClr val="bg1">
                    <a:lumMod val="95000"/>
                  </a:schemeClr>
                </a:solidFill>
              </a:rPr>
              <a:t>1</a:t>
            </a:r>
          </a:p>
        </p:txBody>
      </p:sp>
      <p:cxnSp>
        <p:nvCxnSpPr>
          <p:cNvPr id="78" name="Straight Connector 77">
            <a:extLst>
              <a:ext uri="{FF2B5EF4-FFF2-40B4-BE49-F238E27FC236}">
                <a16:creationId xmlns:a16="http://schemas.microsoft.com/office/drawing/2014/main" id="{4D56AD4F-3D49-4515-8A04-2E0D6EDE9020}"/>
              </a:ext>
            </a:extLst>
          </p:cNvPr>
          <p:cNvCxnSpPr/>
          <p:nvPr/>
        </p:nvCxnSpPr>
        <p:spPr>
          <a:xfrm>
            <a:off x="2357779" y="2401998"/>
            <a:ext cx="0" cy="1464640"/>
          </a:xfrm>
          <a:prstGeom prst="line">
            <a:avLst/>
          </a:prstGeom>
          <a:ln w="38100">
            <a:solidFill>
              <a:schemeClr val="bg2">
                <a:lumMod val="50000"/>
              </a:schemeClr>
            </a:solidFill>
            <a:prstDash val="sysDash"/>
          </a:ln>
        </p:spPr>
        <p:style>
          <a:lnRef idx="1">
            <a:schemeClr val="accent1"/>
          </a:lnRef>
          <a:fillRef idx="0">
            <a:schemeClr val="accent1"/>
          </a:fillRef>
          <a:effectRef idx="0">
            <a:schemeClr val="accent1"/>
          </a:effectRef>
          <a:fontRef idx="minor">
            <a:schemeClr val="tx1"/>
          </a:fontRef>
        </p:style>
      </p:cxnSp>
      <p:sp>
        <p:nvSpPr>
          <p:cNvPr id="79" name="Oval 78">
            <a:extLst>
              <a:ext uri="{FF2B5EF4-FFF2-40B4-BE49-F238E27FC236}">
                <a16:creationId xmlns:a16="http://schemas.microsoft.com/office/drawing/2014/main" id="{05BF532E-B4D1-D883-A5EC-310CC0EF73D3}"/>
              </a:ext>
            </a:extLst>
          </p:cNvPr>
          <p:cNvSpPr/>
          <p:nvPr/>
        </p:nvSpPr>
        <p:spPr>
          <a:xfrm>
            <a:off x="2165196" y="3993209"/>
            <a:ext cx="388865" cy="410191"/>
          </a:xfrm>
          <a:prstGeom prst="ellipse">
            <a:avLst/>
          </a:prstGeom>
          <a:solidFill>
            <a:srgbClr val="C00000"/>
          </a:solidFill>
          <a:ln>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0" name="TextBox 79">
            <a:extLst>
              <a:ext uri="{FF2B5EF4-FFF2-40B4-BE49-F238E27FC236}">
                <a16:creationId xmlns:a16="http://schemas.microsoft.com/office/drawing/2014/main" id="{E8575B74-AB51-6458-E7FC-5E0BC5BF86BF}"/>
              </a:ext>
            </a:extLst>
          </p:cNvPr>
          <p:cNvSpPr txBox="1"/>
          <p:nvPr/>
        </p:nvSpPr>
        <p:spPr>
          <a:xfrm>
            <a:off x="2208060" y="4028801"/>
            <a:ext cx="317425" cy="307777"/>
          </a:xfrm>
          <a:prstGeom prst="rect">
            <a:avLst/>
          </a:prstGeom>
          <a:noFill/>
        </p:spPr>
        <p:txBody>
          <a:bodyPr wrap="square" rtlCol="0">
            <a:spAutoFit/>
          </a:bodyPr>
          <a:lstStyle/>
          <a:p>
            <a:r>
              <a:rPr lang="en-US" sz="1400" b="1" dirty="0">
                <a:solidFill>
                  <a:schemeClr val="bg1">
                    <a:lumMod val="95000"/>
                  </a:schemeClr>
                </a:solidFill>
              </a:rPr>
              <a:t>2</a:t>
            </a:r>
          </a:p>
        </p:txBody>
      </p:sp>
      <p:cxnSp>
        <p:nvCxnSpPr>
          <p:cNvPr id="81" name="Straight Connector 80">
            <a:extLst>
              <a:ext uri="{FF2B5EF4-FFF2-40B4-BE49-F238E27FC236}">
                <a16:creationId xmlns:a16="http://schemas.microsoft.com/office/drawing/2014/main" id="{ECA0A729-EA22-05A3-5D11-16690F6A824A}"/>
              </a:ext>
            </a:extLst>
          </p:cNvPr>
          <p:cNvCxnSpPr/>
          <p:nvPr/>
        </p:nvCxnSpPr>
        <p:spPr>
          <a:xfrm>
            <a:off x="3092520" y="2404025"/>
            <a:ext cx="0" cy="1464640"/>
          </a:xfrm>
          <a:prstGeom prst="line">
            <a:avLst/>
          </a:prstGeom>
          <a:ln w="38100">
            <a:solidFill>
              <a:schemeClr val="bg2">
                <a:lumMod val="50000"/>
              </a:schemeClr>
            </a:solidFill>
            <a:prstDash val="sysDash"/>
          </a:ln>
        </p:spPr>
        <p:style>
          <a:lnRef idx="1">
            <a:schemeClr val="accent1"/>
          </a:lnRef>
          <a:fillRef idx="0">
            <a:schemeClr val="accent1"/>
          </a:fillRef>
          <a:effectRef idx="0">
            <a:schemeClr val="accent1"/>
          </a:effectRef>
          <a:fontRef idx="minor">
            <a:schemeClr val="tx1"/>
          </a:fontRef>
        </p:style>
      </p:cxnSp>
      <p:sp>
        <p:nvSpPr>
          <p:cNvPr id="82" name="Oval 81">
            <a:extLst>
              <a:ext uri="{FF2B5EF4-FFF2-40B4-BE49-F238E27FC236}">
                <a16:creationId xmlns:a16="http://schemas.microsoft.com/office/drawing/2014/main" id="{F18AC5A3-A7F4-A1B0-6DEB-50D00B05E6D9}"/>
              </a:ext>
            </a:extLst>
          </p:cNvPr>
          <p:cNvSpPr/>
          <p:nvPr/>
        </p:nvSpPr>
        <p:spPr>
          <a:xfrm>
            <a:off x="2899937" y="3995236"/>
            <a:ext cx="388865" cy="410191"/>
          </a:xfrm>
          <a:prstGeom prst="ellipse">
            <a:avLst/>
          </a:prstGeom>
          <a:solidFill>
            <a:srgbClr val="C00000"/>
          </a:solidFill>
          <a:ln>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3" name="TextBox 82">
            <a:extLst>
              <a:ext uri="{FF2B5EF4-FFF2-40B4-BE49-F238E27FC236}">
                <a16:creationId xmlns:a16="http://schemas.microsoft.com/office/drawing/2014/main" id="{FD2E03C9-8978-4D01-6233-D47545293B11}"/>
              </a:ext>
            </a:extLst>
          </p:cNvPr>
          <p:cNvSpPr txBox="1"/>
          <p:nvPr/>
        </p:nvSpPr>
        <p:spPr>
          <a:xfrm>
            <a:off x="2942801" y="4030828"/>
            <a:ext cx="317425" cy="307777"/>
          </a:xfrm>
          <a:prstGeom prst="rect">
            <a:avLst/>
          </a:prstGeom>
          <a:noFill/>
        </p:spPr>
        <p:txBody>
          <a:bodyPr wrap="square" rtlCol="0">
            <a:spAutoFit/>
          </a:bodyPr>
          <a:lstStyle/>
          <a:p>
            <a:r>
              <a:rPr lang="en-US" sz="1400" b="1" dirty="0">
                <a:solidFill>
                  <a:schemeClr val="bg1">
                    <a:lumMod val="95000"/>
                  </a:schemeClr>
                </a:solidFill>
              </a:rPr>
              <a:t>3</a:t>
            </a:r>
          </a:p>
        </p:txBody>
      </p:sp>
      <p:cxnSp>
        <p:nvCxnSpPr>
          <p:cNvPr id="84" name="Straight Connector 83">
            <a:extLst>
              <a:ext uri="{FF2B5EF4-FFF2-40B4-BE49-F238E27FC236}">
                <a16:creationId xmlns:a16="http://schemas.microsoft.com/office/drawing/2014/main" id="{E9F6649B-BFD4-E016-86F6-31F923F1DB05}"/>
              </a:ext>
            </a:extLst>
          </p:cNvPr>
          <p:cNvCxnSpPr/>
          <p:nvPr/>
        </p:nvCxnSpPr>
        <p:spPr>
          <a:xfrm>
            <a:off x="4315463" y="2404025"/>
            <a:ext cx="0" cy="1464640"/>
          </a:xfrm>
          <a:prstGeom prst="line">
            <a:avLst/>
          </a:prstGeom>
          <a:ln w="38100">
            <a:solidFill>
              <a:schemeClr val="bg2">
                <a:lumMod val="50000"/>
              </a:schemeClr>
            </a:solidFill>
            <a:prstDash val="sysDash"/>
          </a:ln>
        </p:spPr>
        <p:style>
          <a:lnRef idx="1">
            <a:schemeClr val="accent1"/>
          </a:lnRef>
          <a:fillRef idx="0">
            <a:schemeClr val="accent1"/>
          </a:fillRef>
          <a:effectRef idx="0">
            <a:schemeClr val="accent1"/>
          </a:effectRef>
          <a:fontRef idx="minor">
            <a:schemeClr val="tx1"/>
          </a:fontRef>
        </p:style>
      </p:cxnSp>
      <p:sp>
        <p:nvSpPr>
          <p:cNvPr id="85" name="Oval 84">
            <a:extLst>
              <a:ext uri="{FF2B5EF4-FFF2-40B4-BE49-F238E27FC236}">
                <a16:creationId xmlns:a16="http://schemas.microsoft.com/office/drawing/2014/main" id="{B7CD4A96-F17D-69CB-B8EC-36F2799007DB}"/>
              </a:ext>
            </a:extLst>
          </p:cNvPr>
          <p:cNvSpPr/>
          <p:nvPr/>
        </p:nvSpPr>
        <p:spPr>
          <a:xfrm>
            <a:off x="4122880" y="3995236"/>
            <a:ext cx="388865" cy="410191"/>
          </a:xfrm>
          <a:prstGeom prst="ellipse">
            <a:avLst/>
          </a:prstGeom>
          <a:solidFill>
            <a:srgbClr val="C00000"/>
          </a:solidFill>
          <a:ln>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6" name="TextBox 85">
            <a:extLst>
              <a:ext uri="{FF2B5EF4-FFF2-40B4-BE49-F238E27FC236}">
                <a16:creationId xmlns:a16="http://schemas.microsoft.com/office/drawing/2014/main" id="{02032827-72E9-392D-6899-87D0ED505720}"/>
              </a:ext>
            </a:extLst>
          </p:cNvPr>
          <p:cNvSpPr txBox="1"/>
          <p:nvPr/>
        </p:nvSpPr>
        <p:spPr>
          <a:xfrm>
            <a:off x="4165744" y="4030828"/>
            <a:ext cx="317425" cy="307777"/>
          </a:xfrm>
          <a:prstGeom prst="rect">
            <a:avLst/>
          </a:prstGeom>
          <a:noFill/>
        </p:spPr>
        <p:txBody>
          <a:bodyPr wrap="square" rtlCol="0">
            <a:spAutoFit/>
          </a:bodyPr>
          <a:lstStyle/>
          <a:p>
            <a:r>
              <a:rPr lang="en-US" sz="1400" b="1" dirty="0">
                <a:solidFill>
                  <a:schemeClr val="bg1">
                    <a:lumMod val="95000"/>
                  </a:schemeClr>
                </a:solidFill>
              </a:rPr>
              <a:t>4</a:t>
            </a:r>
          </a:p>
        </p:txBody>
      </p:sp>
      <p:cxnSp>
        <p:nvCxnSpPr>
          <p:cNvPr id="87" name="Straight Connector 86">
            <a:extLst>
              <a:ext uri="{FF2B5EF4-FFF2-40B4-BE49-F238E27FC236}">
                <a16:creationId xmlns:a16="http://schemas.microsoft.com/office/drawing/2014/main" id="{049B4452-3DAF-83AF-266D-F8CAF53A6D93}"/>
              </a:ext>
            </a:extLst>
          </p:cNvPr>
          <p:cNvCxnSpPr/>
          <p:nvPr/>
        </p:nvCxnSpPr>
        <p:spPr>
          <a:xfrm>
            <a:off x="5395910" y="2399562"/>
            <a:ext cx="0" cy="1464640"/>
          </a:xfrm>
          <a:prstGeom prst="line">
            <a:avLst/>
          </a:prstGeom>
          <a:ln w="38100">
            <a:solidFill>
              <a:schemeClr val="bg2">
                <a:lumMod val="50000"/>
              </a:schemeClr>
            </a:solidFill>
            <a:prstDash val="sysDash"/>
          </a:ln>
        </p:spPr>
        <p:style>
          <a:lnRef idx="1">
            <a:schemeClr val="accent1"/>
          </a:lnRef>
          <a:fillRef idx="0">
            <a:schemeClr val="accent1"/>
          </a:fillRef>
          <a:effectRef idx="0">
            <a:schemeClr val="accent1"/>
          </a:effectRef>
          <a:fontRef idx="minor">
            <a:schemeClr val="tx1"/>
          </a:fontRef>
        </p:style>
      </p:cxnSp>
      <p:sp>
        <p:nvSpPr>
          <p:cNvPr id="88" name="Oval 87">
            <a:extLst>
              <a:ext uri="{FF2B5EF4-FFF2-40B4-BE49-F238E27FC236}">
                <a16:creationId xmlns:a16="http://schemas.microsoft.com/office/drawing/2014/main" id="{3C341CDF-4BC3-1CC9-DBB9-6D21548C57B6}"/>
              </a:ext>
            </a:extLst>
          </p:cNvPr>
          <p:cNvSpPr/>
          <p:nvPr/>
        </p:nvSpPr>
        <p:spPr>
          <a:xfrm>
            <a:off x="5203327" y="3990773"/>
            <a:ext cx="388865" cy="410191"/>
          </a:xfrm>
          <a:prstGeom prst="ellipse">
            <a:avLst/>
          </a:prstGeom>
          <a:solidFill>
            <a:srgbClr val="C00000"/>
          </a:solidFill>
          <a:ln>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9" name="TextBox 88">
            <a:extLst>
              <a:ext uri="{FF2B5EF4-FFF2-40B4-BE49-F238E27FC236}">
                <a16:creationId xmlns:a16="http://schemas.microsoft.com/office/drawing/2014/main" id="{735CC33C-ABB4-DB97-4A07-ADDE31F4151B}"/>
              </a:ext>
            </a:extLst>
          </p:cNvPr>
          <p:cNvSpPr txBox="1"/>
          <p:nvPr/>
        </p:nvSpPr>
        <p:spPr>
          <a:xfrm>
            <a:off x="5246191" y="4026365"/>
            <a:ext cx="317425" cy="307777"/>
          </a:xfrm>
          <a:prstGeom prst="rect">
            <a:avLst/>
          </a:prstGeom>
          <a:noFill/>
        </p:spPr>
        <p:txBody>
          <a:bodyPr wrap="square" rtlCol="0">
            <a:spAutoFit/>
          </a:bodyPr>
          <a:lstStyle/>
          <a:p>
            <a:r>
              <a:rPr lang="en-US" sz="1400" b="1" dirty="0">
                <a:solidFill>
                  <a:schemeClr val="bg1">
                    <a:lumMod val="95000"/>
                  </a:schemeClr>
                </a:solidFill>
              </a:rPr>
              <a:t>5</a:t>
            </a:r>
          </a:p>
        </p:txBody>
      </p:sp>
      <mc:AlternateContent xmlns:mc="http://schemas.openxmlformats.org/markup-compatibility/2006" xmlns:a14="http://schemas.microsoft.com/office/drawing/2010/main">
        <mc:Choice Requires="a14">
          <p:sp>
            <p:nvSpPr>
              <p:cNvPr id="9" name="Rectangle 8">
                <a:extLst>
                  <a:ext uri="{FF2B5EF4-FFF2-40B4-BE49-F238E27FC236}">
                    <a16:creationId xmlns:a16="http://schemas.microsoft.com/office/drawing/2014/main" id="{94EE92FC-DB34-FB95-BD1E-9664133A05EE}"/>
                  </a:ext>
                </a:extLst>
              </p:cNvPr>
              <p:cNvSpPr/>
              <p:nvPr/>
            </p:nvSpPr>
            <p:spPr>
              <a:xfrm>
                <a:off x="919462" y="2470859"/>
                <a:ext cx="521810" cy="369332"/>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d>
                        <m:dPr>
                          <m:begChr m:val="|"/>
                          <m:endChr m:val="⟩"/>
                          <m:ctrlPr>
                            <a:rPr lang="en-CA" i="1" smtClean="0">
                              <a:latin typeface="Cambria Math" panose="02040503050406030204" pitchFamily="18" charset="0"/>
                            </a:rPr>
                          </m:ctrlPr>
                        </m:dPr>
                        <m:e>
                          <m:r>
                            <a:rPr lang="en-CA" b="0" i="1" smtClean="0">
                              <a:latin typeface="Cambria Math" panose="02040503050406030204" pitchFamily="18" charset="0"/>
                            </a:rPr>
                            <m:t>1</m:t>
                          </m:r>
                        </m:e>
                      </m:d>
                    </m:oMath>
                  </m:oMathPara>
                </a14:m>
                <a:endParaRPr lang="en-US" dirty="0"/>
              </a:p>
            </p:txBody>
          </p:sp>
        </mc:Choice>
        <mc:Fallback xmlns="">
          <p:sp>
            <p:nvSpPr>
              <p:cNvPr id="9" name="Rectangle 8">
                <a:extLst>
                  <a:ext uri="{FF2B5EF4-FFF2-40B4-BE49-F238E27FC236}">
                    <a16:creationId xmlns:a16="http://schemas.microsoft.com/office/drawing/2014/main" id="{94EE92FC-DB34-FB95-BD1E-9664133A05EE}"/>
                  </a:ext>
                </a:extLst>
              </p:cNvPr>
              <p:cNvSpPr>
                <a:spLocks noRot="1" noChangeAspect="1" noMove="1" noResize="1" noEditPoints="1" noAdjustHandles="1" noChangeArrowheads="1" noChangeShapeType="1" noTextEdit="1"/>
              </p:cNvSpPr>
              <p:nvPr/>
            </p:nvSpPr>
            <p:spPr>
              <a:xfrm>
                <a:off x="919462" y="2470859"/>
                <a:ext cx="521810" cy="369332"/>
              </a:xfrm>
              <a:prstGeom prst="rect">
                <a:avLst/>
              </a:prstGeom>
              <a:blipFill>
                <a:blip r:embed="rId7"/>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0" name="Rectangle 9">
                <a:extLst>
                  <a:ext uri="{FF2B5EF4-FFF2-40B4-BE49-F238E27FC236}">
                    <a16:creationId xmlns:a16="http://schemas.microsoft.com/office/drawing/2014/main" id="{F64F9B40-394B-4E54-5D8F-165A8CCF19D8}"/>
                  </a:ext>
                </a:extLst>
              </p:cNvPr>
              <p:cNvSpPr/>
              <p:nvPr/>
            </p:nvSpPr>
            <p:spPr>
              <a:xfrm>
                <a:off x="915067" y="2803921"/>
                <a:ext cx="521810" cy="369332"/>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d>
                        <m:dPr>
                          <m:begChr m:val="|"/>
                          <m:endChr m:val="⟩"/>
                          <m:ctrlPr>
                            <a:rPr lang="en-CA" i="1" smtClean="0">
                              <a:latin typeface="Cambria Math" panose="02040503050406030204" pitchFamily="18" charset="0"/>
                            </a:rPr>
                          </m:ctrlPr>
                        </m:dPr>
                        <m:e>
                          <m:r>
                            <a:rPr lang="en-CA" b="0" i="1" smtClean="0">
                              <a:latin typeface="Cambria Math" panose="02040503050406030204" pitchFamily="18" charset="0"/>
                            </a:rPr>
                            <m:t>0</m:t>
                          </m:r>
                        </m:e>
                      </m:d>
                    </m:oMath>
                  </m:oMathPara>
                </a14:m>
                <a:endParaRPr lang="en-US" dirty="0"/>
              </a:p>
            </p:txBody>
          </p:sp>
        </mc:Choice>
        <mc:Fallback xmlns="">
          <p:sp>
            <p:nvSpPr>
              <p:cNvPr id="10" name="Rectangle 9">
                <a:extLst>
                  <a:ext uri="{FF2B5EF4-FFF2-40B4-BE49-F238E27FC236}">
                    <a16:creationId xmlns:a16="http://schemas.microsoft.com/office/drawing/2014/main" id="{F64F9B40-394B-4E54-5D8F-165A8CCF19D8}"/>
                  </a:ext>
                </a:extLst>
              </p:cNvPr>
              <p:cNvSpPr>
                <a:spLocks noRot="1" noChangeAspect="1" noMove="1" noResize="1" noEditPoints="1" noAdjustHandles="1" noChangeArrowheads="1" noChangeShapeType="1" noTextEdit="1"/>
              </p:cNvSpPr>
              <p:nvPr/>
            </p:nvSpPr>
            <p:spPr>
              <a:xfrm>
                <a:off x="915067" y="2803921"/>
                <a:ext cx="521810" cy="369332"/>
              </a:xfrm>
              <a:prstGeom prst="rect">
                <a:avLst/>
              </a:prstGeom>
              <a:blipFill>
                <a:blip r:embed="rId8"/>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1" name="Rectangle 10">
                <a:extLst>
                  <a:ext uri="{FF2B5EF4-FFF2-40B4-BE49-F238E27FC236}">
                    <a16:creationId xmlns:a16="http://schemas.microsoft.com/office/drawing/2014/main" id="{53ACE6CD-8D10-4730-5469-21FE42AEC36C}"/>
                  </a:ext>
                </a:extLst>
              </p:cNvPr>
              <p:cNvSpPr/>
              <p:nvPr/>
            </p:nvSpPr>
            <p:spPr>
              <a:xfrm>
                <a:off x="919145" y="3185591"/>
                <a:ext cx="521810" cy="369332"/>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d>
                        <m:dPr>
                          <m:begChr m:val="|"/>
                          <m:endChr m:val="⟩"/>
                          <m:ctrlPr>
                            <a:rPr lang="en-CA" i="1" smtClean="0">
                              <a:latin typeface="Cambria Math" panose="02040503050406030204" pitchFamily="18" charset="0"/>
                            </a:rPr>
                          </m:ctrlPr>
                        </m:dPr>
                        <m:e>
                          <m:r>
                            <a:rPr lang="en-CA" b="0" i="1" smtClean="0">
                              <a:latin typeface="Cambria Math" panose="02040503050406030204" pitchFamily="18" charset="0"/>
                            </a:rPr>
                            <m:t>0</m:t>
                          </m:r>
                        </m:e>
                      </m:d>
                    </m:oMath>
                  </m:oMathPara>
                </a14:m>
                <a:endParaRPr lang="en-US" dirty="0"/>
              </a:p>
            </p:txBody>
          </p:sp>
        </mc:Choice>
        <mc:Fallback xmlns="">
          <p:sp>
            <p:nvSpPr>
              <p:cNvPr id="11" name="Rectangle 10">
                <a:extLst>
                  <a:ext uri="{FF2B5EF4-FFF2-40B4-BE49-F238E27FC236}">
                    <a16:creationId xmlns:a16="http://schemas.microsoft.com/office/drawing/2014/main" id="{53ACE6CD-8D10-4730-5469-21FE42AEC36C}"/>
                  </a:ext>
                </a:extLst>
              </p:cNvPr>
              <p:cNvSpPr>
                <a:spLocks noRot="1" noChangeAspect="1" noMove="1" noResize="1" noEditPoints="1" noAdjustHandles="1" noChangeArrowheads="1" noChangeShapeType="1" noTextEdit="1"/>
              </p:cNvSpPr>
              <p:nvPr/>
            </p:nvSpPr>
            <p:spPr>
              <a:xfrm>
                <a:off x="919145" y="3185591"/>
                <a:ext cx="521810" cy="369332"/>
              </a:xfrm>
              <a:prstGeom prst="rect">
                <a:avLst/>
              </a:prstGeom>
              <a:blipFill>
                <a:blip r:embed="rId9"/>
                <a:stretch>
                  <a:fillRect/>
                </a:stretch>
              </a:blipFill>
            </p:spPr>
            <p:txBody>
              <a:bodyPr/>
              <a:lstStyle/>
              <a:p>
                <a:r>
                  <a:rPr lang="en-US">
                    <a:noFill/>
                  </a:rPr>
                  <a:t> </a:t>
                </a:r>
              </a:p>
            </p:txBody>
          </p:sp>
        </mc:Fallback>
      </mc:AlternateContent>
      <p:sp>
        <p:nvSpPr>
          <p:cNvPr id="12" name="Content Placeholder 90">
            <a:extLst>
              <a:ext uri="{FF2B5EF4-FFF2-40B4-BE49-F238E27FC236}">
                <a16:creationId xmlns:a16="http://schemas.microsoft.com/office/drawing/2014/main" id="{EB31DC69-9544-B362-A54C-35CF1514F40D}"/>
              </a:ext>
            </a:extLst>
          </p:cNvPr>
          <p:cNvSpPr>
            <a:spLocks noGrp="1"/>
          </p:cNvSpPr>
          <p:nvPr>
            <p:ph idx="1"/>
          </p:nvPr>
        </p:nvSpPr>
        <p:spPr>
          <a:xfrm>
            <a:off x="838200" y="1825625"/>
            <a:ext cx="10515600" cy="502286"/>
          </a:xfrm>
        </p:spPr>
        <p:txBody>
          <a:bodyPr/>
          <a:lstStyle/>
          <a:p>
            <a:pPr marL="0" indent="0">
              <a:buNone/>
            </a:pPr>
            <a:r>
              <a:rPr lang="en-US" dirty="0"/>
              <a:t>Compute the final state of circuit:</a:t>
            </a:r>
          </a:p>
        </p:txBody>
      </p:sp>
      <p:sp>
        <p:nvSpPr>
          <p:cNvPr id="8" name="TextBox 7">
            <a:extLst>
              <a:ext uri="{FF2B5EF4-FFF2-40B4-BE49-F238E27FC236}">
                <a16:creationId xmlns:a16="http://schemas.microsoft.com/office/drawing/2014/main" id="{2148A943-3028-406E-3A28-55242FEEFF86}"/>
              </a:ext>
            </a:extLst>
          </p:cNvPr>
          <p:cNvSpPr txBox="1"/>
          <p:nvPr/>
        </p:nvSpPr>
        <p:spPr>
          <a:xfrm>
            <a:off x="9844640" y="2150301"/>
            <a:ext cx="1099716" cy="523220"/>
          </a:xfrm>
          <a:prstGeom prst="rect">
            <a:avLst/>
          </a:prstGeom>
          <a:noFill/>
        </p:spPr>
        <p:txBody>
          <a:bodyPr wrap="square">
            <a:spAutoFit/>
          </a:bodyPr>
          <a:lstStyle/>
          <a:p>
            <a:r>
              <a:rPr lang="en-US" sz="1400" dirty="0"/>
              <a:t>NOT gate</a:t>
            </a:r>
          </a:p>
          <a:p>
            <a:endParaRPr lang="en-US" sz="1400" dirty="0"/>
          </a:p>
        </p:txBody>
      </p:sp>
      <mc:AlternateContent xmlns:mc="http://schemas.openxmlformats.org/markup-compatibility/2006" xmlns:a14="http://schemas.microsoft.com/office/drawing/2010/main">
        <mc:Choice Requires="a14">
          <p:sp>
            <p:nvSpPr>
              <p:cNvPr id="51" name="Rectangle 10">
                <a:extLst>
                  <a:ext uri="{FF2B5EF4-FFF2-40B4-BE49-F238E27FC236}">
                    <a16:creationId xmlns:a16="http://schemas.microsoft.com/office/drawing/2014/main" id="{53ACE6CD-8D10-4730-5469-21FE42AEC36C}"/>
                  </a:ext>
                </a:extLst>
              </p:cNvPr>
              <p:cNvSpPr/>
              <p:nvPr/>
            </p:nvSpPr>
            <p:spPr>
              <a:xfrm>
                <a:off x="183475" y="4570961"/>
                <a:ext cx="1829958" cy="369332"/>
              </a:xfrm>
              <a:prstGeom prst="rect">
                <a:avLst/>
              </a:prstGeom>
            </p:spPr>
            <p:txBody>
              <a:bodyPr wrap="square">
                <a:spAutoFit/>
              </a:bodyPr>
              <a:lstStyle/>
              <a:p>
                <a:pPr/>
                <a14:m>
                  <m:oMathPara xmlns:m="http://schemas.openxmlformats.org/officeDocument/2006/math">
                    <m:oMathParaPr>
                      <m:jc m:val="centerGroup"/>
                    </m:oMathParaPr>
                    <m:oMath xmlns:m="http://schemas.openxmlformats.org/officeDocument/2006/math">
                      <m:d>
                        <m:dPr>
                          <m:begChr m:val="|"/>
                          <m:endChr m:val="⟩"/>
                          <m:ctrlPr>
                            <a:rPr lang="en-US" b="0" i="1" smtClean="0">
                              <a:latin typeface="Cambria Math" panose="02040503050406030204" pitchFamily="18" charset="0"/>
                            </a:rPr>
                          </m:ctrlPr>
                        </m:dPr>
                        <m:e>
                          <m:r>
                            <a:rPr lang="en-US" b="0" i="1" smtClean="0">
                              <a:latin typeface="Cambria Math" panose="02040503050406030204" pitchFamily="18" charset="0"/>
                            </a:rPr>
                            <m:t>1</m:t>
                          </m:r>
                        </m:e>
                      </m:d>
                      <m:r>
                        <a:rPr lang="en-US" b="0" i="1" smtClean="0">
                          <a:latin typeface="Cambria Math" panose="02040503050406030204" pitchFamily="18" charset="0"/>
                        </a:rPr>
                        <m:t>⊗</m:t>
                      </m:r>
                      <m:d>
                        <m:dPr>
                          <m:begChr m:val="|"/>
                          <m:endChr m:val="⟩"/>
                          <m:ctrlPr>
                            <a:rPr lang="en-US" b="0" i="1" smtClean="0">
                              <a:latin typeface="Cambria Math" panose="02040503050406030204" pitchFamily="18" charset="0"/>
                            </a:rPr>
                          </m:ctrlPr>
                        </m:dPr>
                        <m:e>
                          <m:r>
                            <a:rPr lang="en-US" b="0" i="1" smtClean="0">
                              <a:latin typeface="Cambria Math" panose="02040503050406030204" pitchFamily="18" charset="0"/>
                            </a:rPr>
                            <m:t>0</m:t>
                          </m:r>
                        </m:e>
                      </m:d>
                      <m:r>
                        <a:rPr lang="en-US" b="0" i="1" smtClean="0">
                          <a:latin typeface="Cambria Math" panose="02040503050406030204" pitchFamily="18" charset="0"/>
                        </a:rPr>
                        <m:t>⊗</m:t>
                      </m:r>
                      <m:d>
                        <m:dPr>
                          <m:begChr m:val="|"/>
                          <m:endChr m:val="⟩"/>
                          <m:ctrlPr>
                            <a:rPr lang="en-CA" i="1" smtClean="0">
                              <a:latin typeface="Cambria Math" panose="02040503050406030204" pitchFamily="18" charset="0"/>
                            </a:rPr>
                          </m:ctrlPr>
                        </m:dPr>
                        <m:e>
                          <m:r>
                            <a:rPr lang="en-CA" b="0" i="1" smtClean="0">
                              <a:latin typeface="Cambria Math" panose="02040503050406030204" pitchFamily="18" charset="0"/>
                            </a:rPr>
                            <m:t>0</m:t>
                          </m:r>
                        </m:e>
                      </m:d>
                    </m:oMath>
                  </m:oMathPara>
                </a14:m>
                <a:endParaRPr lang="en-US" dirty="0"/>
              </a:p>
            </p:txBody>
          </p:sp>
        </mc:Choice>
        <mc:Fallback xmlns="">
          <p:sp>
            <p:nvSpPr>
              <p:cNvPr id="51" name="Rectangle 10">
                <a:extLst>
                  <a:ext uri="{FF2B5EF4-FFF2-40B4-BE49-F238E27FC236}">
                    <a16:creationId xmlns:a16="http://schemas.microsoft.com/office/drawing/2014/main" id="{53ACE6CD-8D10-4730-5469-21FE42AEC36C}"/>
                  </a:ext>
                </a:extLst>
              </p:cNvPr>
              <p:cNvSpPr>
                <a:spLocks noRot="1" noChangeAspect="1" noMove="1" noResize="1" noEditPoints="1" noAdjustHandles="1" noChangeArrowheads="1" noChangeShapeType="1" noTextEdit="1"/>
              </p:cNvSpPr>
              <p:nvPr/>
            </p:nvSpPr>
            <p:spPr>
              <a:xfrm>
                <a:off x="183475" y="4570961"/>
                <a:ext cx="1829958" cy="369332"/>
              </a:xfrm>
              <a:prstGeom prst="rect">
                <a:avLst/>
              </a:prstGeom>
              <a:blipFill>
                <a:blip r:embed="rId10"/>
                <a:stretch>
                  <a:fillRect b="-10000"/>
                </a:stretch>
              </a:blipFill>
            </p:spPr>
            <p:txBody>
              <a:bodyPr/>
              <a:lstStyle/>
              <a:p>
                <a:r>
                  <a:rPr lang="ko-KR" altLang="en-US">
                    <a:noFill/>
                  </a:rPr>
                  <a:t> </a:t>
                </a:r>
              </a:p>
            </p:txBody>
          </p:sp>
        </mc:Fallback>
      </mc:AlternateContent>
      <mc:AlternateContent xmlns:mc="http://schemas.openxmlformats.org/markup-compatibility/2006" xmlns:a14="http://schemas.microsoft.com/office/drawing/2010/main">
        <mc:Choice Requires="a14">
          <p:sp>
            <p:nvSpPr>
              <p:cNvPr id="52" name="Rectangle 10">
                <a:extLst>
                  <a:ext uri="{FF2B5EF4-FFF2-40B4-BE49-F238E27FC236}">
                    <a16:creationId xmlns:a16="http://schemas.microsoft.com/office/drawing/2014/main" id="{53ACE6CD-8D10-4730-5469-21FE42AEC36C}"/>
                  </a:ext>
                </a:extLst>
              </p:cNvPr>
              <p:cNvSpPr/>
              <p:nvPr/>
            </p:nvSpPr>
            <p:spPr>
              <a:xfrm>
                <a:off x="999125" y="5083241"/>
                <a:ext cx="1829958" cy="381515"/>
              </a:xfrm>
              <a:prstGeom prst="rect">
                <a:avLst/>
              </a:prstGeom>
            </p:spPr>
            <p:txBody>
              <a:bodyPr wrap="square">
                <a:spAutoFit/>
              </a:bodyPr>
              <a:lstStyle/>
              <a:p>
                <a:pPr/>
                <a14:m>
                  <m:oMathPara xmlns:m="http://schemas.openxmlformats.org/officeDocument/2006/math">
                    <m:oMathParaPr>
                      <m:jc m:val="centerGroup"/>
                    </m:oMathParaPr>
                    <m:oMath xmlns:m="http://schemas.openxmlformats.org/officeDocument/2006/math">
                      <m:r>
                        <a:rPr lang="en-US" b="0" i="1" smtClean="0">
                          <a:latin typeface="Cambria Math" panose="02040503050406030204" pitchFamily="18" charset="0"/>
                        </a:rPr>
                        <m:t>𝐶𝑁𝑂𝑇</m:t>
                      </m:r>
                      <m:r>
                        <a:rPr lang="en-US" b="0" i="1" smtClean="0">
                          <a:latin typeface="Cambria Math" panose="02040503050406030204" pitchFamily="18" charset="0"/>
                        </a:rPr>
                        <m:t>⊗</m:t>
                      </m:r>
                      <m:r>
                        <a:rPr lang="en-US" b="0" i="1" smtClean="0">
                          <a:latin typeface="Cambria Math" panose="02040503050406030204" pitchFamily="18" charset="0"/>
                        </a:rPr>
                        <m:t>𝐼</m:t>
                      </m:r>
                    </m:oMath>
                  </m:oMathPara>
                </a14:m>
                <a:endParaRPr lang="en-US" dirty="0"/>
              </a:p>
            </p:txBody>
          </p:sp>
        </mc:Choice>
        <mc:Fallback xmlns="">
          <p:sp>
            <p:nvSpPr>
              <p:cNvPr id="52" name="Rectangle 10">
                <a:extLst>
                  <a:ext uri="{FF2B5EF4-FFF2-40B4-BE49-F238E27FC236}">
                    <a16:creationId xmlns:a16="http://schemas.microsoft.com/office/drawing/2014/main" id="{53ACE6CD-8D10-4730-5469-21FE42AEC36C}"/>
                  </a:ext>
                </a:extLst>
              </p:cNvPr>
              <p:cNvSpPr>
                <a:spLocks noRot="1" noChangeAspect="1" noMove="1" noResize="1" noEditPoints="1" noAdjustHandles="1" noChangeArrowheads="1" noChangeShapeType="1" noTextEdit="1"/>
              </p:cNvSpPr>
              <p:nvPr/>
            </p:nvSpPr>
            <p:spPr>
              <a:xfrm>
                <a:off x="999125" y="5083241"/>
                <a:ext cx="1829958" cy="381515"/>
              </a:xfrm>
              <a:prstGeom prst="rect">
                <a:avLst/>
              </a:prstGeom>
              <a:blipFill>
                <a:blip r:embed="rId11"/>
                <a:stretch>
                  <a:fillRect b="-6452"/>
                </a:stretch>
              </a:blipFill>
            </p:spPr>
            <p:txBody>
              <a:bodyPr/>
              <a:lstStyle/>
              <a:p>
                <a:r>
                  <a:rPr lang="ko-KR" altLang="en-US">
                    <a:noFill/>
                  </a:rPr>
                  <a:t> </a:t>
                </a:r>
              </a:p>
            </p:txBody>
          </p:sp>
        </mc:Fallback>
      </mc:AlternateContent>
      <mc:AlternateContent xmlns:mc="http://schemas.openxmlformats.org/markup-compatibility/2006" xmlns:a14="http://schemas.microsoft.com/office/drawing/2010/main">
        <mc:Choice Requires="a14">
          <p:sp>
            <p:nvSpPr>
              <p:cNvPr id="53" name="Rectangle 10">
                <a:extLst>
                  <a:ext uri="{FF2B5EF4-FFF2-40B4-BE49-F238E27FC236}">
                    <a16:creationId xmlns:a16="http://schemas.microsoft.com/office/drawing/2014/main" id="{53ACE6CD-8D10-4730-5469-21FE42AEC36C}"/>
                  </a:ext>
                </a:extLst>
              </p:cNvPr>
              <p:cNvSpPr/>
              <p:nvPr/>
            </p:nvSpPr>
            <p:spPr>
              <a:xfrm>
                <a:off x="1810802" y="4629836"/>
                <a:ext cx="1829958" cy="381515"/>
              </a:xfrm>
              <a:prstGeom prst="rect">
                <a:avLst/>
              </a:prstGeom>
            </p:spPr>
            <p:txBody>
              <a:bodyPr wrap="square">
                <a:spAutoFit/>
              </a:bodyPr>
              <a:lstStyle/>
              <a:p>
                <a:pPr/>
                <a14:m>
                  <m:oMathPara xmlns:m="http://schemas.openxmlformats.org/officeDocument/2006/math">
                    <m:oMathParaPr>
                      <m:jc m:val="centerGroup"/>
                    </m:oMathParaPr>
                    <m:oMath xmlns:m="http://schemas.openxmlformats.org/officeDocument/2006/math">
                      <m:r>
                        <a:rPr lang="en-US" b="0" i="1" smtClean="0">
                          <a:latin typeface="Cambria Math" panose="02040503050406030204" pitchFamily="18" charset="0"/>
                        </a:rPr>
                        <m:t>𝐼</m:t>
                      </m:r>
                      <m:r>
                        <a:rPr lang="en-US" b="0" i="1" smtClean="0">
                          <a:latin typeface="Cambria Math" panose="02040503050406030204" pitchFamily="18" charset="0"/>
                        </a:rPr>
                        <m:t>⊗</m:t>
                      </m:r>
                      <m:r>
                        <a:rPr lang="en-US" b="0" i="1" smtClean="0">
                          <a:latin typeface="Cambria Math" panose="02040503050406030204" pitchFamily="18" charset="0"/>
                        </a:rPr>
                        <m:t>𝐶𝑁𝑂𝑇</m:t>
                      </m:r>
                    </m:oMath>
                  </m:oMathPara>
                </a14:m>
                <a:endParaRPr lang="en-US" dirty="0"/>
              </a:p>
            </p:txBody>
          </p:sp>
        </mc:Choice>
        <mc:Fallback xmlns="">
          <p:sp>
            <p:nvSpPr>
              <p:cNvPr id="53" name="Rectangle 10">
                <a:extLst>
                  <a:ext uri="{FF2B5EF4-FFF2-40B4-BE49-F238E27FC236}">
                    <a16:creationId xmlns:a16="http://schemas.microsoft.com/office/drawing/2014/main" id="{53ACE6CD-8D10-4730-5469-21FE42AEC36C}"/>
                  </a:ext>
                </a:extLst>
              </p:cNvPr>
              <p:cNvSpPr>
                <a:spLocks noRot="1" noChangeAspect="1" noMove="1" noResize="1" noEditPoints="1" noAdjustHandles="1" noChangeArrowheads="1" noChangeShapeType="1" noTextEdit="1"/>
              </p:cNvSpPr>
              <p:nvPr/>
            </p:nvSpPr>
            <p:spPr>
              <a:xfrm>
                <a:off x="1810802" y="4629836"/>
                <a:ext cx="1829958" cy="381515"/>
              </a:xfrm>
              <a:prstGeom prst="rect">
                <a:avLst/>
              </a:prstGeom>
              <a:blipFill>
                <a:blip r:embed="rId12"/>
                <a:stretch>
                  <a:fillRect b="-4762"/>
                </a:stretch>
              </a:blipFill>
            </p:spPr>
            <p:txBody>
              <a:bodyPr/>
              <a:lstStyle/>
              <a:p>
                <a:r>
                  <a:rPr lang="ko-KR" altLang="en-US">
                    <a:noFill/>
                  </a:rPr>
                  <a:t> </a:t>
                </a:r>
              </a:p>
            </p:txBody>
          </p:sp>
        </mc:Fallback>
      </mc:AlternateContent>
      <p:sp>
        <p:nvSpPr>
          <p:cNvPr id="54" name="Rectangle 10">
            <a:extLst>
              <a:ext uri="{FF2B5EF4-FFF2-40B4-BE49-F238E27FC236}">
                <a16:creationId xmlns:a16="http://schemas.microsoft.com/office/drawing/2014/main" id="{53ACE6CD-8D10-4730-5469-21FE42AEC36C}"/>
              </a:ext>
            </a:extLst>
          </p:cNvPr>
          <p:cNvSpPr/>
          <p:nvPr/>
        </p:nvSpPr>
        <p:spPr>
          <a:xfrm>
            <a:off x="2829082" y="5070226"/>
            <a:ext cx="2566827" cy="369332"/>
          </a:xfrm>
          <a:prstGeom prst="rect">
            <a:avLst/>
          </a:prstGeom>
        </p:spPr>
        <p:txBody>
          <a:bodyPr wrap="square">
            <a:spAutoFit/>
          </a:bodyPr>
          <a:lstStyle/>
          <a:p>
            <a:r>
              <a:rPr lang="en-US" dirty="0" smtClean="0"/>
              <a:t>(…hard to write down)</a:t>
            </a:r>
            <a:endParaRPr lang="en-US" dirty="0"/>
          </a:p>
        </p:txBody>
      </p:sp>
      <mc:AlternateContent xmlns:mc="http://schemas.openxmlformats.org/markup-compatibility/2006" xmlns:a14="http://schemas.microsoft.com/office/drawing/2010/main">
        <mc:Choice Requires="a14">
          <p:sp>
            <p:nvSpPr>
              <p:cNvPr id="55" name="Rectangle 10">
                <a:extLst>
                  <a:ext uri="{FF2B5EF4-FFF2-40B4-BE49-F238E27FC236}">
                    <a16:creationId xmlns:a16="http://schemas.microsoft.com/office/drawing/2014/main" id="{53ACE6CD-8D10-4730-5469-21FE42AEC36C}"/>
                  </a:ext>
                </a:extLst>
              </p:cNvPr>
              <p:cNvSpPr/>
              <p:nvPr/>
            </p:nvSpPr>
            <p:spPr>
              <a:xfrm>
                <a:off x="3927151" y="4570961"/>
                <a:ext cx="1829958" cy="381515"/>
              </a:xfrm>
              <a:prstGeom prst="rect">
                <a:avLst/>
              </a:prstGeom>
            </p:spPr>
            <p:txBody>
              <a:bodyPr wrap="square">
                <a:spAutoFit/>
              </a:bodyPr>
              <a:lstStyle/>
              <a:p>
                <a:pPr/>
                <a14:m>
                  <m:oMathPara xmlns:m="http://schemas.openxmlformats.org/officeDocument/2006/math">
                    <m:oMathParaPr>
                      <m:jc m:val="centerGroup"/>
                    </m:oMathParaPr>
                    <m:oMath xmlns:m="http://schemas.openxmlformats.org/officeDocument/2006/math">
                      <m:r>
                        <a:rPr lang="en-US" b="0" i="1" smtClean="0">
                          <a:latin typeface="Cambria Math" panose="02040503050406030204" pitchFamily="18" charset="0"/>
                        </a:rPr>
                        <m:t>𝐼</m:t>
                      </m:r>
                      <m:r>
                        <a:rPr lang="en-US" b="0" i="1" smtClean="0">
                          <a:latin typeface="Cambria Math" panose="02040503050406030204" pitchFamily="18" charset="0"/>
                        </a:rPr>
                        <m:t>⊗</m:t>
                      </m:r>
                      <m:r>
                        <a:rPr lang="en-US" b="0" i="1" smtClean="0">
                          <a:latin typeface="Cambria Math" panose="02040503050406030204" pitchFamily="18" charset="0"/>
                        </a:rPr>
                        <m:t>𝑋</m:t>
                      </m:r>
                      <m:r>
                        <a:rPr lang="en-US" b="0" i="1" smtClean="0">
                          <a:latin typeface="Cambria Math" panose="02040503050406030204" pitchFamily="18" charset="0"/>
                        </a:rPr>
                        <m:t>⊗</m:t>
                      </m:r>
                      <m:r>
                        <a:rPr lang="en-US" b="0" i="1" smtClean="0">
                          <a:latin typeface="Cambria Math" panose="02040503050406030204" pitchFamily="18" charset="0"/>
                        </a:rPr>
                        <m:t>𝐼</m:t>
                      </m:r>
                    </m:oMath>
                  </m:oMathPara>
                </a14:m>
                <a:endParaRPr lang="en-US" dirty="0"/>
              </a:p>
            </p:txBody>
          </p:sp>
        </mc:Choice>
        <mc:Fallback xmlns="">
          <p:sp>
            <p:nvSpPr>
              <p:cNvPr id="55" name="Rectangle 10">
                <a:extLst>
                  <a:ext uri="{FF2B5EF4-FFF2-40B4-BE49-F238E27FC236}">
                    <a16:creationId xmlns:a16="http://schemas.microsoft.com/office/drawing/2014/main" id="{53ACE6CD-8D10-4730-5469-21FE42AEC36C}"/>
                  </a:ext>
                </a:extLst>
              </p:cNvPr>
              <p:cNvSpPr>
                <a:spLocks noRot="1" noChangeAspect="1" noMove="1" noResize="1" noEditPoints="1" noAdjustHandles="1" noChangeArrowheads="1" noChangeShapeType="1" noTextEdit="1"/>
              </p:cNvSpPr>
              <p:nvPr/>
            </p:nvSpPr>
            <p:spPr>
              <a:xfrm>
                <a:off x="3927151" y="4570961"/>
                <a:ext cx="1829958" cy="381515"/>
              </a:xfrm>
              <a:prstGeom prst="rect">
                <a:avLst/>
              </a:prstGeom>
              <a:blipFill>
                <a:blip r:embed="rId13"/>
                <a:stretch>
                  <a:fillRect b="-6452"/>
                </a:stretch>
              </a:blipFill>
            </p:spPr>
            <p:txBody>
              <a:bodyPr/>
              <a:lstStyle/>
              <a:p>
                <a:r>
                  <a:rPr lang="ko-KR" altLang="en-US">
                    <a:noFill/>
                  </a:rPr>
                  <a:t> </a:t>
                </a:r>
              </a:p>
            </p:txBody>
          </p:sp>
        </mc:Fallback>
      </mc:AlternateContent>
      <p:cxnSp>
        <p:nvCxnSpPr>
          <p:cNvPr id="7" name="직선 화살표 연결선 6"/>
          <p:cNvCxnSpPr>
            <a:stCxn id="51" idx="0"/>
          </p:cNvCxnSpPr>
          <p:nvPr/>
        </p:nvCxnSpPr>
        <p:spPr>
          <a:xfrm flipV="1">
            <a:off x="1098454" y="3601295"/>
            <a:ext cx="0" cy="969666"/>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4" name="직선 화살표 연결선 13"/>
          <p:cNvCxnSpPr>
            <a:stCxn id="52" idx="0"/>
          </p:cNvCxnSpPr>
          <p:nvPr/>
        </p:nvCxnSpPr>
        <p:spPr>
          <a:xfrm flipV="1">
            <a:off x="1914104" y="3601295"/>
            <a:ext cx="172193" cy="1481946"/>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60" name="직선 화살표 연결선 59"/>
          <p:cNvCxnSpPr/>
          <p:nvPr/>
        </p:nvCxnSpPr>
        <p:spPr>
          <a:xfrm flipV="1">
            <a:off x="2728162" y="3670356"/>
            <a:ext cx="6875" cy="969674"/>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66" name="직선 화살표 연결선 65"/>
          <p:cNvCxnSpPr/>
          <p:nvPr/>
        </p:nvCxnSpPr>
        <p:spPr>
          <a:xfrm flipH="1" flipV="1">
            <a:off x="3770600" y="3654052"/>
            <a:ext cx="140621" cy="1416174"/>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67" name="직선 화살표 연결선 66"/>
          <p:cNvCxnSpPr>
            <a:stCxn id="55" idx="0"/>
          </p:cNvCxnSpPr>
          <p:nvPr/>
        </p:nvCxnSpPr>
        <p:spPr>
          <a:xfrm flipH="1" flipV="1">
            <a:off x="4788706" y="3628854"/>
            <a:ext cx="53424" cy="942107"/>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18" name="직사각형 17"/>
              <p:cNvSpPr/>
              <p:nvPr/>
            </p:nvSpPr>
            <p:spPr>
              <a:xfrm>
                <a:off x="418809" y="5821823"/>
                <a:ext cx="5739986" cy="381515"/>
              </a:xfrm>
              <a:prstGeom prst="rect">
                <a:avLst/>
              </a:prstGeom>
            </p:spPr>
            <p:txBody>
              <a:bodyPr wrap="square">
                <a:spAutoFit/>
              </a:bodyPr>
              <a:lstStyle/>
              <a:p>
                <a:pPr/>
                <a14:m>
                  <m:oMathPara xmlns:m="http://schemas.openxmlformats.org/officeDocument/2006/math">
                    <m:oMathParaPr>
                      <m:jc m:val="centerGroup"/>
                    </m:oMathParaPr>
                    <m:oMath xmlns:m="http://schemas.openxmlformats.org/officeDocument/2006/math">
                      <m:sSub>
                        <m:sSubPr>
                          <m:ctrlPr>
                            <a:rPr lang="en-US" altLang="ko-KR" b="0" i="1" smtClean="0">
                              <a:latin typeface="Cambria Math" panose="02040503050406030204" pitchFamily="18" charset="0"/>
                            </a:rPr>
                          </m:ctrlPr>
                        </m:sSubPr>
                        <m:e>
                          <m:r>
                            <a:rPr lang="en-US" altLang="ko-KR" b="0" i="1" smtClean="0">
                              <a:latin typeface="Cambria Math" panose="02040503050406030204" pitchFamily="18" charset="0"/>
                            </a:rPr>
                            <m:t>𝑋</m:t>
                          </m:r>
                        </m:e>
                        <m:sub>
                          <m:r>
                            <a:rPr lang="en-US" altLang="ko-KR" b="0" i="1" smtClean="0">
                              <a:latin typeface="Cambria Math" panose="02040503050406030204" pitchFamily="18" charset="0"/>
                            </a:rPr>
                            <m:t>2</m:t>
                          </m:r>
                        </m:sub>
                      </m:sSub>
                      <m:r>
                        <a:rPr lang="en-US" altLang="ko-KR" b="0" i="1" smtClean="0">
                          <a:latin typeface="Cambria Math" panose="02040503050406030204" pitchFamily="18" charset="0"/>
                        </a:rPr>
                        <m:t>⋅</m:t>
                      </m:r>
                      <m:r>
                        <a:rPr lang="en-US" altLang="ko-KR" b="0" i="1" smtClean="0">
                          <a:latin typeface="Cambria Math" panose="02040503050406030204" pitchFamily="18" charset="0"/>
                        </a:rPr>
                        <m:t>𝐶𝑁𝑂</m:t>
                      </m:r>
                      <m:sSub>
                        <m:sSubPr>
                          <m:ctrlPr>
                            <a:rPr lang="en-US" altLang="ko-KR" b="0" i="1" smtClean="0">
                              <a:latin typeface="Cambria Math" panose="02040503050406030204" pitchFamily="18" charset="0"/>
                            </a:rPr>
                          </m:ctrlPr>
                        </m:sSubPr>
                        <m:e>
                          <m:r>
                            <a:rPr lang="en-US" altLang="ko-KR" b="0" i="1" smtClean="0">
                              <a:latin typeface="Cambria Math" panose="02040503050406030204" pitchFamily="18" charset="0"/>
                            </a:rPr>
                            <m:t>𝑇</m:t>
                          </m:r>
                        </m:e>
                        <m:sub>
                          <m:r>
                            <a:rPr lang="en-US" altLang="ko-KR" b="0" i="1" smtClean="0">
                              <a:latin typeface="Cambria Math" panose="02040503050406030204" pitchFamily="18" charset="0"/>
                            </a:rPr>
                            <m:t>3,1</m:t>
                          </m:r>
                        </m:sub>
                      </m:sSub>
                      <m:r>
                        <a:rPr lang="en-US" altLang="ko-KR" b="0" i="1" smtClean="0">
                          <a:latin typeface="Cambria Math" panose="02040503050406030204" pitchFamily="18" charset="0"/>
                        </a:rPr>
                        <m:t>⋅</m:t>
                      </m:r>
                      <m:r>
                        <a:rPr lang="en-US" altLang="ko-KR" i="1">
                          <a:latin typeface="Cambria Math" panose="02040503050406030204" pitchFamily="18" charset="0"/>
                        </a:rPr>
                        <m:t>𝐶𝑁𝑂</m:t>
                      </m:r>
                      <m:sSub>
                        <m:sSubPr>
                          <m:ctrlPr>
                            <a:rPr lang="en-US" altLang="ko-KR" i="1">
                              <a:latin typeface="Cambria Math" panose="02040503050406030204" pitchFamily="18" charset="0"/>
                            </a:rPr>
                          </m:ctrlPr>
                        </m:sSubPr>
                        <m:e>
                          <m:r>
                            <a:rPr lang="en-US" altLang="ko-KR" i="1">
                              <a:latin typeface="Cambria Math" panose="02040503050406030204" pitchFamily="18" charset="0"/>
                            </a:rPr>
                            <m:t>𝑇</m:t>
                          </m:r>
                        </m:e>
                        <m:sub>
                          <m:r>
                            <a:rPr lang="en-US" altLang="ko-KR" b="0" i="1" smtClean="0">
                              <a:latin typeface="Cambria Math" panose="02040503050406030204" pitchFamily="18" charset="0"/>
                            </a:rPr>
                            <m:t>2,3</m:t>
                          </m:r>
                        </m:sub>
                      </m:sSub>
                      <m:r>
                        <a:rPr lang="en-US" altLang="ko-KR" b="0" i="1" smtClean="0">
                          <a:latin typeface="Cambria Math" panose="02040503050406030204" pitchFamily="18" charset="0"/>
                        </a:rPr>
                        <m:t>⋅</m:t>
                      </m:r>
                      <m:r>
                        <a:rPr lang="en-US" altLang="ko-KR" i="1">
                          <a:latin typeface="Cambria Math" panose="02040503050406030204" pitchFamily="18" charset="0"/>
                        </a:rPr>
                        <m:t>𝐶𝑁𝑂</m:t>
                      </m:r>
                      <m:sSub>
                        <m:sSubPr>
                          <m:ctrlPr>
                            <a:rPr lang="en-US" altLang="ko-KR" i="1">
                              <a:latin typeface="Cambria Math" panose="02040503050406030204" pitchFamily="18" charset="0"/>
                            </a:rPr>
                          </m:ctrlPr>
                        </m:sSubPr>
                        <m:e>
                          <m:r>
                            <a:rPr lang="en-US" altLang="ko-KR" i="1">
                              <a:latin typeface="Cambria Math" panose="02040503050406030204" pitchFamily="18" charset="0"/>
                            </a:rPr>
                            <m:t>𝑇</m:t>
                          </m:r>
                        </m:e>
                        <m:sub>
                          <m:r>
                            <a:rPr lang="en-US" altLang="ko-KR" b="0" i="1" smtClean="0">
                              <a:latin typeface="Cambria Math" panose="02040503050406030204" pitchFamily="18" charset="0"/>
                            </a:rPr>
                            <m:t>1,2</m:t>
                          </m:r>
                        </m:sub>
                      </m:sSub>
                      <m:d>
                        <m:dPr>
                          <m:ctrlPr>
                            <a:rPr lang="en-US" altLang="ko-KR" b="0" i="1" smtClean="0">
                              <a:latin typeface="Cambria Math" panose="02040503050406030204" pitchFamily="18" charset="0"/>
                            </a:rPr>
                          </m:ctrlPr>
                        </m:dPr>
                        <m:e>
                          <m:d>
                            <m:dPr>
                              <m:begChr m:val="|"/>
                              <m:endChr m:val="⟩"/>
                              <m:ctrlPr>
                                <a:rPr lang="en-US" altLang="ko-KR" i="1">
                                  <a:latin typeface="Cambria Math" panose="02040503050406030204" pitchFamily="18" charset="0"/>
                                </a:rPr>
                              </m:ctrlPr>
                            </m:dPr>
                            <m:e>
                              <m:r>
                                <a:rPr lang="en-US" altLang="ko-KR" i="1">
                                  <a:latin typeface="Cambria Math" panose="02040503050406030204" pitchFamily="18" charset="0"/>
                                </a:rPr>
                                <m:t>1</m:t>
                              </m:r>
                            </m:e>
                          </m:d>
                          <m:r>
                            <a:rPr lang="en-US" altLang="ko-KR" i="1">
                              <a:latin typeface="Cambria Math" panose="02040503050406030204" pitchFamily="18" charset="0"/>
                            </a:rPr>
                            <m:t>⊗</m:t>
                          </m:r>
                          <m:d>
                            <m:dPr>
                              <m:begChr m:val="|"/>
                              <m:endChr m:val="⟩"/>
                              <m:ctrlPr>
                                <a:rPr lang="en-US" altLang="ko-KR" i="1">
                                  <a:latin typeface="Cambria Math" panose="02040503050406030204" pitchFamily="18" charset="0"/>
                                </a:rPr>
                              </m:ctrlPr>
                            </m:dPr>
                            <m:e>
                              <m:r>
                                <a:rPr lang="en-US" altLang="ko-KR" i="1">
                                  <a:latin typeface="Cambria Math" panose="02040503050406030204" pitchFamily="18" charset="0"/>
                                </a:rPr>
                                <m:t>0</m:t>
                              </m:r>
                            </m:e>
                          </m:d>
                          <m:r>
                            <a:rPr lang="en-US" altLang="ko-KR" i="1">
                              <a:latin typeface="Cambria Math" panose="02040503050406030204" pitchFamily="18" charset="0"/>
                            </a:rPr>
                            <m:t>⊗</m:t>
                          </m:r>
                          <m:d>
                            <m:dPr>
                              <m:begChr m:val="|"/>
                              <m:endChr m:val="⟩"/>
                              <m:ctrlPr>
                                <a:rPr lang="en-CA" altLang="ko-KR" i="1">
                                  <a:latin typeface="Cambria Math" panose="02040503050406030204" pitchFamily="18" charset="0"/>
                                </a:rPr>
                              </m:ctrlPr>
                            </m:dPr>
                            <m:e>
                              <m:r>
                                <a:rPr lang="en-CA" altLang="ko-KR" i="1">
                                  <a:latin typeface="Cambria Math" panose="02040503050406030204" pitchFamily="18" charset="0"/>
                                </a:rPr>
                                <m:t>0</m:t>
                              </m:r>
                            </m:e>
                          </m:d>
                        </m:e>
                      </m:d>
                    </m:oMath>
                  </m:oMathPara>
                </a14:m>
                <a:endParaRPr lang="en-US" altLang="ko-KR" dirty="0"/>
              </a:p>
            </p:txBody>
          </p:sp>
        </mc:Choice>
        <mc:Fallback xmlns="">
          <p:sp>
            <p:nvSpPr>
              <p:cNvPr id="18" name="직사각형 17"/>
              <p:cNvSpPr>
                <a:spLocks noRot="1" noChangeAspect="1" noMove="1" noResize="1" noEditPoints="1" noAdjustHandles="1" noChangeArrowheads="1" noChangeShapeType="1" noTextEdit="1"/>
              </p:cNvSpPr>
              <p:nvPr/>
            </p:nvSpPr>
            <p:spPr>
              <a:xfrm>
                <a:off x="418809" y="5821823"/>
                <a:ext cx="5739986" cy="381515"/>
              </a:xfrm>
              <a:prstGeom prst="rect">
                <a:avLst/>
              </a:prstGeom>
              <a:blipFill>
                <a:blip r:embed="rId14"/>
                <a:stretch>
                  <a:fillRect b="-3175"/>
                </a:stretch>
              </a:blipFill>
            </p:spPr>
            <p:txBody>
              <a:bodyPr/>
              <a:lstStyle/>
              <a:p>
                <a:r>
                  <a:rPr lang="ko-KR" altLang="en-US">
                    <a:noFill/>
                  </a:rPr>
                  <a:t> </a:t>
                </a:r>
              </a:p>
            </p:txBody>
          </p:sp>
        </mc:Fallback>
      </mc:AlternateContent>
    </p:spTree>
    <p:extLst>
      <p:ext uri="{BB962C8B-B14F-4D97-AF65-F5344CB8AC3E}">
        <p14:creationId xmlns:p14="http://schemas.microsoft.com/office/powerpoint/2010/main" val="32085463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7"/>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51"/>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nodeType="clickEffect">
                                  <p:stCondLst>
                                    <p:cond delay="0"/>
                                  </p:stCondLst>
                                  <p:childTnLst>
                                    <p:set>
                                      <p:cBhvr>
                                        <p:cTn id="12" dur="1" fill="hold">
                                          <p:stCondLst>
                                            <p:cond delay="0"/>
                                          </p:stCondLst>
                                        </p:cTn>
                                        <p:tgtEl>
                                          <p:spTgt spid="14"/>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52"/>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60"/>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53"/>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nodeType="clickEffect">
                                  <p:stCondLst>
                                    <p:cond delay="0"/>
                                  </p:stCondLst>
                                  <p:childTnLst>
                                    <p:set>
                                      <p:cBhvr>
                                        <p:cTn id="24" dur="1" fill="hold">
                                          <p:stCondLst>
                                            <p:cond delay="0"/>
                                          </p:stCondLst>
                                        </p:cTn>
                                        <p:tgtEl>
                                          <p:spTgt spid="66"/>
                                        </p:tgtEl>
                                        <p:attrNameLst>
                                          <p:attrName>style.visibility</p:attrName>
                                        </p:attrNameLst>
                                      </p:cBhvr>
                                      <p:to>
                                        <p:strVal val="visible"/>
                                      </p:to>
                                    </p:set>
                                  </p:childTnLst>
                                </p:cTn>
                              </p:par>
                              <p:par>
                                <p:cTn id="25" presetID="1" presetClass="entr" presetSubtype="0" fill="hold" grpId="0" nodeType="withEffect">
                                  <p:stCondLst>
                                    <p:cond delay="0"/>
                                  </p:stCondLst>
                                  <p:childTnLst>
                                    <p:set>
                                      <p:cBhvr>
                                        <p:cTn id="26" dur="1" fill="hold">
                                          <p:stCondLst>
                                            <p:cond delay="0"/>
                                          </p:stCondLst>
                                        </p:cTn>
                                        <p:tgtEl>
                                          <p:spTgt spid="54"/>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67"/>
                                        </p:tgtEl>
                                        <p:attrNameLst>
                                          <p:attrName>style.visibility</p:attrName>
                                        </p:attrNameLst>
                                      </p:cBhvr>
                                      <p:to>
                                        <p:strVal val="visible"/>
                                      </p:to>
                                    </p:set>
                                  </p:childTnLst>
                                </p:cTn>
                              </p:par>
                              <p:par>
                                <p:cTn id="31" presetID="1" presetClass="entr" presetSubtype="0" fill="hold" grpId="0" nodeType="withEffect">
                                  <p:stCondLst>
                                    <p:cond delay="0"/>
                                  </p:stCondLst>
                                  <p:childTnLst>
                                    <p:set>
                                      <p:cBhvr>
                                        <p:cTn id="32" dur="1" fill="hold">
                                          <p:stCondLst>
                                            <p:cond delay="0"/>
                                          </p:stCondLst>
                                        </p:cTn>
                                        <p:tgtEl>
                                          <p:spTgt spid="55"/>
                                        </p:tgtEl>
                                        <p:attrNameLst>
                                          <p:attrName>style.visibility</p:attrName>
                                        </p:attrNameLst>
                                      </p:cBhvr>
                                      <p:to>
                                        <p:strVal val="visible"/>
                                      </p:to>
                                    </p:set>
                                  </p:childTnLst>
                                </p:cTn>
                              </p:par>
                            </p:childTnLst>
                          </p:cTn>
                        </p:par>
                      </p:childTnLst>
                    </p:cTn>
                  </p:par>
                  <p:par>
                    <p:cTn id="33" fill="hold">
                      <p:stCondLst>
                        <p:cond delay="indefinite"/>
                      </p:stCondLst>
                      <p:childTnLst>
                        <p:par>
                          <p:cTn id="34" fill="hold">
                            <p:stCondLst>
                              <p:cond delay="0"/>
                            </p:stCondLst>
                            <p:childTnLst>
                              <p:par>
                                <p:cTn id="35" presetID="1" presetClass="entr" presetSubtype="0" fill="hold" grpId="0" nodeType="clickEffect">
                                  <p:stCondLst>
                                    <p:cond delay="0"/>
                                  </p:stCondLst>
                                  <p:childTnLst>
                                    <p:set>
                                      <p:cBhvr>
                                        <p:cTn id="36" dur="1" fill="hold">
                                          <p:stCondLst>
                                            <p:cond delay="0"/>
                                          </p:stCondLst>
                                        </p:cTn>
                                        <p:tgtEl>
                                          <p:spTgt spid="1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1" grpId="0"/>
      <p:bldP spid="52" grpId="0"/>
      <p:bldP spid="53" grpId="0"/>
      <p:bldP spid="54" grpId="0"/>
      <p:bldP spid="55" grpId="0"/>
      <p:bldP spid="18" grpId="0"/>
    </p:bld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A2B6AB8-4C84-1448-01AA-904798889CB3}"/>
              </a:ext>
            </a:extLst>
          </p:cNvPr>
          <p:cNvSpPr>
            <a:spLocks noGrp="1"/>
          </p:cNvSpPr>
          <p:nvPr>
            <p:ph type="title"/>
          </p:nvPr>
        </p:nvSpPr>
        <p:spPr/>
        <p:txBody>
          <a:bodyPr>
            <a:normAutofit/>
          </a:bodyPr>
          <a:lstStyle/>
          <a:p>
            <a:r>
              <a:rPr lang="en-US" sz="4000" dirty="0" smtClean="0"/>
              <a:t>If you really want to formally write down…</a:t>
            </a:r>
            <a:endParaRPr lang="en-US" sz="4000" dirty="0"/>
          </a:p>
        </p:txBody>
      </p:sp>
      <p:cxnSp>
        <p:nvCxnSpPr>
          <p:cNvPr id="4" name="Straight Connector 3">
            <a:extLst>
              <a:ext uri="{FF2B5EF4-FFF2-40B4-BE49-F238E27FC236}">
                <a16:creationId xmlns:a16="http://schemas.microsoft.com/office/drawing/2014/main" id="{B91E78E4-542E-3BF9-60EB-0A75C5E77BF2}"/>
              </a:ext>
            </a:extLst>
          </p:cNvPr>
          <p:cNvCxnSpPr>
            <a:cxnSpLocks/>
          </p:cNvCxnSpPr>
          <p:nvPr/>
        </p:nvCxnSpPr>
        <p:spPr>
          <a:xfrm>
            <a:off x="1621931" y="2655525"/>
            <a:ext cx="3881437" cy="0"/>
          </a:xfrm>
          <a:prstGeom prst="line">
            <a:avLst/>
          </a:prstGeom>
          <a:ln w="38100"/>
        </p:spPr>
        <p:style>
          <a:lnRef idx="1">
            <a:schemeClr val="accent1"/>
          </a:lnRef>
          <a:fillRef idx="0">
            <a:schemeClr val="accent1"/>
          </a:fillRef>
          <a:effectRef idx="0">
            <a:schemeClr val="accent1"/>
          </a:effectRef>
          <a:fontRef idx="minor">
            <a:schemeClr val="tx1"/>
          </a:fontRef>
        </p:style>
      </p:cxnSp>
      <p:cxnSp>
        <p:nvCxnSpPr>
          <p:cNvPr id="5" name="Straight Connector 4">
            <a:extLst>
              <a:ext uri="{FF2B5EF4-FFF2-40B4-BE49-F238E27FC236}">
                <a16:creationId xmlns:a16="http://schemas.microsoft.com/office/drawing/2014/main" id="{978AB706-375B-47F7-7B59-E9A1BCEE51D6}"/>
              </a:ext>
            </a:extLst>
          </p:cNvPr>
          <p:cNvCxnSpPr>
            <a:cxnSpLocks/>
          </p:cNvCxnSpPr>
          <p:nvPr/>
        </p:nvCxnSpPr>
        <p:spPr>
          <a:xfrm>
            <a:off x="1621931" y="3036526"/>
            <a:ext cx="3881437" cy="0"/>
          </a:xfrm>
          <a:prstGeom prst="line">
            <a:avLst/>
          </a:prstGeom>
          <a:ln w="38100"/>
        </p:spPr>
        <p:style>
          <a:lnRef idx="1">
            <a:schemeClr val="accent1"/>
          </a:lnRef>
          <a:fillRef idx="0">
            <a:schemeClr val="accent1"/>
          </a:fillRef>
          <a:effectRef idx="0">
            <a:schemeClr val="accent1"/>
          </a:effectRef>
          <a:fontRef idx="minor">
            <a:schemeClr val="tx1"/>
          </a:fontRef>
        </p:style>
      </p:cxnSp>
      <p:cxnSp>
        <p:nvCxnSpPr>
          <p:cNvPr id="6" name="Straight Connector 5">
            <a:extLst>
              <a:ext uri="{FF2B5EF4-FFF2-40B4-BE49-F238E27FC236}">
                <a16:creationId xmlns:a16="http://schemas.microsoft.com/office/drawing/2014/main" id="{BED5DF10-67D3-32D3-58D2-6D7F10D2B0CA}"/>
              </a:ext>
            </a:extLst>
          </p:cNvPr>
          <p:cNvCxnSpPr>
            <a:cxnSpLocks/>
          </p:cNvCxnSpPr>
          <p:nvPr/>
        </p:nvCxnSpPr>
        <p:spPr>
          <a:xfrm>
            <a:off x="1621931" y="3450863"/>
            <a:ext cx="3881437" cy="0"/>
          </a:xfrm>
          <a:prstGeom prst="line">
            <a:avLst/>
          </a:prstGeom>
          <a:ln w="38100"/>
        </p:spPr>
        <p:style>
          <a:lnRef idx="1">
            <a:schemeClr val="accent1"/>
          </a:lnRef>
          <a:fillRef idx="0">
            <a:schemeClr val="accent1"/>
          </a:fillRef>
          <a:effectRef idx="0">
            <a:schemeClr val="accent1"/>
          </a:effectRef>
          <a:fontRef idx="minor">
            <a:schemeClr val="tx1"/>
          </a:fontRef>
        </p:style>
      </p:cxnSp>
      <p:cxnSp>
        <p:nvCxnSpPr>
          <p:cNvPr id="24" name="Straight Connector 23">
            <a:extLst>
              <a:ext uri="{FF2B5EF4-FFF2-40B4-BE49-F238E27FC236}">
                <a16:creationId xmlns:a16="http://schemas.microsoft.com/office/drawing/2014/main" id="{C251F492-D539-8BC9-D978-FFDA40075D94}"/>
              </a:ext>
            </a:extLst>
          </p:cNvPr>
          <p:cNvCxnSpPr>
            <a:cxnSpLocks/>
            <a:stCxn id="25" idx="4"/>
            <a:endCxn id="26" idx="4"/>
          </p:cNvCxnSpPr>
          <p:nvPr/>
        </p:nvCxnSpPr>
        <p:spPr>
          <a:xfrm>
            <a:off x="2086297" y="2711971"/>
            <a:ext cx="4762" cy="412335"/>
          </a:xfrm>
          <a:prstGeom prst="line">
            <a:avLst/>
          </a:prstGeom>
          <a:ln w="38100"/>
        </p:spPr>
        <p:style>
          <a:lnRef idx="1">
            <a:schemeClr val="accent1"/>
          </a:lnRef>
          <a:fillRef idx="0">
            <a:schemeClr val="accent1"/>
          </a:fillRef>
          <a:effectRef idx="0">
            <a:schemeClr val="accent1"/>
          </a:effectRef>
          <a:fontRef idx="minor">
            <a:schemeClr val="tx1"/>
          </a:fontRef>
        </p:style>
      </p:cxnSp>
      <p:sp>
        <p:nvSpPr>
          <p:cNvPr id="25" name="Oval 24">
            <a:extLst>
              <a:ext uri="{FF2B5EF4-FFF2-40B4-BE49-F238E27FC236}">
                <a16:creationId xmlns:a16="http://schemas.microsoft.com/office/drawing/2014/main" id="{AB8B4065-5CE1-DAA6-8A24-DE0BD66656DA}"/>
              </a:ext>
            </a:extLst>
          </p:cNvPr>
          <p:cNvSpPr/>
          <p:nvPr/>
        </p:nvSpPr>
        <p:spPr>
          <a:xfrm>
            <a:off x="2010796" y="2549579"/>
            <a:ext cx="151002" cy="162392"/>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6" name="Oval 25">
            <a:extLst>
              <a:ext uri="{FF2B5EF4-FFF2-40B4-BE49-F238E27FC236}">
                <a16:creationId xmlns:a16="http://schemas.microsoft.com/office/drawing/2014/main" id="{63A30FB8-4FBA-074B-F80B-45B299B44464}"/>
              </a:ext>
            </a:extLst>
          </p:cNvPr>
          <p:cNvSpPr/>
          <p:nvPr/>
        </p:nvSpPr>
        <p:spPr>
          <a:xfrm>
            <a:off x="2010796" y="2920819"/>
            <a:ext cx="160526" cy="203487"/>
          </a:xfrm>
          <a:prstGeom prst="ellipse">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29" name="Straight Connector 28">
            <a:extLst>
              <a:ext uri="{FF2B5EF4-FFF2-40B4-BE49-F238E27FC236}">
                <a16:creationId xmlns:a16="http://schemas.microsoft.com/office/drawing/2014/main" id="{0EF03BBC-C955-CC47-DF5A-E2611905E73C}"/>
              </a:ext>
            </a:extLst>
          </p:cNvPr>
          <p:cNvCxnSpPr>
            <a:cxnSpLocks/>
            <a:stCxn id="30" idx="4"/>
            <a:endCxn id="31" idx="4"/>
          </p:cNvCxnSpPr>
          <p:nvPr/>
        </p:nvCxnSpPr>
        <p:spPr>
          <a:xfrm>
            <a:off x="2725781" y="3140271"/>
            <a:ext cx="4762" cy="412335"/>
          </a:xfrm>
          <a:prstGeom prst="line">
            <a:avLst/>
          </a:prstGeom>
          <a:ln w="38100"/>
        </p:spPr>
        <p:style>
          <a:lnRef idx="1">
            <a:schemeClr val="accent1"/>
          </a:lnRef>
          <a:fillRef idx="0">
            <a:schemeClr val="accent1"/>
          </a:fillRef>
          <a:effectRef idx="0">
            <a:schemeClr val="accent1"/>
          </a:effectRef>
          <a:fontRef idx="minor">
            <a:schemeClr val="tx1"/>
          </a:fontRef>
        </p:style>
      </p:cxnSp>
      <p:sp>
        <p:nvSpPr>
          <p:cNvPr id="30" name="Oval 29">
            <a:extLst>
              <a:ext uri="{FF2B5EF4-FFF2-40B4-BE49-F238E27FC236}">
                <a16:creationId xmlns:a16="http://schemas.microsoft.com/office/drawing/2014/main" id="{204D1E71-EF2F-F04C-E236-5066F4827A39}"/>
              </a:ext>
            </a:extLst>
          </p:cNvPr>
          <p:cNvSpPr/>
          <p:nvPr/>
        </p:nvSpPr>
        <p:spPr>
          <a:xfrm>
            <a:off x="2650280" y="2977879"/>
            <a:ext cx="151002" cy="162392"/>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1" name="Oval 30">
            <a:extLst>
              <a:ext uri="{FF2B5EF4-FFF2-40B4-BE49-F238E27FC236}">
                <a16:creationId xmlns:a16="http://schemas.microsoft.com/office/drawing/2014/main" id="{34F8237B-9095-798A-AB09-AD69A08160E8}"/>
              </a:ext>
            </a:extLst>
          </p:cNvPr>
          <p:cNvSpPr/>
          <p:nvPr/>
        </p:nvSpPr>
        <p:spPr>
          <a:xfrm>
            <a:off x="2650280" y="3349119"/>
            <a:ext cx="160526" cy="203487"/>
          </a:xfrm>
          <a:prstGeom prst="ellipse">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35" name="Straight Connector 34">
            <a:extLst>
              <a:ext uri="{FF2B5EF4-FFF2-40B4-BE49-F238E27FC236}">
                <a16:creationId xmlns:a16="http://schemas.microsoft.com/office/drawing/2014/main" id="{1E5F54C2-59F0-E7DA-012B-2A93BD4DC83D}"/>
              </a:ext>
            </a:extLst>
          </p:cNvPr>
          <p:cNvCxnSpPr>
            <a:cxnSpLocks/>
            <a:stCxn id="36" idx="4"/>
            <a:endCxn id="37" idx="0"/>
          </p:cNvCxnSpPr>
          <p:nvPr/>
        </p:nvCxnSpPr>
        <p:spPr>
          <a:xfrm flipV="1">
            <a:off x="3840911" y="2549579"/>
            <a:ext cx="0" cy="978649"/>
          </a:xfrm>
          <a:prstGeom prst="line">
            <a:avLst/>
          </a:prstGeom>
          <a:ln w="38100"/>
        </p:spPr>
        <p:style>
          <a:lnRef idx="1">
            <a:schemeClr val="accent1"/>
          </a:lnRef>
          <a:fillRef idx="0">
            <a:schemeClr val="accent1"/>
          </a:fillRef>
          <a:effectRef idx="0">
            <a:schemeClr val="accent1"/>
          </a:effectRef>
          <a:fontRef idx="minor">
            <a:schemeClr val="tx1"/>
          </a:fontRef>
        </p:style>
      </p:cxnSp>
      <p:sp>
        <p:nvSpPr>
          <p:cNvPr id="36" name="Oval 35">
            <a:extLst>
              <a:ext uri="{FF2B5EF4-FFF2-40B4-BE49-F238E27FC236}">
                <a16:creationId xmlns:a16="http://schemas.microsoft.com/office/drawing/2014/main" id="{0A7BD3D2-2C4E-A320-4218-FFF72F065583}"/>
              </a:ext>
            </a:extLst>
          </p:cNvPr>
          <p:cNvSpPr/>
          <p:nvPr/>
        </p:nvSpPr>
        <p:spPr>
          <a:xfrm>
            <a:off x="3765410" y="3365836"/>
            <a:ext cx="151002" cy="162392"/>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7" name="Oval 36">
            <a:extLst>
              <a:ext uri="{FF2B5EF4-FFF2-40B4-BE49-F238E27FC236}">
                <a16:creationId xmlns:a16="http://schemas.microsoft.com/office/drawing/2014/main" id="{9BB2BAD3-82D3-E0A2-EE4B-0EDC31F91CAF}"/>
              </a:ext>
            </a:extLst>
          </p:cNvPr>
          <p:cNvSpPr/>
          <p:nvPr/>
        </p:nvSpPr>
        <p:spPr>
          <a:xfrm>
            <a:off x="3760648" y="2549579"/>
            <a:ext cx="160526" cy="203487"/>
          </a:xfrm>
          <a:prstGeom prst="ellipse">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75" name="Straight Connector 74">
            <a:extLst>
              <a:ext uri="{FF2B5EF4-FFF2-40B4-BE49-F238E27FC236}">
                <a16:creationId xmlns:a16="http://schemas.microsoft.com/office/drawing/2014/main" id="{7637FDB0-5D0F-7720-173F-64F2523FF5CE}"/>
              </a:ext>
            </a:extLst>
          </p:cNvPr>
          <p:cNvCxnSpPr/>
          <p:nvPr/>
        </p:nvCxnSpPr>
        <p:spPr>
          <a:xfrm>
            <a:off x="1771650" y="2399272"/>
            <a:ext cx="0" cy="1464640"/>
          </a:xfrm>
          <a:prstGeom prst="line">
            <a:avLst/>
          </a:prstGeom>
          <a:ln w="38100">
            <a:solidFill>
              <a:schemeClr val="bg2">
                <a:lumMod val="50000"/>
              </a:schemeClr>
            </a:solidFill>
            <a:prstDash val="sysDash"/>
          </a:ln>
        </p:spPr>
        <p:style>
          <a:lnRef idx="1">
            <a:schemeClr val="accent1"/>
          </a:lnRef>
          <a:fillRef idx="0">
            <a:schemeClr val="accent1"/>
          </a:fillRef>
          <a:effectRef idx="0">
            <a:schemeClr val="accent1"/>
          </a:effectRef>
          <a:fontRef idx="minor">
            <a:schemeClr val="tx1"/>
          </a:fontRef>
        </p:style>
      </p:cxnSp>
      <p:sp>
        <p:nvSpPr>
          <p:cNvPr id="76" name="Oval 75">
            <a:extLst>
              <a:ext uri="{FF2B5EF4-FFF2-40B4-BE49-F238E27FC236}">
                <a16:creationId xmlns:a16="http://schemas.microsoft.com/office/drawing/2014/main" id="{66446FD7-D50E-BA14-E741-766B8FBEE614}"/>
              </a:ext>
            </a:extLst>
          </p:cNvPr>
          <p:cNvSpPr/>
          <p:nvPr/>
        </p:nvSpPr>
        <p:spPr>
          <a:xfrm>
            <a:off x="1579067" y="3990483"/>
            <a:ext cx="388865" cy="410191"/>
          </a:xfrm>
          <a:prstGeom prst="ellipse">
            <a:avLst/>
          </a:prstGeom>
          <a:solidFill>
            <a:srgbClr val="C00000"/>
          </a:solidFill>
          <a:ln>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7" name="TextBox 76">
            <a:extLst>
              <a:ext uri="{FF2B5EF4-FFF2-40B4-BE49-F238E27FC236}">
                <a16:creationId xmlns:a16="http://schemas.microsoft.com/office/drawing/2014/main" id="{378A7A83-33CF-2166-EC2E-9724D2C36D03}"/>
              </a:ext>
            </a:extLst>
          </p:cNvPr>
          <p:cNvSpPr txBox="1"/>
          <p:nvPr/>
        </p:nvSpPr>
        <p:spPr>
          <a:xfrm>
            <a:off x="1621931" y="4026075"/>
            <a:ext cx="317425" cy="307777"/>
          </a:xfrm>
          <a:prstGeom prst="rect">
            <a:avLst/>
          </a:prstGeom>
          <a:noFill/>
        </p:spPr>
        <p:txBody>
          <a:bodyPr wrap="square" rtlCol="0">
            <a:spAutoFit/>
          </a:bodyPr>
          <a:lstStyle/>
          <a:p>
            <a:r>
              <a:rPr lang="en-US" sz="1400" b="1" dirty="0">
                <a:solidFill>
                  <a:schemeClr val="bg1">
                    <a:lumMod val="95000"/>
                  </a:schemeClr>
                </a:solidFill>
              </a:rPr>
              <a:t>1</a:t>
            </a:r>
          </a:p>
        </p:txBody>
      </p:sp>
      <p:cxnSp>
        <p:nvCxnSpPr>
          <p:cNvPr id="78" name="Straight Connector 77">
            <a:extLst>
              <a:ext uri="{FF2B5EF4-FFF2-40B4-BE49-F238E27FC236}">
                <a16:creationId xmlns:a16="http://schemas.microsoft.com/office/drawing/2014/main" id="{4D56AD4F-3D49-4515-8A04-2E0D6EDE9020}"/>
              </a:ext>
            </a:extLst>
          </p:cNvPr>
          <p:cNvCxnSpPr/>
          <p:nvPr/>
        </p:nvCxnSpPr>
        <p:spPr>
          <a:xfrm>
            <a:off x="2357779" y="2401998"/>
            <a:ext cx="0" cy="1464640"/>
          </a:xfrm>
          <a:prstGeom prst="line">
            <a:avLst/>
          </a:prstGeom>
          <a:ln w="38100">
            <a:solidFill>
              <a:schemeClr val="bg2">
                <a:lumMod val="50000"/>
              </a:schemeClr>
            </a:solidFill>
            <a:prstDash val="sysDash"/>
          </a:ln>
        </p:spPr>
        <p:style>
          <a:lnRef idx="1">
            <a:schemeClr val="accent1"/>
          </a:lnRef>
          <a:fillRef idx="0">
            <a:schemeClr val="accent1"/>
          </a:fillRef>
          <a:effectRef idx="0">
            <a:schemeClr val="accent1"/>
          </a:effectRef>
          <a:fontRef idx="minor">
            <a:schemeClr val="tx1"/>
          </a:fontRef>
        </p:style>
      </p:cxnSp>
      <p:sp>
        <p:nvSpPr>
          <p:cNvPr id="79" name="Oval 78">
            <a:extLst>
              <a:ext uri="{FF2B5EF4-FFF2-40B4-BE49-F238E27FC236}">
                <a16:creationId xmlns:a16="http://schemas.microsoft.com/office/drawing/2014/main" id="{05BF532E-B4D1-D883-A5EC-310CC0EF73D3}"/>
              </a:ext>
            </a:extLst>
          </p:cNvPr>
          <p:cNvSpPr/>
          <p:nvPr/>
        </p:nvSpPr>
        <p:spPr>
          <a:xfrm>
            <a:off x="2165196" y="3993209"/>
            <a:ext cx="388865" cy="410191"/>
          </a:xfrm>
          <a:prstGeom prst="ellipse">
            <a:avLst/>
          </a:prstGeom>
          <a:solidFill>
            <a:srgbClr val="C00000"/>
          </a:solidFill>
          <a:ln>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0" name="TextBox 79">
            <a:extLst>
              <a:ext uri="{FF2B5EF4-FFF2-40B4-BE49-F238E27FC236}">
                <a16:creationId xmlns:a16="http://schemas.microsoft.com/office/drawing/2014/main" id="{E8575B74-AB51-6458-E7FC-5E0BC5BF86BF}"/>
              </a:ext>
            </a:extLst>
          </p:cNvPr>
          <p:cNvSpPr txBox="1"/>
          <p:nvPr/>
        </p:nvSpPr>
        <p:spPr>
          <a:xfrm>
            <a:off x="2208060" y="4028801"/>
            <a:ext cx="317425" cy="307777"/>
          </a:xfrm>
          <a:prstGeom prst="rect">
            <a:avLst/>
          </a:prstGeom>
          <a:noFill/>
        </p:spPr>
        <p:txBody>
          <a:bodyPr wrap="square" rtlCol="0">
            <a:spAutoFit/>
          </a:bodyPr>
          <a:lstStyle/>
          <a:p>
            <a:r>
              <a:rPr lang="en-US" sz="1400" b="1" dirty="0">
                <a:solidFill>
                  <a:schemeClr val="bg1">
                    <a:lumMod val="95000"/>
                  </a:schemeClr>
                </a:solidFill>
              </a:rPr>
              <a:t>2</a:t>
            </a:r>
          </a:p>
        </p:txBody>
      </p:sp>
      <p:cxnSp>
        <p:nvCxnSpPr>
          <p:cNvPr id="81" name="Straight Connector 80">
            <a:extLst>
              <a:ext uri="{FF2B5EF4-FFF2-40B4-BE49-F238E27FC236}">
                <a16:creationId xmlns:a16="http://schemas.microsoft.com/office/drawing/2014/main" id="{ECA0A729-EA22-05A3-5D11-16690F6A824A}"/>
              </a:ext>
            </a:extLst>
          </p:cNvPr>
          <p:cNvCxnSpPr/>
          <p:nvPr/>
        </p:nvCxnSpPr>
        <p:spPr>
          <a:xfrm>
            <a:off x="3092520" y="2404025"/>
            <a:ext cx="0" cy="1464640"/>
          </a:xfrm>
          <a:prstGeom prst="line">
            <a:avLst/>
          </a:prstGeom>
          <a:ln w="38100">
            <a:solidFill>
              <a:schemeClr val="bg2">
                <a:lumMod val="50000"/>
              </a:schemeClr>
            </a:solidFill>
            <a:prstDash val="sysDash"/>
          </a:ln>
        </p:spPr>
        <p:style>
          <a:lnRef idx="1">
            <a:schemeClr val="accent1"/>
          </a:lnRef>
          <a:fillRef idx="0">
            <a:schemeClr val="accent1"/>
          </a:fillRef>
          <a:effectRef idx="0">
            <a:schemeClr val="accent1"/>
          </a:effectRef>
          <a:fontRef idx="minor">
            <a:schemeClr val="tx1"/>
          </a:fontRef>
        </p:style>
      </p:cxnSp>
      <p:sp>
        <p:nvSpPr>
          <p:cNvPr id="82" name="Oval 81">
            <a:extLst>
              <a:ext uri="{FF2B5EF4-FFF2-40B4-BE49-F238E27FC236}">
                <a16:creationId xmlns:a16="http://schemas.microsoft.com/office/drawing/2014/main" id="{F18AC5A3-A7F4-A1B0-6DEB-50D00B05E6D9}"/>
              </a:ext>
            </a:extLst>
          </p:cNvPr>
          <p:cNvSpPr/>
          <p:nvPr/>
        </p:nvSpPr>
        <p:spPr>
          <a:xfrm>
            <a:off x="2899937" y="3995236"/>
            <a:ext cx="388865" cy="410191"/>
          </a:xfrm>
          <a:prstGeom prst="ellipse">
            <a:avLst/>
          </a:prstGeom>
          <a:solidFill>
            <a:srgbClr val="C00000"/>
          </a:solidFill>
          <a:ln>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3" name="TextBox 82">
            <a:extLst>
              <a:ext uri="{FF2B5EF4-FFF2-40B4-BE49-F238E27FC236}">
                <a16:creationId xmlns:a16="http://schemas.microsoft.com/office/drawing/2014/main" id="{FD2E03C9-8978-4D01-6233-D47545293B11}"/>
              </a:ext>
            </a:extLst>
          </p:cNvPr>
          <p:cNvSpPr txBox="1"/>
          <p:nvPr/>
        </p:nvSpPr>
        <p:spPr>
          <a:xfrm>
            <a:off x="2942801" y="4030828"/>
            <a:ext cx="317425" cy="307777"/>
          </a:xfrm>
          <a:prstGeom prst="rect">
            <a:avLst/>
          </a:prstGeom>
          <a:noFill/>
        </p:spPr>
        <p:txBody>
          <a:bodyPr wrap="square" rtlCol="0">
            <a:spAutoFit/>
          </a:bodyPr>
          <a:lstStyle/>
          <a:p>
            <a:r>
              <a:rPr lang="en-US" sz="1400" b="1" dirty="0">
                <a:solidFill>
                  <a:schemeClr val="bg1">
                    <a:lumMod val="95000"/>
                  </a:schemeClr>
                </a:solidFill>
              </a:rPr>
              <a:t>3</a:t>
            </a:r>
          </a:p>
        </p:txBody>
      </p:sp>
      <p:cxnSp>
        <p:nvCxnSpPr>
          <p:cNvPr id="84" name="Straight Connector 83">
            <a:extLst>
              <a:ext uri="{FF2B5EF4-FFF2-40B4-BE49-F238E27FC236}">
                <a16:creationId xmlns:a16="http://schemas.microsoft.com/office/drawing/2014/main" id="{E9F6649B-BFD4-E016-86F6-31F923F1DB05}"/>
              </a:ext>
            </a:extLst>
          </p:cNvPr>
          <p:cNvCxnSpPr/>
          <p:nvPr/>
        </p:nvCxnSpPr>
        <p:spPr>
          <a:xfrm>
            <a:off x="4315463" y="2404025"/>
            <a:ext cx="0" cy="1464640"/>
          </a:xfrm>
          <a:prstGeom prst="line">
            <a:avLst/>
          </a:prstGeom>
          <a:ln w="38100">
            <a:solidFill>
              <a:schemeClr val="bg2">
                <a:lumMod val="50000"/>
              </a:schemeClr>
            </a:solidFill>
            <a:prstDash val="sysDash"/>
          </a:ln>
        </p:spPr>
        <p:style>
          <a:lnRef idx="1">
            <a:schemeClr val="accent1"/>
          </a:lnRef>
          <a:fillRef idx="0">
            <a:schemeClr val="accent1"/>
          </a:fillRef>
          <a:effectRef idx="0">
            <a:schemeClr val="accent1"/>
          </a:effectRef>
          <a:fontRef idx="minor">
            <a:schemeClr val="tx1"/>
          </a:fontRef>
        </p:style>
      </p:cxnSp>
      <p:sp>
        <p:nvSpPr>
          <p:cNvPr id="85" name="Oval 84">
            <a:extLst>
              <a:ext uri="{FF2B5EF4-FFF2-40B4-BE49-F238E27FC236}">
                <a16:creationId xmlns:a16="http://schemas.microsoft.com/office/drawing/2014/main" id="{B7CD4A96-F17D-69CB-B8EC-36F2799007DB}"/>
              </a:ext>
            </a:extLst>
          </p:cNvPr>
          <p:cNvSpPr/>
          <p:nvPr/>
        </p:nvSpPr>
        <p:spPr>
          <a:xfrm>
            <a:off x="4122880" y="3995236"/>
            <a:ext cx="388865" cy="410191"/>
          </a:xfrm>
          <a:prstGeom prst="ellipse">
            <a:avLst/>
          </a:prstGeom>
          <a:solidFill>
            <a:srgbClr val="C00000"/>
          </a:solidFill>
          <a:ln>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6" name="TextBox 85">
            <a:extLst>
              <a:ext uri="{FF2B5EF4-FFF2-40B4-BE49-F238E27FC236}">
                <a16:creationId xmlns:a16="http://schemas.microsoft.com/office/drawing/2014/main" id="{02032827-72E9-392D-6899-87D0ED505720}"/>
              </a:ext>
            </a:extLst>
          </p:cNvPr>
          <p:cNvSpPr txBox="1"/>
          <p:nvPr/>
        </p:nvSpPr>
        <p:spPr>
          <a:xfrm>
            <a:off x="4165744" y="4030828"/>
            <a:ext cx="317425" cy="307777"/>
          </a:xfrm>
          <a:prstGeom prst="rect">
            <a:avLst/>
          </a:prstGeom>
          <a:noFill/>
        </p:spPr>
        <p:txBody>
          <a:bodyPr wrap="square" rtlCol="0">
            <a:spAutoFit/>
          </a:bodyPr>
          <a:lstStyle/>
          <a:p>
            <a:r>
              <a:rPr lang="en-US" sz="1400" b="1" dirty="0">
                <a:solidFill>
                  <a:schemeClr val="bg1">
                    <a:lumMod val="95000"/>
                  </a:schemeClr>
                </a:solidFill>
              </a:rPr>
              <a:t>4</a:t>
            </a:r>
          </a:p>
        </p:txBody>
      </p:sp>
      <p:cxnSp>
        <p:nvCxnSpPr>
          <p:cNvPr id="87" name="Straight Connector 86">
            <a:extLst>
              <a:ext uri="{FF2B5EF4-FFF2-40B4-BE49-F238E27FC236}">
                <a16:creationId xmlns:a16="http://schemas.microsoft.com/office/drawing/2014/main" id="{049B4452-3DAF-83AF-266D-F8CAF53A6D93}"/>
              </a:ext>
            </a:extLst>
          </p:cNvPr>
          <p:cNvCxnSpPr/>
          <p:nvPr/>
        </p:nvCxnSpPr>
        <p:spPr>
          <a:xfrm>
            <a:off x="5395910" y="2399562"/>
            <a:ext cx="0" cy="1464640"/>
          </a:xfrm>
          <a:prstGeom prst="line">
            <a:avLst/>
          </a:prstGeom>
          <a:ln w="38100">
            <a:solidFill>
              <a:schemeClr val="bg2">
                <a:lumMod val="50000"/>
              </a:schemeClr>
            </a:solidFill>
            <a:prstDash val="sysDash"/>
          </a:ln>
        </p:spPr>
        <p:style>
          <a:lnRef idx="1">
            <a:schemeClr val="accent1"/>
          </a:lnRef>
          <a:fillRef idx="0">
            <a:schemeClr val="accent1"/>
          </a:fillRef>
          <a:effectRef idx="0">
            <a:schemeClr val="accent1"/>
          </a:effectRef>
          <a:fontRef idx="minor">
            <a:schemeClr val="tx1"/>
          </a:fontRef>
        </p:style>
      </p:cxnSp>
      <p:sp>
        <p:nvSpPr>
          <p:cNvPr id="88" name="Oval 87">
            <a:extLst>
              <a:ext uri="{FF2B5EF4-FFF2-40B4-BE49-F238E27FC236}">
                <a16:creationId xmlns:a16="http://schemas.microsoft.com/office/drawing/2014/main" id="{3C341CDF-4BC3-1CC9-DBB9-6D21548C57B6}"/>
              </a:ext>
            </a:extLst>
          </p:cNvPr>
          <p:cNvSpPr/>
          <p:nvPr/>
        </p:nvSpPr>
        <p:spPr>
          <a:xfrm>
            <a:off x="5203327" y="3990773"/>
            <a:ext cx="388865" cy="410191"/>
          </a:xfrm>
          <a:prstGeom prst="ellipse">
            <a:avLst/>
          </a:prstGeom>
          <a:solidFill>
            <a:srgbClr val="C00000"/>
          </a:solidFill>
          <a:ln>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9" name="TextBox 88">
            <a:extLst>
              <a:ext uri="{FF2B5EF4-FFF2-40B4-BE49-F238E27FC236}">
                <a16:creationId xmlns:a16="http://schemas.microsoft.com/office/drawing/2014/main" id="{735CC33C-ABB4-DB97-4A07-ADDE31F4151B}"/>
              </a:ext>
            </a:extLst>
          </p:cNvPr>
          <p:cNvSpPr txBox="1"/>
          <p:nvPr/>
        </p:nvSpPr>
        <p:spPr>
          <a:xfrm>
            <a:off x="5246191" y="4026365"/>
            <a:ext cx="317425" cy="307777"/>
          </a:xfrm>
          <a:prstGeom prst="rect">
            <a:avLst/>
          </a:prstGeom>
          <a:noFill/>
        </p:spPr>
        <p:txBody>
          <a:bodyPr wrap="square" rtlCol="0">
            <a:spAutoFit/>
          </a:bodyPr>
          <a:lstStyle/>
          <a:p>
            <a:r>
              <a:rPr lang="en-US" sz="1400" b="1" dirty="0">
                <a:solidFill>
                  <a:schemeClr val="bg1">
                    <a:lumMod val="95000"/>
                  </a:schemeClr>
                </a:solidFill>
              </a:rPr>
              <a:t>5</a:t>
            </a:r>
          </a:p>
        </p:txBody>
      </p:sp>
      <mc:AlternateContent xmlns:mc="http://schemas.openxmlformats.org/markup-compatibility/2006" xmlns:a14="http://schemas.microsoft.com/office/drawing/2010/main">
        <mc:Choice Requires="a14">
          <p:sp>
            <p:nvSpPr>
              <p:cNvPr id="9" name="Rectangle 8">
                <a:extLst>
                  <a:ext uri="{FF2B5EF4-FFF2-40B4-BE49-F238E27FC236}">
                    <a16:creationId xmlns:a16="http://schemas.microsoft.com/office/drawing/2014/main" id="{94EE92FC-DB34-FB95-BD1E-9664133A05EE}"/>
                  </a:ext>
                </a:extLst>
              </p:cNvPr>
              <p:cNvSpPr/>
              <p:nvPr/>
            </p:nvSpPr>
            <p:spPr>
              <a:xfrm>
                <a:off x="919462" y="2470859"/>
                <a:ext cx="521810" cy="369332"/>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d>
                        <m:dPr>
                          <m:begChr m:val="|"/>
                          <m:endChr m:val="⟩"/>
                          <m:ctrlPr>
                            <a:rPr lang="en-CA" i="1" smtClean="0">
                              <a:latin typeface="Cambria Math" panose="02040503050406030204" pitchFamily="18" charset="0"/>
                            </a:rPr>
                          </m:ctrlPr>
                        </m:dPr>
                        <m:e>
                          <m:r>
                            <a:rPr lang="en-CA" b="0" i="1" smtClean="0">
                              <a:latin typeface="Cambria Math" panose="02040503050406030204" pitchFamily="18" charset="0"/>
                            </a:rPr>
                            <m:t>1</m:t>
                          </m:r>
                        </m:e>
                      </m:d>
                    </m:oMath>
                  </m:oMathPara>
                </a14:m>
                <a:endParaRPr lang="en-US" dirty="0"/>
              </a:p>
            </p:txBody>
          </p:sp>
        </mc:Choice>
        <mc:Fallback xmlns="">
          <p:sp>
            <p:nvSpPr>
              <p:cNvPr id="9" name="Rectangle 8">
                <a:extLst>
                  <a:ext uri="{FF2B5EF4-FFF2-40B4-BE49-F238E27FC236}">
                    <a16:creationId xmlns:a16="http://schemas.microsoft.com/office/drawing/2014/main" id="{94EE92FC-DB34-FB95-BD1E-9664133A05EE}"/>
                  </a:ext>
                </a:extLst>
              </p:cNvPr>
              <p:cNvSpPr>
                <a:spLocks noRot="1" noChangeAspect="1" noMove="1" noResize="1" noEditPoints="1" noAdjustHandles="1" noChangeArrowheads="1" noChangeShapeType="1" noTextEdit="1"/>
              </p:cNvSpPr>
              <p:nvPr/>
            </p:nvSpPr>
            <p:spPr>
              <a:xfrm>
                <a:off x="919462" y="2470859"/>
                <a:ext cx="521810" cy="369332"/>
              </a:xfrm>
              <a:prstGeom prst="rect">
                <a:avLst/>
              </a:prstGeom>
              <a:blipFill>
                <a:blip r:embed="rId7"/>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0" name="Rectangle 9">
                <a:extLst>
                  <a:ext uri="{FF2B5EF4-FFF2-40B4-BE49-F238E27FC236}">
                    <a16:creationId xmlns:a16="http://schemas.microsoft.com/office/drawing/2014/main" id="{F64F9B40-394B-4E54-5D8F-165A8CCF19D8}"/>
                  </a:ext>
                </a:extLst>
              </p:cNvPr>
              <p:cNvSpPr/>
              <p:nvPr/>
            </p:nvSpPr>
            <p:spPr>
              <a:xfrm>
                <a:off x="915067" y="2803921"/>
                <a:ext cx="521810" cy="369332"/>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d>
                        <m:dPr>
                          <m:begChr m:val="|"/>
                          <m:endChr m:val="⟩"/>
                          <m:ctrlPr>
                            <a:rPr lang="en-CA" i="1" smtClean="0">
                              <a:latin typeface="Cambria Math" panose="02040503050406030204" pitchFamily="18" charset="0"/>
                            </a:rPr>
                          </m:ctrlPr>
                        </m:dPr>
                        <m:e>
                          <m:r>
                            <a:rPr lang="en-CA" b="0" i="1" smtClean="0">
                              <a:latin typeface="Cambria Math" panose="02040503050406030204" pitchFamily="18" charset="0"/>
                            </a:rPr>
                            <m:t>0</m:t>
                          </m:r>
                        </m:e>
                      </m:d>
                    </m:oMath>
                  </m:oMathPara>
                </a14:m>
                <a:endParaRPr lang="en-US" dirty="0"/>
              </a:p>
            </p:txBody>
          </p:sp>
        </mc:Choice>
        <mc:Fallback xmlns="">
          <p:sp>
            <p:nvSpPr>
              <p:cNvPr id="10" name="Rectangle 9">
                <a:extLst>
                  <a:ext uri="{FF2B5EF4-FFF2-40B4-BE49-F238E27FC236}">
                    <a16:creationId xmlns:a16="http://schemas.microsoft.com/office/drawing/2014/main" id="{F64F9B40-394B-4E54-5D8F-165A8CCF19D8}"/>
                  </a:ext>
                </a:extLst>
              </p:cNvPr>
              <p:cNvSpPr>
                <a:spLocks noRot="1" noChangeAspect="1" noMove="1" noResize="1" noEditPoints="1" noAdjustHandles="1" noChangeArrowheads="1" noChangeShapeType="1" noTextEdit="1"/>
              </p:cNvSpPr>
              <p:nvPr/>
            </p:nvSpPr>
            <p:spPr>
              <a:xfrm>
                <a:off x="915067" y="2803921"/>
                <a:ext cx="521810" cy="369332"/>
              </a:xfrm>
              <a:prstGeom prst="rect">
                <a:avLst/>
              </a:prstGeom>
              <a:blipFill>
                <a:blip r:embed="rId8"/>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1" name="Rectangle 10">
                <a:extLst>
                  <a:ext uri="{FF2B5EF4-FFF2-40B4-BE49-F238E27FC236}">
                    <a16:creationId xmlns:a16="http://schemas.microsoft.com/office/drawing/2014/main" id="{53ACE6CD-8D10-4730-5469-21FE42AEC36C}"/>
                  </a:ext>
                </a:extLst>
              </p:cNvPr>
              <p:cNvSpPr/>
              <p:nvPr/>
            </p:nvSpPr>
            <p:spPr>
              <a:xfrm>
                <a:off x="919145" y="3185591"/>
                <a:ext cx="521810" cy="369332"/>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d>
                        <m:dPr>
                          <m:begChr m:val="|"/>
                          <m:endChr m:val="⟩"/>
                          <m:ctrlPr>
                            <a:rPr lang="en-CA" i="1" smtClean="0">
                              <a:latin typeface="Cambria Math" panose="02040503050406030204" pitchFamily="18" charset="0"/>
                            </a:rPr>
                          </m:ctrlPr>
                        </m:dPr>
                        <m:e>
                          <m:r>
                            <a:rPr lang="en-CA" b="0" i="1" smtClean="0">
                              <a:latin typeface="Cambria Math" panose="02040503050406030204" pitchFamily="18" charset="0"/>
                            </a:rPr>
                            <m:t>0</m:t>
                          </m:r>
                        </m:e>
                      </m:d>
                    </m:oMath>
                  </m:oMathPara>
                </a14:m>
                <a:endParaRPr lang="en-US" dirty="0"/>
              </a:p>
            </p:txBody>
          </p:sp>
        </mc:Choice>
        <mc:Fallback xmlns="">
          <p:sp>
            <p:nvSpPr>
              <p:cNvPr id="11" name="Rectangle 10">
                <a:extLst>
                  <a:ext uri="{FF2B5EF4-FFF2-40B4-BE49-F238E27FC236}">
                    <a16:creationId xmlns:a16="http://schemas.microsoft.com/office/drawing/2014/main" id="{53ACE6CD-8D10-4730-5469-21FE42AEC36C}"/>
                  </a:ext>
                </a:extLst>
              </p:cNvPr>
              <p:cNvSpPr>
                <a:spLocks noRot="1" noChangeAspect="1" noMove="1" noResize="1" noEditPoints="1" noAdjustHandles="1" noChangeArrowheads="1" noChangeShapeType="1" noTextEdit="1"/>
              </p:cNvSpPr>
              <p:nvPr/>
            </p:nvSpPr>
            <p:spPr>
              <a:xfrm>
                <a:off x="919145" y="3185591"/>
                <a:ext cx="521810" cy="369332"/>
              </a:xfrm>
              <a:prstGeom prst="rect">
                <a:avLst/>
              </a:prstGeom>
              <a:blipFill>
                <a:blip r:embed="rId9"/>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51" name="Rectangle 10">
                <a:extLst>
                  <a:ext uri="{FF2B5EF4-FFF2-40B4-BE49-F238E27FC236}">
                    <a16:creationId xmlns:a16="http://schemas.microsoft.com/office/drawing/2014/main" id="{53ACE6CD-8D10-4730-5469-21FE42AEC36C}"/>
                  </a:ext>
                </a:extLst>
              </p:cNvPr>
              <p:cNvSpPr/>
              <p:nvPr/>
            </p:nvSpPr>
            <p:spPr>
              <a:xfrm>
                <a:off x="183475" y="4570961"/>
                <a:ext cx="1829958" cy="369332"/>
              </a:xfrm>
              <a:prstGeom prst="rect">
                <a:avLst/>
              </a:prstGeom>
            </p:spPr>
            <p:txBody>
              <a:bodyPr wrap="square">
                <a:spAutoFit/>
              </a:bodyPr>
              <a:lstStyle/>
              <a:p>
                <a:pPr/>
                <a14:m>
                  <m:oMathPara xmlns:m="http://schemas.openxmlformats.org/officeDocument/2006/math">
                    <m:oMathParaPr>
                      <m:jc m:val="centerGroup"/>
                    </m:oMathParaPr>
                    <m:oMath xmlns:m="http://schemas.openxmlformats.org/officeDocument/2006/math">
                      <m:d>
                        <m:dPr>
                          <m:begChr m:val="|"/>
                          <m:endChr m:val="⟩"/>
                          <m:ctrlPr>
                            <a:rPr lang="en-US" b="0" i="1" smtClean="0">
                              <a:latin typeface="Cambria Math" panose="02040503050406030204" pitchFamily="18" charset="0"/>
                            </a:rPr>
                          </m:ctrlPr>
                        </m:dPr>
                        <m:e>
                          <m:r>
                            <a:rPr lang="en-US" b="0" i="1" smtClean="0">
                              <a:latin typeface="Cambria Math" panose="02040503050406030204" pitchFamily="18" charset="0"/>
                            </a:rPr>
                            <m:t>1</m:t>
                          </m:r>
                        </m:e>
                      </m:d>
                      <m:r>
                        <a:rPr lang="en-US" b="0" i="1" smtClean="0">
                          <a:latin typeface="Cambria Math" panose="02040503050406030204" pitchFamily="18" charset="0"/>
                        </a:rPr>
                        <m:t>⊗</m:t>
                      </m:r>
                      <m:d>
                        <m:dPr>
                          <m:begChr m:val="|"/>
                          <m:endChr m:val="⟩"/>
                          <m:ctrlPr>
                            <a:rPr lang="en-US" b="0" i="1" smtClean="0">
                              <a:latin typeface="Cambria Math" panose="02040503050406030204" pitchFamily="18" charset="0"/>
                            </a:rPr>
                          </m:ctrlPr>
                        </m:dPr>
                        <m:e>
                          <m:r>
                            <a:rPr lang="en-US" b="0" i="1" smtClean="0">
                              <a:latin typeface="Cambria Math" panose="02040503050406030204" pitchFamily="18" charset="0"/>
                            </a:rPr>
                            <m:t>0</m:t>
                          </m:r>
                        </m:e>
                      </m:d>
                      <m:r>
                        <a:rPr lang="en-US" b="0" i="1" smtClean="0">
                          <a:latin typeface="Cambria Math" panose="02040503050406030204" pitchFamily="18" charset="0"/>
                        </a:rPr>
                        <m:t>⊗</m:t>
                      </m:r>
                      <m:d>
                        <m:dPr>
                          <m:begChr m:val="|"/>
                          <m:endChr m:val="⟩"/>
                          <m:ctrlPr>
                            <a:rPr lang="en-CA" i="1" smtClean="0">
                              <a:latin typeface="Cambria Math" panose="02040503050406030204" pitchFamily="18" charset="0"/>
                            </a:rPr>
                          </m:ctrlPr>
                        </m:dPr>
                        <m:e>
                          <m:r>
                            <a:rPr lang="en-CA" b="0" i="1" smtClean="0">
                              <a:latin typeface="Cambria Math" panose="02040503050406030204" pitchFamily="18" charset="0"/>
                            </a:rPr>
                            <m:t>0</m:t>
                          </m:r>
                        </m:e>
                      </m:d>
                    </m:oMath>
                  </m:oMathPara>
                </a14:m>
                <a:endParaRPr lang="en-US" dirty="0"/>
              </a:p>
            </p:txBody>
          </p:sp>
        </mc:Choice>
        <mc:Fallback xmlns="">
          <p:sp>
            <p:nvSpPr>
              <p:cNvPr id="51" name="Rectangle 10">
                <a:extLst>
                  <a:ext uri="{FF2B5EF4-FFF2-40B4-BE49-F238E27FC236}">
                    <a16:creationId xmlns:a16="http://schemas.microsoft.com/office/drawing/2014/main" id="{53ACE6CD-8D10-4730-5469-21FE42AEC36C}"/>
                  </a:ext>
                </a:extLst>
              </p:cNvPr>
              <p:cNvSpPr>
                <a:spLocks noRot="1" noChangeAspect="1" noMove="1" noResize="1" noEditPoints="1" noAdjustHandles="1" noChangeArrowheads="1" noChangeShapeType="1" noTextEdit="1"/>
              </p:cNvSpPr>
              <p:nvPr/>
            </p:nvSpPr>
            <p:spPr>
              <a:xfrm>
                <a:off x="183475" y="4570961"/>
                <a:ext cx="1829958" cy="369332"/>
              </a:xfrm>
              <a:prstGeom prst="rect">
                <a:avLst/>
              </a:prstGeom>
              <a:blipFill>
                <a:blip r:embed="rId10"/>
                <a:stretch>
                  <a:fillRect b="-10000"/>
                </a:stretch>
              </a:blipFill>
            </p:spPr>
            <p:txBody>
              <a:bodyPr/>
              <a:lstStyle/>
              <a:p>
                <a:r>
                  <a:rPr lang="ko-KR" altLang="en-US">
                    <a:noFill/>
                  </a:rPr>
                  <a:t> </a:t>
                </a:r>
              </a:p>
            </p:txBody>
          </p:sp>
        </mc:Fallback>
      </mc:AlternateContent>
      <mc:AlternateContent xmlns:mc="http://schemas.openxmlformats.org/markup-compatibility/2006" xmlns:a14="http://schemas.microsoft.com/office/drawing/2010/main">
        <mc:Choice Requires="a14">
          <p:sp>
            <p:nvSpPr>
              <p:cNvPr id="52" name="Rectangle 10">
                <a:extLst>
                  <a:ext uri="{FF2B5EF4-FFF2-40B4-BE49-F238E27FC236}">
                    <a16:creationId xmlns:a16="http://schemas.microsoft.com/office/drawing/2014/main" id="{53ACE6CD-8D10-4730-5469-21FE42AEC36C}"/>
                  </a:ext>
                </a:extLst>
              </p:cNvPr>
              <p:cNvSpPr/>
              <p:nvPr/>
            </p:nvSpPr>
            <p:spPr>
              <a:xfrm>
                <a:off x="999125" y="5083241"/>
                <a:ext cx="1829958" cy="381515"/>
              </a:xfrm>
              <a:prstGeom prst="rect">
                <a:avLst/>
              </a:prstGeom>
            </p:spPr>
            <p:txBody>
              <a:bodyPr wrap="square">
                <a:spAutoFit/>
              </a:bodyPr>
              <a:lstStyle/>
              <a:p>
                <a:pPr/>
                <a14:m>
                  <m:oMathPara xmlns:m="http://schemas.openxmlformats.org/officeDocument/2006/math">
                    <m:oMathParaPr>
                      <m:jc m:val="centerGroup"/>
                    </m:oMathParaPr>
                    <m:oMath xmlns:m="http://schemas.openxmlformats.org/officeDocument/2006/math">
                      <m:r>
                        <a:rPr lang="en-US" b="0" i="1" smtClean="0">
                          <a:latin typeface="Cambria Math" panose="02040503050406030204" pitchFamily="18" charset="0"/>
                        </a:rPr>
                        <m:t>𝐶𝑁𝑂𝑇</m:t>
                      </m:r>
                      <m:r>
                        <a:rPr lang="en-US" b="0" i="1" smtClean="0">
                          <a:latin typeface="Cambria Math" panose="02040503050406030204" pitchFamily="18" charset="0"/>
                        </a:rPr>
                        <m:t>⊗</m:t>
                      </m:r>
                      <m:r>
                        <a:rPr lang="en-US" b="0" i="1" smtClean="0">
                          <a:latin typeface="Cambria Math" panose="02040503050406030204" pitchFamily="18" charset="0"/>
                        </a:rPr>
                        <m:t>𝐼</m:t>
                      </m:r>
                    </m:oMath>
                  </m:oMathPara>
                </a14:m>
                <a:endParaRPr lang="en-US" dirty="0"/>
              </a:p>
            </p:txBody>
          </p:sp>
        </mc:Choice>
        <mc:Fallback xmlns="">
          <p:sp>
            <p:nvSpPr>
              <p:cNvPr id="52" name="Rectangle 10">
                <a:extLst>
                  <a:ext uri="{FF2B5EF4-FFF2-40B4-BE49-F238E27FC236}">
                    <a16:creationId xmlns:a16="http://schemas.microsoft.com/office/drawing/2014/main" id="{53ACE6CD-8D10-4730-5469-21FE42AEC36C}"/>
                  </a:ext>
                </a:extLst>
              </p:cNvPr>
              <p:cNvSpPr>
                <a:spLocks noRot="1" noChangeAspect="1" noMove="1" noResize="1" noEditPoints="1" noAdjustHandles="1" noChangeArrowheads="1" noChangeShapeType="1" noTextEdit="1"/>
              </p:cNvSpPr>
              <p:nvPr/>
            </p:nvSpPr>
            <p:spPr>
              <a:xfrm>
                <a:off x="999125" y="5083241"/>
                <a:ext cx="1829958" cy="381515"/>
              </a:xfrm>
              <a:prstGeom prst="rect">
                <a:avLst/>
              </a:prstGeom>
              <a:blipFill>
                <a:blip r:embed="rId11"/>
                <a:stretch>
                  <a:fillRect b="-6452"/>
                </a:stretch>
              </a:blipFill>
            </p:spPr>
            <p:txBody>
              <a:bodyPr/>
              <a:lstStyle/>
              <a:p>
                <a:r>
                  <a:rPr lang="ko-KR" altLang="en-US">
                    <a:noFill/>
                  </a:rPr>
                  <a:t> </a:t>
                </a:r>
              </a:p>
            </p:txBody>
          </p:sp>
        </mc:Fallback>
      </mc:AlternateContent>
      <mc:AlternateContent xmlns:mc="http://schemas.openxmlformats.org/markup-compatibility/2006" xmlns:a14="http://schemas.microsoft.com/office/drawing/2010/main">
        <mc:Choice Requires="a14">
          <p:sp>
            <p:nvSpPr>
              <p:cNvPr id="53" name="Rectangle 10">
                <a:extLst>
                  <a:ext uri="{FF2B5EF4-FFF2-40B4-BE49-F238E27FC236}">
                    <a16:creationId xmlns:a16="http://schemas.microsoft.com/office/drawing/2014/main" id="{53ACE6CD-8D10-4730-5469-21FE42AEC36C}"/>
                  </a:ext>
                </a:extLst>
              </p:cNvPr>
              <p:cNvSpPr/>
              <p:nvPr/>
            </p:nvSpPr>
            <p:spPr>
              <a:xfrm>
                <a:off x="1810802" y="4629836"/>
                <a:ext cx="1829958" cy="381515"/>
              </a:xfrm>
              <a:prstGeom prst="rect">
                <a:avLst/>
              </a:prstGeom>
            </p:spPr>
            <p:txBody>
              <a:bodyPr wrap="square">
                <a:spAutoFit/>
              </a:bodyPr>
              <a:lstStyle/>
              <a:p>
                <a:pPr/>
                <a14:m>
                  <m:oMathPara xmlns:m="http://schemas.openxmlformats.org/officeDocument/2006/math">
                    <m:oMathParaPr>
                      <m:jc m:val="centerGroup"/>
                    </m:oMathParaPr>
                    <m:oMath xmlns:m="http://schemas.openxmlformats.org/officeDocument/2006/math">
                      <m:r>
                        <a:rPr lang="en-US" b="0" i="1" smtClean="0">
                          <a:latin typeface="Cambria Math" panose="02040503050406030204" pitchFamily="18" charset="0"/>
                        </a:rPr>
                        <m:t>𝐼</m:t>
                      </m:r>
                      <m:r>
                        <a:rPr lang="en-US" b="0" i="1" smtClean="0">
                          <a:latin typeface="Cambria Math" panose="02040503050406030204" pitchFamily="18" charset="0"/>
                        </a:rPr>
                        <m:t>⊗</m:t>
                      </m:r>
                      <m:r>
                        <a:rPr lang="en-US" b="0" i="1" smtClean="0">
                          <a:latin typeface="Cambria Math" panose="02040503050406030204" pitchFamily="18" charset="0"/>
                        </a:rPr>
                        <m:t>𝐶𝑁𝑂𝑇</m:t>
                      </m:r>
                    </m:oMath>
                  </m:oMathPara>
                </a14:m>
                <a:endParaRPr lang="en-US" dirty="0"/>
              </a:p>
            </p:txBody>
          </p:sp>
        </mc:Choice>
        <mc:Fallback xmlns="">
          <p:sp>
            <p:nvSpPr>
              <p:cNvPr id="53" name="Rectangle 10">
                <a:extLst>
                  <a:ext uri="{FF2B5EF4-FFF2-40B4-BE49-F238E27FC236}">
                    <a16:creationId xmlns:a16="http://schemas.microsoft.com/office/drawing/2014/main" id="{53ACE6CD-8D10-4730-5469-21FE42AEC36C}"/>
                  </a:ext>
                </a:extLst>
              </p:cNvPr>
              <p:cNvSpPr>
                <a:spLocks noRot="1" noChangeAspect="1" noMove="1" noResize="1" noEditPoints="1" noAdjustHandles="1" noChangeArrowheads="1" noChangeShapeType="1" noTextEdit="1"/>
              </p:cNvSpPr>
              <p:nvPr/>
            </p:nvSpPr>
            <p:spPr>
              <a:xfrm>
                <a:off x="1810802" y="4629836"/>
                <a:ext cx="1829958" cy="381515"/>
              </a:xfrm>
              <a:prstGeom prst="rect">
                <a:avLst/>
              </a:prstGeom>
              <a:blipFill>
                <a:blip r:embed="rId12"/>
                <a:stretch>
                  <a:fillRect b="-4762"/>
                </a:stretch>
              </a:blipFill>
            </p:spPr>
            <p:txBody>
              <a:bodyPr/>
              <a:lstStyle/>
              <a:p>
                <a:r>
                  <a:rPr lang="ko-KR" altLang="en-US">
                    <a:noFill/>
                  </a:rPr>
                  <a:t> </a:t>
                </a:r>
              </a:p>
            </p:txBody>
          </p:sp>
        </mc:Fallback>
      </mc:AlternateContent>
      <mc:AlternateContent xmlns:mc="http://schemas.openxmlformats.org/markup-compatibility/2006" xmlns:a14="http://schemas.microsoft.com/office/drawing/2010/main">
        <mc:Choice Requires="a14">
          <p:sp>
            <p:nvSpPr>
              <p:cNvPr id="55" name="Rectangle 10">
                <a:extLst>
                  <a:ext uri="{FF2B5EF4-FFF2-40B4-BE49-F238E27FC236}">
                    <a16:creationId xmlns:a16="http://schemas.microsoft.com/office/drawing/2014/main" id="{53ACE6CD-8D10-4730-5469-21FE42AEC36C}"/>
                  </a:ext>
                </a:extLst>
              </p:cNvPr>
              <p:cNvSpPr/>
              <p:nvPr/>
            </p:nvSpPr>
            <p:spPr>
              <a:xfrm>
                <a:off x="3927151" y="4570961"/>
                <a:ext cx="1829958" cy="381515"/>
              </a:xfrm>
              <a:prstGeom prst="rect">
                <a:avLst/>
              </a:prstGeom>
            </p:spPr>
            <p:txBody>
              <a:bodyPr wrap="square">
                <a:spAutoFit/>
              </a:bodyPr>
              <a:lstStyle/>
              <a:p>
                <a:pPr/>
                <a14:m>
                  <m:oMathPara xmlns:m="http://schemas.openxmlformats.org/officeDocument/2006/math">
                    <m:oMathParaPr>
                      <m:jc m:val="centerGroup"/>
                    </m:oMathParaPr>
                    <m:oMath xmlns:m="http://schemas.openxmlformats.org/officeDocument/2006/math">
                      <m:r>
                        <a:rPr lang="en-US" b="0" i="1" smtClean="0">
                          <a:latin typeface="Cambria Math" panose="02040503050406030204" pitchFamily="18" charset="0"/>
                        </a:rPr>
                        <m:t>𝐼</m:t>
                      </m:r>
                      <m:r>
                        <a:rPr lang="en-US" b="0" i="1" smtClean="0">
                          <a:latin typeface="Cambria Math" panose="02040503050406030204" pitchFamily="18" charset="0"/>
                        </a:rPr>
                        <m:t>⊗</m:t>
                      </m:r>
                      <m:r>
                        <a:rPr lang="en-US" b="0" i="1" smtClean="0">
                          <a:latin typeface="Cambria Math" panose="02040503050406030204" pitchFamily="18" charset="0"/>
                        </a:rPr>
                        <m:t>𝑋</m:t>
                      </m:r>
                      <m:r>
                        <a:rPr lang="en-US" b="0" i="1" smtClean="0">
                          <a:latin typeface="Cambria Math" panose="02040503050406030204" pitchFamily="18" charset="0"/>
                        </a:rPr>
                        <m:t>⊗</m:t>
                      </m:r>
                      <m:r>
                        <a:rPr lang="en-US" b="0" i="1" smtClean="0">
                          <a:latin typeface="Cambria Math" panose="02040503050406030204" pitchFamily="18" charset="0"/>
                        </a:rPr>
                        <m:t>𝐼</m:t>
                      </m:r>
                    </m:oMath>
                  </m:oMathPara>
                </a14:m>
                <a:endParaRPr lang="en-US" dirty="0"/>
              </a:p>
            </p:txBody>
          </p:sp>
        </mc:Choice>
        <mc:Fallback xmlns="">
          <p:sp>
            <p:nvSpPr>
              <p:cNvPr id="55" name="Rectangle 10">
                <a:extLst>
                  <a:ext uri="{FF2B5EF4-FFF2-40B4-BE49-F238E27FC236}">
                    <a16:creationId xmlns:a16="http://schemas.microsoft.com/office/drawing/2014/main" id="{53ACE6CD-8D10-4730-5469-21FE42AEC36C}"/>
                  </a:ext>
                </a:extLst>
              </p:cNvPr>
              <p:cNvSpPr>
                <a:spLocks noRot="1" noChangeAspect="1" noMove="1" noResize="1" noEditPoints="1" noAdjustHandles="1" noChangeArrowheads="1" noChangeShapeType="1" noTextEdit="1"/>
              </p:cNvSpPr>
              <p:nvPr/>
            </p:nvSpPr>
            <p:spPr>
              <a:xfrm>
                <a:off x="3927151" y="4570961"/>
                <a:ext cx="1829958" cy="381515"/>
              </a:xfrm>
              <a:prstGeom prst="rect">
                <a:avLst/>
              </a:prstGeom>
              <a:blipFill>
                <a:blip r:embed="rId13"/>
                <a:stretch>
                  <a:fillRect b="-6452"/>
                </a:stretch>
              </a:blipFill>
            </p:spPr>
            <p:txBody>
              <a:bodyPr/>
              <a:lstStyle/>
              <a:p>
                <a:r>
                  <a:rPr lang="ko-KR" altLang="en-US">
                    <a:noFill/>
                  </a:rPr>
                  <a:t> </a:t>
                </a:r>
              </a:p>
            </p:txBody>
          </p:sp>
        </mc:Fallback>
      </mc:AlternateContent>
      <p:cxnSp>
        <p:nvCxnSpPr>
          <p:cNvPr id="7" name="직선 화살표 연결선 6"/>
          <p:cNvCxnSpPr>
            <a:stCxn id="51" idx="0"/>
          </p:cNvCxnSpPr>
          <p:nvPr/>
        </p:nvCxnSpPr>
        <p:spPr>
          <a:xfrm flipV="1">
            <a:off x="1098454" y="3601295"/>
            <a:ext cx="0" cy="969666"/>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4" name="직선 화살표 연결선 13"/>
          <p:cNvCxnSpPr>
            <a:stCxn id="52" idx="0"/>
          </p:cNvCxnSpPr>
          <p:nvPr/>
        </p:nvCxnSpPr>
        <p:spPr>
          <a:xfrm flipV="1">
            <a:off x="1914104" y="3601295"/>
            <a:ext cx="172193" cy="1481946"/>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60" name="직선 화살표 연결선 59"/>
          <p:cNvCxnSpPr/>
          <p:nvPr/>
        </p:nvCxnSpPr>
        <p:spPr>
          <a:xfrm flipV="1">
            <a:off x="2728162" y="3670356"/>
            <a:ext cx="6875" cy="969674"/>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67" name="직선 화살표 연결선 66"/>
          <p:cNvCxnSpPr>
            <a:stCxn id="55" idx="0"/>
          </p:cNvCxnSpPr>
          <p:nvPr/>
        </p:nvCxnSpPr>
        <p:spPr>
          <a:xfrm flipH="1" flipV="1">
            <a:off x="4788706" y="3628854"/>
            <a:ext cx="53424" cy="942107"/>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grpSp>
        <p:nvGrpSpPr>
          <p:cNvPr id="69" name="Group 3">
            <a:extLst>
              <a:ext uri="{FF2B5EF4-FFF2-40B4-BE49-F238E27FC236}">
                <a16:creationId xmlns:a16="http://schemas.microsoft.com/office/drawing/2014/main" id="{67EA6D0E-DB1D-C244-A738-D9D4F5AEED70}"/>
              </a:ext>
            </a:extLst>
          </p:cNvPr>
          <p:cNvGrpSpPr/>
          <p:nvPr/>
        </p:nvGrpSpPr>
        <p:grpSpPr>
          <a:xfrm>
            <a:off x="3120398" y="1318236"/>
            <a:ext cx="8606752" cy="1055998"/>
            <a:chOff x="1880614" y="4602967"/>
            <a:chExt cx="8606752" cy="1055998"/>
          </a:xfrm>
        </p:grpSpPr>
        <mc:AlternateContent xmlns:mc="http://schemas.openxmlformats.org/markup-compatibility/2006" xmlns:a14="http://schemas.microsoft.com/office/drawing/2010/main">
          <mc:Choice Requires="a14">
            <p:sp>
              <p:nvSpPr>
                <p:cNvPr id="70" name="Rectangle 4">
                  <a:extLst>
                    <a:ext uri="{FF2B5EF4-FFF2-40B4-BE49-F238E27FC236}">
                      <a16:creationId xmlns:a16="http://schemas.microsoft.com/office/drawing/2014/main" id="{62A66247-3CEF-5E11-40DB-832BCBF06013}"/>
                    </a:ext>
                  </a:extLst>
                </p:cNvPr>
                <p:cNvSpPr/>
                <p:nvPr/>
              </p:nvSpPr>
              <p:spPr>
                <a:xfrm>
                  <a:off x="1880614" y="4602970"/>
                  <a:ext cx="1882182" cy="1055995"/>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d>
                          <m:dPr>
                            <m:begChr m:val="|"/>
                            <m:endChr m:val="⟩"/>
                            <m:ctrlPr>
                              <a:rPr lang="en-US" i="1" smtClean="0">
                                <a:latin typeface="Cambria Math" panose="02040503050406030204" pitchFamily="18" charset="0"/>
                                <a:ea typeface="Cambria Math" panose="02040503050406030204" pitchFamily="18" charset="0"/>
                              </a:rPr>
                            </m:ctrlPr>
                          </m:dPr>
                          <m:e>
                            <m:r>
                              <a:rPr lang="en-US" i="1">
                                <a:latin typeface="Cambria Math" panose="02040503050406030204" pitchFamily="18" charset="0"/>
                                <a:ea typeface="Cambria Math" panose="02040503050406030204" pitchFamily="18" charset="0"/>
                              </a:rPr>
                              <m:t>0</m:t>
                            </m:r>
                          </m:e>
                        </m:d>
                        <m:r>
                          <a:rPr lang="en-US" i="1">
                            <a:latin typeface="Cambria Math" panose="02040503050406030204" pitchFamily="18" charset="0"/>
                            <a:ea typeface="Cambria Math" panose="02040503050406030204" pitchFamily="18" charset="0"/>
                          </a:rPr>
                          <m:t>⊗</m:t>
                        </m:r>
                        <m:d>
                          <m:dPr>
                            <m:begChr m:val="|"/>
                            <m:endChr m:val="⟩"/>
                            <m:ctrlPr>
                              <a:rPr lang="en-US" i="1">
                                <a:latin typeface="Cambria Math" panose="02040503050406030204" pitchFamily="18" charset="0"/>
                                <a:ea typeface="Cambria Math" panose="02040503050406030204" pitchFamily="18" charset="0"/>
                              </a:rPr>
                            </m:ctrlPr>
                          </m:dPr>
                          <m:e>
                            <m:r>
                              <a:rPr lang="en-US" i="1">
                                <a:latin typeface="Cambria Math" panose="02040503050406030204" pitchFamily="18" charset="0"/>
                                <a:ea typeface="Cambria Math" panose="02040503050406030204" pitchFamily="18" charset="0"/>
                              </a:rPr>
                              <m:t>0</m:t>
                            </m:r>
                          </m:e>
                        </m:d>
                        <m:r>
                          <a:rPr lang="en-US" b="0" i="1" smtClean="0">
                            <a:latin typeface="Cambria Math" panose="02040503050406030204" pitchFamily="18" charset="0"/>
                            <a:ea typeface="Cambria Math" panose="02040503050406030204" pitchFamily="18" charset="0"/>
                          </a:rPr>
                          <m:t>=</m:t>
                        </m:r>
                        <m:d>
                          <m:dPr>
                            <m:ctrlPr>
                              <a:rPr lang="en-US" b="0" i="1" smtClean="0">
                                <a:latin typeface="Cambria Math" panose="02040503050406030204" pitchFamily="18" charset="0"/>
                                <a:ea typeface="Cambria Math" panose="02040503050406030204" pitchFamily="18" charset="0"/>
                              </a:rPr>
                            </m:ctrlPr>
                          </m:dPr>
                          <m:e>
                            <m:m>
                              <m:mPr>
                                <m:mcs>
                                  <m:mc>
                                    <m:mcPr>
                                      <m:count m:val="1"/>
                                      <m:mcJc m:val="center"/>
                                    </m:mcPr>
                                  </m:mc>
                                </m:mcs>
                                <m:ctrlPr>
                                  <a:rPr lang="en-US" b="0" i="1" smtClean="0">
                                    <a:latin typeface="Cambria Math" panose="02040503050406030204" pitchFamily="18" charset="0"/>
                                    <a:ea typeface="Cambria Math" panose="02040503050406030204" pitchFamily="18" charset="0"/>
                                  </a:rPr>
                                </m:ctrlPr>
                              </m:mPr>
                              <m:mr>
                                <m:e>
                                  <m:r>
                                    <m:rPr>
                                      <m:brk m:alnAt="7"/>
                                    </m:rPr>
                                    <a:rPr lang="en-US" b="0" i="1" smtClean="0">
                                      <a:latin typeface="Cambria Math" panose="02040503050406030204" pitchFamily="18" charset="0"/>
                                      <a:ea typeface="Cambria Math" panose="02040503050406030204" pitchFamily="18" charset="0"/>
                                    </a:rPr>
                                    <m:t>1</m:t>
                                  </m:r>
                                </m:e>
                              </m:mr>
                              <m:mr>
                                <m:e>
                                  <m:r>
                                    <a:rPr lang="en-US" b="0" i="1" smtClean="0">
                                      <a:latin typeface="Cambria Math" panose="02040503050406030204" pitchFamily="18" charset="0"/>
                                      <a:ea typeface="Cambria Math" panose="02040503050406030204" pitchFamily="18" charset="0"/>
                                    </a:rPr>
                                    <m:t>0</m:t>
                                  </m:r>
                                </m:e>
                              </m:mr>
                              <m:mr>
                                <m:e>
                                  <m:eqArr>
                                    <m:eqArrPr>
                                      <m:ctrlPr>
                                        <a:rPr lang="en-US" b="0" i="1" smtClean="0">
                                          <a:latin typeface="Cambria Math" panose="02040503050406030204" pitchFamily="18" charset="0"/>
                                          <a:ea typeface="Cambria Math" panose="02040503050406030204" pitchFamily="18" charset="0"/>
                                        </a:rPr>
                                      </m:ctrlPr>
                                    </m:eqArrPr>
                                    <m:e>
                                      <m:r>
                                        <a:rPr lang="en-US" b="0" i="1" smtClean="0">
                                          <a:latin typeface="Cambria Math" panose="02040503050406030204" pitchFamily="18" charset="0"/>
                                          <a:ea typeface="Cambria Math" panose="02040503050406030204" pitchFamily="18" charset="0"/>
                                        </a:rPr>
                                        <m:t>0</m:t>
                                      </m:r>
                                    </m:e>
                                    <m:e>
                                      <m:r>
                                        <a:rPr lang="en-US" b="0" i="1" smtClean="0">
                                          <a:latin typeface="Cambria Math" panose="02040503050406030204" pitchFamily="18" charset="0"/>
                                        </a:rPr>
                                        <m:t>0</m:t>
                                      </m:r>
                                    </m:e>
                                  </m:eqArr>
                                </m:e>
                              </m:mr>
                            </m:m>
                          </m:e>
                        </m:d>
                      </m:oMath>
                    </m:oMathPara>
                  </a14:m>
                  <a:endParaRPr lang="en-US" dirty="0"/>
                </a:p>
              </p:txBody>
            </p:sp>
          </mc:Choice>
          <mc:Fallback xmlns="">
            <p:sp>
              <p:nvSpPr>
                <p:cNvPr id="19" name="Rectangle 18">
                  <a:extLst>
                    <a:ext uri="{FF2B5EF4-FFF2-40B4-BE49-F238E27FC236}">
                      <a16:creationId xmlns:a16="http://schemas.microsoft.com/office/drawing/2014/main" id="{A8219BF3-1672-6A4F-B0DC-925E36ACB2F8}"/>
                    </a:ext>
                  </a:extLst>
                </p:cNvPr>
                <p:cNvSpPr>
                  <a:spLocks noRot="1" noChangeAspect="1" noMove="1" noResize="1" noEditPoints="1" noAdjustHandles="1" noChangeArrowheads="1" noChangeShapeType="1" noTextEdit="1"/>
                </p:cNvSpPr>
                <p:nvPr/>
              </p:nvSpPr>
              <p:spPr>
                <a:xfrm>
                  <a:off x="1880614" y="4602970"/>
                  <a:ext cx="1882182" cy="1055995"/>
                </a:xfrm>
                <a:prstGeom prst="rect">
                  <a:avLst/>
                </a:prstGeom>
                <a:blipFill>
                  <a:blip r:embed="rId4"/>
                  <a:stretch>
                    <a:fillRect b="-2410"/>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71" name="Rectangle 5">
                  <a:extLst>
                    <a:ext uri="{FF2B5EF4-FFF2-40B4-BE49-F238E27FC236}">
                      <a16:creationId xmlns:a16="http://schemas.microsoft.com/office/drawing/2014/main" id="{7105DBD6-3487-0EFB-B920-BF5988982DA5}"/>
                    </a:ext>
                  </a:extLst>
                </p:cNvPr>
                <p:cNvSpPr/>
                <p:nvPr/>
              </p:nvSpPr>
              <p:spPr>
                <a:xfrm>
                  <a:off x="4122137" y="4602967"/>
                  <a:ext cx="1882182" cy="1054199"/>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d>
                          <m:dPr>
                            <m:begChr m:val="|"/>
                            <m:endChr m:val="⟩"/>
                            <m:ctrlPr>
                              <a:rPr lang="en-US" i="1" smtClean="0">
                                <a:latin typeface="Cambria Math" panose="02040503050406030204" pitchFamily="18" charset="0"/>
                                <a:ea typeface="Cambria Math" panose="02040503050406030204" pitchFamily="18" charset="0"/>
                              </a:rPr>
                            </m:ctrlPr>
                          </m:dPr>
                          <m:e>
                            <m:r>
                              <a:rPr lang="en-US" b="0" i="1" smtClean="0">
                                <a:latin typeface="Cambria Math" panose="02040503050406030204" pitchFamily="18" charset="0"/>
                                <a:ea typeface="Cambria Math" panose="02040503050406030204" pitchFamily="18" charset="0"/>
                              </a:rPr>
                              <m:t>0</m:t>
                            </m:r>
                          </m:e>
                        </m:d>
                        <m:r>
                          <a:rPr lang="en-US" i="1">
                            <a:latin typeface="Cambria Math" panose="02040503050406030204" pitchFamily="18" charset="0"/>
                            <a:ea typeface="Cambria Math" panose="02040503050406030204" pitchFamily="18" charset="0"/>
                          </a:rPr>
                          <m:t>⊗</m:t>
                        </m:r>
                        <m:d>
                          <m:dPr>
                            <m:begChr m:val="|"/>
                            <m:endChr m:val="⟩"/>
                            <m:ctrlPr>
                              <a:rPr lang="en-US" i="1">
                                <a:latin typeface="Cambria Math" panose="02040503050406030204" pitchFamily="18" charset="0"/>
                                <a:ea typeface="Cambria Math" panose="02040503050406030204" pitchFamily="18" charset="0"/>
                              </a:rPr>
                            </m:ctrlPr>
                          </m:dPr>
                          <m:e>
                            <m:r>
                              <a:rPr lang="en-US" b="0" i="1" smtClean="0">
                                <a:latin typeface="Cambria Math" panose="02040503050406030204" pitchFamily="18" charset="0"/>
                                <a:ea typeface="Cambria Math" panose="02040503050406030204" pitchFamily="18" charset="0"/>
                              </a:rPr>
                              <m:t>1</m:t>
                            </m:r>
                          </m:e>
                        </m:d>
                        <m:r>
                          <a:rPr lang="en-US" b="0" i="1" smtClean="0">
                            <a:latin typeface="Cambria Math" panose="02040503050406030204" pitchFamily="18" charset="0"/>
                            <a:ea typeface="Cambria Math" panose="02040503050406030204" pitchFamily="18" charset="0"/>
                          </a:rPr>
                          <m:t>=</m:t>
                        </m:r>
                        <m:d>
                          <m:dPr>
                            <m:ctrlPr>
                              <a:rPr lang="en-US" b="0" i="1" smtClean="0">
                                <a:latin typeface="Cambria Math" panose="02040503050406030204" pitchFamily="18" charset="0"/>
                                <a:ea typeface="Cambria Math" panose="02040503050406030204" pitchFamily="18" charset="0"/>
                              </a:rPr>
                            </m:ctrlPr>
                          </m:dPr>
                          <m:e>
                            <m:m>
                              <m:mPr>
                                <m:mcs>
                                  <m:mc>
                                    <m:mcPr>
                                      <m:count m:val="1"/>
                                      <m:mcJc m:val="center"/>
                                    </m:mcPr>
                                  </m:mc>
                                </m:mcs>
                                <m:ctrlPr>
                                  <a:rPr lang="en-US" b="0" i="1" smtClean="0">
                                    <a:latin typeface="Cambria Math" panose="02040503050406030204" pitchFamily="18" charset="0"/>
                                    <a:ea typeface="Cambria Math" panose="02040503050406030204" pitchFamily="18" charset="0"/>
                                  </a:rPr>
                                </m:ctrlPr>
                              </m:mPr>
                              <m:mr>
                                <m:e>
                                  <m:r>
                                    <m:rPr>
                                      <m:brk m:alnAt="7"/>
                                    </m:rPr>
                                    <a:rPr lang="en-US" b="0" i="1" smtClean="0">
                                      <a:latin typeface="Cambria Math" panose="02040503050406030204" pitchFamily="18" charset="0"/>
                                      <a:ea typeface="Cambria Math" panose="02040503050406030204" pitchFamily="18" charset="0"/>
                                    </a:rPr>
                                    <m:t>0</m:t>
                                  </m:r>
                                </m:e>
                              </m:mr>
                              <m:mr>
                                <m:e>
                                  <m:r>
                                    <a:rPr lang="en-US" b="0" i="1" smtClean="0">
                                      <a:latin typeface="Cambria Math" panose="02040503050406030204" pitchFamily="18" charset="0"/>
                                      <a:ea typeface="Cambria Math" panose="02040503050406030204" pitchFamily="18" charset="0"/>
                                    </a:rPr>
                                    <m:t>1</m:t>
                                  </m:r>
                                </m:e>
                              </m:mr>
                              <m:mr>
                                <m:e>
                                  <m:eqArr>
                                    <m:eqArrPr>
                                      <m:ctrlPr>
                                        <a:rPr lang="en-US" b="0" i="1" smtClean="0">
                                          <a:latin typeface="Cambria Math" panose="02040503050406030204" pitchFamily="18" charset="0"/>
                                          <a:ea typeface="Cambria Math" panose="02040503050406030204" pitchFamily="18" charset="0"/>
                                        </a:rPr>
                                      </m:ctrlPr>
                                    </m:eqArrPr>
                                    <m:e>
                                      <m:r>
                                        <a:rPr lang="en-US" b="0" i="1" smtClean="0">
                                          <a:latin typeface="Cambria Math" panose="02040503050406030204" pitchFamily="18" charset="0"/>
                                          <a:ea typeface="Cambria Math" panose="02040503050406030204" pitchFamily="18" charset="0"/>
                                        </a:rPr>
                                        <m:t>0</m:t>
                                      </m:r>
                                    </m:e>
                                    <m:e>
                                      <m:r>
                                        <a:rPr lang="en-US" b="0" i="1" smtClean="0">
                                          <a:latin typeface="Cambria Math" panose="02040503050406030204" pitchFamily="18" charset="0"/>
                                        </a:rPr>
                                        <m:t>0</m:t>
                                      </m:r>
                                    </m:e>
                                  </m:eqArr>
                                </m:e>
                              </m:mr>
                            </m:m>
                          </m:e>
                        </m:d>
                      </m:oMath>
                    </m:oMathPara>
                  </a14:m>
                  <a:endParaRPr lang="en-US" dirty="0"/>
                </a:p>
              </p:txBody>
            </p:sp>
          </mc:Choice>
          <mc:Fallback xmlns="">
            <p:sp>
              <p:nvSpPr>
                <p:cNvPr id="20" name="Rectangle 19">
                  <a:extLst>
                    <a:ext uri="{FF2B5EF4-FFF2-40B4-BE49-F238E27FC236}">
                      <a16:creationId xmlns:a16="http://schemas.microsoft.com/office/drawing/2014/main" id="{6BE7FECB-BE66-954D-A4BB-3A8753E1C0AF}"/>
                    </a:ext>
                  </a:extLst>
                </p:cNvPr>
                <p:cNvSpPr>
                  <a:spLocks noRot="1" noChangeAspect="1" noMove="1" noResize="1" noEditPoints="1" noAdjustHandles="1" noChangeArrowheads="1" noChangeShapeType="1" noTextEdit="1"/>
                </p:cNvSpPr>
                <p:nvPr/>
              </p:nvSpPr>
              <p:spPr>
                <a:xfrm>
                  <a:off x="4122137" y="4602967"/>
                  <a:ext cx="1882182" cy="1054199"/>
                </a:xfrm>
                <a:prstGeom prst="rect">
                  <a:avLst/>
                </a:prstGeom>
                <a:blipFill>
                  <a:blip r:embed="rId5"/>
                  <a:stretch>
                    <a:fillRect b="-2410"/>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72" name="Rectangle 6">
                  <a:extLst>
                    <a:ext uri="{FF2B5EF4-FFF2-40B4-BE49-F238E27FC236}">
                      <a16:creationId xmlns:a16="http://schemas.microsoft.com/office/drawing/2014/main" id="{725D0752-8F46-1949-4E9A-C2EAFC156405}"/>
                    </a:ext>
                  </a:extLst>
                </p:cNvPr>
                <p:cNvSpPr/>
                <p:nvPr/>
              </p:nvSpPr>
              <p:spPr>
                <a:xfrm>
                  <a:off x="6363661" y="4602968"/>
                  <a:ext cx="1882182" cy="1055995"/>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d>
                          <m:dPr>
                            <m:begChr m:val="|"/>
                            <m:endChr m:val="⟩"/>
                            <m:ctrlPr>
                              <a:rPr lang="en-US" i="1" smtClean="0">
                                <a:latin typeface="Cambria Math" panose="02040503050406030204" pitchFamily="18" charset="0"/>
                                <a:ea typeface="Cambria Math" panose="02040503050406030204" pitchFamily="18" charset="0"/>
                              </a:rPr>
                            </m:ctrlPr>
                          </m:dPr>
                          <m:e>
                            <m:r>
                              <a:rPr lang="en-US" b="0" i="1" smtClean="0">
                                <a:latin typeface="Cambria Math" panose="02040503050406030204" pitchFamily="18" charset="0"/>
                                <a:ea typeface="Cambria Math" panose="02040503050406030204" pitchFamily="18" charset="0"/>
                              </a:rPr>
                              <m:t>1</m:t>
                            </m:r>
                          </m:e>
                        </m:d>
                        <m:r>
                          <a:rPr lang="en-US" i="1">
                            <a:latin typeface="Cambria Math" panose="02040503050406030204" pitchFamily="18" charset="0"/>
                            <a:ea typeface="Cambria Math" panose="02040503050406030204" pitchFamily="18" charset="0"/>
                          </a:rPr>
                          <m:t>⊗</m:t>
                        </m:r>
                        <m:d>
                          <m:dPr>
                            <m:begChr m:val="|"/>
                            <m:endChr m:val="⟩"/>
                            <m:ctrlPr>
                              <a:rPr lang="en-US" i="1">
                                <a:latin typeface="Cambria Math" panose="02040503050406030204" pitchFamily="18" charset="0"/>
                                <a:ea typeface="Cambria Math" panose="02040503050406030204" pitchFamily="18" charset="0"/>
                              </a:rPr>
                            </m:ctrlPr>
                          </m:dPr>
                          <m:e>
                            <m:r>
                              <a:rPr lang="en-US" b="0" i="1" smtClean="0">
                                <a:latin typeface="Cambria Math" panose="02040503050406030204" pitchFamily="18" charset="0"/>
                                <a:ea typeface="Cambria Math" panose="02040503050406030204" pitchFamily="18" charset="0"/>
                              </a:rPr>
                              <m:t>0</m:t>
                            </m:r>
                          </m:e>
                        </m:d>
                        <m:r>
                          <a:rPr lang="en-US" b="0" i="1" smtClean="0">
                            <a:latin typeface="Cambria Math" panose="02040503050406030204" pitchFamily="18" charset="0"/>
                            <a:ea typeface="Cambria Math" panose="02040503050406030204" pitchFamily="18" charset="0"/>
                          </a:rPr>
                          <m:t>=</m:t>
                        </m:r>
                        <m:d>
                          <m:dPr>
                            <m:ctrlPr>
                              <a:rPr lang="en-US" b="0" i="1" smtClean="0">
                                <a:latin typeface="Cambria Math" panose="02040503050406030204" pitchFamily="18" charset="0"/>
                                <a:ea typeface="Cambria Math" panose="02040503050406030204" pitchFamily="18" charset="0"/>
                              </a:rPr>
                            </m:ctrlPr>
                          </m:dPr>
                          <m:e>
                            <m:m>
                              <m:mPr>
                                <m:mcs>
                                  <m:mc>
                                    <m:mcPr>
                                      <m:count m:val="1"/>
                                      <m:mcJc m:val="center"/>
                                    </m:mcPr>
                                  </m:mc>
                                </m:mcs>
                                <m:ctrlPr>
                                  <a:rPr lang="en-US" b="0" i="1" smtClean="0">
                                    <a:latin typeface="Cambria Math" panose="02040503050406030204" pitchFamily="18" charset="0"/>
                                    <a:ea typeface="Cambria Math" panose="02040503050406030204" pitchFamily="18" charset="0"/>
                                  </a:rPr>
                                </m:ctrlPr>
                              </m:mPr>
                              <m:mr>
                                <m:e>
                                  <m:r>
                                    <m:rPr>
                                      <m:brk m:alnAt="7"/>
                                    </m:rPr>
                                    <a:rPr lang="en-US" b="0" i="1" smtClean="0">
                                      <a:latin typeface="Cambria Math" panose="02040503050406030204" pitchFamily="18" charset="0"/>
                                      <a:ea typeface="Cambria Math" panose="02040503050406030204" pitchFamily="18" charset="0"/>
                                    </a:rPr>
                                    <m:t>0</m:t>
                                  </m:r>
                                </m:e>
                              </m:mr>
                              <m:mr>
                                <m:e>
                                  <m:r>
                                    <a:rPr lang="en-US" b="0" i="1" smtClean="0">
                                      <a:latin typeface="Cambria Math" panose="02040503050406030204" pitchFamily="18" charset="0"/>
                                      <a:ea typeface="Cambria Math" panose="02040503050406030204" pitchFamily="18" charset="0"/>
                                    </a:rPr>
                                    <m:t>0</m:t>
                                  </m:r>
                                </m:e>
                              </m:mr>
                              <m:mr>
                                <m:e>
                                  <m:eqArr>
                                    <m:eqArrPr>
                                      <m:ctrlPr>
                                        <a:rPr lang="en-US" b="0" i="1" smtClean="0">
                                          <a:latin typeface="Cambria Math" panose="02040503050406030204" pitchFamily="18" charset="0"/>
                                          <a:ea typeface="Cambria Math" panose="02040503050406030204" pitchFamily="18" charset="0"/>
                                        </a:rPr>
                                      </m:ctrlPr>
                                    </m:eqArrPr>
                                    <m:e>
                                      <m:r>
                                        <a:rPr lang="en-US" b="0" i="1" smtClean="0">
                                          <a:latin typeface="Cambria Math" panose="02040503050406030204" pitchFamily="18" charset="0"/>
                                          <a:ea typeface="Cambria Math" panose="02040503050406030204" pitchFamily="18" charset="0"/>
                                        </a:rPr>
                                        <m:t>1</m:t>
                                      </m:r>
                                    </m:e>
                                    <m:e>
                                      <m:r>
                                        <a:rPr lang="en-US" b="0" i="1" smtClean="0">
                                          <a:latin typeface="Cambria Math" panose="02040503050406030204" pitchFamily="18" charset="0"/>
                                        </a:rPr>
                                        <m:t>0</m:t>
                                      </m:r>
                                    </m:e>
                                  </m:eqArr>
                                </m:e>
                              </m:mr>
                            </m:m>
                          </m:e>
                        </m:d>
                      </m:oMath>
                    </m:oMathPara>
                  </a14:m>
                  <a:endParaRPr lang="en-US" dirty="0"/>
                </a:p>
              </p:txBody>
            </p:sp>
          </mc:Choice>
          <mc:Fallback xmlns="">
            <p:sp>
              <p:nvSpPr>
                <p:cNvPr id="21" name="Rectangle 20">
                  <a:extLst>
                    <a:ext uri="{FF2B5EF4-FFF2-40B4-BE49-F238E27FC236}">
                      <a16:creationId xmlns:a16="http://schemas.microsoft.com/office/drawing/2014/main" id="{0BD6004B-7254-C047-AF6F-E15C9A16FBA9}"/>
                    </a:ext>
                  </a:extLst>
                </p:cNvPr>
                <p:cNvSpPr>
                  <a:spLocks noRot="1" noChangeAspect="1" noMove="1" noResize="1" noEditPoints="1" noAdjustHandles="1" noChangeArrowheads="1" noChangeShapeType="1" noTextEdit="1"/>
                </p:cNvSpPr>
                <p:nvPr/>
              </p:nvSpPr>
              <p:spPr>
                <a:xfrm>
                  <a:off x="6363661" y="4602968"/>
                  <a:ext cx="1882182" cy="1055995"/>
                </a:xfrm>
                <a:prstGeom prst="rect">
                  <a:avLst/>
                </a:prstGeom>
                <a:blipFill>
                  <a:blip r:embed="rId6"/>
                  <a:stretch>
                    <a:fillRect b="-2410"/>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74" name="Rectangle 7">
                  <a:extLst>
                    <a:ext uri="{FF2B5EF4-FFF2-40B4-BE49-F238E27FC236}">
                      <a16:creationId xmlns:a16="http://schemas.microsoft.com/office/drawing/2014/main" id="{964B6BD9-3BEC-67E3-550D-05A4C23D85F7}"/>
                    </a:ext>
                  </a:extLst>
                </p:cNvPr>
                <p:cNvSpPr/>
                <p:nvPr/>
              </p:nvSpPr>
              <p:spPr>
                <a:xfrm>
                  <a:off x="8605184" y="4602967"/>
                  <a:ext cx="1882182" cy="1055995"/>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d>
                          <m:dPr>
                            <m:begChr m:val="|"/>
                            <m:endChr m:val="⟩"/>
                            <m:ctrlPr>
                              <a:rPr lang="en-US" i="1" smtClean="0">
                                <a:latin typeface="Cambria Math" panose="02040503050406030204" pitchFamily="18" charset="0"/>
                                <a:ea typeface="Cambria Math" panose="02040503050406030204" pitchFamily="18" charset="0"/>
                              </a:rPr>
                            </m:ctrlPr>
                          </m:dPr>
                          <m:e>
                            <m:r>
                              <a:rPr lang="en-US" b="0" i="1" smtClean="0">
                                <a:latin typeface="Cambria Math" panose="02040503050406030204" pitchFamily="18" charset="0"/>
                                <a:ea typeface="Cambria Math" panose="02040503050406030204" pitchFamily="18" charset="0"/>
                              </a:rPr>
                              <m:t>1</m:t>
                            </m:r>
                          </m:e>
                        </m:d>
                        <m:r>
                          <a:rPr lang="en-US" i="1">
                            <a:latin typeface="Cambria Math" panose="02040503050406030204" pitchFamily="18" charset="0"/>
                            <a:ea typeface="Cambria Math" panose="02040503050406030204" pitchFamily="18" charset="0"/>
                          </a:rPr>
                          <m:t>⊗</m:t>
                        </m:r>
                        <m:d>
                          <m:dPr>
                            <m:begChr m:val="|"/>
                            <m:endChr m:val="⟩"/>
                            <m:ctrlPr>
                              <a:rPr lang="en-US" i="1">
                                <a:latin typeface="Cambria Math" panose="02040503050406030204" pitchFamily="18" charset="0"/>
                                <a:ea typeface="Cambria Math" panose="02040503050406030204" pitchFamily="18" charset="0"/>
                              </a:rPr>
                            </m:ctrlPr>
                          </m:dPr>
                          <m:e>
                            <m:r>
                              <a:rPr lang="en-US" b="0" i="1" smtClean="0">
                                <a:latin typeface="Cambria Math" panose="02040503050406030204" pitchFamily="18" charset="0"/>
                                <a:ea typeface="Cambria Math" panose="02040503050406030204" pitchFamily="18" charset="0"/>
                              </a:rPr>
                              <m:t>1</m:t>
                            </m:r>
                          </m:e>
                        </m:d>
                        <m:r>
                          <a:rPr lang="en-US" b="0" i="1" smtClean="0">
                            <a:latin typeface="Cambria Math" panose="02040503050406030204" pitchFamily="18" charset="0"/>
                            <a:ea typeface="Cambria Math" panose="02040503050406030204" pitchFamily="18" charset="0"/>
                          </a:rPr>
                          <m:t>=</m:t>
                        </m:r>
                        <m:d>
                          <m:dPr>
                            <m:ctrlPr>
                              <a:rPr lang="en-US" b="0" i="1" smtClean="0">
                                <a:latin typeface="Cambria Math" panose="02040503050406030204" pitchFamily="18" charset="0"/>
                                <a:ea typeface="Cambria Math" panose="02040503050406030204" pitchFamily="18" charset="0"/>
                              </a:rPr>
                            </m:ctrlPr>
                          </m:dPr>
                          <m:e>
                            <m:m>
                              <m:mPr>
                                <m:mcs>
                                  <m:mc>
                                    <m:mcPr>
                                      <m:count m:val="1"/>
                                      <m:mcJc m:val="center"/>
                                    </m:mcPr>
                                  </m:mc>
                                </m:mcs>
                                <m:ctrlPr>
                                  <a:rPr lang="en-US" b="0" i="1" smtClean="0">
                                    <a:latin typeface="Cambria Math" panose="02040503050406030204" pitchFamily="18" charset="0"/>
                                    <a:ea typeface="Cambria Math" panose="02040503050406030204" pitchFamily="18" charset="0"/>
                                  </a:rPr>
                                </m:ctrlPr>
                              </m:mPr>
                              <m:mr>
                                <m:e>
                                  <m:r>
                                    <m:rPr>
                                      <m:brk m:alnAt="7"/>
                                    </m:rPr>
                                    <a:rPr lang="en-US" b="0" i="1" smtClean="0">
                                      <a:latin typeface="Cambria Math" panose="02040503050406030204" pitchFamily="18" charset="0"/>
                                      <a:ea typeface="Cambria Math" panose="02040503050406030204" pitchFamily="18" charset="0"/>
                                    </a:rPr>
                                    <m:t>0</m:t>
                                  </m:r>
                                </m:e>
                              </m:mr>
                              <m:mr>
                                <m:e>
                                  <m:r>
                                    <a:rPr lang="en-US" b="0" i="1" smtClean="0">
                                      <a:latin typeface="Cambria Math" panose="02040503050406030204" pitchFamily="18" charset="0"/>
                                      <a:ea typeface="Cambria Math" panose="02040503050406030204" pitchFamily="18" charset="0"/>
                                    </a:rPr>
                                    <m:t>0</m:t>
                                  </m:r>
                                </m:e>
                              </m:mr>
                              <m:mr>
                                <m:e>
                                  <m:eqArr>
                                    <m:eqArrPr>
                                      <m:ctrlPr>
                                        <a:rPr lang="en-US" b="0" i="1" smtClean="0">
                                          <a:latin typeface="Cambria Math" panose="02040503050406030204" pitchFamily="18" charset="0"/>
                                          <a:ea typeface="Cambria Math" panose="02040503050406030204" pitchFamily="18" charset="0"/>
                                        </a:rPr>
                                      </m:ctrlPr>
                                    </m:eqArrPr>
                                    <m:e>
                                      <m:r>
                                        <a:rPr lang="en-US" b="0" i="1" smtClean="0">
                                          <a:latin typeface="Cambria Math" panose="02040503050406030204" pitchFamily="18" charset="0"/>
                                          <a:ea typeface="Cambria Math" panose="02040503050406030204" pitchFamily="18" charset="0"/>
                                        </a:rPr>
                                        <m:t>0</m:t>
                                      </m:r>
                                    </m:e>
                                    <m:e>
                                      <m:r>
                                        <a:rPr lang="en-US" b="0" i="1" smtClean="0">
                                          <a:latin typeface="Cambria Math" panose="02040503050406030204" pitchFamily="18" charset="0"/>
                                        </a:rPr>
                                        <m:t>1</m:t>
                                      </m:r>
                                    </m:e>
                                  </m:eqArr>
                                </m:e>
                              </m:mr>
                            </m:m>
                          </m:e>
                        </m:d>
                      </m:oMath>
                    </m:oMathPara>
                  </a14:m>
                  <a:endParaRPr lang="en-US" dirty="0"/>
                </a:p>
              </p:txBody>
            </p:sp>
          </mc:Choice>
          <mc:Fallback xmlns="">
            <p:sp>
              <p:nvSpPr>
                <p:cNvPr id="22" name="Rectangle 21">
                  <a:extLst>
                    <a:ext uri="{FF2B5EF4-FFF2-40B4-BE49-F238E27FC236}">
                      <a16:creationId xmlns:a16="http://schemas.microsoft.com/office/drawing/2014/main" id="{87DB44E5-A57C-464A-B651-219B97AED235}"/>
                    </a:ext>
                  </a:extLst>
                </p:cNvPr>
                <p:cNvSpPr>
                  <a:spLocks noRot="1" noChangeAspect="1" noMove="1" noResize="1" noEditPoints="1" noAdjustHandles="1" noChangeArrowheads="1" noChangeShapeType="1" noTextEdit="1"/>
                </p:cNvSpPr>
                <p:nvPr/>
              </p:nvSpPr>
              <p:spPr>
                <a:xfrm>
                  <a:off x="8605184" y="4602967"/>
                  <a:ext cx="1882182" cy="1055995"/>
                </a:xfrm>
                <a:prstGeom prst="rect">
                  <a:avLst/>
                </a:prstGeom>
                <a:blipFill>
                  <a:blip r:embed="rId14"/>
                  <a:stretch>
                    <a:fillRect b="-2410"/>
                  </a:stretch>
                </a:blipFill>
              </p:spPr>
              <p:txBody>
                <a:bodyPr/>
                <a:lstStyle/>
                <a:p>
                  <a:r>
                    <a:rPr lang="en-US">
                      <a:noFill/>
                    </a:rPr>
                    <a:t> </a:t>
                  </a:r>
                </a:p>
              </p:txBody>
            </p:sp>
          </mc:Fallback>
        </mc:AlternateContent>
      </p:grpSp>
      <mc:AlternateContent xmlns:mc="http://schemas.openxmlformats.org/markup-compatibility/2006" xmlns:a14="http://schemas.microsoft.com/office/drawing/2010/main">
        <mc:Choice Requires="a14">
          <p:sp>
            <p:nvSpPr>
              <p:cNvPr id="90" name="Rectangle 11">
                <a:extLst>
                  <a:ext uri="{FF2B5EF4-FFF2-40B4-BE49-F238E27FC236}">
                    <a16:creationId xmlns:a16="http://schemas.microsoft.com/office/drawing/2014/main" id="{430BFB5C-1F0C-FD45-1CA4-932AD28A7035}"/>
                  </a:ext>
                </a:extLst>
              </p:cNvPr>
              <p:cNvSpPr/>
              <p:nvPr/>
            </p:nvSpPr>
            <p:spPr>
              <a:xfrm>
                <a:off x="6197497" y="2531031"/>
                <a:ext cx="3144964" cy="1126975"/>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r>
                        <a:rPr lang="en-US" b="0" i="1" smtClean="0">
                          <a:solidFill>
                            <a:schemeClr val="tx1"/>
                          </a:solidFill>
                          <a:latin typeface="Cambria Math" panose="02040503050406030204" pitchFamily="18" charset="0"/>
                          <a:ea typeface="Cambria Math" panose="02040503050406030204" pitchFamily="18" charset="0"/>
                        </a:rPr>
                        <m:t>𝑆𝑊𝐴𝑃</m:t>
                      </m:r>
                      <m:r>
                        <a:rPr lang="en-US" b="0" i="1" smtClean="0">
                          <a:solidFill>
                            <a:schemeClr val="tx1"/>
                          </a:solidFill>
                          <a:latin typeface="Cambria Math" panose="02040503050406030204" pitchFamily="18" charset="0"/>
                          <a:ea typeface="Cambria Math" panose="02040503050406030204" pitchFamily="18" charset="0"/>
                        </a:rPr>
                        <m:t>=</m:t>
                      </m:r>
                      <m:d>
                        <m:dPr>
                          <m:ctrlPr>
                            <a:rPr lang="en-US" i="1" smtClean="0">
                              <a:solidFill>
                                <a:schemeClr val="tx1"/>
                              </a:solidFill>
                              <a:latin typeface="Cambria Math" panose="02040503050406030204" pitchFamily="18" charset="0"/>
                              <a:ea typeface="Cambria Math" panose="02040503050406030204" pitchFamily="18" charset="0"/>
                            </a:rPr>
                          </m:ctrlPr>
                        </m:dPr>
                        <m:e>
                          <m:m>
                            <m:mPr>
                              <m:mcs>
                                <m:mc>
                                  <m:mcPr>
                                    <m:count m:val="2"/>
                                    <m:mcJc m:val="center"/>
                                  </m:mcPr>
                                </m:mc>
                              </m:mcs>
                              <m:ctrlPr>
                                <a:rPr lang="en-US" i="1" smtClean="0">
                                  <a:solidFill>
                                    <a:schemeClr val="tx1"/>
                                  </a:solidFill>
                                  <a:latin typeface="Cambria Math" panose="02040503050406030204" pitchFamily="18" charset="0"/>
                                  <a:ea typeface="Cambria Math" panose="02040503050406030204" pitchFamily="18" charset="0"/>
                                </a:rPr>
                              </m:ctrlPr>
                            </m:mPr>
                            <m:mr>
                              <m:e>
                                <m:m>
                                  <m:mPr>
                                    <m:mcs>
                                      <m:mc>
                                        <m:mcPr>
                                          <m:count m:val="2"/>
                                          <m:mcJc m:val="center"/>
                                        </m:mcPr>
                                      </m:mc>
                                    </m:mcs>
                                    <m:ctrlPr>
                                      <a:rPr lang="en-US" i="1" smtClean="0">
                                        <a:solidFill>
                                          <a:schemeClr val="tx1"/>
                                        </a:solidFill>
                                        <a:latin typeface="Cambria Math" panose="02040503050406030204" pitchFamily="18" charset="0"/>
                                        <a:ea typeface="Cambria Math" panose="02040503050406030204" pitchFamily="18" charset="0"/>
                                      </a:rPr>
                                    </m:ctrlPr>
                                  </m:mPr>
                                  <m:mr>
                                    <m:e>
                                      <m:r>
                                        <m:rPr>
                                          <m:brk m:alnAt="7"/>
                                        </m:rPr>
                                        <a:rPr lang="en-US" b="0" i="1" smtClean="0">
                                          <a:solidFill>
                                            <a:schemeClr val="tx1"/>
                                          </a:solidFill>
                                          <a:latin typeface="Cambria Math" panose="02040503050406030204" pitchFamily="18" charset="0"/>
                                          <a:ea typeface="Cambria Math" panose="02040503050406030204" pitchFamily="18" charset="0"/>
                                        </a:rPr>
                                        <m:t>1</m:t>
                                      </m:r>
                                    </m:e>
                                    <m:e/>
                                  </m:mr>
                                  <m:mr>
                                    <m:e/>
                                    <m:e/>
                                  </m:mr>
                                </m:m>
                              </m:e>
                              <m:e>
                                <m:m>
                                  <m:mPr>
                                    <m:mcs>
                                      <m:mc>
                                        <m:mcPr>
                                          <m:count m:val="2"/>
                                          <m:mcJc m:val="center"/>
                                        </m:mcPr>
                                      </m:mc>
                                    </m:mcs>
                                    <m:ctrlPr>
                                      <a:rPr lang="en-US" altLang="ko-KR" i="1">
                                        <a:solidFill>
                                          <a:schemeClr val="tx1"/>
                                        </a:solidFill>
                                        <a:latin typeface="Cambria Math" panose="02040503050406030204" pitchFamily="18" charset="0"/>
                                        <a:ea typeface="Cambria Math" panose="02040503050406030204" pitchFamily="18" charset="0"/>
                                      </a:rPr>
                                    </m:ctrlPr>
                                  </m:mPr>
                                  <m:mr>
                                    <m:e/>
                                    <m:e/>
                                  </m:mr>
                                  <m:mr>
                                    <m:e>
                                      <m:r>
                                        <a:rPr lang="en-US" altLang="ko-KR" b="0" i="1" smtClean="0">
                                          <a:solidFill>
                                            <a:schemeClr val="tx1"/>
                                          </a:solidFill>
                                          <a:latin typeface="Cambria Math" panose="02040503050406030204" pitchFamily="18" charset="0"/>
                                          <a:ea typeface="Cambria Math" panose="02040503050406030204" pitchFamily="18" charset="0"/>
                                        </a:rPr>
                                        <m:t>1</m:t>
                                      </m:r>
                                    </m:e>
                                    <m:e/>
                                  </m:mr>
                                </m:m>
                              </m:e>
                            </m:mr>
                            <m:mr>
                              <m:e>
                                <m:m>
                                  <m:mPr>
                                    <m:mcs>
                                      <m:mc>
                                        <m:mcPr>
                                          <m:count m:val="2"/>
                                          <m:mcJc m:val="center"/>
                                        </m:mcPr>
                                      </m:mc>
                                    </m:mcs>
                                    <m:ctrlPr>
                                      <a:rPr lang="en-US" altLang="ko-KR" i="1">
                                        <a:solidFill>
                                          <a:schemeClr val="tx1"/>
                                        </a:solidFill>
                                        <a:latin typeface="Cambria Math" panose="02040503050406030204" pitchFamily="18" charset="0"/>
                                        <a:ea typeface="Cambria Math" panose="02040503050406030204" pitchFamily="18" charset="0"/>
                                      </a:rPr>
                                    </m:ctrlPr>
                                  </m:mPr>
                                  <m:mr>
                                    <m:e/>
                                    <m:e>
                                      <m:r>
                                        <a:rPr lang="en-US" altLang="ko-KR" b="0" i="1" smtClean="0">
                                          <a:solidFill>
                                            <a:schemeClr val="tx1"/>
                                          </a:solidFill>
                                          <a:latin typeface="Cambria Math" panose="02040503050406030204" pitchFamily="18" charset="0"/>
                                          <a:ea typeface="Cambria Math" panose="02040503050406030204" pitchFamily="18" charset="0"/>
                                        </a:rPr>
                                        <m:t>1</m:t>
                                      </m:r>
                                    </m:e>
                                  </m:mr>
                                  <m:mr>
                                    <m:e/>
                                    <m:e/>
                                  </m:mr>
                                </m:m>
                              </m:e>
                              <m:e>
                                <m:m>
                                  <m:mPr>
                                    <m:mcs>
                                      <m:mc>
                                        <m:mcPr>
                                          <m:count m:val="2"/>
                                          <m:mcJc m:val="center"/>
                                        </m:mcPr>
                                      </m:mc>
                                    </m:mcs>
                                    <m:ctrlPr>
                                      <a:rPr lang="en-US" i="1" smtClean="0">
                                        <a:solidFill>
                                          <a:schemeClr val="tx1"/>
                                        </a:solidFill>
                                        <a:latin typeface="Cambria Math" panose="02040503050406030204" pitchFamily="18" charset="0"/>
                                        <a:ea typeface="Cambria Math" panose="02040503050406030204" pitchFamily="18" charset="0"/>
                                      </a:rPr>
                                    </m:ctrlPr>
                                  </m:mPr>
                                  <m:mr>
                                    <m:e/>
                                    <m:e/>
                                  </m:mr>
                                  <m:mr>
                                    <m:e/>
                                    <m:e>
                                      <m:r>
                                        <a:rPr lang="en-US" b="0" i="1" smtClean="0">
                                          <a:solidFill>
                                            <a:schemeClr val="tx1"/>
                                          </a:solidFill>
                                          <a:latin typeface="Cambria Math" panose="02040503050406030204" pitchFamily="18" charset="0"/>
                                          <a:ea typeface="Cambria Math" panose="02040503050406030204" pitchFamily="18" charset="0"/>
                                        </a:rPr>
                                        <m:t>1</m:t>
                                      </m:r>
                                    </m:e>
                                  </m:mr>
                                </m:m>
                              </m:e>
                            </m:mr>
                          </m:m>
                        </m:e>
                      </m:d>
                    </m:oMath>
                  </m:oMathPara>
                </a14:m>
                <a:endParaRPr lang="en-US" dirty="0">
                  <a:solidFill>
                    <a:schemeClr val="tx1"/>
                  </a:solidFill>
                </a:endParaRPr>
              </a:p>
            </p:txBody>
          </p:sp>
        </mc:Choice>
        <mc:Fallback xmlns="">
          <p:sp>
            <p:nvSpPr>
              <p:cNvPr id="90" name="Rectangle 11">
                <a:extLst>
                  <a:ext uri="{FF2B5EF4-FFF2-40B4-BE49-F238E27FC236}">
                    <a16:creationId xmlns:a16="http://schemas.microsoft.com/office/drawing/2014/main" id="{430BFB5C-1F0C-FD45-1CA4-932AD28A7035}"/>
                  </a:ext>
                </a:extLst>
              </p:cNvPr>
              <p:cNvSpPr>
                <a:spLocks noRot="1" noChangeAspect="1" noMove="1" noResize="1" noEditPoints="1" noAdjustHandles="1" noChangeArrowheads="1" noChangeShapeType="1" noTextEdit="1"/>
              </p:cNvSpPr>
              <p:nvPr/>
            </p:nvSpPr>
            <p:spPr>
              <a:xfrm>
                <a:off x="6197497" y="2531031"/>
                <a:ext cx="3144964" cy="1126975"/>
              </a:xfrm>
              <a:prstGeom prst="rect">
                <a:avLst/>
              </a:prstGeom>
              <a:blipFill>
                <a:blip r:embed="rId15"/>
                <a:stretch>
                  <a:fillRect/>
                </a:stretch>
              </a:blipFill>
            </p:spPr>
            <p:txBody>
              <a:bodyPr/>
              <a:lstStyle/>
              <a:p>
                <a:r>
                  <a:rPr lang="ko-KR" altLang="en-US">
                    <a:noFill/>
                  </a:rPr>
                  <a:t> </a:t>
                </a:r>
              </a:p>
            </p:txBody>
          </p:sp>
        </mc:Fallback>
      </mc:AlternateContent>
      <mc:AlternateContent xmlns:mc="http://schemas.openxmlformats.org/markup-compatibility/2006" xmlns:a14="http://schemas.microsoft.com/office/drawing/2010/main">
        <mc:Choice Requires="a14">
          <p:sp>
            <p:nvSpPr>
              <p:cNvPr id="91" name="Rectangle 10">
                <a:extLst>
                  <a:ext uri="{FF2B5EF4-FFF2-40B4-BE49-F238E27FC236}">
                    <a16:creationId xmlns:a16="http://schemas.microsoft.com/office/drawing/2014/main" id="{53ACE6CD-8D10-4730-5469-21FE42AEC36C}"/>
                  </a:ext>
                </a:extLst>
              </p:cNvPr>
              <p:cNvSpPr/>
              <p:nvPr/>
            </p:nvSpPr>
            <p:spPr>
              <a:xfrm>
                <a:off x="5474185" y="4566498"/>
                <a:ext cx="7188405" cy="338554"/>
              </a:xfrm>
              <a:prstGeom prst="rect">
                <a:avLst/>
              </a:prstGeom>
            </p:spPr>
            <p:txBody>
              <a:bodyPr wrap="square">
                <a:spAutoFit/>
              </a:bodyPr>
              <a:lstStyle/>
              <a:p>
                <a:pPr/>
                <a14:m>
                  <m:oMathPara xmlns:m="http://schemas.openxmlformats.org/officeDocument/2006/math">
                    <m:oMathParaPr>
                      <m:jc m:val="centerGroup"/>
                    </m:oMathParaPr>
                    <m:oMath xmlns:m="http://schemas.openxmlformats.org/officeDocument/2006/math">
                      <m:d>
                        <m:dPr>
                          <m:ctrlPr>
                            <a:rPr lang="en-US" sz="1600" b="0" i="1" smtClean="0">
                              <a:latin typeface="Cambria Math" panose="02040503050406030204" pitchFamily="18" charset="0"/>
                            </a:rPr>
                          </m:ctrlPr>
                        </m:dPr>
                        <m:e>
                          <m:r>
                            <a:rPr lang="en-US" sz="1600" b="0" i="1" smtClean="0">
                              <a:latin typeface="Cambria Math" panose="02040503050406030204" pitchFamily="18" charset="0"/>
                            </a:rPr>
                            <m:t>𝑆𝑊𝐴𝑃</m:t>
                          </m:r>
                          <m:r>
                            <a:rPr lang="en-US" sz="1600" b="0" i="1" smtClean="0">
                              <a:latin typeface="Cambria Math" panose="02040503050406030204" pitchFamily="18" charset="0"/>
                            </a:rPr>
                            <m:t>⊗</m:t>
                          </m:r>
                          <m:r>
                            <a:rPr lang="en-US" sz="1600" b="0" i="1" smtClean="0">
                              <a:latin typeface="Cambria Math" panose="02040503050406030204" pitchFamily="18" charset="0"/>
                            </a:rPr>
                            <m:t>𝐼</m:t>
                          </m:r>
                        </m:e>
                      </m:d>
                      <m:r>
                        <a:rPr lang="en-US" sz="1600" b="0" i="1" smtClean="0">
                          <a:latin typeface="Cambria Math" panose="02040503050406030204" pitchFamily="18" charset="0"/>
                        </a:rPr>
                        <m:t>⋅</m:t>
                      </m:r>
                      <m:d>
                        <m:dPr>
                          <m:ctrlPr>
                            <a:rPr lang="en-US" altLang="ko-KR" sz="1600" i="1">
                              <a:latin typeface="Cambria Math" panose="02040503050406030204" pitchFamily="18" charset="0"/>
                            </a:rPr>
                          </m:ctrlPr>
                        </m:dPr>
                        <m:e>
                          <m:r>
                            <a:rPr lang="en-US" altLang="ko-KR" sz="1600" b="0" i="1" smtClean="0">
                              <a:latin typeface="Cambria Math" panose="02040503050406030204" pitchFamily="18" charset="0"/>
                            </a:rPr>
                            <m:t>𝐼</m:t>
                          </m:r>
                          <m:r>
                            <a:rPr lang="en-US" altLang="ko-KR" sz="1600" b="0" i="1" smtClean="0">
                              <a:latin typeface="Cambria Math" panose="02040503050406030204" pitchFamily="18" charset="0"/>
                            </a:rPr>
                            <m:t>⊗</m:t>
                          </m:r>
                          <m:r>
                            <a:rPr lang="en-US" altLang="ko-KR" sz="1600" b="0" i="1" smtClean="0">
                              <a:latin typeface="Cambria Math" panose="02040503050406030204" pitchFamily="18" charset="0"/>
                            </a:rPr>
                            <m:t>𝑆𝑊𝐴𝑃</m:t>
                          </m:r>
                        </m:e>
                      </m:d>
                      <m:r>
                        <a:rPr lang="en-US" altLang="ko-KR" sz="1600" b="0" i="1" smtClean="0">
                          <a:latin typeface="Cambria Math" panose="02040503050406030204" pitchFamily="18" charset="0"/>
                        </a:rPr>
                        <m:t>⋅</m:t>
                      </m:r>
                      <m:d>
                        <m:dPr>
                          <m:ctrlPr>
                            <a:rPr lang="en-US" altLang="ko-KR" sz="1600" b="0" i="1" smtClean="0">
                              <a:latin typeface="Cambria Math" panose="02040503050406030204" pitchFamily="18" charset="0"/>
                            </a:rPr>
                          </m:ctrlPr>
                        </m:dPr>
                        <m:e>
                          <m:r>
                            <a:rPr lang="en-US" sz="1600" b="0" i="1" smtClean="0">
                              <a:latin typeface="Cambria Math" panose="02040503050406030204" pitchFamily="18" charset="0"/>
                            </a:rPr>
                            <m:t>𝐼</m:t>
                          </m:r>
                          <m:r>
                            <a:rPr lang="en-US" sz="1600" b="0" i="1" smtClean="0">
                              <a:latin typeface="Cambria Math" panose="02040503050406030204" pitchFamily="18" charset="0"/>
                            </a:rPr>
                            <m:t>⊗</m:t>
                          </m:r>
                          <m:r>
                            <a:rPr lang="en-US" sz="1600" b="0" i="1" smtClean="0">
                              <a:latin typeface="Cambria Math" panose="02040503050406030204" pitchFamily="18" charset="0"/>
                            </a:rPr>
                            <m:t>𝐶𝑁𝑂𝑇</m:t>
                          </m:r>
                        </m:e>
                      </m:d>
                      <m:r>
                        <a:rPr lang="en-US" sz="1600" b="0" i="1" smtClean="0">
                          <a:latin typeface="Cambria Math" panose="02040503050406030204" pitchFamily="18" charset="0"/>
                        </a:rPr>
                        <m:t>⋅</m:t>
                      </m:r>
                      <m:d>
                        <m:dPr>
                          <m:ctrlPr>
                            <a:rPr lang="en-US" altLang="ko-KR" sz="1600" i="1">
                              <a:latin typeface="Cambria Math" panose="02040503050406030204" pitchFamily="18" charset="0"/>
                            </a:rPr>
                          </m:ctrlPr>
                        </m:dPr>
                        <m:e>
                          <m:r>
                            <a:rPr lang="en-US" altLang="ko-KR" sz="1600" i="1">
                              <a:latin typeface="Cambria Math" panose="02040503050406030204" pitchFamily="18" charset="0"/>
                            </a:rPr>
                            <m:t>𝐼</m:t>
                          </m:r>
                          <m:r>
                            <a:rPr lang="en-US" altLang="ko-KR" sz="1600" i="1">
                              <a:latin typeface="Cambria Math" panose="02040503050406030204" pitchFamily="18" charset="0"/>
                            </a:rPr>
                            <m:t>⊗</m:t>
                          </m:r>
                          <m:r>
                            <a:rPr lang="en-US" altLang="ko-KR" sz="1600" i="1">
                              <a:latin typeface="Cambria Math" panose="02040503050406030204" pitchFamily="18" charset="0"/>
                            </a:rPr>
                            <m:t>𝑆𝑊𝐴𝑃</m:t>
                          </m:r>
                        </m:e>
                      </m:d>
                      <m:r>
                        <a:rPr lang="en-US" altLang="ko-KR" sz="1600" b="0" i="1" smtClean="0">
                          <a:latin typeface="Cambria Math" panose="02040503050406030204" pitchFamily="18" charset="0"/>
                        </a:rPr>
                        <m:t>⋅(</m:t>
                      </m:r>
                      <m:r>
                        <a:rPr lang="en-US" altLang="ko-KR" sz="1600" b="0" i="1" smtClean="0">
                          <a:latin typeface="Cambria Math" panose="02040503050406030204" pitchFamily="18" charset="0"/>
                        </a:rPr>
                        <m:t>𝑆𝑊𝐴𝑃</m:t>
                      </m:r>
                      <m:r>
                        <a:rPr lang="en-US" altLang="ko-KR" sz="1600" b="0" i="1" smtClean="0">
                          <a:latin typeface="Cambria Math" panose="02040503050406030204" pitchFamily="18" charset="0"/>
                        </a:rPr>
                        <m:t>⊗</m:t>
                      </m:r>
                      <m:r>
                        <a:rPr lang="en-US" altLang="ko-KR" sz="1600" b="0" i="1" smtClean="0">
                          <a:latin typeface="Cambria Math" panose="02040503050406030204" pitchFamily="18" charset="0"/>
                        </a:rPr>
                        <m:t>𝐼</m:t>
                      </m:r>
                      <m:r>
                        <a:rPr lang="en-US" altLang="ko-KR" sz="1600" b="0" i="1" smtClean="0">
                          <a:latin typeface="Cambria Math" panose="02040503050406030204" pitchFamily="18" charset="0"/>
                        </a:rPr>
                        <m:t>)</m:t>
                      </m:r>
                    </m:oMath>
                  </m:oMathPara>
                </a14:m>
                <a:endParaRPr lang="en-US" sz="1600" dirty="0"/>
              </a:p>
            </p:txBody>
          </p:sp>
        </mc:Choice>
        <mc:Fallback xmlns="">
          <p:sp>
            <p:nvSpPr>
              <p:cNvPr id="91" name="Rectangle 10">
                <a:extLst>
                  <a:ext uri="{FF2B5EF4-FFF2-40B4-BE49-F238E27FC236}">
                    <a16:creationId xmlns:a16="http://schemas.microsoft.com/office/drawing/2014/main" id="{53ACE6CD-8D10-4730-5469-21FE42AEC36C}"/>
                  </a:ext>
                </a:extLst>
              </p:cNvPr>
              <p:cNvSpPr>
                <a:spLocks noRot="1" noChangeAspect="1" noMove="1" noResize="1" noEditPoints="1" noAdjustHandles="1" noChangeArrowheads="1" noChangeShapeType="1" noTextEdit="1"/>
              </p:cNvSpPr>
              <p:nvPr/>
            </p:nvSpPr>
            <p:spPr>
              <a:xfrm>
                <a:off x="5474185" y="4566498"/>
                <a:ext cx="7188405" cy="338554"/>
              </a:xfrm>
              <a:prstGeom prst="rect">
                <a:avLst/>
              </a:prstGeom>
              <a:blipFill>
                <a:blip r:embed="rId16"/>
                <a:stretch>
                  <a:fillRect b="-12500"/>
                </a:stretch>
              </a:blipFill>
            </p:spPr>
            <p:txBody>
              <a:bodyPr/>
              <a:lstStyle/>
              <a:p>
                <a:r>
                  <a:rPr lang="ko-KR" altLang="en-US">
                    <a:noFill/>
                  </a:rPr>
                  <a:t> </a:t>
                </a:r>
              </a:p>
            </p:txBody>
          </p:sp>
        </mc:Fallback>
      </mc:AlternateContent>
      <p:cxnSp>
        <p:nvCxnSpPr>
          <p:cNvPr id="92" name="Straight Connector 45">
            <a:extLst>
              <a:ext uri="{FF2B5EF4-FFF2-40B4-BE49-F238E27FC236}">
                <a16:creationId xmlns:a16="http://schemas.microsoft.com/office/drawing/2014/main" id="{E95E7823-476B-6B69-D9AB-251CD032614F}"/>
              </a:ext>
            </a:extLst>
          </p:cNvPr>
          <p:cNvCxnSpPr>
            <a:cxnSpLocks/>
          </p:cNvCxnSpPr>
          <p:nvPr/>
        </p:nvCxnSpPr>
        <p:spPr>
          <a:xfrm>
            <a:off x="10477328" y="2974807"/>
            <a:ext cx="887866" cy="371631"/>
          </a:xfrm>
          <a:prstGeom prst="line">
            <a:avLst/>
          </a:prstGeom>
          <a:ln w="38100"/>
        </p:spPr>
        <p:style>
          <a:lnRef idx="1">
            <a:schemeClr val="accent1"/>
          </a:lnRef>
          <a:fillRef idx="0">
            <a:schemeClr val="accent1"/>
          </a:fillRef>
          <a:effectRef idx="0">
            <a:schemeClr val="accent1"/>
          </a:effectRef>
          <a:fontRef idx="minor">
            <a:schemeClr val="tx1"/>
          </a:fontRef>
        </p:style>
      </p:cxnSp>
      <p:sp>
        <p:nvSpPr>
          <p:cNvPr id="97" name="TextBox 96">
            <a:extLst>
              <a:ext uri="{FF2B5EF4-FFF2-40B4-BE49-F238E27FC236}">
                <a16:creationId xmlns:a16="http://schemas.microsoft.com/office/drawing/2014/main" id="{389549D6-D926-E6C4-939B-3F5B5233FE7A}"/>
              </a:ext>
            </a:extLst>
          </p:cNvPr>
          <p:cNvSpPr txBox="1"/>
          <p:nvPr/>
        </p:nvSpPr>
        <p:spPr>
          <a:xfrm>
            <a:off x="10282233" y="2336022"/>
            <a:ext cx="1651331" cy="307777"/>
          </a:xfrm>
          <a:prstGeom prst="rect">
            <a:avLst/>
          </a:prstGeom>
          <a:noFill/>
        </p:spPr>
        <p:txBody>
          <a:bodyPr wrap="square" rtlCol="0">
            <a:spAutoFit/>
          </a:bodyPr>
          <a:lstStyle/>
          <a:p>
            <a:r>
              <a:rPr lang="en-US" sz="1400" dirty="0" smtClean="0"/>
              <a:t>SWAP </a:t>
            </a:r>
            <a:r>
              <a:rPr lang="en-US" sz="1400" dirty="0"/>
              <a:t>gate</a:t>
            </a:r>
          </a:p>
        </p:txBody>
      </p:sp>
      <p:sp>
        <p:nvSpPr>
          <p:cNvPr id="98" name="TextBox 97">
            <a:extLst>
              <a:ext uri="{FF2B5EF4-FFF2-40B4-BE49-F238E27FC236}">
                <a16:creationId xmlns:a16="http://schemas.microsoft.com/office/drawing/2014/main" id="{4A1150F2-6D78-71A7-81BC-966916C94FF7}"/>
              </a:ext>
            </a:extLst>
          </p:cNvPr>
          <p:cNvSpPr txBox="1"/>
          <p:nvPr/>
        </p:nvSpPr>
        <p:spPr>
          <a:xfrm>
            <a:off x="10041835" y="2816225"/>
            <a:ext cx="660041" cy="646331"/>
          </a:xfrm>
          <a:prstGeom prst="rect">
            <a:avLst/>
          </a:prstGeom>
          <a:noFill/>
        </p:spPr>
        <p:txBody>
          <a:bodyPr wrap="square" rtlCol="0">
            <a:spAutoFit/>
          </a:bodyPr>
          <a:lstStyle/>
          <a:p>
            <a:r>
              <a:rPr lang="en-US" dirty="0" smtClean="0"/>
              <a:t>a</a:t>
            </a:r>
          </a:p>
          <a:p>
            <a:r>
              <a:rPr lang="en-US" dirty="0"/>
              <a:t>b</a:t>
            </a:r>
          </a:p>
        </p:txBody>
      </p:sp>
      <p:sp>
        <p:nvSpPr>
          <p:cNvPr id="108" name="TextBox 107">
            <a:extLst>
              <a:ext uri="{FF2B5EF4-FFF2-40B4-BE49-F238E27FC236}">
                <a16:creationId xmlns:a16="http://schemas.microsoft.com/office/drawing/2014/main" id="{4A1150F2-6D78-71A7-81BC-966916C94FF7}"/>
              </a:ext>
            </a:extLst>
          </p:cNvPr>
          <p:cNvSpPr txBox="1"/>
          <p:nvPr/>
        </p:nvSpPr>
        <p:spPr>
          <a:xfrm>
            <a:off x="11464899" y="2819753"/>
            <a:ext cx="660041" cy="646331"/>
          </a:xfrm>
          <a:prstGeom prst="rect">
            <a:avLst/>
          </a:prstGeom>
          <a:noFill/>
        </p:spPr>
        <p:txBody>
          <a:bodyPr wrap="square" rtlCol="0">
            <a:spAutoFit/>
          </a:bodyPr>
          <a:lstStyle/>
          <a:p>
            <a:r>
              <a:rPr lang="en-US" dirty="0"/>
              <a:t>b</a:t>
            </a:r>
            <a:endParaRPr lang="en-US" dirty="0" smtClean="0"/>
          </a:p>
          <a:p>
            <a:r>
              <a:rPr lang="en-US" dirty="0" smtClean="0"/>
              <a:t>a</a:t>
            </a:r>
            <a:endParaRPr lang="en-US" dirty="0"/>
          </a:p>
        </p:txBody>
      </p:sp>
      <p:cxnSp>
        <p:nvCxnSpPr>
          <p:cNvPr id="109" name="Straight Connector 46">
            <a:extLst>
              <a:ext uri="{FF2B5EF4-FFF2-40B4-BE49-F238E27FC236}">
                <a16:creationId xmlns:a16="http://schemas.microsoft.com/office/drawing/2014/main" id="{0B6723A4-C950-915E-A495-C56DD524D533}"/>
              </a:ext>
            </a:extLst>
          </p:cNvPr>
          <p:cNvCxnSpPr>
            <a:cxnSpLocks/>
          </p:cNvCxnSpPr>
          <p:nvPr/>
        </p:nvCxnSpPr>
        <p:spPr>
          <a:xfrm flipV="1">
            <a:off x="10477328" y="2974807"/>
            <a:ext cx="876472" cy="392511"/>
          </a:xfrm>
          <a:prstGeom prst="line">
            <a:avLst/>
          </a:prstGeom>
          <a:ln w="38100"/>
        </p:spPr>
        <p:style>
          <a:lnRef idx="1">
            <a:schemeClr val="accent1"/>
          </a:lnRef>
          <a:fillRef idx="0">
            <a:schemeClr val="accent1"/>
          </a:fillRef>
          <a:effectRef idx="0">
            <a:schemeClr val="accent1"/>
          </a:effectRef>
          <a:fontRef idx="minor">
            <a:schemeClr val="tx1"/>
          </a:fontRef>
        </p:style>
      </p:cxnSp>
      <p:cxnSp>
        <p:nvCxnSpPr>
          <p:cNvPr id="110" name="Straight Connector 3">
            <a:extLst>
              <a:ext uri="{FF2B5EF4-FFF2-40B4-BE49-F238E27FC236}">
                <a16:creationId xmlns:a16="http://schemas.microsoft.com/office/drawing/2014/main" id="{B91E78E4-542E-3BF9-60EB-0A75C5E77BF2}"/>
              </a:ext>
            </a:extLst>
          </p:cNvPr>
          <p:cNvCxnSpPr>
            <a:cxnSpLocks/>
          </p:cNvCxnSpPr>
          <p:nvPr/>
        </p:nvCxnSpPr>
        <p:spPr>
          <a:xfrm>
            <a:off x="1621931" y="2652061"/>
            <a:ext cx="3881437" cy="0"/>
          </a:xfrm>
          <a:prstGeom prst="line">
            <a:avLst/>
          </a:prstGeom>
          <a:ln w="38100"/>
        </p:spPr>
        <p:style>
          <a:lnRef idx="1">
            <a:schemeClr val="accent1"/>
          </a:lnRef>
          <a:fillRef idx="0">
            <a:schemeClr val="accent1"/>
          </a:fillRef>
          <a:effectRef idx="0">
            <a:schemeClr val="accent1"/>
          </a:effectRef>
          <a:fontRef idx="minor">
            <a:schemeClr val="tx1"/>
          </a:fontRef>
        </p:style>
      </p:cxnSp>
      <p:cxnSp>
        <p:nvCxnSpPr>
          <p:cNvPr id="111" name="Straight Connector 4">
            <a:extLst>
              <a:ext uri="{FF2B5EF4-FFF2-40B4-BE49-F238E27FC236}">
                <a16:creationId xmlns:a16="http://schemas.microsoft.com/office/drawing/2014/main" id="{978AB706-375B-47F7-7B59-E9A1BCEE51D6}"/>
              </a:ext>
            </a:extLst>
          </p:cNvPr>
          <p:cNvCxnSpPr>
            <a:cxnSpLocks/>
          </p:cNvCxnSpPr>
          <p:nvPr/>
        </p:nvCxnSpPr>
        <p:spPr>
          <a:xfrm>
            <a:off x="1621931" y="3035439"/>
            <a:ext cx="3881437" cy="0"/>
          </a:xfrm>
          <a:prstGeom prst="line">
            <a:avLst/>
          </a:prstGeom>
          <a:ln w="38100"/>
        </p:spPr>
        <p:style>
          <a:lnRef idx="1">
            <a:schemeClr val="accent1"/>
          </a:lnRef>
          <a:fillRef idx="0">
            <a:schemeClr val="accent1"/>
          </a:fillRef>
          <a:effectRef idx="0">
            <a:schemeClr val="accent1"/>
          </a:effectRef>
          <a:fontRef idx="minor">
            <a:schemeClr val="tx1"/>
          </a:fontRef>
        </p:style>
      </p:cxnSp>
      <p:cxnSp>
        <p:nvCxnSpPr>
          <p:cNvPr id="112" name="Straight Connector 34">
            <a:extLst>
              <a:ext uri="{FF2B5EF4-FFF2-40B4-BE49-F238E27FC236}">
                <a16:creationId xmlns:a16="http://schemas.microsoft.com/office/drawing/2014/main" id="{1E5F54C2-59F0-E7DA-012B-2A93BD4DC83D}"/>
              </a:ext>
            </a:extLst>
          </p:cNvPr>
          <p:cNvCxnSpPr>
            <a:cxnSpLocks/>
            <a:endCxn id="113" idx="0"/>
          </p:cNvCxnSpPr>
          <p:nvPr/>
        </p:nvCxnSpPr>
        <p:spPr>
          <a:xfrm flipV="1">
            <a:off x="3840911" y="2546115"/>
            <a:ext cx="0" cy="978649"/>
          </a:xfrm>
          <a:prstGeom prst="line">
            <a:avLst/>
          </a:prstGeom>
          <a:ln w="38100"/>
        </p:spPr>
        <p:style>
          <a:lnRef idx="1">
            <a:schemeClr val="accent1"/>
          </a:lnRef>
          <a:fillRef idx="0">
            <a:schemeClr val="accent1"/>
          </a:fillRef>
          <a:effectRef idx="0">
            <a:schemeClr val="accent1"/>
          </a:effectRef>
          <a:fontRef idx="minor">
            <a:schemeClr val="tx1"/>
          </a:fontRef>
        </p:style>
      </p:cxnSp>
      <p:sp>
        <p:nvSpPr>
          <p:cNvPr id="113" name="Oval 36">
            <a:extLst>
              <a:ext uri="{FF2B5EF4-FFF2-40B4-BE49-F238E27FC236}">
                <a16:creationId xmlns:a16="http://schemas.microsoft.com/office/drawing/2014/main" id="{9BB2BAD3-82D3-E0A2-EE4B-0EDC31F91CAF}"/>
              </a:ext>
            </a:extLst>
          </p:cNvPr>
          <p:cNvSpPr/>
          <p:nvPr/>
        </p:nvSpPr>
        <p:spPr>
          <a:xfrm>
            <a:off x="3760648" y="2546115"/>
            <a:ext cx="160526" cy="203487"/>
          </a:xfrm>
          <a:prstGeom prst="ellipse">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119" name="Straight Connector 3">
            <a:extLst>
              <a:ext uri="{FF2B5EF4-FFF2-40B4-BE49-F238E27FC236}">
                <a16:creationId xmlns:a16="http://schemas.microsoft.com/office/drawing/2014/main" id="{B91E78E4-542E-3BF9-60EB-0A75C5E77BF2}"/>
              </a:ext>
            </a:extLst>
          </p:cNvPr>
          <p:cNvCxnSpPr>
            <a:cxnSpLocks/>
          </p:cNvCxnSpPr>
          <p:nvPr/>
        </p:nvCxnSpPr>
        <p:spPr>
          <a:xfrm>
            <a:off x="1693427" y="5463154"/>
            <a:ext cx="3881437" cy="0"/>
          </a:xfrm>
          <a:prstGeom prst="line">
            <a:avLst/>
          </a:prstGeom>
          <a:ln w="38100"/>
        </p:spPr>
        <p:style>
          <a:lnRef idx="1">
            <a:schemeClr val="accent1"/>
          </a:lnRef>
          <a:fillRef idx="0">
            <a:schemeClr val="accent1"/>
          </a:fillRef>
          <a:effectRef idx="0">
            <a:schemeClr val="accent1"/>
          </a:effectRef>
          <a:fontRef idx="minor">
            <a:schemeClr val="tx1"/>
          </a:fontRef>
        </p:style>
      </p:cxnSp>
      <p:cxnSp>
        <p:nvCxnSpPr>
          <p:cNvPr id="120" name="Straight Connector 4">
            <a:extLst>
              <a:ext uri="{FF2B5EF4-FFF2-40B4-BE49-F238E27FC236}">
                <a16:creationId xmlns:a16="http://schemas.microsoft.com/office/drawing/2014/main" id="{978AB706-375B-47F7-7B59-E9A1BCEE51D6}"/>
              </a:ext>
            </a:extLst>
          </p:cNvPr>
          <p:cNvCxnSpPr>
            <a:cxnSpLocks/>
          </p:cNvCxnSpPr>
          <p:nvPr/>
        </p:nvCxnSpPr>
        <p:spPr>
          <a:xfrm>
            <a:off x="1693427" y="5844155"/>
            <a:ext cx="3881437" cy="0"/>
          </a:xfrm>
          <a:prstGeom prst="line">
            <a:avLst/>
          </a:prstGeom>
          <a:ln w="38100"/>
        </p:spPr>
        <p:style>
          <a:lnRef idx="1">
            <a:schemeClr val="accent1"/>
          </a:lnRef>
          <a:fillRef idx="0">
            <a:schemeClr val="accent1"/>
          </a:fillRef>
          <a:effectRef idx="0">
            <a:schemeClr val="accent1"/>
          </a:effectRef>
          <a:fontRef idx="minor">
            <a:schemeClr val="tx1"/>
          </a:fontRef>
        </p:style>
      </p:cxnSp>
      <p:cxnSp>
        <p:nvCxnSpPr>
          <p:cNvPr id="121" name="Straight Connector 5">
            <a:extLst>
              <a:ext uri="{FF2B5EF4-FFF2-40B4-BE49-F238E27FC236}">
                <a16:creationId xmlns:a16="http://schemas.microsoft.com/office/drawing/2014/main" id="{BED5DF10-67D3-32D3-58D2-6D7F10D2B0CA}"/>
              </a:ext>
            </a:extLst>
          </p:cNvPr>
          <p:cNvCxnSpPr>
            <a:cxnSpLocks/>
          </p:cNvCxnSpPr>
          <p:nvPr/>
        </p:nvCxnSpPr>
        <p:spPr>
          <a:xfrm>
            <a:off x="1693427" y="6258492"/>
            <a:ext cx="3881437" cy="0"/>
          </a:xfrm>
          <a:prstGeom prst="line">
            <a:avLst/>
          </a:prstGeom>
          <a:ln w="38100"/>
        </p:spPr>
        <p:style>
          <a:lnRef idx="1">
            <a:schemeClr val="accent1"/>
          </a:lnRef>
          <a:fillRef idx="0">
            <a:schemeClr val="accent1"/>
          </a:fillRef>
          <a:effectRef idx="0">
            <a:schemeClr val="accent1"/>
          </a:effectRef>
          <a:fontRef idx="minor">
            <a:schemeClr val="tx1"/>
          </a:fontRef>
        </p:style>
      </p:cxnSp>
      <p:cxnSp>
        <p:nvCxnSpPr>
          <p:cNvPr id="128" name="Straight Connector 34">
            <a:extLst>
              <a:ext uri="{FF2B5EF4-FFF2-40B4-BE49-F238E27FC236}">
                <a16:creationId xmlns:a16="http://schemas.microsoft.com/office/drawing/2014/main" id="{1E5F54C2-59F0-E7DA-012B-2A93BD4DC83D}"/>
              </a:ext>
            </a:extLst>
          </p:cNvPr>
          <p:cNvCxnSpPr>
            <a:cxnSpLocks/>
            <a:stCxn id="129" idx="4"/>
            <a:endCxn id="130" idx="0"/>
          </p:cNvCxnSpPr>
          <p:nvPr/>
        </p:nvCxnSpPr>
        <p:spPr>
          <a:xfrm flipV="1">
            <a:off x="3912407" y="5357208"/>
            <a:ext cx="0" cy="978649"/>
          </a:xfrm>
          <a:prstGeom prst="line">
            <a:avLst/>
          </a:prstGeom>
          <a:ln w="38100"/>
        </p:spPr>
        <p:style>
          <a:lnRef idx="1">
            <a:schemeClr val="accent1"/>
          </a:lnRef>
          <a:fillRef idx="0">
            <a:schemeClr val="accent1"/>
          </a:fillRef>
          <a:effectRef idx="0">
            <a:schemeClr val="accent1"/>
          </a:effectRef>
          <a:fontRef idx="minor">
            <a:schemeClr val="tx1"/>
          </a:fontRef>
        </p:style>
      </p:cxnSp>
      <p:sp>
        <p:nvSpPr>
          <p:cNvPr id="129" name="Oval 35">
            <a:extLst>
              <a:ext uri="{FF2B5EF4-FFF2-40B4-BE49-F238E27FC236}">
                <a16:creationId xmlns:a16="http://schemas.microsoft.com/office/drawing/2014/main" id="{0A7BD3D2-2C4E-A320-4218-FFF72F065583}"/>
              </a:ext>
            </a:extLst>
          </p:cNvPr>
          <p:cNvSpPr/>
          <p:nvPr/>
        </p:nvSpPr>
        <p:spPr>
          <a:xfrm>
            <a:off x="3836906" y="6173465"/>
            <a:ext cx="151002" cy="162392"/>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0" name="Oval 36">
            <a:extLst>
              <a:ext uri="{FF2B5EF4-FFF2-40B4-BE49-F238E27FC236}">
                <a16:creationId xmlns:a16="http://schemas.microsoft.com/office/drawing/2014/main" id="{9BB2BAD3-82D3-E0A2-EE4B-0EDC31F91CAF}"/>
              </a:ext>
            </a:extLst>
          </p:cNvPr>
          <p:cNvSpPr/>
          <p:nvPr/>
        </p:nvSpPr>
        <p:spPr>
          <a:xfrm>
            <a:off x="3832144" y="5357208"/>
            <a:ext cx="160526" cy="203487"/>
          </a:xfrm>
          <a:prstGeom prst="ellipse">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138" name="Straight Connector 3">
            <a:extLst>
              <a:ext uri="{FF2B5EF4-FFF2-40B4-BE49-F238E27FC236}">
                <a16:creationId xmlns:a16="http://schemas.microsoft.com/office/drawing/2014/main" id="{B91E78E4-542E-3BF9-60EB-0A75C5E77BF2}"/>
              </a:ext>
            </a:extLst>
          </p:cNvPr>
          <p:cNvCxnSpPr>
            <a:cxnSpLocks/>
          </p:cNvCxnSpPr>
          <p:nvPr/>
        </p:nvCxnSpPr>
        <p:spPr>
          <a:xfrm>
            <a:off x="1693427" y="5459690"/>
            <a:ext cx="3881437" cy="0"/>
          </a:xfrm>
          <a:prstGeom prst="line">
            <a:avLst/>
          </a:prstGeom>
          <a:ln w="38100"/>
        </p:spPr>
        <p:style>
          <a:lnRef idx="1">
            <a:schemeClr val="accent1"/>
          </a:lnRef>
          <a:fillRef idx="0">
            <a:schemeClr val="accent1"/>
          </a:fillRef>
          <a:effectRef idx="0">
            <a:schemeClr val="accent1"/>
          </a:effectRef>
          <a:fontRef idx="minor">
            <a:schemeClr val="tx1"/>
          </a:fontRef>
        </p:style>
      </p:cxnSp>
      <p:cxnSp>
        <p:nvCxnSpPr>
          <p:cNvPr id="139" name="Straight Connector 4">
            <a:extLst>
              <a:ext uri="{FF2B5EF4-FFF2-40B4-BE49-F238E27FC236}">
                <a16:creationId xmlns:a16="http://schemas.microsoft.com/office/drawing/2014/main" id="{978AB706-375B-47F7-7B59-E9A1BCEE51D6}"/>
              </a:ext>
            </a:extLst>
          </p:cNvPr>
          <p:cNvCxnSpPr>
            <a:cxnSpLocks/>
          </p:cNvCxnSpPr>
          <p:nvPr/>
        </p:nvCxnSpPr>
        <p:spPr>
          <a:xfrm>
            <a:off x="1693427" y="5840691"/>
            <a:ext cx="3881437" cy="0"/>
          </a:xfrm>
          <a:prstGeom prst="line">
            <a:avLst/>
          </a:prstGeom>
          <a:ln w="38100"/>
        </p:spPr>
        <p:style>
          <a:lnRef idx="1">
            <a:schemeClr val="accent1"/>
          </a:lnRef>
          <a:fillRef idx="0">
            <a:schemeClr val="accent1"/>
          </a:fillRef>
          <a:effectRef idx="0">
            <a:schemeClr val="accent1"/>
          </a:effectRef>
          <a:fontRef idx="minor">
            <a:schemeClr val="tx1"/>
          </a:fontRef>
        </p:style>
      </p:cxnSp>
      <p:cxnSp>
        <p:nvCxnSpPr>
          <p:cNvPr id="140" name="Straight Connector 34">
            <a:extLst>
              <a:ext uri="{FF2B5EF4-FFF2-40B4-BE49-F238E27FC236}">
                <a16:creationId xmlns:a16="http://schemas.microsoft.com/office/drawing/2014/main" id="{1E5F54C2-59F0-E7DA-012B-2A93BD4DC83D}"/>
              </a:ext>
            </a:extLst>
          </p:cNvPr>
          <p:cNvCxnSpPr>
            <a:cxnSpLocks/>
            <a:endCxn id="141" idx="0"/>
          </p:cNvCxnSpPr>
          <p:nvPr/>
        </p:nvCxnSpPr>
        <p:spPr>
          <a:xfrm flipV="1">
            <a:off x="3912407" y="5353744"/>
            <a:ext cx="0" cy="978649"/>
          </a:xfrm>
          <a:prstGeom prst="line">
            <a:avLst/>
          </a:prstGeom>
          <a:ln w="38100"/>
        </p:spPr>
        <p:style>
          <a:lnRef idx="1">
            <a:schemeClr val="accent1"/>
          </a:lnRef>
          <a:fillRef idx="0">
            <a:schemeClr val="accent1"/>
          </a:fillRef>
          <a:effectRef idx="0">
            <a:schemeClr val="accent1"/>
          </a:effectRef>
          <a:fontRef idx="minor">
            <a:schemeClr val="tx1"/>
          </a:fontRef>
        </p:style>
      </p:cxnSp>
      <p:sp>
        <p:nvSpPr>
          <p:cNvPr id="141" name="Oval 36">
            <a:extLst>
              <a:ext uri="{FF2B5EF4-FFF2-40B4-BE49-F238E27FC236}">
                <a16:creationId xmlns:a16="http://schemas.microsoft.com/office/drawing/2014/main" id="{9BB2BAD3-82D3-E0A2-EE4B-0EDC31F91CAF}"/>
              </a:ext>
            </a:extLst>
          </p:cNvPr>
          <p:cNvSpPr/>
          <p:nvPr/>
        </p:nvSpPr>
        <p:spPr>
          <a:xfrm>
            <a:off x="3832144" y="5353744"/>
            <a:ext cx="160526" cy="203487"/>
          </a:xfrm>
          <a:prstGeom prst="ellipse">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142" name="Straight Connector 3">
            <a:extLst>
              <a:ext uri="{FF2B5EF4-FFF2-40B4-BE49-F238E27FC236}">
                <a16:creationId xmlns:a16="http://schemas.microsoft.com/office/drawing/2014/main" id="{B91E78E4-542E-3BF9-60EB-0A75C5E77BF2}"/>
              </a:ext>
            </a:extLst>
          </p:cNvPr>
          <p:cNvCxnSpPr>
            <a:cxnSpLocks/>
          </p:cNvCxnSpPr>
          <p:nvPr/>
        </p:nvCxnSpPr>
        <p:spPr>
          <a:xfrm>
            <a:off x="7631982" y="5414204"/>
            <a:ext cx="3042832" cy="0"/>
          </a:xfrm>
          <a:prstGeom prst="line">
            <a:avLst/>
          </a:prstGeom>
          <a:ln w="38100"/>
        </p:spPr>
        <p:style>
          <a:lnRef idx="1">
            <a:schemeClr val="accent1"/>
          </a:lnRef>
          <a:fillRef idx="0">
            <a:schemeClr val="accent1"/>
          </a:fillRef>
          <a:effectRef idx="0">
            <a:schemeClr val="accent1"/>
          </a:effectRef>
          <a:fontRef idx="minor">
            <a:schemeClr val="tx1"/>
          </a:fontRef>
        </p:style>
      </p:cxnSp>
      <p:cxnSp>
        <p:nvCxnSpPr>
          <p:cNvPr id="143" name="Straight Connector 4">
            <a:extLst>
              <a:ext uri="{FF2B5EF4-FFF2-40B4-BE49-F238E27FC236}">
                <a16:creationId xmlns:a16="http://schemas.microsoft.com/office/drawing/2014/main" id="{978AB706-375B-47F7-7B59-E9A1BCEE51D6}"/>
              </a:ext>
            </a:extLst>
          </p:cNvPr>
          <p:cNvCxnSpPr>
            <a:cxnSpLocks/>
          </p:cNvCxnSpPr>
          <p:nvPr/>
        </p:nvCxnSpPr>
        <p:spPr>
          <a:xfrm>
            <a:off x="8493944" y="5796668"/>
            <a:ext cx="1304398" cy="0"/>
          </a:xfrm>
          <a:prstGeom prst="line">
            <a:avLst/>
          </a:prstGeom>
          <a:ln w="38100"/>
        </p:spPr>
        <p:style>
          <a:lnRef idx="1">
            <a:schemeClr val="accent1"/>
          </a:lnRef>
          <a:fillRef idx="0">
            <a:schemeClr val="accent1"/>
          </a:fillRef>
          <a:effectRef idx="0">
            <a:schemeClr val="accent1"/>
          </a:effectRef>
          <a:fontRef idx="minor">
            <a:schemeClr val="tx1"/>
          </a:fontRef>
        </p:style>
      </p:cxnSp>
      <p:cxnSp>
        <p:nvCxnSpPr>
          <p:cNvPr id="144" name="Straight Connector 5">
            <a:extLst>
              <a:ext uri="{FF2B5EF4-FFF2-40B4-BE49-F238E27FC236}">
                <a16:creationId xmlns:a16="http://schemas.microsoft.com/office/drawing/2014/main" id="{BED5DF10-67D3-32D3-58D2-6D7F10D2B0CA}"/>
              </a:ext>
            </a:extLst>
          </p:cNvPr>
          <p:cNvCxnSpPr>
            <a:cxnSpLocks/>
          </p:cNvCxnSpPr>
          <p:nvPr/>
        </p:nvCxnSpPr>
        <p:spPr>
          <a:xfrm>
            <a:off x="8493944" y="6211005"/>
            <a:ext cx="1304398" cy="0"/>
          </a:xfrm>
          <a:prstGeom prst="line">
            <a:avLst/>
          </a:prstGeom>
          <a:ln w="38100"/>
        </p:spPr>
        <p:style>
          <a:lnRef idx="1">
            <a:schemeClr val="accent1"/>
          </a:lnRef>
          <a:fillRef idx="0">
            <a:schemeClr val="accent1"/>
          </a:fillRef>
          <a:effectRef idx="0">
            <a:schemeClr val="accent1"/>
          </a:effectRef>
          <a:fontRef idx="minor">
            <a:schemeClr val="tx1"/>
          </a:fontRef>
        </p:style>
      </p:cxnSp>
      <p:sp>
        <p:nvSpPr>
          <p:cNvPr id="146" name="Oval 35">
            <a:extLst>
              <a:ext uri="{FF2B5EF4-FFF2-40B4-BE49-F238E27FC236}">
                <a16:creationId xmlns:a16="http://schemas.microsoft.com/office/drawing/2014/main" id="{0A7BD3D2-2C4E-A320-4218-FFF72F065583}"/>
              </a:ext>
            </a:extLst>
          </p:cNvPr>
          <p:cNvSpPr/>
          <p:nvPr/>
        </p:nvSpPr>
        <p:spPr>
          <a:xfrm>
            <a:off x="9016500" y="5741513"/>
            <a:ext cx="151002" cy="162392"/>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150" name="Straight Connector 34">
            <a:extLst>
              <a:ext uri="{FF2B5EF4-FFF2-40B4-BE49-F238E27FC236}">
                <a16:creationId xmlns:a16="http://schemas.microsoft.com/office/drawing/2014/main" id="{1E5F54C2-59F0-E7DA-012B-2A93BD4DC83D}"/>
              </a:ext>
            </a:extLst>
          </p:cNvPr>
          <p:cNvCxnSpPr>
            <a:cxnSpLocks/>
            <a:stCxn id="151" idx="4"/>
          </p:cNvCxnSpPr>
          <p:nvPr/>
        </p:nvCxnSpPr>
        <p:spPr>
          <a:xfrm flipV="1">
            <a:off x="9068388" y="5793205"/>
            <a:ext cx="14411" cy="536260"/>
          </a:xfrm>
          <a:prstGeom prst="line">
            <a:avLst/>
          </a:prstGeom>
          <a:ln w="38100"/>
        </p:spPr>
        <p:style>
          <a:lnRef idx="1">
            <a:schemeClr val="accent1"/>
          </a:lnRef>
          <a:fillRef idx="0">
            <a:schemeClr val="accent1"/>
          </a:fillRef>
          <a:effectRef idx="0">
            <a:schemeClr val="accent1"/>
          </a:effectRef>
          <a:fontRef idx="minor">
            <a:schemeClr val="tx1"/>
          </a:fontRef>
        </p:style>
      </p:cxnSp>
      <p:sp>
        <p:nvSpPr>
          <p:cNvPr id="151" name="Oval 36">
            <a:extLst>
              <a:ext uri="{FF2B5EF4-FFF2-40B4-BE49-F238E27FC236}">
                <a16:creationId xmlns:a16="http://schemas.microsoft.com/office/drawing/2014/main" id="{9BB2BAD3-82D3-E0A2-EE4B-0EDC31F91CAF}"/>
              </a:ext>
            </a:extLst>
          </p:cNvPr>
          <p:cNvSpPr/>
          <p:nvPr/>
        </p:nvSpPr>
        <p:spPr>
          <a:xfrm>
            <a:off x="8988125" y="6125978"/>
            <a:ext cx="160526" cy="203487"/>
          </a:xfrm>
          <a:prstGeom prst="ellipse">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152" name="Straight Connector 45">
            <a:extLst>
              <a:ext uri="{FF2B5EF4-FFF2-40B4-BE49-F238E27FC236}">
                <a16:creationId xmlns:a16="http://schemas.microsoft.com/office/drawing/2014/main" id="{E95E7823-476B-6B69-D9AB-251CD032614F}"/>
              </a:ext>
            </a:extLst>
          </p:cNvPr>
          <p:cNvCxnSpPr>
            <a:cxnSpLocks/>
          </p:cNvCxnSpPr>
          <p:nvPr/>
        </p:nvCxnSpPr>
        <p:spPr>
          <a:xfrm>
            <a:off x="9798342" y="5793204"/>
            <a:ext cx="887866" cy="371631"/>
          </a:xfrm>
          <a:prstGeom prst="line">
            <a:avLst/>
          </a:prstGeom>
          <a:ln w="38100"/>
        </p:spPr>
        <p:style>
          <a:lnRef idx="1">
            <a:schemeClr val="accent1"/>
          </a:lnRef>
          <a:fillRef idx="0">
            <a:schemeClr val="accent1"/>
          </a:fillRef>
          <a:effectRef idx="0">
            <a:schemeClr val="accent1"/>
          </a:effectRef>
          <a:fontRef idx="minor">
            <a:schemeClr val="tx1"/>
          </a:fontRef>
        </p:style>
      </p:cxnSp>
      <p:cxnSp>
        <p:nvCxnSpPr>
          <p:cNvPr id="153" name="Straight Connector 46">
            <a:extLst>
              <a:ext uri="{FF2B5EF4-FFF2-40B4-BE49-F238E27FC236}">
                <a16:creationId xmlns:a16="http://schemas.microsoft.com/office/drawing/2014/main" id="{0B6723A4-C950-915E-A495-C56DD524D533}"/>
              </a:ext>
            </a:extLst>
          </p:cNvPr>
          <p:cNvCxnSpPr>
            <a:cxnSpLocks/>
          </p:cNvCxnSpPr>
          <p:nvPr/>
        </p:nvCxnSpPr>
        <p:spPr>
          <a:xfrm flipV="1">
            <a:off x="9798342" y="5809982"/>
            <a:ext cx="876472" cy="392511"/>
          </a:xfrm>
          <a:prstGeom prst="line">
            <a:avLst/>
          </a:prstGeom>
          <a:ln w="38100"/>
        </p:spPr>
        <p:style>
          <a:lnRef idx="1">
            <a:schemeClr val="accent1"/>
          </a:lnRef>
          <a:fillRef idx="0">
            <a:schemeClr val="accent1"/>
          </a:fillRef>
          <a:effectRef idx="0">
            <a:schemeClr val="accent1"/>
          </a:effectRef>
          <a:fontRef idx="minor">
            <a:schemeClr val="tx1"/>
          </a:fontRef>
        </p:style>
      </p:cxnSp>
      <p:cxnSp>
        <p:nvCxnSpPr>
          <p:cNvPr id="156" name="Straight Connector 45">
            <a:extLst>
              <a:ext uri="{FF2B5EF4-FFF2-40B4-BE49-F238E27FC236}">
                <a16:creationId xmlns:a16="http://schemas.microsoft.com/office/drawing/2014/main" id="{E95E7823-476B-6B69-D9AB-251CD032614F}"/>
              </a:ext>
            </a:extLst>
          </p:cNvPr>
          <p:cNvCxnSpPr>
            <a:cxnSpLocks/>
          </p:cNvCxnSpPr>
          <p:nvPr/>
        </p:nvCxnSpPr>
        <p:spPr>
          <a:xfrm>
            <a:off x="10674508" y="5414204"/>
            <a:ext cx="887866" cy="371631"/>
          </a:xfrm>
          <a:prstGeom prst="line">
            <a:avLst/>
          </a:prstGeom>
          <a:ln w="38100"/>
        </p:spPr>
        <p:style>
          <a:lnRef idx="1">
            <a:schemeClr val="accent1"/>
          </a:lnRef>
          <a:fillRef idx="0">
            <a:schemeClr val="accent1"/>
          </a:fillRef>
          <a:effectRef idx="0">
            <a:schemeClr val="accent1"/>
          </a:effectRef>
          <a:fontRef idx="minor">
            <a:schemeClr val="tx1"/>
          </a:fontRef>
        </p:style>
      </p:cxnSp>
      <p:cxnSp>
        <p:nvCxnSpPr>
          <p:cNvPr id="157" name="Straight Connector 46">
            <a:extLst>
              <a:ext uri="{FF2B5EF4-FFF2-40B4-BE49-F238E27FC236}">
                <a16:creationId xmlns:a16="http://schemas.microsoft.com/office/drawing/2014/main" id="{0B6723A4-C950-915E-A495-C56DD524D533}"/>
              </a:ext>
            </a:extLst>
          </p:cNvPr>
          <p:cNvCxnSpPr>
            <a:cxnSpLocks/>
          </p:cNvCxnSpPr>
          <p:nvPr/>
        </p:nvCxnSpPr>
        <p:spPr>
          <a:xfrm flipV="1">
            <a:off x="10674508" y="5430982"/>
            <a:ext cx="876472" cy="392511"/>
          </a:xfrm>
          <a:prstGeom prst="line">
            <a:avLst/>
          </a:prstGeom>
          <a:ln w="38100"/>
        </p:spPr>
        <p:style>
          <a:lnRef idx="1">
            <a:schemeClr val="accent1"/>
          </a:lnRef>
          <a:fillRef idx="0">
            <a:schemeClr val="accent1"/>
          </a:fillRef>
          <a:effectRef idx="0">
            <a:schemeClr val="accent1"/>
          </a:effectRef>
          <a:fontRef idx="minor">
            <a:schemeClr val="tx1"/>
          </a:fontRef>
        </p:style>
      </p:cxnSp>
      <p:cxnSp>
        <p:nvCxnSpPr>
          <p:cNvPr id="158" name="Straight Connector 3">
            <a:extLst>
              <a:ext uri="{FF2B5EF4-FFF2-40B4-BE49-F238E27FC236}">
                <a16:creationId xmlns:a16="http://schemas.microsoft.com/office/drawing/2014/main" id="{B91E78E4-542E-3BF9-60EB-0A75C5E77BF2}"/>
              </a:ext>
            </a:extLst>
          </p:cNvPr>
          <p:cNvCxnSpPr>
            <a:cxnSpLocks/>
          </p:cNvCxnSpPr>
          <p:nvPr/>
        </p:nvCxnSpPr>
        <p:spPr>
          <a:xfrm>
            <a:off x="10674508" y="6164835"/>
            <a:ext cx="887866" cy="0"/>
          </a:xfrm>
          <a:prstGeom prst="line">
            <a:avLst/>
          </a:prstGeom>
          <a:ln w="38100"/>
        </p:spPr>
        <p:style>
          <a:lnRef idx="1">
            <a:schemeClr val="accent1"/>
          </a:lnRef>
          <a:fillRef idx="0">
            <a:schemeClr val="accent1"/>
          </a:fillRef>
          <a:effectRef idx="0">
            <a:schemeClr val="accent1"/>
          </a:effectRef>
          <a:fontRef idx="minor">
            <a:schemeClr val="tx1"/>
          </a:fontRef>
        </p:style>
      </p:cxnSp>
      <p:cxnSp>
        <p:nvCxnSpPr>
          <p:cNvPr id="159" name="Straight Connector 45">
            <a:extLst>
              <a:ext uri="{FF2B5EF4-FFF2-40B4-BE49-F238E27FC236}">
                <a16:creationId xmlns:a16="http://schemas.microsoft.com/office/drawing/2014/main" id="{E95E7823-476B-6B69-D9AB-251CD032614F}"/>
              </a:ext>
            </a:extLst>
          </p:cNvPr>
          <p:cNvCxnSpPr>
            <a:cxnSpLocks/>
          </p:cNvCxnSpPr>
          <p:nvPr/>
        </p:nvCxnSpPr>
        <p:spPr>
          <a:xfrm>
            <a:off x="7617472" y="5803162"/>
            <a:ext cx="876472" cy="406398"/>
          </a:xfrm>
          <a:prstGeom prst="line">
            <a:avLst/>
          </a:prstGeom>
          <a:ln w="38100"/>
        </p:spPr>
        <p:style>
          <a:lnRef idx="1">
            <a:schemeClr val="accent1"/>
          </a:lnRef>
          <a:fillRef idx="0">
            <a:schemeClr val="accent1"/>
          </a:fillRef>
          <a:effectRef idx="0">
            <a:schemeClr val="accent1"/>
          </a:effectRef>
          <a:fontRef idx="minor">
            <a:schemeClr val="tx1"/>
          </a:fontRef>
        </p:style>
      </p:cxnSp>
      <p:cxnSp>
        <p:nvCxnSpPr>
          <p:cNvPr id="160" name="Straight Connector 46">
            <a:extLst>
              <a:ext uri="{FF2B5EF4-FFF2-40B4-BE49-F238E27FC236}">
                <a16:creationId xmlns:a16="http://schemas.microsoft.com/office/drawing/2014/main" id="{0B6723A4-C950-915E-A495-C56DD524D533}"/>
              </a:ext>
            </a:extLst>
          </p:cNvPr>
          <p:cNvCxnSpPr>
            <a:cxnSpLocks/>
          </p:cNvCxnSpPr>
          <p:nvPr/>
        </p:nvCxnSpPr>
        <p:spPr>
          <a:xfrm flipV="1">
            <a:off x="7617472" y="5809982"/>
            <a:ext cx="876472" cy="402470"/>
          </a:xfrm>
          <a:prstGeom prst="line">
            <a:avLst/>
          </a:prstGeom>
          <a:ln w="38100"/>
        </p:spPr>
        <p:style>
          <a:lnRef idx="1">
            <a:schemeClr val="accent1"/>
          </a:lnRef>
          <a:fillRef idx="0">
            <a:schemeClr val="accent1"/>
          </a:fillRef>
          <a:effectRef idx="0">
            <a:schemeClr val="accent1"/>
          </a:effectRef>
          <a:fontRef idx="minor">
            <a:schemeClr val="tx1"/>
          </a:fontRef>
        </p:style>
      </p:cxnSp>
      <p:cxnSp>
        <p:nvCxnSpPr>
          <p:cNvPr id="161" name="Straight Connector 45">
            <a:extLst>
              <a:ext uri="{FF2B5EF4-FFF2-40B4-BE49-F238E27FC236}">
                <a16:creationId xmlns:a16="http://schemas.microsoft.com/office/drawing/2014/main" id="{E95E7823-476B-6B69-D9AB-251CD032614F}"/>
              </a:ext>
            </a:extLst>
          </p:cNvPr>
          <p:cNvCxnSpPr>
            <a:cxnSpLocks/>
          </p:cNvCxnSpPr>
          <p:nvPr/>
        </p:nvCxnSpPr>
        <p:spPr>
          <a:xfrm>
            <a:off x="6755510" y="5400692"/>
            <a:ext cx="876472" cy="406398"/>
          </a:xfrm>
          <a:prstGeom prst="line">
            <a:avLst/>
          </a:prstGeom>
          <a:ln w="38100"/>
        </p:spPr>
        <p:style>
          <a:lnRef idx="1">
            <a:schemeClr val="accent1"/>
          </a:lnRef>
          <a:fillRef idx="0">
            <a:schemeClr val="accent1"/>
          </a:fillRef>
          <a:effectRef idx="0">
            <a:schemeClr val="accent1"/>
          </a:effectRef>
          <a:fontRef idx="minor">
            <a:schemeClr val="tx1"/>
          </a:fontRef>
        </p:style>
      </p:cxnSp>
      <p:cxnSp>
        <p:nvCxnSpPr>
          <p:cNvPr id="162" name="Straight Connector 46">
            <a:extLst>
              <a:ext uri="{FF2B5EF4-FFF2-40B4-BE49-F238E27FC236}">
                <a16:creationId xmlns:a16="http://schemas.microsoft.com/office/drawing/2014/main" id="{0B6723A4-C950-915E-A495-C56DD524D533}"/>
              </a:ext>
            </a:extLst>
          </p:cNvPr>
          <p:cNvCxnSpPr>
            <a:cxnSpLocks/>
          </p:cNvCxnSpPr>
          <p:nvPr/>
        </p:nvCxnSpPr>
        <p:spPr>
          <a:xfrm flipV="1">
            <a:off x="6755510" y="5407512"/>
            <a:ext cx="876472" cy="402470"/>
          </a:xfrm>
          <a:prstGeom prst="line">
            <a:avLst/>
          </a:prstGeom>
          <a:ln w="38100"/>
        </p:spPr>
        <p:style>
          <a:lnRef idx="1">
            <a:schemeClr val="accent1"/>
          </a:lnRef>
          <a:fillRef idx="0">
            <a:schemeClr val="accent1"/>
          </a:fillRef>
          <a:effectRef idx="0">
            <a:schemeClr val="accent1"/>
          </a:effectRef>
          <a:fontRef idx="minor">
            <a:schemeClr val="tx1"/>
          </a:fontRef>
        </p:style>
      </p:cxnSp>
      <p:cxnSp>
        <p:nvCxnSpPr>
          <p:cNvPr id="163" name="Straight Connector 4">
            <a:extLst>
              <a:ext uri="{FF2B5EF4-FFF2-40B4-BE49-F238E27FC236}">
                <a16:creationId xmlns:a16="http://schemas.microsoft.com/office/drawing/2014/main" id="{978AB706-375B-47F7-7B59-E9A1BCEE51D6}"/>
              </a:ext>
            </a:extLst>
          </p:cNvPr>
          <p:cNvCxnSpPr>
            <a:cxnSpLocks/>
          </p:cNvCxnSpPr>
          <p:nvPr/>
        </p:nvCxnSpPr>
        <p:spPr>
          <a:xfrm>
            <a:off x="6755510" y="6209560"/>
            <a:ext cx="876472" cy="0"/>
          </a:xfrm>
          <a:prstGeom prst="line">
            <a:avLst/>
          </a:prstGeom>
          <a:ln w="38100"/>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61" name="직사각형 60"/>
              <p:cNvSpPr/>
              <p:nvPr/>
            </p:nvSpPr>
            <p:spPr>
              <a:xfrm>
                <a:off x="5943947" y="5627237"/>
                <a:ext cx="439544" cy="369332"/>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r>
                        <a:rPr lang="en-US" altLang="ko-KR" i="1">
                          <a:latin typeface="Cambria Math" panose="02040503050406030204" pitchFamily="18" charset="0"/>
                          <a:ea typeface="Cambria Math" panose="02040503050406030204" pitchFamily="18" charset="0"/>
                        </a:rPr>
                        <m:t>=</m:t>
                      </m:r>
                    </m:oMath>
                  </m:oMathPara>
                </a14:m>
                <a:endParaRPr lang="ko-KR" altLang="en-US" dirty="0"/>
              </a:p>
            </p:txBody>
          </p:sp>
        </mc:Choice>
        <mc:Fallback xmlns="">
          <p:sp>
            <p:nvSpPr>
              <p:cNvPr id="61" name="직사각형 60"/>
              <p:cNvSpPr>
                <a:spLocks noRot="1" noChangeAspect="1" noMove="1" noResize="1" noEditPoints="1" noAdjustHandles="1" noChangeArrowheads="1" noChangeShapeType="1" noTextEdit="1"/>
              </p:cNvSpPr>
              <p:nvPr/>
            </p:nvSpPr>
            <p:spPr>
              <a:xfrm>
                <a:off x="5943947" y="5627237"/>
                <a:ext cx="439544" cy="369332"/>
              </a:xfrm>
              <a:prstGeom prst="rect">
                <a:avLst/>
              </a:prstGeom>
              <a:blipFill>
                <a:blip r:embed="rId17"/>
                <a:stretch>
                  <a:fillRect/>
                </a:stretch>
              </a:blipFill>
            </p:spPr>
            <p:txBody>
              <a:bodyPr/>
              <a:lstStyle/>
              <a:p>
                <a:r>
                  <a:rPr lang="ko-KR" altLang="en-US">
                    <a:noFill/>
                  </a:rPr>
                  <a:t> </a:t>
                </a:r>
              </a:p>
            </p:txBody>
          </p:sp>
        </mc:Fallback>
      </mc:AlternateContent>
      <p:sp>
        <p:nvSpPr>
          <p:cNvPr id="41" name="Rectangle 40">
            <a:extLst>
              <a:ext uri="{FF2B5EF4-FFF2-40B4-BE49-F238E27FC236}">
                <a16:creationId xmlns:a16="http://schemas.microsoft.com/office/drawing/2014/main" id="{855B4E78-2745-4AD9-372E-3BDB7C68F3CD}"/>
              </a:ext>
            </a:extLst>
          </p:cNvPr>
          <p:cNvSpPr/>
          <p:nvPr/>
        </p:nvSpPr>
        <p:spPr>
          <a:xfrm>
            <a:off x="4579693" y="2855494"/>
            <a:ext cx="738439" cy="407162"/>
          </a:xfrm>
          <a:prstGeom prst="rect">
            <a:avLst/>
          </a:prstGeom>
          <a:solidFill>
            <a:schemeClr val="accent1">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mc:AlternateContent xmlns:mc="http://schemas.openxmlformats.org/markup-compatibility/2006" xmlns:a14="http://schemas.microsoft.com/office/drawing/2010/main">
        <mc:Choice Requires="a14">
          <p:sp>
            <p:nvSpPr>
              <p:cNvPr id="43" name="TextBox 42">
                <a:extLst>
                  <a:ext uri="{FF2B5EF4-FFF2-40B4-BE49-F238E27FC236}">
                    <a16:creationId xmlns:a16="http://schemas.microsoft.com/office/drawing/2014/main" id="{94CC8C66-2F36-D8FA-B277-877F19EFD2F7}"/>
                  </a:ext>
                </a:extLst>
              </p:cNvPr>
              <p:cNvSpPr txBox="1"/>
              <p:nvPr/>
            </p:nvSpPr>
            <p:spPr>
              <a:xfrm>
                <a:off x="4579694" y="2874363"/>
                <a:ext cx="262436" cy="369332"/>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r>
                        <a:rPr lang="en-US" b="0" i="1" smtClean="0">
                          <a:latin typeface="Cambria Math" panose="02040503050406030204" pitchFamily="18" charset="0"/>
                        </a:rPr>
                        <m:t>𝑋</m:t>
                      </m:r>
                    </m:oMath>
                  </m:oMathPara>
                </a14:m>
                <a:endParaRPr lang="en-US" dirty="0"/>
              </a:p>
            </p:txBody>
          </p:sp>
        </mc:Choice>
        <mc:Fallback xmlns="">
          <p:sp>
            <p:nvSpPr>
              <p:cNvPr id="43" name="TextBox 42">
                <a:extLst>
                  <a:ext uri="{FF2B5EF4-FFF2-40B4-BE49-F238E27FC236}">
                    <a16:creationId xmlns:a16="http://schemas.microsoft.com/office/drawing/2014/main" id="{94CC8C66-2F36-D8FA-B277-877F19EFD2F7}"/>
                  </a:ext>
                </a:extLst>
              </p:cNvPr>
              <p:cNvSpPr txBox="1">
                <a:spLocks noRot="1" noChangeAspect="1" noMove="1" noResize="1" noEditPoints="1" noAdjustHandles="1" noChangeArrowheads="1" noChangeShapeType="1" noTextEdit="1"/>
              </p:cNvSpPr>
              <p:nvPr/>
            </p:nvSpPr>
            <p:spPr>
              <a:xfrm>
                <a:off x="4579694" y="2874363"/>
                <a:ext cx="262436" cy="369332"/>
              </a:xfrm>
              <a:prstGeom prst="rect">
                <a:avLst/>
              </a:prstGeom>
              <a:blipFill>
                <a:blip r:embed="rId18"/>
                <a:stretch>
                  <a:fillRect r="-25581"/>
                </a:stretch>
              </a:blipFill>
            </p:spPr>
            <p:txBody>
              <a:bodyPr/>
              <a:lstStyle/>
              <a:p>
                <a:r>
                  <a:rPr lang="ko-KR" altLang="en-US">
                    <a:noFill/>
                  </a:rPr>
                  <a:t> </a:t>
                </a:r>
              </a:p>
            </p:txBody>
          </p:sp>
        </mc:Fallback>
      </mc:AlternateContent>
      <p:sp>
        <p:nvSpPr>
          <p:cNvPr id="8" name="타원 7"/>
          <p:cNvSpPr/>
          <p:nvPr/>
        </p:nvSpPr>
        <p:spPr>
          <a:xfrm>
            <a:off x="3607204" y="2364046"/>
            <a:ext cx="482120" cy="1297921"/>
          </a:xfrm>
          <a:prstGeom prst="ellipse">
            <a:avLst/>
          </a:prstGeom>
          <a:noFill/>
          <a:ln w="9525" cap="flat" cmpd="sng" algn="ctr">
            <a:solidFill>
              <a:schemeClr val="dk1"/>
            </a:solidFill>
            <a:prstDash val="solid"/>
            <a:round/>
            <a:headEnd type="none" w="med" len="med"/>
            <a:tailEnd type="none" w="med" len="med"/>
          </a:ln>
        </p:spPr>
        <p:style>
          <a:lnRef idx="0">
            <a:scrgbClr r="0" g="0" b="0"/>
          </a:lnRef>
          <a:fillRef idx="0">
            <a:scrgbClr r="0" g="0" b="0"/>
          </a:fillRef>
          <a:effectRef idx="0">
            <a:scrgbClr r="0" g="0" b="0"/>
          </a:effectRef>
          <a:fontRef idx="minor">
            <a:schemeClr val="dk1"/>
          </a:fontRef>
        </p:style>
        <p:txBody>
          <a:bodyPr rtlCol="0" anchor="ctr"/>
          <a:lstStyle/>
          <a:p>
            <a:pPr algn="ctr"/>
            <a:endParaRPr lang="ko-KR" altLang="en-US"/>
          </a:p>
        </p:txBody>
      </p:sp>
      <p:cxnSp>
        <p:nvCxnSpPr>
          <p:cNvPr id="12" name="직선 화살표 연결선 11"/>
          <p:cNvCxnSpPr/>
          <p:nvPr/>
        </p:nvCxnSpPr>
        <p:spPr>
          <a:xfrm>
            <a:off x="6598024" y="4998335"/>
            <a:ext cx="528917" cy="355409"/>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94" name="직선 화살표 연결선 93"/>
          <p:cNvCxnSpPr/>
          <p:nvPr/>
        </p:nvCxnSpPr>
        <p:spPr>
          <a:xfrm>
            <a:off x="7926545" y="5024910"/>
            <a:ext cx="194189" cy="716603"/>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95" name="직선 화살표 연결선 94"/>
          <p:cNvCxnSpPr/>
          <p:nvPr/>
        </p:nvCxnSpPr>
        <p:spPr>
          <a:xfrm flipH="1">
            <a:off x="9186449" y="4952476"/>
            <a:ext cx="54081" cy="656271"/>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96" name="직선 화살표 연결선 95"/>
          <p:cNvCxnSpPr/>
          <p:nvPr/>
        </p:nvCxnSpPr>
        <p:spPr>
          <a:xfrm flipH="1">
            <a:off x="10265593" y="4998335"/>
            <a:ext cx="129229" cy="946214"/>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01" name="직선 화살표 연결선 100"/>
          <p:cNvCxnSpPr/>
          <p:nvPr/>
        </p:nvCxnSpPr>
        <p:spPr>
          <a:xfrm flipH="1">
            <a:off x="11232776" y="4926059"/>
            <a:ext cx="316263" cy="59355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96878620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19"/>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120"/>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121"/>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128"/>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129"/>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130"/>
                                        </p:tgtEl>
                                        <p:attrNameLst>
                                          <p:attrName>style.visibility</p:attrName>
                                        </p:attrNameLst>
                                      </p:cBhvr>
                                      <p:to>
                                        <p:strVal val="visible"/>
                                      </p:to>
                                    </p:set>
                                  </p:childTnLst>
                                </p:cTn>
                              </p:par>
                              <p:par>
                                <p:cTn id="17" presetID="1" presetClass="entr" presetSubtype="0" fill="hold" nodeType="withEffect">
                                  <p:stCondLst>
                                    <p:cond delay="0"/>
                                  </p:stCondLst>
                                  <p:childTnLst>
                                    <p:set>
                                      <p:cBhvr>
                                        <p:cTn id="18" dur="1" fill="hold">
                                          <p:stCondLst>
                                            <p:cond delay="0"/>
                                          </p:stCondLst>
                                        </p:cTn>
                                        <p:tgtEl>
                                          <p:spTgt spid="138"/>
                                        </p:tgtEl>
                                        <p:attrNameLst>
                                          <p:attrName>style.visibility</p:attrName>
                                        </p:attrNameLst>
                                      </p:cBhvr>
                                      <p:to>
                                        <p:strVal val="visible"/>
                                      </p:to>
                                    </p:set>
                                  </p:childTnLst>
                                </p:cTn>
                              </p:par>
                              <p:par>
                                <p:cTn id="19" presetID="1" presetClass="entr" presetSubtype="0" fill="hold" nodeType="withEffect">
                                  <p:stCondLst>
                                    <p:cond delay="0"/>
                                  </p:stCondLst>
                                  <p:childTnLst>
                                    <p:set>
                                      <p:cBhvr>
                                        <p:cTn id="20" dur="1" fill="hold">
                                          <p:stCondLst>
                                            <p:cond delay="0"/>
                                          </p:stCondLst>
                                        </p:cTn>
                                        <p:tgtEl>
                                          <p:spTgt spid="139"/>
                                        </p:tgtEl>
                                        <p:attrNameLst>
                                          <p:attrName>style.visibility</p:attrName>
                                        </p:attrNameLst>
                                      </p:cBhvr>
                                      <p:to>
                                        <p:strVal val="visible"/>
                                      </p:to>
                                    </p:set>
                                  </p:childTnLst>
                                </p:cTn>
                              </p:par>
                              <p:par>
                                <p:cTn id="21" presetID="1" presetClass="entr" presetSubtype="0" fill="hold" nodeType="withEffect">
                                  <p:stCondLst>
                                    <p:cond delay="0"/>
                                  </p:stCondLst>
                                  <p:childTnLst>
                                    <p:set>
                                      <p:cBhvr>
                                        <p:cTn id="22" dur="1" fill="hold">
                                          <p:stCondLst>
                                            <p:cond delay="0"/>
                                          </p:stCondLst>
                                        </p:cTn>
                                        <p:tgtEl>
                                          <p:spTgt spid="140"/>
                                        </p:tgtEl>
                                        <p:attrNameLst>
                                          <p:attrName>style.visibility</p:attrName>
                                        </p:attrNameLst>
                                      </p:cBhvr>
                                      <p:to>
                                        <p:strVal val="visible"/>
                                      </p:to>
                                    </p:set>
                                  </p:childTnLst>
                                </p:cTn>
                              </p:par>
                              <p:par>
                                <p:cTn id="23" presetID="1" presetClass="entr" presetSubtype="0" fill="hold" grpId="0" nodeType="withEffect">
                                  <p:stCondLst>
                                    <p:cond delay="0"/>
                                  </p:stCondLst>
                                  <p:childTnLst>
                                    <p:set>
                                      <p:cBhvr>
                                        <p:cTn id="24" dur="1" fill="hold">
                                          <p:stCondLst>
                                            <p:cond delay="0"/>
                                          </p:stCondLst>
                                        </p:cTn>
                                        <p:tgtEl>
                                          <p:spTgt spid="141"/>
                                        </p:tgtEl>
                                        <p:attrNameLst>
                                          <p:attrName>style.visibility</p:attrName>
                                        </p:attrNameLst>
                                      </p:cBhvr>
                                      <p:to>
                                        <p:strVal val="visible"/>
                                      </p:to>
                                    </p:set>
                                  </p:childTnLst>
                                </p:cTn>
                              </p:par>
                            </p:childTnLst>
                          </p:cTn>
                        </p:par>
                      </p:childTnLst>
                    </p:cTn>
                  </p:par>
                  <p:par>
                    <p:cTn id="25" fill="hold">
                      <p:stCondLst>
                        <p:cond delay="indefinite"/>
                      </p:stCondLst>
                      <p:childTnLst>
                        <p:par>
                          <p:cTn id="26" fill="hold">
                            <p:stCondLst>
                              <p:cond delay="0"/>
                            </p:stCondLst>
                            <p:childTnLst>
                              <p:par>
                                <p:cTn id="27" presetID="1" presetClass="entr" presetSubtype="0" fill="hold" nodeType="clickEffect">
                                  <p:stCondLst>
                                    <p:cond delay="0"/>
                                  </p:stCondLst>
                                  <p:childTnLst>
                                    <p:set>
                                      <p:cBhvr>
                                        <p:cTn id="28" dur="1" fill="hold">
                                          <p:stCondLst>
                                            <p:cond delay="0"/>
                                          </p:stCondLst>
                                        </p:cTn>
                                        <p:tgtEl>
                                          <p:spTgt spid="142"/>
                                        </p:tgtEl>
                                        <p:attrNameLst>
                                          <p:attrName>style.visibility</p:attrName>
                                        </p:attrNameLst>
                                      </p:cBhvr>
                                      <p:to>
                                        <p:strVal val="visible"/>
                                      </p:to>
                                    </p:set>
                                  </p:childTnLst>
                                </p:cTn>
                              </p:par>
                              <p:par>
                                <p:cTn id="29" presetID="1" presetClass="entr" presetSubtype="0" fill="hold" nodeType="withEffect">
                                  <p:stCondLst>
                                    <p:cond delay="0"/>
                                  </p:stCondLst>
                                  <p:childTnLst>
                                    <p:set>
                                      <p:cBhvr>
                                        <p:cTn id="30" dur="1" fill="hold">
                                          <p:stCondLst>
                                            <p:cond delay="0"/>
                                          </p:stCondLst>
                                        </p:cTn>
                                        <p:tgtEl>
                                          <p:spTgt spid="143"/>
                                        </p:tgtEl>
                                        <p:attrNameLst>
                                          <p:attrName>style.visibility</p:attrName>
                                        </p:attrNameLst>
                                      </p:cBhvr>
                                      <p:to>
                                        <p:strVal val="visible"/>
                                      </p:to>
                                    </p:set>
                                  </p:childTnLst>
                                </p:cTn>
                              </p:par>
                              <p:par>
                                <p:cTn id="31" presetID="1" presetClass="entr" presetSubtype="0" fill="hold" nodeType="withEffect">
                                  <p:stCondLst>
                                    <p:cond delay="0"/>
                                  </p:stCondLst>
                                  <p:childTnLst>
                                    <p:set>
                                      <p:cBhvr>
                                        <p:cTn id="32" dur="1" fill="hold">
                                          <p:stCondLst>
                                            <p:cond delay="0"/>
                                          </p:stCondLst>
                                        </p:cTn>
                                        <p:tgtEl>
                                          <p:spTgt spid="144"/>
                                        </p:tgtEl>
                                        <p:attrNameLst>
                                          <p:attrName>style.visibility</p:attrName>
                                        </p:attrNameLst>
                                      </p:cBhvr>
                                      <p:to>
                                        <p:strVal val="visible"/>
                                      </p:to>
                                    </p:set>
                                  </p:childTnLst>
                                </p:cTn>
                              </p:par>
                              <p:par>
                                <p:cTn id="33" presetID="1" presetClass="entr" presetSubtype="0" fill="hold" grpId="0" nodeType="withEffect">
                                  <p:stCondLst>
                                    <p:cond delay="0"/>
                                  </p:stCondLst>
                                  <p:childTnLst>
                                    <p:set>
                                      <p:cBhvr>
                                        <p:cTn id="34" dur="1" fill="hold">
                                          <p:stCondLst>
                                            <p:cond delay="0"/>
                                          </p:stCondLst>
                                        </p:cTn>
                                        <p:tgtEl>
                                          <p:spTgt spid="146"/>
                                        </p:tgtEl>
                                        <p:attrNameLst>
                                          <p:attrName>style.visibility</p:attrName>
                                        </p:attrNameLst>
                                      </p:cBhvr>
                                      <p:to>
                                        <p:strVal val="visible"/>
                                      </p:to>
                                    </p:set>
                                  </p:childTnLst>
                                </p:cTn>
                              </p:par>
                              <p:par>
                                <p:cTn id="35" presetID="1" presetClass="entr" presetSubtype="0" fill="hold" nodeType="withEffect">
                                  <p:stCondLst>
                                    <p:cond delay="0"/>
                                  </p:stCondLst>
                                  <p:childTnLst>
                                    <p:set>
                                      <p:cBhvr>
                                        <p:cTn id="36" dur="1" fill="hold">
                                          <p:stCondLst>
                                            <p:cond delay="0"/>
                                          </p:stCondLst>
                                        </p:cTn>
                                        <p:tgtEl>
                                          <p:spTgt spid="150"/>
                                        </p:tgtEl>
                                        <p:attrNameLst>
                                          <p:attrName>style.visibility</p:attrName>
                                        </p:attrNameLst>
                                      </p:cBhvr>
                                      <p:to>
                                        <p:strVal val="visible"/>
                                      </p:to>
                                    </p:set>
                                  </p:childTnLst>
                                </p:cTn>
                              </p:par>
                              <p:par>
                                <p:cTn id="37" presetID="1" presetClass="entr" presetSubtype="0" fill="hold" grpId="0" nodeType="withEffect">
                                  <p:stCondLst>
                                    <p:cond delay="0"/>
                                  </p:stCondLst>
                                  <p:childTnLst>
                                    <p:set>
                                      <p:cBhvr>
                                        <p:cTn id="38" dur="1" fill="hold">
                                          <p:stCondLst>
                                            <p:cond delay="0"/>
                                          </p:stCondLst>
                                        </p:cTn>
                                        <p:tgtEl>
                                          <p:spTgt spid="151"/>
                                        </p:tgtEl>
                                        <p:attrNameLst>
                                          <p:attrName>style.visibility</p:attrName>
                                        </p:attrNameLst>
                                      </p:cBhvr>
                                      <p:to>
                                        <p:strVal val="visible"/>
                                      </p:to>
                                    </p:set>
                                  </p:childTnLst>
                                </p:cTn>
                              </p:par>
                              <p:par>
                                <p:cTn id="39" presetID="1" presetClass="entr" presetSubtype="0" fill="hold" nodeType="withEffect">
                                  <p:stCondLst>
                                    <p:cond delay="0"/>
                                  </p:stCondLst>
                                  <p:childTnLst>
                                    <p:set>
                                      <p:cBhvr>
                                        <p:cTn id="40" dur="1" fill="hold">
                                          <p:stCondLst>
                                            <p:cond delay="0"/>
                                          </p:stCondLst>
                                        </p:cTn>
                                        <p:tgtEl>
                                          <p:spTgt spid="152"/>
                                        </p:tgtEl>
                                        <p:attrNameLst>
                                          <p:attrName>style.visibility</p:attrName>
                                        </p:attrNameLst>
                                      </p:cBhvr>
                                      <p:to>
                                        <p:strVal val="visible"/>
                                      </p:to>
                                    </p:set>
                                  </p:childTnLst>
                                </p:cTn>
                              </p:par>
                              <p:par>
                                <p:cTn id="41" presetID="1" presetClass="entr" presetSubtype="0" fill="hold" nodeType="withEffect">
                                  <p:stCondLst>
                                    <p:cond delay="0"/>
                                  </p:stCondLst>
                                  <p:childTnLst>
                                    <p:set>
                                      <p:cBhvr>
                                        <p:cTn id="42" dur="1" fill="hold">
                                          <p:stCondLst>
                                            <p:cond delay="0"/>
                                          </p:stCondLst>
                                        </p:cTn>
                                        <p:tgtEl>
                                          <p:spTgt spid="153"/>
                                        </p:tgtEl>
                                        <p:attrNameLst>
                                          <p:attrName>style.visibility</p:attrName>
                                        </p:attrNameLst>
                                      </p:cBhvr>
                                      <p:to>
                                        <p:strVal val="visible"/>
                                      </p:to>
                                    </p:set>
                                  </p:childTnLst>
                                </p:cTn>
                              </p:par>
                              <p:par>
                                <p:cTn id="43" presetID="1" presetClass="entr" presetSubtype="0" fill="hold" nodeType="withEffect">
                                  <p:stCondLst>
                                    <p:cond delay="0"/>
                                  </p:stCondLst>
                                  <p:childTnLst>
                                    <p:set>
                                      <p:cBhvr>
                                        <p:cTn id="44" dur="1" fill="hold">
                                          <p:stCondLst>
                                            <p:cond delay="0"/>
                                          </p:stCondLst>
                                        </p:cTn>
                                        <p:tgtEl>
                                          <p:spTgt spid="156"/>
                                        </p:tgtEl>
                                        <p:attrNameLst>
                                          <p:attrName>style.visibility</p:attrName>
                                        </p:attrNameLst>
                                      </p:cBhvr>
                                      <p:to>
                                        <p:strVal val="visible"/>
                                      </p:to>
                                    </p:set>
                                  </p:childTnLst>
                                </p:cTn>
                              </p:par>
                              <p:par>
                                <p:cTn id="45" presetID="1" presetClass="entr" presetSubtype="0" fill="hold" nodeType="withEffect">
                                  <p:stCondLst>
                                    <p:cond delay="0"/>
                                  </p:stCondLst>
                                  <p:childTnLst>
                                    <p:set>
                                      <p:cBhvr>
                                        <p:cTn id="46" dur="1" fill="hold">
                                          <p:stCondLst>
                                            <p:cond delay="0"/>
                                          </p:stCondLst>
                                        </p:cTn>
                                        <p:tgtEl>
                                          <p:spTgt spid="157"/>
                                        </p:tgtEl>
                                        <p:attrNameLst>
                                          <p:attrName>style.visibility</p:attrName>
                                        </p:attrNameLst>
                                      </p:cBhvr>
                                      <p:to>
                                        <p:strVal val="visible"/>
                                      </p:to>
                                    </p:set>
                                  </p:childTnLst>
                                </p:cTn>
                              </p:par>
                              <p:par>
                                <p:cTn id="47" presetID="1" presetClass="entr" presetSubtype="0" fill="hold" nodeType="withEffect">
                                  <p:stCondLst>
                                    <p:cond delay="0"/>
                                  </p:stCondLst>
                                  <p:childTnLst>
                                    <p:set>
                                      <p:cBhvr>
                                        <p:cTn id="48" dur="1" fill="hold">
                                          <p:stCondLst>
                                            <p:cond delay="0"/>
                                          </p:stCondLst>
                                        </p:cTn>
                                        <p:tgtEl>
                                          <p:spTgt spid="158"/>
                                        </p:tgtEl>
                                        <p:attrNameLst>
                                          <p:attrName>style.visibility</p:attrName>
                                        </p:attrNameLst>
                                      </p:cBhvr>
                                      <p:to>
                                        <p:strVal val="visible"/>
                                      </p:to>
                                    </p:set>
                                  </p:childTnLst>
                                </p:cTn>
                              </p:par>
                              <p:par>
                                <p:cTn id="49" presetID="1" presetClass="entr" presetSubtype="0" fill="hold" nodeType="withEffect">
                                  <p:stCondLst>
                                    <p:cond delay="0"/>
                                  </p:stCondLst>
                                  <p:childTnLst>
                                    <p:set>
                                      <p:cBhvr>
                                        <p:cTn id="50" dur="1" fill="hold">
                                          <p:stCondLst>
                                            <p:cond delay="0"/>
                                          </p:stCondLst>
                                        </p:cTn>
                                        <p:tgtEl>
                                          <p:spTgt spid="159"/>
                                        </p:tgtEl>
                                        <p:attrNameLst>
                                          <p:attrName>style.visibility</p:attrName>
                                        </p:attrNameLst>
                                      </p:cBhvr>
                                      <p:to>
                                        <p:strVal val="visible"/>
                                      </p:to>
                                    </p:set>
                                  </p:childTnLst>
                                </p:cTn>
                              </p:par>
                              <p:par>
                                <p:cTn id="51" presetID="1" presetClass="entr" presetSubtype="0" fill="hold" nodeType="withEffect">
                                  <p:stCondLst>
                                    <p:cond delay="0"/>
                                  </p:stCondLst>
                                  <p:childTnLst>
                                    <p:set>
                                      <p:cBhvr>
                                        <p:cTn id="52" dur="1" fill="hold">
                                          <p:stCondLst>
                                            <p:cond delay="0"/>
                                          </p:stCondLst>
                                        </p:cTn>
                                        <p:tgtEl>
                                          <p:spTgt spid="160"/>
                                        </p:tgtEl>
                                        <p:attrNameLst>
                                          <p:attrName>style.visibility</p:attrName>
                                        </p:attrNameLst>
                                      </p:cBhvr>
                                      <p:to>
                                        <p:strVal val="visible"/>
                                      </p:to>
                                    </p:set>
                                  </p:childTnLst>
                                </p:cTn>
                              </p:par>
                              <p:par>
                                <p:cTn id="53" presetID="1" presetClass="entr" presetSubtype="0" fill="hold" nodeType="withEffect">
                                  <p:stCondLst>
                                    <p:cond delay="0"/>
                                  </p:stCondLst>
                                  <p:childTnLst>
                                    <p:set>
                                      <p:cBhvr>
                                        <p:cTn id="54" dur="1" fill="hold">
                                          <p:stCondLst>
                                            <p:cond delay="0"/>
                                          </p:stCondLst>
                                        </p:cTn>
                                        <p:tgtEl>
                                          <p:spTgt spid="161"/>
                                        </p:tgtEl>
                                        <p:attrNameLst>
                                          <p:attrName>style.visibility</p:attrName>
                                        </p:attrNameLst>
                                      </p:cBhvr>
                                      <p:to>
                                        <p:strVal val="visible"/>
                                      </p:to>
                                    </p:set>
                                  </p:childTnLst>
                                </p:cTn>
                              </p:par>
                              <p:par>
                                <p:cTn id="55" presetID="1" presetClass="entr" presetSubtype="0" fill="hold" nodeType="withEffect">
                                  <p:stCondLst>
                                    <p:cond delay="0"/>
                                  </p:stCondLst>
                                  <p:childTnLst>
                                    <p:set>
                                      <p:cBhvr>
                                        <p:cTn id="56" dur="1" fill="hold">
                                          <p:stCondLst>
                                            <p:cond delay="0"/>
                                          </p:stCondLst>
                                        </p:cTn>
                                        <p:tgtEl>
                                          <p:spTgt spid="162"/>
                                        </p:tgtEl>
                                        <p:attrNameLst>
                                          <p:attrName>style.visibility</p:attrName>
                                        </p:attrNameLst>
                                      </p:cBhvr>
                                      <p:to>
                                        <p:strVal val="visible"/>
                                      </p:to>
                                    </p:set>
                                  </p:childTnLst>
                                </p:cTn>
                              </p:par>
                              <p:par>
                                <p:cTn id="57" presetID="1" presetClass="entr" presetSubtype="0" fill="hold" nodeType="withEffect">
                                  <p:stCondLst>
                                    <p:cond delay="0"/>
                                  </p:stCondLst>
                                  <p:childTnLst>
                                    <p:set>
                                      <p:cBhvr>
                                        <p:cTn id="58" dur="1" fill="hold">
                                          <p:stCondLst>
                                            <p:cond delay="0"/>
                                          </p:stCondLst>
                                        </p:cTn>
                                        <p:tgtEl>
                                          <p:spTgt spid="163"/>
                                        </p:tgtEl>
                                        <p:attrNameLst>
                                          <p:attrName>style.visibility</p:attrName>
                                        </p:attrNameLst>
                                      </p:cBhvr>
                                      <p:to>
                                        <p:strVal val="visible"/>
                                      </p:to>
                                    </p:set>
                                  </p:childTnLst>
                                </p:cTn>
                              </p:par>
                              <p:par>
                                <p:cTn id="59" presetID="1" presetClass="entr" presetSubtype="0" fill="hold" grpId="0" nodeType="withEffect">
                                  <p:stCondLst>
                                    <p:cond delay="0"/>
                                  </p:stCondLst>
                                  <p:childTnLst>
                                    <p:set>
                                      <p:cBhvr>
                                        <p:cTn id="60" dur="1" fill="hold">
                                          <p:stCondLst>
                                            <p:cond delay="0"/>
                                          </p:stCondLst>
                                        </p:cTn>
                                        <p:tgtEl>
                                          <p:spTgt spid="61"/>
                                        </p:tgtEl>
                                        <p:attrNameLst>
                                          <p:attrName>style.visibility</p:attrName>
                                        </p:attrNameLst>
                                      </p:cBhvr>
                                      <p:to>
                                        <p:strVal val="visible"/>
                                      </p:to>
                                    </p:set>
                                  </p:childTnLst>
                                </p:cTn>
                              </p:par>
                            </p:childTnLst>
                          </p:cTn>
                        </p:par>
                      </p:childTnLst>
                    </p:cTn>
                  </p:par>
                  <p:par>
                    <p:cTn id="61" fill="hold">
                      <p:stCondLst>
                        <p:cond delay="indefinite"/>
                      </p:stCondLst>
                      <p:childTnLst>
                        <p:par>
                          <p:cTn id="62" fill="hold">
                            <p:stCondLst>
                              <p:cond delay="0"/>
                            </p:stCondLst>
                            <p:childTnLst>
                              <p:par>
                                <p:cTn id="63" presetID="1" presetClass="entr" presetSubtype="0" fill="hold" nodeType="clickEffect">
                                  <p:stCondLst>
                                    <p:cond delay="0"/>
                                  </p:stCondLst>
                                  <p:childTnLst>
                                    <p:set>
                                      <p:cBhvr>
                                        <p:cTn id="64" dur="1" fill="hold">
                                          <p:stCondLst>
                                            <p:cond delay="0"/>
                                          </p:stCondLst>
                                        </p:cTn>
                                        <p:tgtEl>
                                          <p:spTgt spid="92"/>
                                        </p:tgtEl>
                                        <p:attrNameLst>
                                          <p:attrName>style.visibility</p:attrName>
                                        </p:attrNameLst>
                                      </p:cBhvr>
                                      <p:to>
                                        <p:strVal val="visible"/>
                                      </p:to>
                                    </p:set>
                                  </p:childTnLst>
                                </p:cTn>
                              </p:par>
                              <p:par>
                                <p:cTn id="65" presetID="1" presetClass="entr" presetSubtype="0" fill="hold" grpId="0" nodeType="withEffect">
                                  <p:stCondLst>
                                    <p:cond delay="0"/>
                                  </p:stCondLst>
                                  <p:childTnLst>
                                    <p:set>
                                      <p:cBhvr>
                                        <p:cTn id="66" dur="1" fill="hold">
                                          <p:stCondLst>
                                            <p:cond delay="0"/>
                                          </p:stCondLst>
                                        </p:cTn>
                                        <p:tgtEl>
                                          <p:spTgt spid="98"/>
                                        </p:tgtEl>
                                        <p:attrNameLst>
                                          <p:attrName>style.visibility</p:attrName>
                                        </p:attrNameLst>
                                      </p:cBhvr>
                                      <p:to>
                                        <p:strVal val="visible"/>
                                      </p:to>
                                    </p:set>
                                  </p:childTnLst>
                                </p:cTn>
                              </p:par>
                              <p:par>
                                <p:cTn id="67" presetID="1" presetClass="entr" presetSubtype="0" fill="hold" nodeType="withEffect">
                                  <p:stCondLst>
                                    <p:cond delay="0"/>
                                  </p:stCondLst>
                                  <p:childTnLst>
                                    <p:set>
                                      <p:cBhvr>
                                        <p:cTn id="68" dur="1" fill="hold">
                                          <p:stCondLst>
                                            <p:cond delay="0"/>
                                          </p:stCondLst>
                                        </p:cTn>
                                        <p:tgtEl>
                                          <p:spTgt spid="109"/>
                                        </p:tgtEl>
                                        <p:attrNameLst>
                                          <p:attrName>style.visibility</p:attrName>
                                        </p:attrNameLst>
                                      </p:cBhvr>
                                      <p:to>
                                        <p:strVal val="visible"/>
                                      </p:to>
                                    </p:set>
                                  </p:childTnLst>
                                </p:cTn>
                              </p:par>
                              <p:par>
                                <p:cTn id="69" presetID="1" presetClass="entr" presetSubtype="0" fill="hold" grpId="0" nodeType="withEffect">
                                  <p:stCondLst>
                                    <p:cond delay="0"/>
                                  </p:stCondLst>
                                  <p:childTnLst>
                                    <p:set>
                                      <p:cBhvr>
                                        <p:cTn id="70" dur="1" fill="hold">
                                          <p:stCondLst>
                                            <p:cond delay="0"/>
                                          </p:stCondLst>
                                        </p:cTn>
                                        <p:tgtEl>
                                          <p:spTgt spid="108"/>
                                        </p:tgtEl>
                                        <p:attrNameLst>
                                          <p:attrName>style.visibility</p:attrName>
                                        </p:attrNameLst>
                                      </p:cBhvr>
                                      <p:to>
                                        <p:strVal val="visible"/>
                                      </p:to>
                                    </p:set>
                                  </p:childTnLst>
                                </p:cTn>
                              </p:par>
                            </p:childTnLst>
                          </p:cTn>
                        </p:par>
                      </p:childTnLst>
                    </p:cTn>
                  </p:par>
                  <p:par>
                    <p:cTn id="71" fill="hold">
                      <p:stCondLst>
                        <p:cond delay="indefinite"/>
                      </p:stCondLst>
                      <p:childTnLst>
                        <p:par>
                          <p:cTn id="72" fill="hold">
                            <p:stCondLst>
                              <p:cond delay="0"/>
                            </p:stCondLst>
                            <p:childTnLst>
                              <p:par>
                                <p:cTn id="73" presetID="1" presetClass="entr" presetSubtype="0" fill="hold" grpId="0" nodeType="clickEffect">
                                  <p:stCondLst>
                                    <p:cond delay="0"/>
                                  </p:stCondLst>
                                  <p:childTnLst>
                                    <p:set>
                                      <p:cBhvr>
                                        <p:cTn id="74" dur="1" fill="hold">
                                          <p:stCondLst>
                                            <p:cond delay="0"/>
                                          </p:stCondLst>
                                        </p:cTn>
                                        <p:tgtEl>
                                          <p:spTgt spid="90"/>
                                        </p:tgtEl>
                                        <p:attrNameLst>
                                          <p:attrName>style.visibility</p:attrName>
                                        </p:attrNameLst>
                                      </p:cBhvr>
                                      <p:to>
                                        <p:strVal val="visible"/>
                                      </p:to>
                                    </p:set>
                                  </p:childTnLst>
                                </p:cTn>
                              </p:par>
                            </p:childTnLst>
                          </p:cTn>
                        </p:par>
                      </p:childTnLst>
                    </p:cTn>
                  </p:par>
                  <p:par>
                    <p:cTn id="75" fill="hold">
                      <p:stCondLst>
                        <p:cond delay="indefinite"/>
                      </p:stCondLst>
                      <p:childTnLst>
                        <p:par>
                          <p:cTn id="76" fill="hold">
                            <p:stCondLst>
                              <p:cond delay="0"/>
                            </p:stCondLst>
                            <p:childTnLst>
                              <p:par>
                                <p:cTn id="77" presetID="1" presetClass="entr" presetSubtype="0" fill="hold" grpId="0" nodeType="clickEffect">
                                  <p:stCondLst>
                                    <p:cond delay="0"/>
                                  </p:stCondLst>
                                  <p:childTnLst>
                                    <p:set>
                                      <p:cBhvr>
                                        <p:cTn id="78" dur="1" fill="hold">
                                          <p:stCondLst>
                                            <p:cond delay="0"/>
                                          </p:stCondLst>
                                        </p:cTn>
                                        <p:tgtEl>
                                          <p:spTgt spid="91"/>
                                        </p:tgtEl>
                                        <p:attrNameLst>
                                          <p:attrName>style.visibility</p:attrName>
                                        </p:attrNameLst>
                                      </p:cBhvr>
                                      <p:to>
                                        <p:strVal val="visible"/>
                                      </p:to>
                                    </p:set>
                                  </p:childTnLst>
                                </p:cTn>
                              </p:par>
                            </p:childTnLst>
                          </p:cTn>
                        </p:par>
                      </p:childTnLst>
                    </p:cTn>
                  </p:par>
                  <p:par>
                    <p:cTn id="79" fill="hold">
                      <p:stCondLst>
                        <p:cond delay="indefinite"/>
                      </p:stCondLst>
                      <p:childTnLst>
                        <p:par>
                          <p:cTn id="80" fill="hold">
                            <p:stCondLst>
                              <p:cond delay="0"/>
                            </p:stCondLst>
                            <p:childTnLst>
                              <p:par>
                                <p:cTn id="81" presetID="1" presetClass="entr" presetSubtype="0" fill="hold" nodeType="clickEffect">
                                  <p:stCondLst>
                                    <p:cond delay="0"/>
                                  </p:stCondLst>
                                  <p:childTnLst>
                                    <p:set>
                                      <p:cBhvr>
                                        <p:cTn id="82" dur="1" fill="hold">
                                          <p:stCondLst>
                                            <p:cond delay="0"/>
                                          </p:stCondLst>
                                        </p:cTn>
                                        <p:tgtEl>
                                          <p:spTgt spid="12"/>
                                        </p:tgtEl>
                                        <p:attrNameLst>
                                          <p:attrName>style.visibility</p:attrName>
                                        </p:attrNameLst>
                                      </p:cBhvr>
                                      <p:to>
                                        <p:strVal val="visible"/>
                                      </p:to>
                                    </p:set>
                                  </p:childTnLst>
                                </p:cTn>
                              </p:par>
                              <p:par>
                                <p:cTn id="83" presetID="1" presetClass="entr" presetSubtype="0" fill="hold" nodeType="withEffect">
                                  <p:stCondLst>
                                    <p:cond delay="0"/>
                                  </p:stCondLst>
                                  <p:childTnLst>
                                    <p:set>
                                      <p:cBhvr>
                                        <p:cTn id="84" dur="1" fill="hold">
                                          <p:stCondLst>
                                            <p:cond delay="0"/>
                                          </p:stCondLst>
                                        </p:cTn>
                                        <p:tgtEl>
                                          <p:spTgt spid="94"/>
                                        </p:tgtEl>
                                        <p:attrNameLst>
                                          <p:attrName>style.visibility</p:attrName>
                                        </p:attrNameLst>
                                      </p:cBhvr>
                                      <p:to>
                                        <p:strVal val="visible"/>
                                      </p:to>
                                    </p:set>
                                  </p:childTnLst>
                                </p:cTn>
                              </p:par>
                              <p:par>
                                <p:cTn id="85" presetID="1" presetClass="entr" presetSubtype="0" fill="hold" nodeType="withEffect">
                                  <p:stCondLst>
                                    <p:cond delay="0"/>
                                  </p:stCondLst>
                                  <p:childTnLst>
                                    <p:set>
                                      <p:cBhvr>
                                        <p:cTn id="86" dur="1" fill="hold">
                                          <p:stCondLst>
                                            <p:cond delay="0"/>
                                          </p:stCondLst>
                                        </p:cTn>
                                        <p:tgtEl>
                                          <p:spTgt spid="95"/>
                                        </p:tgtEl>
                                        <p:attrNameLst>
                                          <p:attrName>style.visibility</p:attrName>
                                        </p:attrNameLst>
                                      </p:cBhvr>
                                      <p:to>
                                        <p:strVal val="visible"/>
                                      </p:to>
                                    </p:set>
                                  </p:childTnLst>
                                </p:cTn>
                              </p:par>
                              <p:par>
                                <p:cTn id="87" presetID="1" presetClass="entr" presetSubtype="0" fill="hold" nodeType="withEffect">
                                  <p:stCondLst>
                                    <p:cond delay="0"/>
                                  </p:stCondLst>
                                  <p:childTnLst>
                                    <p:set>
                                      <p:cBhvr>
                                        <p:cTn id="88" dur="1" fill="hold">
                                          <p:stCondLst>
                                            <p:cond delay="0"/>
                                          </p:stCondLst>
                                        </p:cTn>
                                        <p:tgtEl>
                                          <p:spTgt spid="96"/>
                                        </p:tgtEl>
                                        <p:attrNameLst>
                                          <p:attrName>style.visibility</p:attrName>
                                        </p:attrNameLst>
                                      </p:cBhvr>
                                      <p:to>
                                        <p:strVal val="visible"/>
                                      </p:to>
                                    </p:set>
                                  </p:childTnLst>
                                </p:cTn>
                              </p:par>
                              <p:par>
                                <p:cTn id="89" presetID="1" presetClass="entr" presetSubtype="0" fill="hold" nodeType="withEffect">
                                  <p:stCondLst>
                                    <p:cond delay="0"/>
                                  </p:stCondLst>
                                  <p:childTnLst>
                                    <p:set>
                                      <p:cBhvr>
                                        <p:cTn id="90" dur="1" fill="hold">
                                          <p:stCondLst>
                                            <p:cond delay="0"/>
                                          </p:stCondLst>
                                        </p:cTn>
                                        <p:tgtEl>
                                          <p:spTgt spid="101"/>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0" grpId="0"/>
      <p:bldP spid="91" grpId="0"/>
      <p:bldP spid="98" grpId="0"/>
      <p:bldP spid="108" grpId="0"/>
      <p:bldP spid="129" grpId="0" animBg="1"/>
      <p:bldP spid="130" grpId="0" animBg="1"/>
      <p:bldP spid="141" grpId="0" animBg="1"/>
      <p:bldP spid="146" grpId="0" animBg="1"/>
      <p:bldP spid="151" grpId="0" animBg="1"/>
      <p:bldP spid="61" grpId="0"/>
    </p:bld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2856BE7-710B-55F6-D872-93BC51DC6965}"/>
              </a:ext>
            </a:extLst>
          </p:cNvPr>
          <p:cNvSpPr>
            <a:spLocks noGrp="1"/>
          </p:cNvSpPr>
          <p:nvPr>
            <p:ph type="title"/>
          </p:nvPr>
        </p:nvSpPr>
        <p:spPr/>
        <p:txBody>
          <a:bodyPr/>
          <a:lstStyle/>
          <a:p>
            <a:r>
              <a:rPr lang="en-US" dirty="0" smtClean="0"/>
              <a:t>Summary of composite systems</a:t>
            </a:r>
            <a:endParaRPr lang="en-US" dirty="0"/>
          </a:p>
        </p:txBody>
      </p:sp>
      <p:sp>
        <p:nvSpPr>
          <p:cNvPr id="3" name="Content Placeholder 2">
            <a:extLst>
              <a:ext uri="{FF2B5EF4-FFF2-40B4-BE49-F238E27FC236}">
                <a16:creationId xmlns:a16="http://schemas.microsoft.com/office/drawing/2014/main" id="{481B553B-CDA5-30AE-5456-EA946F62CEB0}"/>
              </a:ext>
            </a:extLst>
          </p:cNvPr>
          <p:cNvSpPr>
            <a:spLocks noGrp="1"/>
          </p:cNvSpPr>
          <p:nvPr>
            <p:ph idx="1"/>
          </p:nvPr>
        </p:nvSpPr>
        <p:spPr/>
        <p:txBody>
          <a:bodyPr>
            <a:normAutofit/>
          </a:bodyPr>
          <a:lstStyle/>
          <a:p>
            <a:r>
              <a:rPr lang="en-US" sz="2400" dirty="0" smtClean="0"/>
              <a:t>Composite systems = tensor product of systems</a:t>
            </a:r>
            <a:endParaRPr lang="en-US" sz="2400" b="1" dirty="0"/>
          </a:p>
          <a:p>
            <a:r>
              <a:rPr lang="en-US" sz="2400" dirty="0" smtClean="0"/>
              <a:t>Transformations on composite systems are</a:t>
            </a:r>
          </a:p>
          <a:p>
            <a:pPr lvl="1"/>
            <a:r>
              <a:rPr lang="en-US" sz="2000" dirty="0" smtClean="0"/>
              <a:t>Tensor product of transformations on each system</a:t>
            </a:r>
          </a:p>
          <a:p>
            <a:pPr lvl="1"/>
            <a:r>
              <a:rPr lang="en-US" sz="2000" dirty="0" smtClean="0"/>
              <a:t>Mixing systems (CNOT, SWAP, …)</a:t>
            </a:r>
          </a:p>
          <a:p>
            <a:pPr lvl="1"/>
            <a:r>
              <a:rPr lang="en-US" sz="2000" dirty="0" smtClean="0"/>
              <a:t>Or compositions of them</a:t>
            </a:r>
            <a:endParaRPr lang="en-US" sz="2000" dirty="0"/>
          </a:p>
          <a:p>
            <a:endParaRPr lang="en-US" sz="2400" dirty="0"/>
          </a:p>
          <a:p>
            <a:r>
              <a:rPr lang="en-US" sz="2400" dirty="0" smtClean="0"/>
              <a:t>Circuit framework			</a:t>
            </a:r>
            <a:r>
              <a:rPr lang="en-US" sz="2000" dirty="0" smtClean="0"/>
              <a:t>(Often convenient)</a:t>
            </a:r>
          </a:p>
          <a:p>
            <a:r>
              <a:rPr lang="en-US" sz="2400" dirty="0" smtClean="0"/>
              <a:t>Linear algebraic framework	</a:t>
            </a:r>
            <a:r>
              <a:rPr lang="en-US" sz="2000" dirty="0" smtClean="0"/>
              <a:t>(Based on math we know)</a:t>
            </a:r>
          </a:p>
        </p:txBody>
      </p:sp>
    </p:spTree>
    <p:extLst>
      <p:ext uri="{BB962C8B-B14F-4D97-AF65-F5344CB8AC3E}">
        <p14:creationId xmlns:p14="http://schemas.microsoft.com/office/powerpoint/2010/main" val="2902124732"/>
      </p:ext>
    </p:extLst>
  </p:cSld>
  <p:clrMapOvr>
    <a:masterClrMapping/>
  </p:clrMapOvr>
  <p:timing>
    <p:tnLst>
      <p:par>
        <p:cTn id="1" dur="indefinite" restart="never" nodeType="tmRoot"/>
      </p:par>
    </p:tnLst>
  </p:timing>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116A5BA-F7E0-BB86-C9E7-C9824CDFB3A9}"/>
              </a:ext>
            </a:extLst>
          </p:cNvPr>
          <p:cNvSpPr>
            <a:spLocks noGrp="1"/>
          </p:cNvSpPr>
          <p:nvPr>
            <p:ph type="title"/>
          </p:nvPr>
        </p:nvSpPr>
        <p:spPr/>
        <p:txBody>
          <a:bodyPr>
            <a:normAutofit/>
          </a:bodyPr>
          <a:lstStyle/>
          <a:p>
            <a:r>
              <a:rPr lang="en-US" sz="3600" dirty="0"/>
              <a:t>Universal computation </a:t>
            </a:r>
            <a:r>
              <a:rPr lang="en-US" sz="3600" dirty="0" smtClean="0"/>
              <a:t>with </a:t>
            </a:r>
            <a:r>
              <a:rPr lang="en-US" sz="3600" dirty="0"/>
              <a:t>reversible circuits</a:t>
            </a:r>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12194FAD-725C-122F-760E-6489EFE61761}"/>
                  </a:ext>
                </a:extLst>
              </p:cNvPr>
              <p:cNvSpPr>
                <a:spLocks noGrp="1"/>
              </p:cNvSpPr>
              <p:nvPr>
                <p:ph idx="1"/>
              </p:nvPr>
            </p:nvSpPr>
            <p:spPr>
              <a:xfrm>
                <a:off x="838200" y="1825624"/>
                <a:ext cx="10515600" cy="4532313"/>
              </a:xfrm>
            </p:spPr>
            <p:txBody>
              <a:bodyPr>
                <a:normAutofit/>
              </a:bodyPr>
              <a:lstStyle/>
              <a:p>
                <a:r>
                  <a:rPr lang="en-US" sz="2400" dirty="0"/>
                  <a:t>Every Boolean function </a:t>
                </a:r>
                <a14:m>
                  <m:oMath xmlns:m="http://schemas.openxmlformats.org/officeDocument/2006/math">
                    <m:r>
                      <a:rPr lang="en-CA" sz="2400" b="0" i="1" smtClean="0">
                        <a:latin typeface="Cambria Math" panose="02040503050406030204" pitchFamily="18" charset="0"/>
                      </a:rPr>
                      <m:t>𝑓</m:t>
                    </m:r>
                    <m:r>
                      <a:rPr lang="en-CA" sz="2400" b="0" i="1" smtClean="0">
                        <a:latin typeface="Cambria Math" panose="02040503050406030204" pitchFamily="18" charset="0"/>
                      </a:rPr>
                      <m:t>:</m:t>
                    </m:r>
                    <m:sSup>
                      <m:sSupPr>
                        <m:ctrlPr>
                          <a:rPr lang="en-CA" sz="2400" b="0" i="1" smtClean="0">
                            <a:latin typeface="Cambria Math" panose="02040503050406030204" pitchFamily="18" charset="0"/>
                          </a:rPr>
                        </m:ctrlPr>
                      </m:sSupPr>
                      <m:e>
                        <m:d>
                          <m:dPr>
                            <m:begChr m:val="{"/>
                            <m:endChr m:val="}"/>
                            <m:ctrlPr>
                              <a:rPr lang="en-CA" sz="2400" b="0" i="1" smtClean="0">
                                <a:latin typeface="Cambria Math" panose="02040503050406030204" pitchFamily="18" charset="0"/>
                              </a:rPr>
                            </m:ctrlPr>
                          </m:dPr>
                          <m:e>
                            <m:r>
                              <a:rPr lang="en-CA" sz="2400" b="0" i="1" smtClean="0">
                                <a:latin typeface="Cambria Math" panose="02040503050406030204" pitchFamily="18" charset="0"/>
                              </a:rPr>
                              <m:t>0,1</m:t>
                            </m:r>
                          </m:e>
                        </m:d>
                      </m:e>
                      <m:sup>
                        <m:r>
                          <a:rPr lang="en-CA" sz="2400" b="0" i="1" smtClean="0">
                            <a:latin typeface="Cambria Math" panose="02040503050406030204" pitchFamily="18" charset="0"/>
                          </a:rPr>
                          <m:t>𝑛</m:t>
                        </m:r>
                      </m:sup>
                    </m:sSup>
                    <m:r>
                      <a:rPr lang="en-CA" sz="2400" b="0" i="1" smtClean="0">
                        <a:latin typeface="Cambria Math" panose="02040503050406030204" pitchFamily="18" charset="0"/>
                      </a:rPr>
                      <m:t>→</m:t>
                    </m:r>
                    <m:d>
                      <m:dPr>
                        <m:begChr m:val="{"/>
                        <m:endChr m:val="}"/>
                        <m:ctrlPr>
                          <a:rPr lang="en-CA" sz="2400" b="0" i="1" smtClean="0">
                            <a:latin typeface="Cambria Math" panose="02040503050406030204" pitchFamily="18" charset="0"/>
                          </a:rPr>
                        </m:ctrlPr>
                      </m:dPr>
                      <m:e>
                        <m:r>
                          <a:rPr lang="en-CA" sz="2400" b="0" i="1" smtClean="0">
                            <a:latin typeface="Cambria Math" panose="02040503050406030204" pitchFamily="18" charset="0"/>
                          </a:rPr>
                          <m:t>0,1</m:t>
                        </m:r>
                      </m:e>
                    </m:d>
                  </m:oMath>
                </a14:m>
                <a:r>
                  <a:rPr lang="en-US" sz="2400" dirty="0"/>
                  <a:t> can be encoded into a </a:t>
                </a:r>
                <a14:m>
                  <m:oMath xmlns:m="http://schemas.openxmlformats.org/officeDocument/2006/math">
                    <m:r>
                      <a:rPr lang="en-CA" sz="2400" b="0" i="1" smtClean="0">
                        <a:latin typeface="Cambria Math" panose="02040503050406030204" pitchFamily="18" charset="0"/>
                      </a:rPr>
                      <m:t>(</m:t>
                    </m:r>
                    <m:r>
                      <a:rPr lang="en-CA" sz="2400" b="0" i="1" smtClean="0">
                        <a:latin typeface="Cambria Math" panose="02040503050406030204" pitchFamily="18" charset="0"/>
                      </a:rPr>
                      <m:t>𝑛</m:t>
                    </m:r>
                    <m:r>
                      <a:rPr lang="en-CA" sz="2400" b="0" i="1" smtClean="0">
                        <a:latin typeface="Cambria Math" panose="02040503050406030204" pitchFamily="18" charset="0"/>
                      </a:rPr>
                      <m:t>+1)</m:t>
                    </m:r>
                  </m:oMath>
                </a14:m>
                <a:r>
                  <a:rPr lang="en-US" sz="2400" dirty="0"/>
                  <a:t>-bit </a:t>
                </a:r>
                <a:r>
                  <a:rPr lang="en-US" sz="2400" b="1" i="1" dirty="0"/>
                  <a:t>reversible</a:t>
                </a:r>
                <a:r>
                  <a:rPr lang="en-US" sz="2400" dirty="0"/>
                  <a:t> transformation.</a:t>
                </a:r>
                <a:br>
                  <a:rPr lang="en-US" sz="2400" dirty="0"/>
                </a:br>
                <a:r>
                  <a:rPr lang="en-US" sz="2400" dirty="0"/>
                  <a:t/>
                </a:r>
                <a:br>
                  <a:rPr lang="en-US" sz="2400" dirty="0"/>
                </a:br>
                <a14:m>
                  <m:oMath xmlns:m="http://schemas.openxmlformats.org/officeDocument/2006/math">
                    <m:sSub>
                      <m:sSubPr>
                        <m:ctrlPr>
                          <a:rPr lang="en-CA" sz="2400" b="0" i="1" smtClean="0">
                            <a:latin typeface="Cambria Math" panose="02040503050406030204" pitchFamily="18" charset="0"/>
                          </a:rPr>
                        </m:ctrlPr>
                      </m:sSubPr>
                      <m:e>
                        <m:r>
                          <a:rPr lang="en-CA" sz="2400" b="0" i="1" smtClean="0">
                            <a:latin typeface="Cambria Math" panose="02040503050406030204" pitchFamily="18" charset="0"/>
                          </a:rPr>
                          <m:t>𝑅</m:t>
                        </m:r>
                      </m:e>
                      <m:sub>
                        <m:r>
                          <a:rPr lang="en-CA" sz="2400" b="0" i="1" smtClean="0">
                            <a:latin typeface="Cambria Math" panose="02040503050406030204" pitchFamily="18" charset="0"/>
                          </a:rPr>
                          <m:t>𝑓</m:t>
                        </m:r>
                      </m:sub>
                    </m:sSub>
                    <m:d>
                      <m:dPr>
                        <m:begChr m:val="|"/>
                        <m:endChr m:val="⟩"/>
                        <m:ctrlPr>
                          <a:rPr lang="en-CA" sz="2400" b="0" i="1" smtClean="0">
                            <a:latin typeface="Cambria Math" panose="02040503050406030204" pitchFamily="18" charset="0"/>
                          </a:rPr>
                        </m:ctrlPr>
                      </m:dPr>
                      <m:e>
                        <m:sSub>
                          <m:sSubPr>
                            <m:ctrlPr>
                              <a:rPr lang="en-CA" sz="2400" b="0" i="1" smtClean="0">
                                <a:latin typeface="Cambria Math" panose="02040503050406030204" pitchFamily="18" charset="0"/>
                              </a:rPr>
                            </m:ctrlPr>
                          </m:sSubPr>
                          <m:e>
                            <m:r>
                              <a:rPr lang="en-CA" sz="2400" b="0" i="1" smtClean="0">
                                <a:latin typeface="Cambria Math" panose="02040503050406030204" pitchFamily="18" charset="0"/>
                              </a:rPr>
                              <m:t>𝑥</m:t>
                            </m:r>
                          </m:e>
                          <m:sub>
                            <m:r>
                              <a:rPr lang="en-CA" sz="2400" b="0" i="1" smtClean="0">
                                <a:latin typeface="Cambria Math" panose="02040503050406030204" pitchFamily="18" charset="0"/>
                              </a:rPr>
                              <m:t>1</m:t>
                            </m:r>
                          </m:sub>
                        </m:sSub>
                        <m:r>
                          <a:rPr lang="en-CA" sz="2400" b="0" i="1" smtClean="0">
                            <a:latin typeface="Cambria Math" panose="02040503050406030204" pitchFamily="18" charset="0"/>
                          </a:rPr>
                          <m:t>,</m:t>
                        </m:r>
                        <m:sSub>
                          <m:sSubPr>
                            <m:ctrlPr>
                              <a:rPr lang="en-CA" sz="2400" b="0" i="1" smtClean="0">
                                <a:latin typeface="Cambria Math" panose="02040503050406030204" pitchFamily="18" charset="0"/>
                              </a:rPr>
                            </m:ctrlPr>
                          </m:sSubPr>
                          <m:e>
                            <m:r>
                              <a:rPr lang="en-CA" sz="2400" b="0" i="1" smtClean="0">
                                <a:latin typeface="Cambria Math" panose="02040503050406030204" pitchFamily="18" charset="0"/>
                              </a:rPr>
                              <m:t>𝑥</m:t>
                            </m:r>
                          </m:e>
                          <m:sub>
                            <m:r>
                              <a:rPr lang="en-CA" sz="2400" b="0" i="1" smtClean="0">
                                <a:latin typeface="Cambria Math" panose="02040503050406030204" pitchFamily="18" charset="0"/>
                              </a:rPr>
                              <m:t>2</m:t>
                            </m:r>
                          </m:sub>
                        </m:sSub>
                        <m:r>
                          <a:rPr lang="en-CA" sz="2400" b="0" i="1" smtClean="0">
                            <a:latin typeface="Cambria Math" panose="02040503050406030204" pitchFamily="18" charset="0"/>
                          </a:rPr>
                          <m:t>,…,</m:t>
                        </m:r>
                        <m:sSub>
                          <m:sSubPr>
                            <m:ctrlPr>
                              <a:rPr lang="en-CA" sz="2400" b="0" i="1" smtClean="0">
                                <a:latin typeface="Cambria Math" panose="02040503050406030204" pitchFamily="18" charset="0"/>
                              </a:rPr>
                            </m:ctrlPr>
                          </m:sSubPr>
                          <m:e>
                            <m:r>
                              <a:rPr lang="en-CA" sz="2400" b="0" i="1" smtClean="0">
                                <a:latin typeface="Cambria Math" panose="02040503050406030204" pitchFamily="18" charset="0"/>
                              </a:rPr>
                              <m:t>𝑥</m:t>
                            </m:r>
                          </m:e>
                          <m:sub>
                            <m:r>
                              <a:rPr lang="en-CA" sz="2400" b="0" i="1" smtClean="0">
                                <a:latin typeface="Cambria Math" panose="02040503050406030204" pitchFamily="18" charset="0"/>
                              </a:rPr>
                              <m:t>𝑛</m:t>
                            </m:r>
                          </m:sub>
                        </m:sSub>
                        <m:r>
                          <a:rPr lang="en-CA" sz="2400" b="0" i="1" smtClean="0">
                            <a:latin typeface="Cambria Math" panose="02040503050406030204" pitchFamily="18" charset="0"/>
                          </a:rPr>
                          <m:t>,</m:t>
                        </m:r>
                        <m:r>
                          <a:rPr lang="en-CA" sz="2400" b="0" i="1" smtClean="0">
                            <a:latin typeface="Cambria Math" panose="02040503050406030204" pitchFamily="18" charset="0"/>
                          </a:rPr>
                          <m:t>𝑏</m:t>
                        </m:r>
                      </m:e>
                    </m:d>
                    <m:r>
                      <a:rPr lang="en-CA" sz="2400" b="0" i="1" smtClean="0">
                        <a:latin typeface="Cambria Math" panose="02040503050406030204" pitchFamily="18" charset="0"/>
                      </a:rPr>
                      <m:t>=</m:t>
                    </m:r>
                    <m:d>
                      <m:dPr>
                        <m:begChr m:val="|"/>
                        <m:endChr m:val="⟩"/>
                        <m:ctrlPr>
                          <a:rPr lang="en-CA" sz="2400" b="0" i="1" smtClean="0">
                            <a:latin typeface="Cambria Math" panose="02040503050406030204" pitchFamily="18" charset="0"/>
                          </a:rPr>
                        </m:ctrlPr>
                      </m:dPr>
                      <m:e>
                        <m:sSub>
                          <m:sSubPr>
                            <m:ctrlPr>
                              <a:rPr lang="en-CA" sz="2400" b="0" i="1" smtClean="0">
                                <a:latin typeface="Cambria Math" panose="02040503050406030204" pitchFamily="18" charset="0"/>
                              </a:rPr>
                            </m:ctrlPr>
                          </m:sSubPr>
                          <m:e>
                            <m:r>
                              <a:rPr lang="en-CA" sz="2400" b="0" i="1" smtClean="0">
                                <a:latin typeface="Cambria Math" panose="02040503050406030204" pitchFamily="18" charset="0"/>
                              </a:rPr>
                              <m:t>𝑥</m:t>
                            </m:r>
                          </m:e>
                          <m:sub>
                            <m:r>
                              <a:rPr lang="en-CA" sz="2400" b="0" i="1" smtClean="0">
                                <a:latin typeface="Cambria Math" panose="02040503050406030204" pitchFamily="18" charset="0"/>
                              </a:rPr>
                              <m:t>1</m:t>
                            </m:r>
                          </m:sub>
                        </m:sSub>
                        <m:r>
                          <a:rPr lang="en-CA" sz="2400" b="0" i="1" smtClean="0">
                            <a:latin typeface="Cambria Math" panose="02040503050406030204" pitchFamily="18" charset="0"/>
                          </a:rPr>
                          <m:t>,</m:t>
                        </m:r>
                        <m:sSub>
                          <m:sSubPr>
                            <m:ctrlPr>
                              <a:rPr lang="en-CA" sz="2400" b="0" i="1" smtClean="0">
                                <a:latin typeface="Cambria Math" panose="02040503050406030204" pitchFamily="18" charset="0"/>
                              </a:rPr>
                            </m:ctrlPr>
                          </m:sSubPr>
                          <m:e>
                            <m:r>
                              <a:rPr lang="en-CA" sz="2400" b="0" i="1" smtClean="0">
                                <a:latin typeface="Cambria Math" panose="02040503050406030204" pitchFamily="18" charset="0"/>
                              </a:rPr>
                              <m:t>𝑥</m:t>
                            </m:r>
                          </m:e>
                          <m:sub>
                            <m:r>
                              <a:rPr lang="en-CA" sz="2400" b="0" i="1" smtClean="0">
                                <a:latin typeface="Cambria Math" panose="02040503050406030204" pitchFamily="18" charset="0"/>
                              </a:rPr>
                              <m:t>2</m:t>
                            </m:r>
                          </m:sub>
                        </m:sSub>
                        <m:r>
                          <a:rPr lang="en-CA" sz="2400" b="0" i="1" smtClean="0">
                            <a:latin typeface="Cambria Math" panose="02040503050406030204" pitchFamily="18" charset="0"/>
                          </a:rPr>
                          <m:t>,…,</m:t>
                        </m:r>
                        <m:sSub>
                          <m:sSubPr>
                            <m:ctrlPr>
                              <a:rPr lang="en-CA" sz="2400" b="0" i="1" smtClean="0">
                                <a:latin typeface="Cambria Math" panose="02040503050406030204" pitchFamily="18" charset="0"/>
                              </a:rPr>
                            </m:ctrlPr>
                          </m:sSubPr>
                          <m:e>
                            <m:r>
                              <a:rPr lang="en-CA" sz="2400" b="0" i="1" smtClean="0">
                                <a:latin typeface="Cambria Math" panose="02040503050406030204" pitchFamily="18" charset="0"/>
                              </a:rPr>
                              <m:t>𝑥</m:t>
                            </m:r>
                          </m:e>
                          <m:sub>
                            <m:r>
                              <a:rPr lang="en-CA" sz="2400" b="0" i="1" smtClean="0">
                                <a:latin typeface="Cambria Math" panose="02040503050406030204" pitchFamily="18" charset="0"/>
                              </a:rPr>
                              <m:t>𝑛</m:t>
                            </m:r>
                          </m:sub>
                        </m:sSub>
                        <m:r>
                          <a:rPr lang="en-CA" sz="2400" b="0" i="1" smtClean="0">
                            <a:latin typeface="Cambria Math" panose="02040503050406030204" pitchFamily="18" charset="0"/>
                          </a:rPr>
                          <m:t>,</m:t>
                        </m:r>
                        <m:r>
                          <a:rPr lang="en-CA" sz="2400" b="0" i="1" smtClean="0">
                            <a:latin typeface="Cambria Math" panose="02040503050406030204" pitchFamily="18" charset="0"/>
                          </a:rPr>
                          <m:t>𝑏</m:t>
                        </m:r>
                        <m:r>
                          <a:rPr lang="en-CA" sz="2400" b="0" i="1" smtClean="0">
                            <a:latin typeface="Cambria Math" panose="02040503050406030204" pitchFamily="18" charset="0"/>
                          </a:rPr>
                          <m:t>⊕</m:t>
                        </m:r>
                        <m:r>
                          <a:rPr lang="en-CA" sz="2400" b="0" i="1" smtClean="0">
                            <a:latin typeface="Cambria Math" panose="02040503050406030204" pitchFamily="18" charset="0"/>
                          </a:rPr>
                          <m:t>𝑓</m:t>
                        </m:r>
                        <m:d>
                          <m:dPr>
                            <m:ctrlPr>
                              <a:rPr lang="en-CA" sz="2400" b="0" i="1" smtClean="0">
                                <a:latin typeface="Cambria Math" panose="02040503050406030204" pitchFamily="18" charset="0"/>
                              </a:rPr>
                            </m:ctrlPr>
                          </m:dPr>
                          <m:e>
                            <m:sSub>
                              <m:sSubPr>
                                <m:ctrlPr>
                                  <a:rPr lang="en-CA" sz="2400" b="0" i="1" smtClean="0">
                                    <a:latin typeface="Cambria Math" panose="02040503050406030204" pitchFamily="18" charset="0"/>
                                  </a:rPr>
                                </m:ctrlPr>
                              </m:sSubPr>
                              <m:e>
                                <m:r>
                                  <a:rPr lang="en-CA" sz="2400" b="0" i="1" smtClean="0">
                                    <a:latin typeface="Cambria Math" panose="02040503050406030204" pitchFamily="18" charset="0"/>
                                  </a:rPr>
                                  <m:t>𝑥</m:t>
                                </m:r>
                              </m:e>
                              <m:sub>
                                <m:r>
                                  <a:rPr lang="en-CA" sz="2400" b="0" i="1" smtClean="0">
                                    <a:latin typeface="Cambria Math" panose="02040503050406030204" pitchFamily="18" charset="0"/>
                                  </a:rPr>
                                  <m:t>1</m:t>
                                </m:r>
                              </m:sub>
                            </m:sSub>
                            <m:r>
                              <a:rPr lang="en-CA" sz="2400" b="0" i="1" smtClean="0">
                                <a:latin typeface="Cambria Math" panose="02040503050406030204" pitchFamily="18" charset="0"/>
                              </a:rPr>
                              <m:t>,…, </m:t>
                            </m:r>
                            <m:sSub>
                              <m:sSubPr>
                                <m:ctrlPr>
                                  <a:rPr lang="en-CA" sz="2400" b="0" i="1" smtClean="0">
                                    <a:latin typeface="Cambria Math" panose="02040503050406030204" pitchFamily="18" charset="0"/>
                                  </a:rPr>
                                </m:ctrlPr>
                              </m:sSubPr>
                              <m:e>
                                <m:r>
                                  <a:rPr lang="en-CA" sz="2400" b="0" i="1" smtClean="0">
                                    <a:latin typeface="Cambria Math" panose="02040503050406030204" pitchFamily="18" charset="0"/>
                                  </a:rPr>
                                  <m:t>𝑥</m:t>
                                </m:r>
                              </m:e>
                              <m:sub>
                                <m:r>
                                  <a:rPr lang="en-CA" sz="2400" b="0" i="1" smtClean="0">
                                    <a:latin typeface="Cambria Math" panose="02040503050406030204" pitchFamily="18" charset="0"/>
                                  </a:rPr>
                                  <m:t>𝑛</m:t>
                                </m:r>
                              </m:sub>
                            </m:sSub>
                          </m:e>
                        </m:d>
                      </m:e>
                    </m:d>
                  </m:oMath>
                </a14:m>
                <a:r>
                  <a:rPr lang="en-CA" sz="2400" dirty="0"/>
                  <a:t/>
                </a:r>
                <a:br>
                  <a:rPr lang="en-CA" sz="2400" dirty="0"/>
                </a:br>
                <a:r>
                  <a:rPr lang="en-CA" sz="1600" dirty="0"/>
                  <a:t/>
                </a:r>
                <a:br>
                  <a:rPr lang="en-CA" sz="1600" dirty="0"/>
                </a:br>
                <a:endParaRPr lang="en-US" sz="1200" dirty="0"/>
              </a:p>
              <a:p>
                <a:r>
                  <a:rPr lang="en-US" sz="2400" dirty="0"/>
                  <a:t>Running </a:t>
                </a:r>
                <a14:m>
                  <m:oMath xmlns:m="http://schemas.openxmlformats.org/officeDocument/2006/math">
                    <m:sSub>
                      <m:sSubPr>
                        <m:ctrlPr>
                          <a:rPr lang="en-CA" sz="2400" b="0" i="1" smtClean="0">
                            <a:latin typeface="Cambria Math" panose="02040503050406030204" pitchFamily="18" charset="0"/>
                          </a:rPr>
                        </m:ctrlPr>
                      </m:sSubPr>
                      <m:e>
                        <m:r>
                          <a:rPr lang="en-CA" sz="2400" b="0" i="1" smtClean="0">
                            <a:latin typeface="Cambria Math" panose="02040503050406030204" pitchFamily="18" charset="0"/>
                          </a:rPr>
                          <m:t>𝑅</m:t>
                        </m:r>
                      </m:e>
                      <m:sub>
                        <m:r>
                          <a:rPr lang="en-CA" sz="2400" b="0" i="1" smtClean="0">
                            <a:latin typeface="Cambria Math" panose="02040503050406030204" pitchFamily="18" charset="0"/>
                          </a:rPr>
                          <m:t>𝑓</m:t>
                        </m:r>
                      </m:sub>
                    </m:sSub>
                  </m:oMath>
                </a14:m>
                <a:r>
                  <a:rPr lang="en-US" sz="2400" dirty="0"/>
                  <a:t> on input </a:t>
                </a:r>
                <a14:m>
                  <m:oMath xmlns:m="http://schemas.openxmlformats.org/officeDocument/2006/math">
                    <m:d>
                      <m:dPr>
                        <m:begChr m:val="|"/>
                        <m:endChr m:val="⟩"/>
                        <m:ctrlPr>
                          <a:rPr lang="en-CA" sz="2400" b="0" i="1" smtClean="0">
                            <a:latin typeface="Cambria Math" panose="02040503050406030204" pitchFamily="18" charset="0"/>
                          </a:rPr>
                        </m:ctrlPr>
                      </m:dPr>
                      <m:e>
                        <m:sSub>
                          <m:sSubPr>
                            <m:ctrlPr>
                              <a:rPr lang="en-CA" sz="2400" b="0" i="1" smtClean="0">
                                <a:latin typeface="Cambria Math" panose="02040503050406030204" pitchFamily="18" charset="0"/>
                              </a:rPr>
                            </m:ctrlPr>
                          </m:sSubPr>
                          <m:e>
                            <m:r>
                              <a:rPr lang="en-CA" sz="2400" b="0" i="1" smtClean="0">
                                <a:latin typeface="Cambria Math" panose="02040503050406030204" pitchFamily="18" charset="0"/>
                              </a:rPr>
                              <m:t>𝑥</m:t>
                            </m:r>
                          </m:e>
                          <m:sub>
                            <m:r>
                              <a:rPr lang="en-CA" sz="2400" b="0" i="1" smtClean="0">
                                <a:latin typeface="Cambria Math" panose="02040503050406030204" pitchFamily="18" charset="0"/>
                              </a:rPr>
                              <m:t>1</m:t>
                            </m:r>
                          </m:sub>
                        </m:sSub>
                        <m:r>
                          <a:rPr lang="en-CA" sz="2400" b="0" i="1" smtClean="0">
                            <a:latin typeface="Cambria Math" panose="02040503050406030204" pitchFamily="18" charset="0"/>
                          </a:rPr>
                          <m:t>,</m:t>
                        </m:r>
                        <m:sSub>
                          <m:sSubPr>
                            <m:ctrlPr>
                              <a:rPr lang="en-CA" sz="2400" b="0" i="1" smtClean="0">
                                <a:latin typeface="Cambria Math" panose="02040503050406030204" pitchFamily="18" charset="0"/>
                              </a:rPr>
                            </m:ctrlPr>
                          </m:sSubPr>
                          <m:e>
                            <m:r>
                              <a:rPr lang="en-CA" sz="2400" b="0" i="1" smtClean="0">
                                <a:latin typeface="Cambria Math" panose="02040503050406030204" pitchFamily="18" charset="0"/>
                              </a:rPr>
                              <m:t>𝑥</m:t>
                            </m:r>
                          </m:e>
                          <m:sub>
                            <m:r>
                              <a:rPr lang="en-CA" sz="2400" b="0" i="1" smtClean="0">
                                <a:latin typeface="Cambria Math" panose="02040503050406030204" pitchFamily="18" charset="0"/>
                              </a:rPr>
                              <m:t>2</m:t>
                            </m:r>
                          </m:sub>
                        </m:sSub>
                        <m:r>
                          <a:rPr lang="en-CA" sz="2400" b="0" i="1" smtClean="0">
                            <a:latin typeface="Cambria Math" panose="02040503050406030204" pitchFamily="18" charset="0"/>
                          </a:rPr>
                          <m:t>,…,</m:t>
                        </m:r>
                        <m:sSub>
                          <m:sSubPr>
                            <m:ctrlPr>
                              <a:rPr lang="en-CA" sz="2400" b="0" i="1" smtClean="0">
                                <a:latin typeface="Cambria Math" panose="02040503050406030204" pitchFamily="18" charset="0"/>
                              </a:rPr>
                            </m:ctrlPr>
                          </m:sSubPr>
                          <m:e>
                            <m:r>
                              <a:rPr lang="en-CA" sz="2400" b="0" i="1" smtClean="0">
                                <a:latin typeface="Cambria Math" panose="02040503050406030204" pitchFamily="18" charset="0"/>
                              </a:rPr>
                              <m:t>𝑥</m:t>
                            </m:r>
                          </m:e>
                          <m:sub>
                            <m:r>
                              <a:rPr lang="en-CA" sz="2400" b="0" i="1" smtClean="0">
                                <a:latin typeface="Cambria Math" panose="02040503050406030204" pitchFamily="18" charset="0"/>
                              </a:rPr>
                              <m:t>𝑛</m:t>
                            </m:r>
                          </m:sub>
                        </m:sSub>
                        <m:r>
                          <a:rPr lang="en-CA" sz="2400" b="0" i="1" smtClean="0">
                            <a:latin typeface="Cambria Math" panose="02040503050406030204" pitchFamily="18" charset="0"/>
                          </a:rPr>
                          <m:t>,0</m:t>
                        </m:r>
                      </m:e>
                    </m:d>
                  </m:oMath>
                </a14:m>
                <a:r>
                  <a:rPr lang="en-US" sz="2400" dirty="0"/>
                  <a:t> yields </a:t>
                </a:r>
                <a14:m>
                  <m:oMath xmlns:m="http://schemas.openxmlformats.org/officeDocument/2006/math">
                    <m:r>
                      <a:rPr lang="en-CA" sz="2400" b="0" i="1" smtClean="0">
                        <a:latin typeface="Cambria Math" panose="02040503050406030204" pitchFamily="18" charset="0"/>
                      </a:rPr>
                      <m:t>𝑓</m:t>
                    </m:r>
                    <m:r>
                      <a:rPr lang="en-CA" sz="2400" b="0" i="1" smtClean="0">
                        <a:latin typeface="Cambria Math" panose="02040503050406030204" pitchFamily="18" charset="0"/>
                      </a:rPr>
                      <m:t>(</m:t>
                    </m:r>
                    <m:sSub>
                      <m:sSubPr>
                        <m:ctrlPr>
                          <a:rPr lang="en-CA" sz="2400" b="0" i="1" smtClean="0">
                            <a:latin typeface="Cambria Math" panose="02040503050406030204" pitchFamily="18" charset="0"/>
                          </a:rPr>
                        </m:ctrlPr>
                      </m:sSubPr>
                      <m:e>
                        <m:r>
                          <a:rPr lang="en-CA" sz="2400" b="0" i="1" smtClean="0">
                            <a:latin typeface="Cambria Math" panose="02040503050406030204" pitchFamily="18" charset="0"/>
                          </a:rPr>
                          <m:t>𝑥</m:t>
                        </m:r>
                      </m:e>
                      <m:sub>
                        <m:r>
                          <a:rPr lang="en-CA" sz="2400" b="0" i="1" smtClean="0">
                            <a:latin typeface="Cambria Math" panose="02040503050406030204" pitchFamily="18" charset="0"/>
                          </a:rPr>
                          <m:t>1</m:t>
                        </m:r>
                      </m:sub>
                    </m:sSub>
                    <m:r>
                      <a:rPr lang="en-CA" sz="2400" b="0" i="1" smtClean="0">
                        <a:latin typeface="Cambria Math" panose="02040503050406030204" pitchFamily="18" charset="0"/>
                      </a:rPr>
                      <m:t>,…,</m:t>
                    </m:r>
                    <m:sSub>
                      <m:sSubPr>
                        <m:ctrlPr>
                          <a:rPr lang="en-CA" sz="2400" b="0" i="1" smtClean="0">
                            <a:latin typeface="Cambria Math" panose="02040503050406030204" pitchFamily="18" charset="0"/>
                          </a:rPr>
                        </m:ctrlPr>
                      </m:sSubPr>
                      <m:e>
                        <m:r>
                          <a:rPr lang="en-CA" sz="2400" b="0" i="1" smtClean="0">
                            <a:latin typeface="Cambria Math" panose="02040503050406030204" pitchFamily="18" charset="0"/>
                          </a:rPr>
                          <m:t>𝑥</m:t>
                        </m:r>
                      </m:e>
                      <m:sub>
                        <m:r>
                          <a:rPr lang="en-CA" sz="2400" b="0" i="1" smtClean="0">
                            <a:latin typeface="Cambria Math" panose="02040503050406030204" pitchFamily="18" charset="0"/>
                          </a:rPr>
                          <m:t>𝑛</m:t>
                        </m:r>
                      </m:sub>
                    </m:sSub>
                    <m:r>
                      <a:rPr lang="en-CA" sz="2400" b="0" i="1" smtClean="0">
                        <a:latin typeface="Cambria Math" panose="02040503050406030204" pitchFamily="18" charset="0"/>
                      </a:rPr>
                      <m:t>)</m:t>
                    </m:r>
                  </m:oMath>
                </a14:m>
                <a:r>
                  <a:rPr lang="en-US" sz="2400" dirty="0"/>
                  <a:t> in last bit </a:t>
                </a:r>
                <a:r>
                  <a:rPr lang="en-US" sz="2400" dirty="0" smtClean="0"/>
                  <a:t/>
                </a:r>
                <a:br>
                  <a:rPr lang="en-US" sz="2400" dirty="0" smtClean="0"/>
                </a:br>
                <a:r>
                  <a:rPr lang="en-US" sz="2400" dirty="0" smtClean="0"/>
                  <a:t>									(</a:t>
                </a:r>
                <a:r>
                  <a:rPr lang="en-US" sz="2400" b="1" i="1" dirty="0">
                    <a:solidFill>
                      <a:srgbClr val="C00000"/>
                    </a:solidFill>
                  </a:rPr>
                  <a:t>ancilla</a:t>
                </a:r>
                <a:r>
                  <a:rPr lang="en-US" sz="2400" b="1" i="1" dirty="0"/>
                  <a:t> </a:t>
                </a:r>
                <a:r>
                  <a:rPr lang="en-US" sz="2400" dirty="0"/>
                  <a:t>bit)</a:t>
                </a:r>
              </a:p>
              <a:p>
                <a:endParaRPr lang="en-US" sz="2400" b="1" dirty="0"/>
              </a:p>
              <a:p>
                <a14:m>
                  <m:oMath xmlns:m="http://schemas.openxmlformats.org/officeDocument/2006/math">
                    <m:sSub>
                      <m:sSubPr>
                        <m:ctrlPr>
                          <a:rPr lang="en-CA" sz="2400" i="1">
                            <a:latin typeface="Cambria Math" panose="02040503050406030204" pitchFamily="18" charset="0"/>
                          </a:rPr>
                        </m:ctrlPr>
                      </m:sSubPr>
                      <m:e>
                        <m:r>
                          <a:rPr lang="en-CA" sz="2400" b="0" i="1" smtClean="0">
                            <a:latin typeface="Cambria Math" panose="02040503050406030204" pitchFamily="18" charset="0"/>
                          </a:rPr>
                          <m:t>𝑅</m:t>
                        </m:r>
                      </m:e>
                      <m:sub>
                        <m:r>
                          <a:rPr lang="en-CA" sz="2400" i="1">
                            <a:latin typeface="Cambria Math" panose="02040503050406030204" pitchFamily="18" charset="0"/>
                          </a:rPr>
                          <m:t>𝑓</m:t>
                        </m:r>
                      </m:sub>
                    </m:sSub>
                    <m:r>
                      <a:rPr lang="en-CA" sz="2400" i="1">
                        <a:latin typeface="Cambria Math" panose="02040503050406030204" pitchFamily="18" charset="0"/>
                      </a:rPr>
                      <m:t> </m:t>
                    </m:r>
                  </m:oMath>
                </a14:m>
                <a:r>
                  <a:rPr lang="en-CA" sz="2400" dirty="0"/>
                  <a:t>is its own inverse, thus reversible.</a:t>
                </a:r>
                <a:endParaRPr lang="en-US" sz="2400" b="1" dirty="0"/>
              </a:p>
              <a:p>
                <a:endParaRPr lang="en-US" sz="2400" dirty="0"/>
              </a:p>
              <a:p>
                <a:pPr marL="0" indent="0">
                  <a:buNone/>
                </a:pPr>
                <a:endParaRPr lang="en-US" sz="2400" dirty="0"/>
              </a:p>
            </p:txBody>
          </p:sp>
        </mc:Choice>
        <mc:Fallback xmlns="">
          <p:sp>
            <p:nvSpPr>
              <p:cNvPr id="3" name="Content Placeholder 2">
                <a:extLst>
                  <a:ext uri="{FF2B5EF4-FFF2-40B4-BE49-F238E27FC236}">
                    <a16:creationId xmlns:a16="http://schemas.microsoft.com/office/drawing/2014/main" id="{12194FAD-725C-122F-760E-6489EFE61761}"/>
                  </a:ext>
                </a:extLst>
              </p:cNvPr>
              <p:cNvSpPr>
                <a:spLocks noGrp="1" noRot="1" noChangeAspect="1" noMove="1" noResize="1" noEditPoints="1" noAdjustHandles="1" noChangeArrowheads="1" noChangeShapeType="1" noTextEdit="1"/>
              </p:cNvSpPr>
              <p:nvPr>
                <p:ph idx="1"/>
              </p:nvPr>
            </p:nvSpPr>
            <p:spPr>
              <a:xfrm>
                <a:off x="838200" y="1825624"/>
                <a:ext cx="10515600" cy="4532313"/>
              </a:xfrm>
              <a:blipFill>
                <a:blip r:embed="rId2"/>
                <a:stretch>
                  <a:fillRect l="-812" t="-1882"/>
                </a:stretch>
              </a:blipFill>
            </p:spPr>
            <p:txBody>
              <a:bodyPr/>
              <a:lstStyle/>
              <a:p>
                <a:r>
                  <a:rPr lang="ko-KR" altLang="en-US">
                    <a:noFill/>
                  </a:rPr>
                  <a:t> </a:t>
                </a:r>
              </a:p>
            </p:txBody>
          </p:sp>
        </mc:Fallback>
      </mc:AlternateContent>
      <p:cxnSp>
        <p:nvCxnSpPr>
          <p:cNvPr id="6" name="Straight Connector 5">
            <a:extLst>
              <a:ext uri="{FF2B5EF4-FFF2-40B4-BE49-F238E27FC236}">
                <a16:creationId xmlns:a16="http://schemas.microsoft.com/office/drawing/2014/main" id="{99ACEA54-913D-8CB3-494F-B935AA4B07C1}"/>
              </a:ext>
            </a:extLst>
          </p:cNvPr>
          <p:cNvCxnSpPr/>
          <p:nvPr/>
        </p:nvCxnSpPr>
        <p:spPr>
          <a:xfrm>
            <a:off x="7832607" y="4650498"/>
            <a:ext cx="990600" cy="0"/>
          </a:xfrm>
          <a:prstGeom prst="line">
            <a:avLst/>
          </a:prstGeom>
          <a:ln w="38100"/>
        </p:spPr>
        <p:style>
          <a:lnRef idx="1">
            <a:schemeClr val="accent1"/>
          </a:lnRef>
          <a:fillRef idx="0">
            <a:schemeClr val="accent1"/>
          </a:fillRef>
          <a:effectRef idx="0">
            <a:schemeClr val="accent1"/>
          </a:effectRef>
          <a:fontRef idx="minor">
            <a:schemeClr val="tx1"/>
          </a:fontRef>
        </p:style>
      </p:cxnSp>
      <p:cxnSp>
        <p:nvCxnSpPr>
          <p:cNvPr id="7" name="Straight Connector 6">
            <a:extLst>
              <a:ext uri="{FF2B5EF4-FFF2-40B4-BE49-F238E27FC236}">
                <a16:creationId xmlns:a16="http://schemas.microsoft.com/office/drawing/2014/main" id="{63BAF0D3-4D6C-F3EB-71DF-5F5595CD7217}"/>
              </a:ext>
            </a:extLst>
          </p:cNvPr>
          <p:cNvCxnSpPr/>
          <p:nvPr/>
        </p:nvCxnSpPr>
        <p:spPr>
          <a:xfrm>
            <a:off x="7832607" y="5031499"/>
            <a:ext cx="990600" cy="0"/>
          </a:xfrm>
          <a:prstGeom prst="line">
            <a:avLst/>
          </a:prstGeom>
          <a:ln w="38100"/>
        </p:spPr>
        <p:style>
          <a:lnRef idx="1">
            <a:schemeClr val="accent1"/>
          </a:lnRef>
          <a:fillRef idx="0">
            <a:schemeClr val="accent1"/>
          </a:fillRef>
          <a:effectRef idx="0">
            <a:schemeClr val="accent1"/>
          </a:effectRef>
          <a:fontRef idx="minor">
            <a:schemeClr val="tx1"/>
          </a:fontRef>
        </p:style>
      </p:cxnSp>
      <p:cxnSp>
        <p:nvCxnSpPr>
          <p:cNvPr id="8" name="Straight Connector 7">
            <a:extLst>
              <a:ext uri="{FF2B5EF4-FFF2-40B4-BE49-F238E27FC236}">
                <a16:creationId xmlns:a16="http://schemas.microsoft.com/office/drawing/2014/main" id="{8247A8B7-3E9E-68C0-8DBD-6C4052240DFF}"/>
              </a:ext>
            </a:extLst>
          </p:cNvPr>
          <p:cNvCxnSpPr>
            <a:cxnSpLocks/>
          </p:cNvCxnSpPr>
          <p:nvPr/>
        </p:nvCxnSpPr>
        <p:spPr>
          <a:xfrm>
            <a:off x="7832607" y="5445836"/>
            <a:ext cx="2679581" cy="0"/>
          </a:xfrm>
          <a:prstGeom prst="line">
            <a:avLst/>
          </a:prstGeom>
          <a:ln w="38100"/>
        </p:spPr>
        <p:style>
          <a:lnRef idx="1">
            <a:schemeClr val="accent1"/>
          </a:lnRef>
          <a:fillRef idx="0">
            <a:schemeClr val="accent1"/>
          </a:fillRef>
          <a:effectRef idx="0">
            <a:schemeClr val="accent1"/>
          </a:effectRef>
          <a:fontRef idx="minor">
            <a:schemeClr val="tx1"/>
          </a:fontRef>
        </p:style>
      </p:cxnSp>
      <p:sp>
        <p:nvSpPr>
          <p:cNvPr id="9" name="Rectangle 8">
            <a:extLst>
              <a:ext uri="{FF2B5EF4-FFF2-40B4-BE49-F238E27FC236}">
                <a16:creationId xmlns:a16="http://schemas.microsoft.com/office/drawing/2014/main" id="{8F8C30A2-A972-77DA-0C5B-305510918A61}"/>
              </a:ext>
            </a:extLst>
          </p:cNvPr>
          <p:cNvSpPr/>
          <p:nvPr/>
        </p:nvSpPr>
        <p:spPr>
          <a:xfrm>
            <a:off x="8094030" y="4543545"/>
            <a:ext cx="2062675" cy="2039399"/>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11" name="Straight Connector 10">
            <a:extLst>
              <a:ext uri="{FF2B5EF4-FFF2-40B4-BE49-F238E27FC236}">
                <a16:creationId xmlns:a16="http://schemas.microsoft.com/office/drawing/2014/main" id="{34CED6E9-D22B-BDE4-137A-0AA40FD6ABB9}"/>
              </a:ext>
            </a:extLst>
          </p:cNvPr>
          <p:cNvCxnSpPr>
            <a:cxnSpLocks/>
          </p:cNvCxnSpPr>
          <p:nvPr/>
        </p:nvCxnSpPr>
        <p:spPr>
          <a:xfrm>
            <a:off x="9358989" y="5031499"/>
            <a:ext cx="1153199" cy="0"/>
          </a:xfrm>
          <a:prstGeom prst="line">
            <a:avLst/>
          </a:prstGeom>
          <a:ln w="38100"/>
        </p:spPr>
        <p:style>
          <a:lnRef idx="1">
            <a:schemeClr val="accent1"/>
          </a:lnRef>
          <a:fillRef idx="0">
            <a:schemeClr val="accent1"/>
          </a:fillRef>
          <a:effectRef idx="0">
            <a:schemeClr val="accent1"/>
          </a:effectRef>
          <a:fontRef idx="minor">
            <a:schemeClr val="tx1"/>
          </a:fontRef>
        </p:style>
      </p:cxnSp>
      <p:cxnSp>
        <p:nvCxnSpPr>
          <p:cNvPr id="12" name="Straight Connector 11">
            <a:extLst>
              <a:ext uri="{FF2B5EF4-FFF2-40B4-BE49-F238E27FC236}">
                <a16:creationId xmlns:a16="http://schemas.microsoft.com/office/drawing/2014/main" id="{A44899F0-A2A0-31FC-6AA1-5D3991AFA5A2}"/>
              </a:ext>
            </a:extLst>
          </p:cNvPr>
          <p:cNvCxnSpPr>
            <a:cxnSpLocks/>
          </p:cNvCxnSpPr>
          <p:nvPr/>
        </p:nvCxnSpPr>
        <p:spPr>
          <a:xfrm>
            <a:off x="9358989" y="4650498"/>
            <a:ext cx="1153199" cy="0"/>
          </a:xfrm>
          <a:prstGeom prst="line">
            <a:avLst/>
          </a:prstGeom>
          <a:ln w="38100"/>
        </p:spPr>
        <p:style>
          <a:lnRef idx="1">
            <a:schemeClr val="accent1"/>
          </a:lnRef>
          <a:fillRef idx="0">
            <a:schemeClr val="accent1"/>
          </a:fillRef>
          <a:effectRef idx="0">
            <a:schemeClr val="accent1"/>
          </a:effectRef>
          <a:fontRef idx="minor">
            <a:schemeClr val="tx1"/>
          </a:fontRef>
        </p:style>
      </p:cxnSp>
      <p:cxnSp>
        <p:nvCxnSpPr>
          <p:cNvPr id="15" name="Straight Connector 14">
            <a:extLst>
              <a:ext uri="{FF2B5EF4-FFF2-40B4-BE49-F238E27FC236}">
                <a16:creationId xmlns:a16="http://schemas.microsoft.com/office/drawing/2014/main" id="{85DABE39-2961-0A53-EBDD-CF2F4A6F9058}"/>
              </a:ext>
            </a:extLst>
          </p:cNvPr>
          <p:cNvCxnSpPr>
            <a:cxnSpLocks/>
          </p:cNvCxnSpPr>
          <p:nvPr/>
        </p:nvCxnSpPr>
        <p:spPr>
          <a:xfrm>
            <a:off x="7828942" y="6388232"/>
            <a:ext cx="2683246" cy="0"/>
          </a:xfrm>
          <a:prstGeom prst="line">
            <a:avLst/>
          </a:prstGeom>
          <a:ln w="38100"/>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18" name="Rectangle 17">
                <a:extLst>
                  <a:ext uri="{FF2B5EF4-FFF2-40B4-BE49-F238E27FC236}">
                    <a16:creationId xmlns:a16="http://schemas.microsoft.com/office/drawing/2014/main" id="{0056F082-62D1-EA18-850D-758B08830239}"/>
                  </a:ext>
                </a:extLst>
              </p:cNvPr>
              <p:cNvSpPr/>
              <p:nvPr/>
            </p:nvSpPr>
            <p:spPr>
              <a:xfrm>
                <a:off x="7130138" y="4465832"/>
                <a:ext cx="616771" cy="369332"/>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d>
                        <m:dPr>
                          <m:begChr m:val="|"/>
                          <m:endChr m:val="⟩"/>
                          <m:ctrlPr>
                            <a:rPr lang="en-CA" i="1" smtClean="0">
                              <a:latin typeface="Cambria Math" panose="02040503050406030204" pitchFamily="18" charset="0"/>
                            </a:rPr>
                          </m:ctrlPr>
                        </m:dPr>
                        <m:e>
                          <m:sSub>
                            <m:sSubPr>
                              <m:ctrlPr>
                                <a:rPr lang="en-CA" b="0" i="1" smtClean="0">
                                  <a:latin typeface="Cambria Math" panose="02040503050406030204" pitchFamily="18" charset="0"/>
                                </a:rPr>
                              </m:ctrlPr>
                            </m:sSubPr>
                            <m:e>
                              <m:r>
                                <a:rPr lang="en-CA" b="0" i="1" smtClean="0">
                                  <a:latin typeface="Cambria Math" panose="02040503050406030204" pitchFamily="18" charset="0"/>
                                </a:rPr>
                                <m:t>𝑥</m:t>
                              </m:r>
                            </m:e>
                            <m:sub>
                              <m:r>
                                <a:rPr lang="en-CA" b="0" i="1" smtClean="0">
                                  <a:latin typeface="Cambria Math" panose="02040503050406030204" pitchFamily="18" charset="0"/>
                                </a:rPr>
                                <m:t>1</m:t>
                              </m:r>
                            </m:sub>
                          </m:sSub>
                        </m:e>
                      </m:d>
                    </m:oMath>
                  </m:oMathPara>
                </a14:m>
                <a:endParaRPr lang="en-US" dirty="0"/>
              </a:p>
            </p:txBody>
          </p:sp>
        </mc:Choice>
        <mc:Fallback xmlns="">
          <p:sp>
            <p:nvSpPr>
              <p:cNvPr id="18" name="Rectangle 17">
                <a:extLst>
                  <a:ext uri="{FF2B5EF4-FFF2-40B4-BE49-F238E27FC236}">
                    <a16:creationId xmlns:a16="http://schemas.microsoft.com/office/drawing/2014/main" id="{0056F082-62D1-EA18-850D-758B08830239}"/>
                  </a:ext>
                </a:extLst>
              </p:cNvPr>
              <p:cNvSpPr>
                <a:spLocks noRot="1" noChangeAspect="1" noMove="1" noResize="1" noEditPoints="1" noAdjustHandles="1" noChangeArrowheads="1" noChangeShapeType="1" noTextEdit="1"/>
              </p:cNvSpPr>
              <p:nvPr/>
            </p:nvSpPr>
            <p:spPr>
              <a:xfrm>
                <a:off x="7130138" y="4465832"/>
                <a:ext cx="616771" cy="369332"/>
              </a:xfrm>
              <a:prstGeom prst="rect">
                <a:avLst/>
              </a:prstGeom>
              <a:blipFill>
                <a:blip r:embed="rId4"/>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9" name="Rectangle 18">
                <a:extLst>
                  <a:ext uri="{FF2B5EF4-FFF2-40B4-BE49-F238E27FC236}">
                    <a16:creationId xmlns:a16="http://schemas.microsoft.com/office/drawing/2014/main" id="{6C9ED94D-B122-E5CD-665E-D29418FAAA6C}"/>
                  </a:ext>
                </a:extLst>
              </p:cNvPr>
              <p:cNvSpPr/>
              <p:nvPr/>
            </p:nvSpPr>
            <p:spPr>
              <a:xfrm>
                <a:off x="7125743" y="4798894"/>
                <a:ext cx="616771" cy="369332"/>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d>
                        <m:dPr>
                          <m:begChr m:val="|"/>
                          <m:endChr m:val="⟩"/>
                          <m:ctrlPr>
                            <a:rPr lang="en-CA" i="1" smtClean="0">
                              <a:latin typeface="Cambria Math" panose="02040503050406030204" pitchFamily="18" charset="0"/>
                            </a:rPr>
                          </m:ctrlPr>
                        </m:dPr>
                        <m:e>
                          <m:sSub>
                            <m:sSubPr>
                              <m:ctrlPr>
                                <a:rPr lang="en-CA" b="0" i="1" smtClean="0">
                                  <a:latin typeface="Cambria Math" panose="02040503050406030204" pitchFamily="18" charset="0"/>
                                </a:rPr>
                              </m:ctrlPr>
                            </m:sSubPr>
                            <m:e>
                              <m:r>
                                <a:rPr lang="en-CA" b="0" i="1" smtClean="0">
                                  <a:latin typeface="Cambria Math" panose="02040503050406030204" pitchFamily="18" charset="0"/>
                                </a:rPr>
                                <m:t>𝑥</m:t>
                              </m:r>
                            </m:e>
                            <m:sub>
                              <m:r>
                                <a:rPr lang="en-CA" b="0" i="1" smtClean="0">
                                  <a:latin typeface="Cambria Math" panose="02040503050406030204" pitchFamily="18" charset="0"/>
                                </a:rPr>
                                <m:t>2</m:t>
                              </m:r>
                            </m:sub>
                          </m:sSub>
                        </m:e>
                      </m:d>
                    </m:oMath>
                  </m:oMathPara>
                </a14:m>
                <a:endParaRPr lang="en-US" dirty="0"/>
              </a:p>
            </p:txBody>
          </p:sp>
        </mc:Choice>
        <mc:Fallback xmlns="">
          <p:sp>
            <p:nvSpPr>
              <p:cNvPr id="19" name="Rectangle 18">
                <a:extLst>
                  <a:ext uri="{FF2B5EF4-FFF2-40B4-BE49-F238E27FC236}">
                    <a16:creationId xmlns:a16="http://schemas.microsoft.com/office/drawing/2014/main" id="{6C9ED94D-B122-E5CD-665E-D29418FAAA6C}"/>
                  </a:ext>
                </a:extLst>
              </p:cNvPr>
              <p:cNvSpPr>
                <a:spLocks noRot="1" noChangeAspect="1" noMove="1" noResize="1" noEditPoints="1" noAdjustHandles="1" noChangeArrowheads="1" noChangeShapeType="1" noTextEdit="1"/>
              </p:cNvSpPr>
              <p:nvPr/>
            </p:nvSpPr>
            <p:spPr>
              <a:xfrm>
                <a:off x="7125743" y="4798894"/>
                <a:ext cx="616771" cy="369332"/>
              </a:xfrm>
              <a:prstGeom prst="rect">
                <a:avLst/>
              </a:prstGeom>
              <a:blipFill>
                <a:blip r:embed="rId5"/>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20" name="Rectangle 19">
                <a:extLst>
                  <a:ext uri="{FF2B5EF4-FFF2-40B4-BE49-F238E27FC236}">
                    <a16:creationId xmlns:a16="http://schemas.microsoft.com/office/drawing/2014/main" id="{C354FC34-81A8-723D-F447-FA82A017E6A4}"/>
                  </a:ext>
                </a:extLst>
              </p:cNvPr>
              <p:cNvSpPr/>
              <p:nvPr/>
            </p:nvSpPr>
            <p:spPr>
              <a:xfrm>
                <a:off x="7129821" y="5180564"/>
                <a:ext cx="616771" cy="369332"/>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d>
                        <m:dPr>
                          <m:begChr m:val="|"/>
                          <m:endChr m:val="⟩"/>
                          <m:ctrlPr>
                            <a:rPr lang="en-CA" i="1" smtClean="0">
                              <a:latin typeface="Cambria Math" panose="02040503050406030204" pitchFamily="18" charset="0"/>
                            </a:rPr>
                          </m:ctrlPr>
                        </m:dPr>
                        <m:e>
                          <m:sSub>
                            <m:sSubPr>
                              <m:ctrlPr>
                                <a:rPr lang="en-CA" b="0" i="1" smtClean="0">
                                  <a:latin typeface="Cambria Math" panose="02040503050406030204" pitchFamily="18" charset="0"/>
                                </a:rPr>
                              </m:ctrlPr>
                            </m:sSubPr>
                            <m:e>
                              <m:r>
                                <a:rPr lang="en-CA" b="0" i="1" smtClean="0">
                                  <a:latin typeface="Cambria Math" panose="02040503050406030204" pitchFamily="18" charset="0"/>
                                </a:rPr>
                                <m:t>𝑥</m:t>
                              </m:r>
                            </m:e>
                            <m:sub>
                              <m:r>
                                <a:rPr lang="en-CA" b="0" i="1" smtClean="0">
                                  <a:latin typeface="Cambria Math" panose="02040503050406030204" pitchFamily="18" charset="0"/>
                                </a:rPr>
                                <m:t>3</m:t>
                              </m:r>
                            </m:sub>
                          </m:sSub>
                        </m:e>
                      </m:d>
                    </m:oMath>
                  </m:oMathPara>
                </a14:m>
                <a:endParaRPr lang="en-US" dirty="0"/>
              </a:p>
            </p:txBody>
          </p:sp>
        </mc:Choice>
        <mc:Fallback xmlns="">
          <p:sp>
            <p:nvSpPr>
              <p:cNvPr id="20" name="Rectangle 19">
                <a:extLst>
                  <a:ext uri="{FF2B5EF4-FFF2-40B4-BE49-F238E27FC236}">
                    <a16:creationId xmlns:a16="http://schemas.microsoft.com/office/drawing/2014/main" id="{C354FC34-81A8-723D-F447-FA82A017E6A4}"/>
                  </a:ext>
                </a:extLst>
              </p:cNvPr>
              <p:cNvSpPr>
                <a:spLocks noRot="1" noChangeAspect="1" noMove="1" noResize="1" noEditPoints="1" noAdjustHandles="1" noChangeArrowheads="1" noChangeShapeType="1" noTextEdit="1"/>
              </p:cNvSpPr>
              <p:nvPr/>
            </p:nvSpPr>
            <p:spPr>
              <a:xfrm>
                <a:off x="7129821" y="5180564"/>
                <a:ext cx="616771" cy="369332"/>
              </a:xfrm>
              <a:prstGeom prst="rect">
                <a:avLst/>
              </a:prstGeom>
              <a:blipFill>
                <a:blip r:embed="rId6"/>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21" name="Rectangle 20">
                <a:extLst>
                  <a:ext uri="{FF2B5EF4-FFF2-40B4-BE49-F238E27FC236}">
                    <a16:creationId xmlns:a16="http://schemas.microsoft.com/office/drawing/2014/main" id="{72464EE4-12FA-DEB3-F1DC-6BB6AADDF394}"/>
                  </a:ext>
                </a:extLst>
              </p:cNvPr>
              <p:cNvSpPr/>
              <p:nvPr/>
            </p:nvSpPr>
            <p:spPr>
              <a:xfrm>
                <a:off x="7125743" y="6184776"/>
                <a:ext cx="523668" cy="369332"/>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d>
                        <m:dPr>
                          <m:begChr m:val="|"/>
                          <m:endChr m:val="⟩"/>
                          <m:ctrlPr>
                            <a:rPr lang="en-CA" i="1" smtClean="0">
                              <a:latin typeface="Cambria Math" panose="02040503050406030204" pitchFamily="18" charset="0"/>
                            </a:rPr>
                          </m:ctrlPr>
                        </m:dPr>
                        <m:e>
                          <m:r>
                            <a:rPr lang="en-CA" b="0" i="1" smtClean="0">
                              <a:latin typeface="Cambria Math" panose="02040503050406030204" pitchFamily="18" charset="0"/>
                            </a:rPr>
                            <m:t>𝑏</m:t>
                          </m:r>
                        </m:e>
                      </m:d>
                    </m:oMath>
                  </m:oMathPara>
                </a14:m>
                <a:endParaRPr lang="en-US" dirty="0"/>
              </a:p>
            </p:txBody>
          </p:sp>
        </mc:Choice>
        <mc:Fallback xmlns="">
          <p:sp>
            <p:nvSpPr>
              <p:cNvPr id="21" name="Rectangle 20">
                <a:extLst>
                  <a:ext uri="{FF2B5EF4-FFF2-40B4-BE49-F238E27FC236}">
                    <a16:creationId xmlns:a16="http://schemas.microsoft.com/office/drawing/2014/main" id="{72464EE4-12FA-DEB3-F1DC-6BB6AADDF394}"/>
                  </a:ext>
                </a:extLst>
              </p:cNvPr>
              <p:cNvSpPr>
                <a:spLocks noRot="1" noChangeAspect="1" noMove="1" noResize="1" noEditPoints="1" noAdjustHandles="1" noChangeArrowheads="1" noChangeShapeType="1" noTextEdit="1"/>
              </p:cNvSpPr>
              <p:nvPr/>
            </p:nvSpPr>
            <p:spPr>
              <a:xfrm>
                <a:off x="7125743" y="6184776"/>
                <a:ext cx="523668" cy="369332"/>
              </a:xfrm>
              <a:prstGeom prst="rect">
                <a:avLst/>
              </a:prstGeom>
              <a:blipFill>
                <a:blip r:embed="rId7"/>
                <a:stretch>
                  <a:fillRect/>
                </a:stretch>
              </a:blipFill>
            </p:spPr>
            <p:txBody>
              <a:bodyPr/>
              <a:lstStyle/>
              <a:p>
                <a:r>
                  <a:rPr lang="en-US">
                    <a:noFill/>
                  </a:rPr>
                  <a:t> </a:t>
                </a:r>
              </a:p>
            </p:txBody>
          </p:sp>
        </mc:Fallback>
      </mc:AlternateContent>
      <p:cxnSp>
        <p:nvCxnSpPr>
          <p:cNvPr id="31" name="Straight Connector 30">
            <a:extLst>
              <a:ext uri="{FF2B5EF4-FFF2-40B4-BE49-F238E27FC236}">
                <a16:creationId xmlns:a16="http://schemas.microsoft.com/office/drawing/2014/main" id="{20E5B44C-32FE-9364-DF9B-F5D060FC0F3E}"/>
              </a:ext>
            </a:extLst>
          </p:cNvPr>
          <p:cNvCxnSpPr>
            <a:cxnSpLocks/>
          </p:cNvCxnSpPr>
          <p:nvPr/>
        </p:nvCxnSpPr>
        <p:spPr>
          <a:xfrm>
            <a:off x="7820580" y="6009300"/>
            <a:ext cx="2683246" cy="0"/>
          </a:xfrm>
          <a:prstGeom prst="line">
            <a:avLst/>
          </a:prstGeom>
          <a:ln w="38100"/>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32" name="Rectangle 31">
                <a:extLst>
                  <a:ext uri="{FF2B5EF4-FFF2-40B4-BE49-F238E27FC236}">
                    <a16:creationId xmlns:a16="http://schemas.microsoft.com/office/drawing/2014/main" id="{B27DEBFF-3A76-91B7-D384-82C9F0038336}"/>
                  </a:ext>
                </a:extLst>
              </p:cNvPr>
              <p:cNvSpPr/>
              <p:nvPr/>
            </p:nvSpPr>
            <p:spPr>
              <a:xfrm>
                <a:off x="7117381" y="5805844"/>
                <a:ext cx="636200" cy="369332"/>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d>
                        <m:dPr>
                          <m:begChr m:val="|"/>
                          <m:endChr m:val="⟩"/>
                          <m:ctrlPr>
                            <a:rPr lang="en-CA" i="1" smtClean="0">
                              <a:latin typeface="Cambria Math" panose="02040503050406030204" pitchFamily="18" charset="0"/>
                            </a:rPr>
                          </m:ctrlPr>
                        </m:dPr>
                        <m:e>
                          <m:sSub>
                            <m:sSubPr>
                              <m:ctrlPr>
                                <a:rPr lang="en-CA" b="0" i="1" smtClean="0">
                                  <a:latin typeface="Cambria Math" panose="02040503050406030204" pitchFamily="18" charset="0"/>
                                </a:rPr>
                              </m:ctrlPr>
                            </m:sSubPr>
                            <m:e>
                              <m:r>
                                <a:rPr lang="en-CA" b="0" i="1" smtClean="0">
                                  <a:latin typeface="Cambria Math" panose="02040503050406030204" pitchFamily="18" charset="0"/>
                                </a:rPr>
                                <m:t>𝑥</m:t>
                              </m:r>
                            </m:e>
                            <m:sub>
                              <m:r>
                                <a:rPr lang="en-CA" b="0" i="1" smtClean="0">
                                  <a:latin typeface="Cambria Math" panose="02040503050406030204" pitchFamily="18" charset="0"/>
                                </a:rPr>
                                <m:t>𝑛</m:t>
                              </m:r>
                            </m:sub>
                          </m:sSub>
                        </m:e>
                      </m:d>
                    </m:oMath>
                  </m:oMathPara>
                </a14:m>
                <a:endParaRPr lang="en-US" dirty="0"/>
              </a:p>
            </p:txBody>
          </p:sp>
        </mc:Choice>
        <mc:Fallback xmlns="">
          <p:sp>
            <p:nvSpPr>
              <p:cNvPr id="32" name="Rectangle 31">
                <a:extLst>
                  <a:ext uri="{FF2B5EF4-FFF2-40B4-BE49-F238E27FC236}">
                    <a16:creationId xmlns:a16="http://schemas.microsoft.com/office/drawing/2014/main" id="{B27DEBFF-3A76-91B7-D384-82C9F0038336}"/>
                  </a:ext>
                </a:extLst>
              </p:cNvPr>
              <p:cNvSpPr>
                <a:spLocks noRot="1" noChangeAspect="1" noMove="1" noResize="1" noEditPoints="1" noAdjustHandles="1" noChangeArrowheads="1" noChangeShapeType="1" noTextEdit="1"/>
              </p:cNvSpPr>
              <p:nvPr/>
            </p:nvSpPr>
            <p:spPr>
              <a:xfrm>
                <a:off x="7117381" y="5805844"/>
                <a:ext cx="636200" cy="369332"/>
              </a:xfrm>
              <a:prstGeom prst="rect">
                <a:avLst/>
              </a:prstGeom>
              <a:blipFill>
                <a:blip r:embed="rId8"/>
                <a:stretch>
                  <a:fillRect/>
                </a:stretch>
              </a:blipFill>
            </p:spPr>
            <p:txBody>
              <a:bodyPr/>
              <a:lstStyle/>
              <a:p>
                <a:r>
                  <a:rPr lang="en-US">
                    <a:noFill/>
                  </a:rPr>
                  <a:t> </a:t>
                </a:r>
              </a:p>
            </p:txBody>
          </p:sp>
        </mc:Fallback>
      </mc:AlternateContent>
      <p:sp>
        <p:nvSpPr>
          <p:cNvPr id="33" name="TextBox 32">
            <a:extLst>
              <a:ext uri="{FF2B5EF4-FFF2-40B4-BE49-F238E27FC236}">
                <a16:creationId xmlns:a16="http://schemas.microsoft.com/office/drawing/2014/main" id="{539FE2F5-6378-4391-ABD7-61F316438DC1}"/>
              </a:ext>
            </a:extLst>
          </p:cNvPr>
          <p:cNvSpPr txBox="1"/>
          <p:nvPr/>
        </p:nvSpPr>
        <p:spPr>
          <a:xfrm rot="5400000">
            <a:off x="7264606" y="5599127"/>
            <a:ext cx="475565" cy="369332"/>
          </a:xfrm>
          <a:prstGeom prst="rect">
            <a:avLst/>
          </a:prstGeom>
          <a:noFill/>
        </p:spPr>
        <p:txBody>
          <a:bodyPr wrap="square" rtlCol="0">
            <a:spAutoFit/>
          </a:bodyPr>
          <a:lstStyle/>
          <a:p>
            <a:r>
              <a:rPr lang="en-US" dirty="0"/>
              <a:t>…</a:t>
            </a:r>
          </a:p>
        </p:txBody>
      </p:sp>
      <p:sp>
        <p:nvSpPr>
          <p:cNvPr id="35" name="TextBox 34">
            <a:extLst>
              <a:ext uri="{FF2B5EF4-FFF2-40B4-BE49-F238E27FC236}">
                <a16:creationId xmlns:a16="http://schemas.microsoft.com/office/drawing/2014/main" id="{E728C979-1C3C-E8BE-557B-4639F86714F9}"/>
              </a:ext>
            </a:extLst>
          </p:cNvPr>
          <p:cNvSpPr txBox="1"/>
          <p:nvPr/>
        </p:nvSpPr>
        <p:spPr>
          <a:xfrm rot="5400000">
            <a:off x="10178875" y="5621178"/>
            <a:ext cx="475565" cy="369332"/>
          </a:xfrm>
          <a:prstGeom prst="rect">
            <a:avLst/>
          </a:prstGeom>
          <a:noFill/>
        </p:spPr>
        <p:txBody>
          <a:bodyPr wrap="square" rtlCol="0">
            <a:spAutoFit/>
          </a:bodyPr>
          <a:lstStyle/>
          <a:p>
            <a:r>
              <a:rPr lang="en-US" dirty="0"/>
              <a:t>…</a:t>
            </a:r>
          </a:p>
        </p:txBody>
      </p:sp>
      <mc:AlternateContent xmlns:mc="http://schemas.openxmlformats.org/markup-compatibility/2006" xmlns:a14="http://schemas.microsoft.com/office/drawing/2010/main">
        <mc:Choice Requires="a14">
          <p:sp>
            <p:nvSpPr>
              <p:cNvPr id="36" name="TextBox 35">
                <a:extLst>
                  <a:ext uri="{FF2B5EF4-FFF2-40B4-BE49-F238E27FC236}">
                    <a16:creationId xmlns:a16="http://schemas.microsoft.com/office/drawing/2014/main" id="{715F584D-43C4-54C5-127E-34070AEF56E1}"/>
                  </a:ext>
                </a:extLst>
              </p:cNvPr>
              <p:cNvSpPr txBox="1"/>
              <p:nvPr/>
            </p:nvSpPr>
            <p:spPr>
              <a:xfrm>
                <a:off x="8804453" y="5173921"/>
                <a:ext cx="641827" cy="624210"/>
              </a:xfrm>
              <a:prstGeom prst="rect">
                <a:avLst/>
              </a:prstGeom>
              <a:solidFill>
                <a:schemeClr val="bg1"/>
              </a:solidFill>
            </p:spPr>
            <p:txBody>
              <a:bodyPr wrap="square" rtlCol="0">
                <a:spAutoFit/>
              </a:bodyPr>
              <a:lstStyle/>
              <a:p>
                <a:pPr/>
                <a14:m>
                  <m:oMathPara xmlns:m="http://schemas.openxmlformats.org/officeDocument/2006/math">
                    <m:oMathParaPr>
                      <m:jc m:val="centerGroup"/>
                    </m:oMathParaPr>
                    <m:oMath xmlns:m="http://schemas.openxmlformats.org/officeDocument/2006/math">
                      <m:sSub>
                        <m:sSubPr>
                          <m:ctrlPr>
                            <a:rPr lang="en-CA" sz="3200" b="0" i="1" smtClean="0">
                              <a:latin typeface="Cambria Math" panose="02040503050406030204" pitchFamily="18" charset="0"/>
                            </a:rPr>
                          </m:ctrlPr>
                        </m:sSubPr>
                        <m:e>
                          <m:r>
                            <a:rPr lang="en-CA" sz="3200" b="0" i="1" smtClean="0">
                              <a:latin typeface="Cambria Math" panose="02040503050406030204" pitchFamily="18" charset="0"/>
                            </a:rPr>
                            <m:t>𝑅</m:t>
                          </m:r>
                        </m:e>
                        <m:sub>
                          <m:r>
                            <a:rPr lang="en-CA" sz="3200" b="0" i="1" smtClean="0">
                              <a:latin typeface="Cambria Math" panose="02040503050406030204" pitchFamily="18" charset="0"/>
                            </a:rPr>
                            <m:t>𝑓</m:t>
                          </m:r>
                        </m:sub>
                      </m:sSub>
                    </m:oMath>
                  </m:oMathPara>
                </a14:m>
                <a:endParaRPr lang="en-US" sz="3200" dirty="0"/>
              </a:p>
            </p:txBody>
          </p:sp>
        </mc:Choice>
        <mc:Fallback xmlns="">
          <p:sp>
            <p:nvSpPr>
              <p:cNvPr id="36" name="TextBox 35">
                <a:extLst>
                  <a:ext uri="{FF2B5EF4-FFF2-40B4-BE49-F238E27FC236}">
                    <a16:creationId xmlns:a16="http://schemas.microsoft.com/office/drawing/2014/main" id="{715F584D-43C4-54C5-127E-34070AEF56E1}"/>
                  </a:ext>
                </a:extLst>
              </p:cNvPr>
              <p:cNvSpPr txBox="1">
                <a:spLocks noRot="1" noChangeAspect="1" noMove="1" noResize="1" noEditPoints="1" noAdjustHandles="1" noChangeArrowheads="1" noChangeShapeType="1" noTextEdit="1"/>
              </p:cNvSpPr>
              <p:nvPr/>
            </p:nvSpPr>
            <p:spPr>
              <a:xfrm>
                <a:off x="8804453" y="5173921"/>
                <a:ext cx="641827" cy="624210"/>
              </a:xfrm>
              <a:prstGeom prst="rect">
                <a:avLst/>
              </a:prstGeom>
              <a:blipFill>
                <a:blip r:embed="rId9"/>
                <a:stretch>
                  <a:fillRect l="-5882" b="-12000"/>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37" name="Rectangle 36">
                <a:extLst>
                  <a:ext uri="{FF2B5EF4-FFF2-40B4-BE49-F238E27FC236}">
                    <a16:creationId xmlns:a16="http://schemas.microsoft.com/office/drawing/2014/main" id="{2D7C5922-F7AF-DE47-66FE-2FC9EF8149D1}"/>
                  </a:ext>
                </a:extLst>
              </p:cNvPr>
              <p:cNvSpPr/>
              <p:nvPr/>
            </p:nvSpPr>
            <p:spPr>
              <a:xfrm>
                <a:off x="10596926" y="4465832"/>
                <a:ext cx="616771" cy="369332"/>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d>
                        <m:dPr>
                          <m:begChr m:val="|"/>
                          <m:endChr m:val="⟩"/>
                          <m:ctrlPr>
                            <a:rPr lang="en-CA" i="1" smtClean="0">
                              <a:latin typeface="Cambria Math" panose="02040503050406030204" pitchFamily="18" charset="0"/>
                            </a:rPr>
                          </m:ctrlPr>
                        </m:dPr>
                        <m:e>
                          <m:sSub>
                            <m:sSubPr>
                              <m:ctrlPr>
                                <a:rPr lang="en-CA" b="0" i="1" smtClean="0">
                                  <a:latin typeface="Cambria Math" panose="02040503050406030204" pitchFamily="18" charset="0"/>
                                </a:rPr>
                              </m:ctrlPr>
                            </m:sSubPr>
                            <m:e>
                              <m:r>
                                <a:rPr lang="en-CA" b="0" i="1" smtClean="0">
                                  <a:latin typeface="Cambria Math" panose="02040503050406030204" pitchFamily="18" charset="0"/>
                                </a:rPr>
                                <m:t>𝑥</m:t>
                              </m:r>
                            </m:e>
                            <m:sub>
                              <m:r>
                                <a:rPr lang="en-CA" b="0" i="1" smtClean="0">
                                  <a:latin typeface="Cambria Math" panose="02040503050406030204" pitchFamily="18" charset="0"/>
                                </a:rPr>
                                <m:t>1</m:t>
                              </m:r>
                            </m:sub>
                          </m:sSub>
                        </m:e>
                      </m:d>
                    </m:oMath>
                  </m:oMathPara>
                </a14:m>
                <a:endParaRPr lang="en-US" dirty="0"/>
              </a:p>
            </p:txBody>
          </p:sp>
        </mc:Choice>
        <mc:Fallback xmlns="">
          <p:sp>
            <p:nvSpPr>
              <p:cNvPr id="37" name="Rectangle 36">
                <a:extLst>
                  <a:ext uri="{FF2B5EF4-FFF2-40B4-BE49-F238E27FC236}">
                    <a16:creationId xmlns:a16="http://schemas.microsoft.com/office/drawing/2014/main" id="{2D7C5922-F7AF-DE47-66FE-2FC9EF8149D1}"/>
                  </a:ext>
                </a:extLst>
              </p:cNvPr>
              <p:cNvSpPr>
                <a:spLocks noRot="1" noChangeAspect="1" noMove="1" noResize="1" noEditPoints="1" noAdjustHandles="1" noChangeArrowheads="1" noChangeShapeType="1" noTextEdit="1"/>
              </p:cNvSpPr>
              <p:nvPr/>
            </p:nvSpPr>
            <p:spPr>
              <a:xfrm>
                <a:off x="10596926" y="4465832"/>
                <a:ext cx="616771" cy="369332"/>
              </a:xfrm>
              <a:prstGeom prst="rect">
                <a:avLst/>
              </a:prstGeom>
              <a:blipFill>
                <a:blip r:embed="rId10"/>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38" name="Rectangle 37">
                <a:extLst>
                  <a:ext uri="{FF2B5EF4-FFF2-40B4-BE49-F238E27FC236}">
                    <a16:creationId xmlns:a16="http://schemas.microsoft.com/office/drawing/2014/main" id="{6CA6BF22-A4C5-A259-E730-CA34A27592FF}"/>
                  </a:ext>
                </a:extLst>
              </p:cNvPr>
              <p:cNvSpPr/>
              <p:nvPr/>
            </p:nvSpPr>
            <p:spPr>
              <a:xfrm>
                <a:off x="10592531" y="4798894"/>
                <a:ext cx="616771" cy="369332"/>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d>
                        <m:dPr>
                          <m:begChr m:val="|"/>
                          <m:endChr m:val="⟩"/>
                          <m:ctrlPr>
                            <a:rPr lang="en-CA" i="1" smtClean="0">
                              <a:latin typeface="Cambria Math" panose="02040503050406030204" pitchFamily="18" charset="0"/>
                            </a:rPr>
                          </m:ctrlPr>
                        </m:dPr>
                        <m:e>
                          <m:sSub>
                            <m:sSubPr>
                              <m:ctrlPr>
                                <a:rPr lang="en-CA" b="0" i="1" smtClean="0">
                                  <a:latin typeface="Cambria Math" panose="02040503050406030204" pitchFamily="18" charset="0"/>
                                </a:rPr>
                              </m:ctrlPr>
                            </m:sSubPr>
                            <m:e>
                              <m:r>
                                <a:rPr lang="en-CA" b="0" i="1" smtClean="0">
                                  <a:latin typeface="Cambria Math" panose="02040503050406030204" pitchFamily="18" charset="0"/>
                                </a:rPr>
                                <m:t>𝑥</m:t>
                              </m:r>
                            </m:e>
                            <m:sub>
                              <m:r>
                                <a:rPr lang="en-CA" b="0" i="1" smtClean="0">
                                  <a:latin typeface="Cambria Math" panose="02040503050406030204" pitchFamily="18" charset="0"/>
                                </a:rPr>
                                <m:t>2</m:t>
                              </m:r>
                            </m:sub>
                          </m:sSub>
                        </m:e>
                      </m:d>
                    </m:oMath>
                  </m:oMathPara>
                </a14:m>
                <a:endParaRPr lang="en-US" dirty="0"/>
              </a:p>
            </p:txBody>
          </p:sp>
        </mc:Choice>
        <mc:Fallback xmlns="">
          <p:sp>
            <p:nvSpPr>
              <p:cNvPr id="38" name="Rectangle 37">
                <a:extLst>
                  <a:ext uri="{FF2B5EF4-FFF2-40B4-BE49-F238E27FC236}">
                    <a16:creationId xmlns:a16="http://schemas.microsoft.com/office/drawing/2014/main" id="{6CA6BF22-A4C5-A259-E730-CA34A27592FF}"/>
                  </a:ext>
                </a:extLst>
              </p:cNvPr>
              <p:cNvSpPr>
                <a:spLocks noRot="1" noChangeAspect="1" noMove="1" noResize="1" noEditPoints="1" noAdjustHandles="1" noChangeArrowheads="1" noChangeShapeType="1" noTextEdit="1"/>
              </p:cNvSpPr>
              <p:nvPr/>
            </p:nvSpPr>
            <p:spPr>
              <a:xfrm>
                <a:off x="10592531" y="4798894"/>
                <a:ext cx="616771" cy="369332"/>
              </a:xfrm>
              <a:prstGeom prst="rect">
                <a:avLst/>
              </a:prstGeom>
              <a:blipFill>
                <a:blip r:embed="rId11"/>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39" name="Rectangle 38">
                <a:extLst>
                  <a:ext uri="{FF2B5EF4-FFF2-40B4-BE49-F238E27FC236}">
                    <a16:creationId xmlns:a16="http://schemas.microsoft.com/office/drawing/2014/main" id="{EF76B056-5C2B-83A4-9EB9-B3B4D0929170}"/>
                  </a:ext>
                </a:extLst>
              </p:cNvPr>
              <p:cNvSpPr/>
              <p:nvPr/>
            </p:nvSpPr>
            <p:spPr>
              <a:xfrm>
                <a:off x="10596609" y="5180564"/>
                <a:ext cx="616771" cy="369332"/>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d>
                        <m:dPr>
                          <m:begChr m:val="|"/>
                          <m:endChr m:val="⟩"/>
                          <m:ctrlPr>
                            <a:rPr lang="en-CA" i="1" smtClean="0">
                              <a:latin typeface="Cambria Math" panose="02040503050406030204" pitchFamily="18" charset="0"/>
                            </a:rPr>
                          </m:ctrlPr>
                        </m:dPr>
                        <m:e>
                          <m:sSub>
                            <m:sSubPr>
                              <m:ctrlPr>
                                <a:rPr lang="en-CA" b="0" i="1" smtClean="0">
                                  <a:latin typeface="Cambria Math" panose="02040503050406030204" pitchFamily="18" charset="0"/>
                                </a:rPr>
                              </m:ctrlPr>
                            </m:sSubPr>
                            <m:e>
                              <m:r>
                                <a:rPr lang="en-CA" b="0" i="1" smtClean="0">
                                  <a:latin typeface="Cambria Math" panose="02040503050406030204" pitchFamily="18" charset="0"/>
                                </a:rPr>
                                <m:t>𝑥</m:t>
                              </m:r>
                            </m:e>
                            <m:sub>
                              <m:r>
                                <a:rPr lang="en-CA" b="0" i="1" smtClean="0">
                                  <a:latin typeface="Cambria Math" panose="02040503050406030204" pitchFamily="18" charset="0"/>
                                </a:rPr>
                                <m:t>3</m:t>
                              </m:r>
                            </m:sub>
                          </m:sSub>
                        </m:e>
                      </m:d>
                    </m:oMath>
                  </m:oMathPara>
                </a14:m>
                <a:endParaRPr lang="en-US" dirty="0"/>
              </a:p>
            </p:txBody>
          </p:sp>
        </mc:Choice>
        <mc:Fallback xmlns="">
          <p:sp>
            <p:nvSpPr>
              <p:cNvPr id="39" name="Rectangle 38">
                <a:extLst>
                  <a:ext uri="{FF2B5EF4-FFF2-40B4-BE49-F238E27FC236}">
                    <a16:creationId xmlns:a16="http://schemas.microsoft.com/office/drawing/2014/main" id="{EF76B056-5C2B-83A4-9EB9-B3B4D0929170}"/>
                  </a:ext>
                </a:extLst>
              </p:cNvPr>
              <p:cNvSpPr>
                <a:spLocks noRot="1" noChangeAspect="1" noMove="1" noResize="1" noEditPoints="1" noAdjustHandles="1" noChangeArrowheads="1" noChangeShapeType="1" noTextEdit="1"/>
              </p:cNvSpPr>
              <p:nvPr/>
            </p:nvSpPr>
            <p:spPr>
              <a:xfrm>
                <a:off x="10596609" y="5180564"/>
                <a:ext cx="616771" cy="369332"/>
              </a:xfrm>
              <a:prstGeom prst="rect">
                <a:avLst/>
              </a:prstGeom>
              <a:blipFill>
                <a:blip r:embed="rId12"/>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40" name="Rectangle 39">
                <a:extLst>
                  <a:ext uri="{FF2B5EF4-FFF2-40B4-BE49-F238E27FC236}">
                    <a16:creationId xmlns:a16="http://schemas.microsoft.com/office/drawing/2014/main" id="{3DB68245-5B02-8995-26E1-E2D67A295DE6}"/>
                  </a:ext>
                </a:extLst>
              </p:cNvPr>
              <p:cNvSpPr/>
              <p:nvPr/>
            </p:nvSpPr>
            <p:spPr>
              <a:xfrm>
                <a:off x="10592531" y="6184776"/>
                <a:ext cx="1311641" cy="369332"/>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d>
                        <m:dPr>
                          <m:begChr m:val="|"/>
                          <m:endChr m:val="⟩"/>
                          <m:ctrlPr>
                            <a:rPr lang="en-CA" i="1" smtClean="0">
                              <a:latin typeface="Cambria Math" panose="02040503050406030204" pitchFamily="18" charset="0"/>
                            </a:rPr>
                          </m:ctrlPr>
                        </m:dPr>
                        <m:e>
                          <m:r>
                            <a:rPr lang="en-CA" b="0" i="1" smtClean="0">
                              <a:latin typeface="Cambria Math" panose="02040503050406030204" pitchFamily="18" charset="0"/>
                            </a:rPr>
                            <m:t>𝑏</m:t>
                          </m:r>
                          <m:r>
                            <a:rPr lang="en-CA" b="0" i="1" smtClean="0">
                              <a:latin typeface="Cambria Math" panose="02040503050406030204" pitchFamily="18" charset="0"/>
                            </a:rPr>
                            <m:t>⊕</m:t>
                          </m:r>
                          <m:r>
                            <a:rPr lang="en-CA" b="0" i="1" smtClean="0">
                              <a:latin typeface="Cambria Math" panose="02040503050406030204" pitchFamily="18" charset="0"/>
                            </a:rPr>
                            <m:t>𝑓</m:t>
                          </m:r>
                          <m:r>
                            <a:rPr lang="en-CA" b="0" i="1" smtClean="0">
                              <a:latin typeface="Cambria Math" panose="02040503050406030204" pitchFamily="18" charset="0"/>
                            </a:rPr>
                            <m:t>(</m:t>
                          </m:r>
                          <m:r>
                            <a:rPr lang="en-CA" b="0" i="1" smtClean="0">
                              <a:latin typeface="Cambria Math" panose="02040503050406030204" pitchFamily="18" charset="0"/>
                            </a:rPr>
                            <m:t>𝑥</m:t>
                          </m:r>
                          <m:r>
                            <a:rPr lang="en-CA" b="0" i="1" smtClean="0">
                              <a:latin typeface="Cambria Math" panose="02040503050406030204" pitchFamily="18" charset="0"/>
                            </a:rPr>
                            <m:t>)</m:t>
                          </m:r>
                        </m:e>
                      </m:d>
                    </m:oMath>
                  </m:oMathPara>
                </a14:m>
                <a:endParaRPr lang="en-US" dirty="0"/>
              </a:p>
            </p:txBody>
          </p:sp>
        </mc:Choice>
        <mc:Fallback xmlns="">
          <p:sp>
            <p:nvSpPr>
              <p:cNvPr id="40" name="Rectangle 39">
                <a:extLst>
                  <a:ext uri="{FF2B5EF4-FFF2-40B4-BE49-F238E27FC236}">
                    <a16:creationId xmlns:a16="http://schemas.microsoft.com/office/drawing/2014/main" id="{3DB68245-5B02-8995-26E1-E2D67A295DE6}"/>
                  </a:ext>
                </a:extLst>
              </p:cNvPr>
              <p:cNvSpPr>
                <a:spLocks noRot="1" noChangeAspect="1" noMove="1" noResize="1" noEditPoints="1" noAdjustHandles="1" noChangeArrowheads="1" noChangeShapeType="1" noTextEdit="1"/>
              </p:cNvSpPr>
              <p:nvPr/>
            </p:nvSpPr>
            <p:spPr>
              <a:xfrm>
                <a:off x="10592531" y="6184776"/>
                <a:ext cx="1311641" cy="369332"/>
              </a:xfrm>
              <a:prstGeom prst="rect">
                <a:avLst/>
              </a:prstGeom>
              <a:blipFill>
                <a:blip r:embed="rId13"/>
                <a:stretch>
                  <a:fillRect b="-17241"/>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41" name="Rectangle 40">
                <a:extLst>
                  <a:ext uri="{FF2B5EF4-FFF2-40B4-BE49-F238E27FC236}">
                    <a16:creationId xmlns:a16="http://schemas.microsoft.com/office/drawing/2014/main" id="{5A53CCB3-1BC3-9D23-E759-659361011C86}"/>
                  </a:ext>
                </a:extLst>
              </p:cNvPr>
              <p:cNvSpPr/>
              <p:nvPr/>
            </p:nvSpPr>
            <p:spPr>
              <a:xfrm>
                <a:off x="10584169" y="5805844"/>
                <a:ext cx="636200" cy="369332"/>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d>
                        <m:dPr>
                          <m:begChr m:val="|"/>
                          <m:endChr m:val="⟩"/>
                          <m:ctrlPr>
                            <a:rPr lang="en-CA" i="1" smtClean="0">
                              <a:latin typeface="Cambria Math" panose="02040503050406030204" pitchFamily="18" charset="0"/>
                            </a:rPr>
                          </m:ctrlPr>
                        </m:dPr>
                        <m:e>
                          <m:sSub>
                            <m:sSubPr>
                              <m:ctrlPr>
                                <a:rPr lang="en-CA" b="0" i="1" smtClean="0">
                                  <a:latin typeface="Cambria Math" panose="02040503050406030204" pitchFamily="18" charset="0"/>
                                </a:rPr>
                              </m:ctrlPr>
                            </m:sSubPr>
                            <m:e>
                              <m:r>
                                <a:rPr lang="en-CA" b="0" i="1" smtClean="0">
                                  <a:latin typeface="Cambria Math" panose="02040503050406030204" pitchFamily="18" charset="0"/>
                                </a:rPr>
                                <m:t>𝑥</m:t>
                              </m:r>
                            </m:e>
                            <m:sub>
                              <m:r>
                                <a:rPr lang="en-CA" b="0" i="1" smtClean="0">
                                  <a:latin typeface="Cambria Math" panose="02040503050406030204" pitchFamily="18" charset="0"/>
                                </a:rPr>
                                <m:t>𝑛</m:t>
                              </m:r>
                            </m:sub>
                          </m:sSub>
                        </m:e>
                      </m:d>
                    </m:oMath>
                  </m:oMathPara>
                </a14:m>
                <a:endParaRPr lang="en-US" dirty="0"/>
              </a:p>
            </p:txBody>
          </p:sp>
        </mc:Choice>
        <mc:Fallback xmlns="">
          <p:sp>
            <p:nvSpPr>
              <p:cNvPr id="41" name="Rectangle 40">
                <a:extLst>
                  <a:ext uri="{FF2B5EF4-FFF2-40B4-BE49-F238E27FC236}">
                    <a16:creationId xmlns:a16="http://schemas.microsoft.com/office/drawing/2014/main" id="{5A53CCB3-1BC3-9D23-E759-659361011C86}"/>
                  </a:ext>
                </a:extLst>
              </p:cNvPr>
              <p:cNvSpPr>
                <a:spLocks noRot="1" noChangeAspect="1" noMove="1" noResize="1" noEditPoints="1" noAdjustHandles="1" noChangeArrowheads="1" noChangeShapeType="1" noTextEdit="1"/>
              </p:cNvSpPr>
              <p:nvPr/>
            </p:nvSpPr>
            <p:spPr>
              <a:xfrm>
                <a:off x="10584169" y="5805844"/>
                <a:ext cx="636200" cy="369332"/>
              </a:xfrm>
              <a:prstGeom prst="rect">
                <a:avLst/>
              </a:prstGeom>
              <a:blipFill>
                <a:blip r:embed="rId14"/>
                <a:stretch>
                  <a:fillRect/>
                </a:stretch>
              </a:blipFill>
            </p:spPr>
            <p:txBody>
              <a:bodyPr/>
              <a:lstStyle/>
              <a:p>
                <a:r>
                  <a:rPr lang="en-US">
                    <a:noFill/>
                  </a:rPr>
                  <a:t> </a:t>
                </a:r>
              </a:p>
            </p:txBody>
          </p:sp>
        </mc:Fallback>
      </mc:AlternateContent>
      <p:sp>
        <p:nvSpPr>
          <p:cNvPr id="42" name="TextBox 41">
            <a:extLst>
              <a:ext uri="{FF2B5EF4-FFF2-40B4-BE49-F238E27FC236}">
                <a16:creationId xmlns:a16="http://schemas.microsoft.com/office/drawing/2014/main" id="{F7CA151D-5BB7-95A4-C81C-F6B43F47185D}"/>
              </a:ext>
            </a:extLst>
          </p:cNvPr>
          <p:cNvSpPr txBox="1"/>
          <p:nvPr/>
        </p:nvSpPr>
        <p:spPr>
          <a:xfrm rot="5400000">
            <a:off x="10731394" y="5599127"/>
            <a:ext cx="475565" cy="369332"/>
          </a:xfrm>
          <a:prstGeom prst="rect">
            <a:avLst/>
          </a:prstGeom>
          <a:noFill/>
        </p:spPr>
        <p:txBody>
          <a:bodyPr wrap="square" rtlCol="0">
            <a:spAutoFit/>
          </a:bodyPr>
          <a:lstStyle/>
          <a:p>
            <a:r>
              <a:rPr lang="en-US" dirty="0"/>
              <a:t>…</a:t>
            </a:r>
          </a:p>
        </p:txBody>
      </p:sp>
      <p:sp>
        <p:nvSpPr>
          <p:cNvPr id="27" name="직사각형 26"/>
          <p:cNvSpPr/>
          <p:nvPr/>
        </p:nvSpPr>
        <p:spPr>
          <a:xfrm>
            <a:off x="10880716" y="910348"/>
            <a:ext cx="1023456" cy="429936"/>
          </a:xfrm>
          <a:prstGeom prst="rect">
            <a:avLst/>
          </a:prstGeom>
        </p:spPr>
        <p:style>
          <a:lnRef idx="2">
            <a:schemeClr val="accent2">
              <a:shade val="50000"/>
            </a:schemeClr>
          </a:lnRef>
          <a:fillRef idx="1">
            <a:schemeClr val="accent2"/>
          </a:fillRef>
          <a:effectRef idx="0">
            <a:schemeClr val="accent2"/>
          </a:effectRef>
          <a:fontRef idx="minor">
            <a:schemeClr val="lt1"/>
          </a:fontRef>
        </p:style>
        <p:txBody>
          <a:bodyPr rtlCol="0" anchor="ctr"/>
          <a:lstStyle/>
          <a:p>
            <a:pPr algn="ctr"/>
            <a:r>
              <a:rPr lang="en-US" altLang="ko-KR" sz="1400" dirty="0" smtClean="0"/>
              <a:t>Slightly advanced</a:t>
            </a:r>
            <a:endParaRPr lang="ko-KR" altLang="en-US" sz="1400" dirty="0"/>
          </a:p>
        </p:txBody>
      </p:sp>
    </p:spTree>
    <p:extLst>
      <p:ext uri="{BB962C8B-B14F-4D97-AF65-F5344CB8AC3E}">
        <p14:creationId xmlns:p14="http://schemas.microsoft.com/office/powerpoint/2010/main" val="312555574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6"/>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7"/>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8"/>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9"/>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11"/>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12"/>
                                        </p:tgtEl>
                                        <p:attrNameLst>
                                          <p:attrName>style.visibility</p:attrName>
                                        </p:attrNameLst>
                                      </p:cBhvr>
                                      <p:to>
                                        <p:strVal val="visible"/>
                                      </p:to>
                                    </p:set>
                                  </p:childTnLst>
                                </p:cTn>
                              </p:par>
                              <p:par>
                                <p:cTn id="17" presetID="1" presetClass="entr" presetSubtype="0" fill="hold" nodeType="withEffect">
                                  <p:stCondLst>
                                    <p:cond delay="0"/>
                                  </p:stCondLst>
                                  <p:childTnLst>
                                    <p:set>
                                      <p:cBhvr>
                                        <p:cTn id="18" dur="1" fill="hold">
                                          <p:stCondLst>
                                            <p:cond delay="0"/>
                                          </p:stCondLst>
                                        </p:cTn>
                                        <p:tgtEl>
                                          <p:spTgt spid="15"/>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18"/>
                                        </p:tgtEl>
                                        <p:attrNameLst>
                                          <p:attrName>style.visibility</p:attrName>
                                        </p:attrNameLst>
                                      </p:cBhvr>
                                      <p:to>
                                        <p:strVal val="visible"/>
                                      </p:to>
                                    </p:set>
                                  </p:childTnLst>
                                </p:cTn>
                              </p:par>
                              <p:par>
                                <p:cTn id="21" presetID="1" presetClass="entr" presetSubtype="0" fill="hold" grpId="0" nodeType="withEffect">
                                  <p:stCondLst>
                                    <p:cond delay="0"/>
                                  </p:stCondLst>
                                  <p:childTnLst>
                                    <p:set>
                                      <p:cBhvr>
                                        <p:cTn id="22" dur="1" fill="hold">
                                          <p:stCondLst>
                                            <p:cond delay="0"/>
                                          </p:stCondLst>
                                        </p:cTn>
                                        <p:tgtEl>
                                          <p:spTgt spid="19"/>
                                        </p:tgtEl>
                                        <p:attrNameLst>
                                          <p:attrName>style.visibility</p:attrName>
                                        </p:attrNameLst>
                                      </p:cBhvr>
                                      <p:to>
                                        <p:strVal val="visible"/>
                                      </p:to>
                                    </p:set>
                                  </p:childTnLst>
                                </p:cTn>
                              </p:par>
                              <p:par>
                                <p:cTn id="23" presetID="1" presetClass="entr" presetSubtype="0" fill="hold" grpId="0" nodeType="withEffect">
                                  <p:stCondLst>
                                    <p:cond delay="0"/>
                                  </p:stCondLst>
                                  <p:childTnLst>
                                    <p:set>
                                      <p:cBhvr>
                                        <p:cTn id="24" dur="1" fill="hold">
                                          <p:stCondLst>
                                            <p:cond delay="0"/>
                                          </p:stCondLst>
                                        </p:cTn>
                                        <p:tgtEl>
                                          <p:spTgt spid="20"/>
                                        </p:tgtEl>
                                        <p:attrNameLst>
                                          <p:attrName>style.visibility</p:attrName>
                                        </p:attrNameLst>
                                      </p:cBhvr>
                                      <p:to>
                                        <p:strVal val="visible"/>
                                      </p:to>
                                    </p:set>
                                  </p:childTnLst>
                                </p:cTn>
                              </p:par>
                              <p:par>
                                <p:cTn id="25" presetID="1" presetClass="entr" presetSubtype="0" fill="hold" grpId="0" nodeType="withEffect">
                                  <p:stCondLst>
                                    <p:cond delay="0"/>
                                  </p:stCondLst>
                                  <p:childTnLst>
                                    <p:set>
                                      <p:cBhvr>
                                        <p:cTn id="26" dur="1" fill="hold">
                                          <p:stCondLst>
                                            <p:cond delay="0"/>
                                          </p:stCondLst>
                                        </p:cTn>
                                        <p:tgtEl>
                                          <p:spTgt spid="21"/>
                                        </p:tgtEl>
                                        <p:attrNameLst>
                                          <p:attrName>style.visibility</p:attrName>
                                        </p:attrNameLst>
                                      </p:cBhvr>
                                      <p:to>
                                        <p:strVal val="visible"/>
                                      </p:to>
                                    </p:set>
                                  </p:childTnLst>
                                </p:cTn>
                              </p:par>
                              <p:par>
                                <p:cTn id="27" presetID="1" presetClass="entr" presetSubtype="0" fill="hold" nodeType="withEffect">
                                  <p:stCondLst>
                                    <p:cond delay="0"/>
                                  </p:stCondLst>
                                  <p:childTnLst>
                                    <p:set>
                                      <p:cBhvr>
                                        <p:cTn id="28" dur="1" fill="hold">
                                          <p:stCondLst>
                                            <p:cond delay="0"/>
                                          </p:stCondLst>
                                        </p:cTn>
                                        <p:tgtEl>
                                          <p:spTgt spid="31"/>
                                        </p:tgtEl>
                                        <p:attrNameLst>
                                          <p:attrName>style.visibility</p:attrName>
                                        </p:attrNameLst>
                                      </p:cBhvr>
                                      <p:to>
                                        <p:strVal val="visible"/>
                                      </p:to>
                                    </p:set>
                                  </p:childTnLst>
                                </p:cTn>
                              </p:par>
                              <p:par>
                                <p:cTn id="29" presetID="1" presetClass="entr" presetSubtype="0" fill="hold" grpId="0" nodeType="withEffect">
                                  <p:stCondLst>
                                    <p:cond delay="0"/>
                                  </p:stCondLst>
                                  <p:childTnLst>
                                    <p:set>
                                      <p:cBhvr>
                                        <p:cTn id="30" dur="1" fill="hold">
                                          <p:stCondLst>
                                            <p:cond delay="0"/>
                                          </p:stCondLst>
                                        </p:cTn>
                                        <p:tgtEl>
                                          <p:spTgt spid="32"/>
                                        </p:tgtEl>
                                        <p:attrNameLst>
                                          <p:attrName>style.visibility</p:attrName>
                                        </p:attrNameLst>
                                      </p:cBhvr>
                                      <p:to>
                                        <p:strVal val="visible"/>
                                      </p:to>
                                    </p:set>
                                  </p:childTnLst>
                                </p:cTn>
                              </p:par>
                              <p:par>
                                <p:cTn id="31" presetID="1" presetClass="entr" presetSubtype="0" fill="hold" grpId="0" nodeType="withEffect">
                                  <p:stCondLst>
                                    <p:cond delay="0"/>
                                  </p:stCondLst>
                                  <p:childTnLst>
                                    <p:set>
                                      <p:cBhvr>
                                        <p:cTn id="32" dur="1" fill="hold">
                                          <p:stCondLst>
                                            <p:cond delay="0"/>
                                          </p:stCondLst>
                                        </p:cTn>
                                        <p:tgtEl>
                                          <p:spTgt spid="33"/>
                                        </p:tgtEl>
                                        <p:attrNameLst>
                                          <p:attrName>style.visibility</p:attrName>
                                        </p:attrNameLst>
                                      </p:cBhvr>
                                      <p:to>
                                        <p:strVal val="visible"/>
                                      </p:to>
                                    </p:set>
                                  </p:childTnLst>
                                </p:cTn>
                              </p:par>
                              <p:par>
                                <p:cTn id="33" presetID="1" presetClass="entr" presetSubtype="0" fill="hold" grpId="0" nodeType="withEffect">
                                  <p:stCondLst>
                                    <p:cond delay="0"/>
                                  </p:stCondLst>
                                  <p:childTnLst>
                                    <p:set>
                                      <p:cBhvr>
                                        <p:cTn id="34" dur="1" fill="hold">
                                          <p:stCondLst>
                                            <p:cond delay="0"/>
                                          </p:stCondLst>
                                        </p:cTn>
                                        <p:tgtEl>
                                          <p:spTgt spid="35"/>
                                        </p:tgtEl>
                                        <p:attrNameLst>
                                          <p:attrName>style.visibility</p:attrName>
                                        </p:attrNameLst>
                                      </p:cBhvr>
                                      <p:to>
                                        <p:strVal val="visible"/>
                                      </p:to>
                                    </p:set>
                                  </p:childTnLst>
                                </p:cTn>
                              </p:par>
                              <p:par>
                                <p:cTn id="35" presetID="1" presetClass="entr" presetSubtype="0" fill="hold" grpId="0" nodeType="withEffect">
                                  <p:stCondLst>
                                    <p:cond delay="0"/>
                                  </p:stCondLst>
                                  <p:childTnLst>
                                    <p:set>
                                      <p:cBhvr>
                                        <p:cTn id="36" dur="1" fill="hold">
                                          <p:stCondLst>
                                            <p:cond delay="0"/>
                                          </p:stCondLst>
                                        </p:cTn>
                                        <p:tgtEl>
                                          <p:spTgt spid="36"/>
                                        </p:tgtEl>
                                        <p:attrNameLst>
                                          <p:attrName>style.visibility</p:attrName>
                                        </p:attrNameLst>
                                      </p:cBhvr>
                                      <p:to>
                                        <p:strVal val="visible"/>
                                      </p:to>
                                    </p:set>
                                  </p:childTnLst>
                                </p:cTn>
                              </p:par>
                              <p:par>
                                <p:cTn id="37" presetID="1" presetClass="entr" presetSubtype="0" fill="hold" grpId="0" nodeType="withEffect">
                                  <p:stCondLst>
                                    <p:cond delay="0"/>
                                  </p:stCondLst>
                                  <p:childTnLst>
                                    <p:set>
                                      <p:cBhvr>
                                        <p:cTn id="38" dur="1" fill="hold">
                                          <p:stCondLst>
                                            <p:cond delay="0"/>
                                          </p:stCondLst>
                                        </p:cTn>
                                        <p:tgtEl>
                                          <p:spTgt spid="37"/>
                                        </p:tgtEl>
                                        <p:attrNameLst>
                                          <p:attrName>style.visibility</p:attrName>
                                        </p:attrNameLst>
                                      </p:cBhvr>
                                      <p:to>
                                        <p:strVal val="visible"/>
                                      </p:to>
                                    </p:set>
                                  </p:childTnLst>
                                </p:cTn>
                              </p:par>
                              <p:par>
                                <p:cTn id="39" presetID="1" presetClass="entr" presetSubtype="0" fill="hold" grpId="0" nodeType="withEffect">
                                  <p:stCondLst>
                                    <p:cond delay="0"/>
                                  </p:stCondLst>
                                  <p:childTnLst>
                                    <p:set>
                                      <p:cBhvr>
                                        <p:cTn id="40" dur="1" fill="hold">
                                          <p:stCondLst>
                                            <p:cond delay="0"/>
                                          </p:stCondLst>
                                        </p:cTn>
                                        <p:tgtEl>
                                          <p:spTgt spid="38"/>
                                        </p:tgtEl>
                                        <p:attrNameLst>
                                          <p:attrName>style.visibility</p:attrName>
                                        </p:attrNameLst>
                                      </p:cBhvr>
                                      <p:to>
                                        <p:strVal val="visible"/>
                                      </p:to>
                                    </p:set>
                                  </p:childTnLst>
                                </p:cTn>
                              </p:par>
                              <p:par>
                                <p:cTn id="41" presetID="1" presetClass="entr" presetSubtype="0" fill="hold" grpId="0" nodeType="withEffect">
                                  <p:stCondLst>
                                    <p:cond delay="0"/>
                                  </p:stCondLst>
                                  <p:childTnLst>
                                    <p:set>
                                      <p:cBhvr>
                                        <p:cTn id="42" dur="1" fill="hold">
                                          <p:stCondLst>
                                            <p:cond delay="0"/>
                                          </p:stCondLst>
                                        </p:cTn>
                                        <p:tgtEl>
                                          <p:spTgt spid="39"/>
                                        </p:tgtEl>
                                        <p:attrNameLst>
                                          <p:attrName>style.visibility</p:attrName>
                                        </p:attrNameLst>
                                      </p:cBhvr>
                                      <p:to>
                                        <p:strVal val="visible"/>
                                      </p:to>
                                    </p:set>
                                  </p:childTnLst>
                                </p:cTn>
                              </p:par>
                              <p:par>
                                <p:cTn id="43" presetID="1" presetClass="entr" presetSubtype="0" fill="hold" grpId="0" nodeType="withEffect">
                                  <p:stCondLst>
                                    <p:cond delay="0"/>
                                  </p:stCondLst>
                                  <p:childTnLst>
                                    <p:set>
                                      <p:cBhvr>
                                        <p:cTn id="44" dur="1" fill="hold">
                                          <p:stCondLst>
                                            <p:cond delay="0"/>
                                          </p:stCondLst>
                                        </p:cTn>
                                        <p:tgtEl>
                                          <p:spTgt spid="40"/>
                                        </p:tgtEl>
                                        <p:attrNameLst>
                                          <p:attrName>style.visibility</p:attrName>
                                        </p:attrNameLst>
                                      </p:cBhvr>
                                      <p:to>
                                        <p:strVal val="visible"/>
                                      </p:to>
                                    </p:set>
                                  </p:childTnLst>
                                </p:cTn>
                              </p:par>
                              <p:par>
                                <p:cTn id="45" presetID="1" presetClass="entr" presetSubtype="0" fill="hold" grpId="0" nodeType="withEffect">
                                  <p:stCondLst>
                                    <p:cond delay="0"/>
                                  </p:stCondLst>
                                  <p:childTnLst>
                                    <p:set>
                                      <p:cBhvr>
                                        <p:cTn id="46" dur="1" fill="hold">
                                          <p:stCondLst>
                                            <p:cond delay="0"/>
                                          </p:stCondLst>
                                        </p:cTn>
                                        <p:tgtEl>
                                          <p:spTgt spid="41"/>
                                        </p:tgtEl>
                                        <p:attrNameLst>
                                          <p:attrName>style.visibility</p:attrName>
                                        </p:attrNameLst>
                                      </p:cBhvr>
                                      <p:to>
                                        <p:strVal val="visible"/>
                                      </p:to>
                                    </p:set>
                                  </p:childTnLst>
                                </p:cTn>
                              </p:par>
                              <p:par>
                                <p:cTn id="47" presetID="1" presetClass="entr" presetSubtype="0" fill="hold" grpId="0" nodeType="withEffect">
                                  <p:stCondLst>
                                    <p:cond delay="0"/>
                                  </p:stCondLst>
                                  <p:childTnLst>
                                    <p:set>
                                      <p:cBhvr>
                                        <p:cTn id="48" dur="1" fill="hold">
                                          <p:stCondLst>
                                            <p:cond delay="0"/>
                                          </p:stCondLst>
                                        </p:cTn>
                                        <p:tgtEl>
                                          <p:spTgt spid="42"/>
                                        </p:tgtEl>
                                        <p:attrNameLst>
                                          <p:attrName>style.visibility</p:attrName>
                                        </p:attrNameLst>
                                      </p:cBhvr>
                                      <p:to>
                                        <p:strVal val="visible"/>
                                      </p:to>
                                    </p:set>
                                  </p:childTnLst>
                                </p:cTn>
                              </p:par>
                            </p:childTnLst>
                          </p:cTn>
                        </p:par>
                      </p:childTnLst>
                    </p:cTn>
                  </p:par>
                  <p:par>
                    <p:cTn id="49" fill="hold">
                      <p:stCondLst>
                        <p:cond delay="indefinite"/>
                      </p:stCondLst>
                      <p:childTnLst>
                        <p:par>
                          <p:cTn id="50" fill="hold">
                            <p:stCondLst>
                              <p:cond delay="0"/>
                            </p:stCondLst>
                            <p:childTnLst>
                              <p:par>
                                <p:cTn id="51" presetID="1" presetClass="entr" presetSubtype="0" fill="hold" nodeType="clickEffect">
                                  <p:stCondLst>
                                    <p:cond delay="0"/>
                                  </p:stCondLst>
                                  <p:childTnLst>
                                    <p:set>
                                      <p:cBhvr>
                                        <p:cTn id="52"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53" fill="hold">
                      <p:stCondLst>
                        <p:cond delay="indefinite"/>
                      </p:stCondLst>
                      <p:childTnLst>
                        <p:par>
                          <p:cTn id="54" fill="hold">
                            <p:stCondLst>
                              <p:cond delay="0"/>
                            </p:stCondLst>
                            <p:childTnLst>
                              <p:par>
                                <p:cTn id="55" presetID="1" presetClass="entr" presetSubtype="0" fill="hold" nodeType="clickEffect">
                                  <p:stCondLst>
                                    <p:cond delay="0"/>
                                  </p:stCondLst>
                                  <p:childTnLst>
                                    <p:set>
                                      <p:cBhvr>
                                        <p:cTn id="56"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animBg="1"/>
      <p:bldP spid="18" grpId="0"/>
      <p:bldP spid="19" grpId="0"/>
      <p:bldP spid="20" grpId="0"/>
      <p:bldP spid="21" grpId="0"/>
      <p:bldP spid="32" grpId="0"/>
      <p:bldP spid="33" grpId="0"/>
      <p:bldP spid="35" grpId="0"/>
      <p:bldP spid="36" grpId="0" animBg="1"/>
      <p:bldP spid="37" grpId="0"/>
      <p:bldP spid="38" grpId="0"/>
      <p:bldP spid="39" grpId="0"/>
      <p:bldP spid="40" grpId="0"/>
      <p:bldP spid="41" grpId="0"/>
      <p:bldP spid="42" grpId="0"/>
    </p:bldLst>
  </p:timing>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116A5BA-F7E0-BB86-C9E7-C9824CDFB3A9}"/>
              </a:ext>
            </a:extLst>
          </p:cNvPr>
          <p:cNvSpPr>
            <a:spLocks noGrp="1"/>
          </p:cNvSpPr>
          <p:nvPr>
            <p:ph type="title"/>
          </p:nvPr>
        </p:nvSpPr>
        <p:spPr/>
        <p:txBody>
          <a:bodyPr>
            <a:normAutofit/>
          </a:bodyPr>
          <a:lstStyle/>
          <a:p>
            <a:r>
              <a:rPr lang="en-US" dirty="0" smtClean="0"/>
              <a:t>Irreversible circuits to reversible circuits</a:t>
            </a:r>
            <a:endParaRPr lang="en-US" dirty="0"/>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12194FAD-725C-122F-760E-6489EFE61761}"/>
                  </a:ext>
                </a:extLst>
              </p:cNvPr>
              <p:cNvSpPr>
                <a:spLocks noGrp="1"/>
              </p:cNvSpPr>
              <p:nvPr>
                <p:ph idx="1"/>
              </p:nvPr>
            </p:nvSpPr>
            <p:spPr>
              <a:xfrm>
                <a:off x="838200" y="1825624"/>
                <a:ext cx="10515600" cy="4532313"/>
              </a:xfrm>
            </p:spPr>
            <p:txBody>
              <a:bodyPr>
                <a:normAutofit/>
              </a:bodyPr>
              <a:lstStyle/>
              <a:p>
                <a:r>
                  <a:rPr lang="en-CA" sz="2400" dirty="0"/>
                  <a:t>An </a:t>
                </a:r>
                <a:r>
                  <a:rPr lang="en-CA" sz="2400" b="1" i="1" dirty="0"/>
                  <a:t>irreversible</a:t>
                </a:r>
                <a:r>
                  <a:rPr lang="en-CA" sz="2400" dirty="0"/>
                  <a:t> circuit </a:t>
                </a:r>
                <a14:m>
                  <m:oMath xmlns:m="http://schemas.openxmlformats.org/officeDocument/2006/math">
                    <m:sSub>
                      <m:sSubPr>
                        <m:ctrlPr>
                          <a:rPr lang="en-CA" sz="2400" i="1">
                            <a:latin typeface="Cambria Math" panose="02040503050406030204" pitchFamily="18" charset="0"/>
                          </a:rPr>
                        </m:ctrlPr>
                      </m:sSubPr>
                      <m:e>
                        <m:r>
                          <a:rPr lang="en-CA" sz="2400" i="1">
                            <a:latin typeface="Cambria Math" panose="02040503050406030204" pitchFamily="18" charset="0"/>
                          </a:rPr>
                          <m:t>𝐶</m:t>
                        </m:r>
                      </m:e>
                      <m:sub>
                        <m:r>
                          <a:rPr lang="en-CA" sz="2400" i="1">
                            <a:latin typeface="Cambria Math" panose="02040503050406030204" pitchFamily="18" charset="0"/>
                          </a:rPr>
                          <m:t>𝑓</m:t>
                        </m:r>
                      </m:sub>
                    </m:sSub>
                    <m:r>
                      <a:rPr lang="en-CA" sz="2400" i="1">
                        <a:latin typeface="Cambria Math" panose="02040503050406030204" pitchFamily="18" charset="0"/>
                      </a:rPr>
                      <m:t> </m:t>
                    </m:r>
                  </m:oMath>
                </a14:m>
                <a:r>
                  <a:rPr lang="en-US" sz="2400" dirty="0"/>
                  <a:t>for </a:t>
                </a:r>
                <a14:m>
                  <m:oMath xmlns:m="http://schemas.openxmlformats.org/officeDocument/2006/math">
                    <m:r>
                      <a:rPr lang="en-CA" sz="2400" b="0" i="1" smtClean="0">
                        <a:latin typeface="Cambria Math" panose="02040503050406030204" pitchFamily="18" charset="0"/>
                      </a:rPr>
                      <m:t>𝑓</m:t>
                    </m:r>
                  </m:oMath>
                </a14:m>
                <a:r>
                  <a:rPr lang="en-US" sz="2400" dirty="0"/>
                  <a:t>, consisting of AND/OR/NOT gates, </a:t>
                </a:r>
                <a:r>
                  <a:rPr lang="en-US" sz="2400" dirty="0" smtClean="0"/>
                  <a:t/>
                </a:r>
                <a:br>
                  <a:rPr lang="en-US" sz="2400" dirty="0" smtClean="0"/>
                </a:br>
                <a:r>
                  <a:rPr lang="en-US" sz="2400" dirty="0" smtClean="0"/>
                  <a:t>can </a:t>
                </a:r>
                <a:r>
                  <a:rPr lang="en-US" sz="2400" dirty="0"/>
                  <a:t>be used to </a:t>
                </a:r>
                <a:r>
                  <a:rPr lang="en-US" sz="2400" dirty="0" smtClean="0"/>
                  <a:t>construct </a:t>
                </a:r>
                <a:r>
                  <a:rPr lang="en-US" sz="2400" dirty="0"/>
                  <a:t>a </a:t>
                </a:r>
                <a:r>
                  <a:rPr lang="en-US" sz="2400" b="1" i="1" dirty="0"/>
                  <a:t>reversible </a:t>
                </a:r>
                <a:r>
                  <a:rPr lang="en-US" sz="2400" dirty="0"/>
                  <a:t>circuit for </a:t>
                </a:r>
                <a14:m>
                  <m:oMath xmlns:m="http://schemas.openxmlformats.org/officeDocument/2006/math">
                    <m:sSub>
                      <m:sSubPr>
                        <m:ctrlPr>
                          <a:rPr lang="en-CA" sz="2400" b="0" i="1" smtClean="0">
                            <a:latin typeface="Cambria Math" panose="02040503050406030204" pitchFamily="18" charset="0"/>
                          </a:rPr>
                        </m:ctrlPr>
                      </m:sSubPr>
                      <m:e>
                        <m:r>
                          <a:rPr lang="en-CA" sz="2400" b="0" i="1" smtClean="0">
                            <a:latin typeface="Cambria Math" panose="02040503050406030204" pitchFamily="18" charset="0"/>
                          </a:rPr>
                          <m:t>𝑅</m:t>
                        </m:r>
                      </m:e>
                      <m:sub>
                        <m:r>
                          <a:rPr lang="en-CA" sz="2400" b="0" i="1" smtClean="0">
                            <a:latin typeface="Cambria Math" panose="02040503050406030204" pitchFamily="18" charset="0"/>
                          </a:rPr>
                          <m:t>𝑓</m:t>
                        </m:r>
                      </m:sub>
                    </m:sSub>
                  </m:oMath>
                </a14:m>
                <a:r>
                  <a:rPr lang="en-US" sz="2400" dirty="0"/>
                  <a:t>.</a:t>
                </a:r>
                <a:endParaRPr lang="en-CA" sz="2400" dirty="0"/>
              </a:p>
              <a:p>
                <a:r>
                  <a:rPr lang="en-CA" sz="2400" b="1" dirty="0">
                    <a:solidFill>
                      <a:srgbClr val="C00000"/>
                    </a:solidFill>
                  </a:rPr>
                  <a:t>High level idea</a:t>
                </a:r>
                <a:r>
                  <a:rPr lang="en-CA" sz="2400" dirty="0"/>
                  <a:t>: convert each gate of </a:t>
                </a:r>
                <a14:m>
                  <m:oMath xmlns:m="http://schemas.openxmlformats.org/officeDocument/2006/math">
                    <m:sSub>
                      <m:sSubPr>
                        <m:ctrlPr>
                          <a:rPr lang="en-CA" sz="2400" i="1">
                            <a:latin typeface="Cambria Math" panose="02040503050406030204" pitchFamily="18" charset="0"/>
                          </a:rPr>
                        </m:ctrlPr>
                      </m:sSubPr>
                      <m:e>
                        <m:r>
                          <a:rPr lang="en-CA" sz="2400" i="1">
                            <a:latin typeface="Cambria Math" panose="02040503050406030204" pitchFamily="18" charset="0"/>
                          </a:rPr>
                          <m:t>𝐶</m:t>
                        </m:r>
                      </m:e>
                      <m:sub>
                        <m:r>
                          <a:rPr lang="en-CA" sz="2400" i="1">
                            <a:latin typeface="Cambria Math" panose="02040503050406030204" pitchFamily="18" charset="0"/>
                          </a:rPr>
                          <m:t>𝑓</m:t>
                        </m:r>
                      </m:sub>
                    </m:sSub>
                  </m:oMath>
                </a14:m>
                <a:r>
                  <a:rPr lang="en-CA" sz="2400" dirty="0"/>
                  <a:t> into its reversible equivalent. </a:t>
                </a:r>
                <a:endParaRPr lang="en-CA" sz="2400" dirty="0" smtClean="0"/>
              </a:p>
              <a:p>
                <a:r>
                  <a:rPr lang="en-CA" sz="2400" dirty="0" smtClean="0"/>
                  <a:t>In general, this construction requires many </a:t>
                </a:r>
                <a:r>
                  <a:rPr lang="en-CA" sz="2400" dirty="0" err="1" smtClean="0"/>
                  <a:t>ancilla</a:t>
                </a:r>
                <a:r>
                  <a:rPr lang="en-CA" sz="2400" dirty="0" smtClean="0"/>
                  <a:t> bits.</a:t>
                </a:r>
              </a:p>
              <a:p>
                <a:endParaRPr lang="en-CA" sz="2400" dirty="0"/>
              </a:p>
              <a:p>
                <a:endParaRPr lang="en-CA" sz="2400" dirty="0"/>
              </a:p>
            </p:txBody>
          </p:sp>
        </mc:Choice>
        <mc:Fallback xmlns="">
          <p:sp>
            <p:nvSpPr>
              <p:cNvPr id="3" name="Content Placeholder 2">
                <a:extLst>
                  <a:ext uri="{FF2B5EF4-FFF2-40B4-BE49-F238E27FC236}">
                    <a16:creationId xmlns:a16="http://schemas.microsoft.com/office/drawing/2014/main" id="{12194FAD-725C-122F-760E-6489EFE61761}"/>
                  </a:ext>
                </a:extLst>
              </p:cNvPr>
              <p:cNvSpPr>
                <a:spLocks noGrp="1" noRot="1" noChangeAspect="1" noMove="1" noResize="1" noEditPoints="1" noAdjustHandles="1" noChangeArrowheads="1" noChangeShapeType="1" noTextEdit="1"/>
              </p:cNvSpPr>
              <p:nvPr>
                <p:ph idx="1"/>
              </p:nvPr>
            </p:nvSpPr>
            <p:spPr>
              <a:xfrm>
                <a:off x="838200" y="1825624"/>
                <a:ext cx="10515600" cy="4532313"/>
              </a:xfrm>
              <a:blipFill>
                <a:blip r:embed="rId2"/>
                <a:stretch>
                  <a:fillRect l="-812" t="-1882"/>
                </a:stretch>
              </a:blipFill>
            </p:spPr>
            <p:txBody>
              <a:bodyPr/>
              <a:lstStyle/>
              <a:p>
                <a:r>
                  <a:rPr lang="ko-KR" altLang="en-US">
                    <a:noFill/>
                  </a:rPr>
                  <a:t> </a:t>
                </a:r>
              </a:p>
            </p:txBody>
          </p:sp>
        </mc:Fallback>
      </mc:AlternateContent>
      <p:pic>
        <p:nvPicPr>
          <p:cNvPr id="4" name="Picture 2" descr="Circuit Simplification Examples | Boolean Algebra | Electronics Textbook">
            <a:extLst>
              <a:ext uri="{FF2B5EF4-FFF2-40B4-BE49-F238E27FC236}">
                <a16:creationId xmlns:a16="http://schemas.microsoft.com/office/drawing/2014/main" id="{FF275AE0-80E3-2FFA-807F-AD1F8B313B20}"/>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587353" y="4537072"/>
            <a:ext cx="3673769" cy="2062163"/>
          </a:xfrm>
          <a:prstGeom prst="rect">
            <a:avLst/>
          </a:prstGeom>
          <a:noFill/>
          <a:extLst>
            <a:ext uri="{909E8E84-426E-40DD-AFC4-6F175D3DCCD1}">
              <a14:hiddenFill xmlns:a14="http://schemas.microsoft.com/office/drawing/2010/main">
                <a:solidFill>
                  <a:srgbClr val="FFFFFF"/>
                </a:solidFill>
              </a14:hiddenFill>
            </a:ext>
          </a:extLst>
        </p:spPr>
      </p:pic>
      <p:sp>
        <p:nvSpPr>
          <p:cNvPr id="5" name="Right Arrow 4">
            <a:extLst>
              <a:ext uri="{FF2B5EF4-FFF2-40B4-BE49-F238E27FC236}">
                <a16:creationId xmlns:a16="http://schemas.microsoft.com/office/drawing/2014/main" id="{6B77CA56-2DC5-8631-1A48-178082F0B351}"/>
              </a:ext>
            </a:extLst>
          </p:cNvPr>
          <p:cNvSpPr/>
          <p:nvPr/>
        </p:nvSpPr>
        <p:spPr>
          <a:xfrm>
            <a:off x="5538787" y="5394343"/>
            <a:ext cx="1038577" cy="270933"/>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6" name="Straight Connector 5">
            <a:extLst>
              <a:ext uri="{FF2B5EF4-FFF2-40B4-BE49-F238E27FC236}">
                <a16:creationId xmlns:a16="http://schemas.microsoft.com/office/drawing/2014/main" id="{282D9D76-FEDE-2651-EF74-FD134B6EFACC}"/>
              </a:ext>
            </a:extLst>
          </p:cNvPr>
          <p:cNvCxnSpPr>
            <a:cxnSpLocks/>
          </p:cNvCxnSpPr>
          <p:nvPr/>
        </p:nvCxnSpPr>
        <p:spPr>
          <a:xfrm>
            <a:off x="7832607" y="4650498"/>
            <a:ext cx="1819393" cy="0"/>
          </a:xfrm>
          <a:prstGeom prst="line">
            <a:avLst/>
          </a:prstGeom>
          <a:ln w="38100"/>
        </p:spPr>
        <p:style>
          <a:lnRef idx="1">
            <a:schemeClr val="accent1"/>
          </a:lnRef>
          <a:fillRef idx="0">
            <a:schemeClr val="accent1"/>
          </a:fillRef>
          <a:effectRef idx="0">
            <a:schemeClr val="accent1"/>
          </a:effectRef>
          <a:fontRef idx="minor">
            <a:schemeClr val="tx1"/>
          </a:fontRef>
        </p:style>
      </p:cxnSp>
      <p:cxnSp>
        <p:nvCxnSpPr>
          <p:cNvPr id="7" name="Straight Connector 6">
            <a:extLst>
              <a:ext uri="{FF2B5EF4-FFF2-40B4-BE49-F238E27FC236}">
                <a16:creationId xmlns:a16="http://schemas.microsoft.com/office/drawing/2014/main" id="{B2A18816-8ECE-F437-A83A-652BD9224B18}"/>
              </a:ext>
            </a:extLst>
          </p:cNvPr>
          <p:cNvCxnSpPr/>
          <p:nvPr/>
        </p:nvCxnSpPr>
        <p:spPr>
          <a:xfrm>
            <a:off x="7832607" y="5031499"/>
            <a:ext cx="990600" cy="0"/>
          </a:xfrm>
          <a:prstGeom prst="line">
            <a:avLst/>
          </a:prstGeom>
          <a:ln w="38100"/>
        </p:spPr>
        <p:style>
          <a:lnRef idx="1">
            <a:schemeClr val="accent1"/>
          </a:lnRef>
          <a:fillRef idx="0">
            <a:schemeClr val="accent1"/>
          </a:fillRef>
          <a:effectRef idx="0">
            <a:schemeClr val="accent1"/>
          </a:effectRef>
          <a:fontRef idx="minor">
            <a:schemeClr val="tx1"/>
          </a:fontRef>
        </p:style>
      </p:cxnSp>
      <p:cxnSp>
        <p:nvCxnSpPr>
          <p:cNvPr id="8" name="Straight Connector 7">
            <a:extLst>
              <a:ext uri="{FF2B5EF4-FFF2-40B4-BE49-F238E27FC236}">
                <a16:creationId xmlns:a16="http://schemas.microsoft.com/office/drawing/2014/main" id="{DA0D7262-C44D-77D7-4F1E-4853DD7B0E61}"/>
              </a:ext>
            </a:extLst>
          </p:cNvPr>
          <p:cNvCxnSpPr>
            <a:cxnSpLocks/>
          </p:cNvCxnSpPr>
          <p:nvPr/>
        </p:nvCxnSpPr>
        <p:spPr>
          <a:xfrm>
            <a:off x="7832607" y="5445836"/>
            <a:ext cx="2679581" cy="0"/>
          </a:xfrm>
          <a:prstGeom prst="line">
            <a:avLst/>
          </a:prstGeom>
          <a:ln w="38100"/>
        </p:spPr>
        <p:style>
          <a:lnRef idx="1">
            <a:schemeClr val="accent1"/>
          </a:lnRef>
          <a:fillRef idx="0">
            <a:schemeClr val="accent1"/>
          </a:fillRef>
          <a:effectRef idx="0">
            <a:schemeClr val="accent1"/>
          </a:effectRef>
          <a:fontRef idx="minor">
            <a:schemeClr val="tx1"/>
          </a:fontRef>
        </p:style>
      </p:cxnSp>
      <p:sp>
        <p:nvSpPr>
          <p:cNvPr id="9" name="Rectangle 8">
            <a:extLst>
              <a:ext uri="{FF2B5EF4-FFF2-40B4-BE49-F238E27FC236}">
                <a16:creationId xmlns:a16="http://schemas.microsoft.com/office/drawing/2014/main" id="{C6C9463E-9B71-9B62-2A58-F22271296CBF}"/>
              </a:ext>
            </a:extLst>
          </p:cNvPr>
          <p:cNvSpPr/>
          <p:nvPr/>
        </p:nvSpPr>
        <p:spPr>
          <a:xfrm>
            <a:off x="8094031" y="4543546"/>
            <a:ext cx="389570" cy="62468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cxnSp>
        <p:nvCxnSpPr>
          <p:cNvPr id="10" name="Straight Connector 9">
            <a:extLst>
              <a:ext uri="{FF2B5EF4-FFF2-40B4-BE49-F238E27FC236}">
                <a16:creationId xmlns:a16="http://schemas.microsoft.com/office/drawing/2014/main" id="{280A945C-9E12-FE65-AA0E-B93230CE1A48}"/>
              </a:ext>
            </a:extLst>
          </p:cNvPr>
          <p:cNvCxnSpPr>
            <a:cxnSpLocks/>
          </p:cNvCxnSpPr>
          <p:nvPr/>
        </p:nvCxnSpPr>
        <p:spPr>
          <a:xfrm>
            <a:off x="8483601" y="5031499"/>
            <a:ext cx="2028587" cy="0"/>
          </a:xfrm>
          <a:prstGeom prst="line">
            <a:avLst/>
          </a:prstGeom>
          <a:ln w="38100"/>
        </p:spPr>
        <p:style>
          <a:lnRef idx="1">
            <a:schemeClr val="accent1"/>
          </a:lnRef>
          <a:fillRef idx="0">
            <a:schemeClr val="accent1"/>
          </a:fillRef>
          <a:effectRef idx="0">
            <a:schemeClr val="accent1"/>
          </a:effectRef>
          <a:fontRef idx="minor">
            <a:schemeClr val="tx1"/>
          </a:fontRef>
        </p:style>
      </p:cxnSp>
      <p:cxnSp>
        <p:nvCxnSpPr>
          <p:cNvPr id="11" name="Straight Connector 10">
            <a:extLst>
              <a:ext uri="{FF2B5EF4-FFF2-40B4-BE49-F238E27FC236}">
                <a16:creationId xmlns:a16="http://schemas.microsoft.com/office/drawing/2014/main" id="{7DDBEB20-31B4-3BA9-007F-198860B7AC25}"/>
              </a:ext>
            </a:extLst>
          </p:cNvPr>
          <p:cNvCxnSpPr>
            <a:cxnSpLocks/>
          </p:cNvCxnSpPr>
          <p:nvPr/>
        </p:nvCxnSpPr>
        <p:spPr>
          <a:xfrm>
            <a:off x="9358989" y="4650498"/>
            <a:ext cx="1153199" cy="0"/>
          </a:xfrm>
          <a:prstGeom prst="line">
            <a:avLst/>
          </a:prstGeom>
          <a:ln w="38100"/>
        </p:spPr>
        <p:style>
          <a:lnRef idx="1">
            <a:schemeClr val="accent1"/>
          </a:lnRef>
          <a:fillRef idx="0">
            <a:schemeClr val="accent1"/>
          </a:fillRef>
          <a:effectRef idx="0">
            <a:schemeClr val="accent1"/>
          </a:effectRef>
          <a:fontRef idx="minor">
            <a:schemeClr val="tx1"/>
          </a:fontRef>
        </p:style>
      </p:cxnSp>
      <p:cxnSp>
        <p:nvCxnSpPr>
          <p:cNvPr id="12" name="Straight Connector 11">
            <a:extLst>
              <a:ext uri="{FF2B5EF4-FFF2-40B4-BE49-F238E27FC236}">
                <a16:creationId xmlns:a16="http://schemas.microsoft.com/office/drawing/2014/main" id="{92958BA3-F4CA-C062-3D07-38F45BDC9285}"/>
              </a:ext>
            </a:extLst>
          </p:cNvPr>
          <p:cNvCxnSpPr>
            <a:cxnSpLocks/>
          </p:cNvCxnSpPr>
          <p:nvPr/>
        </p:nvCxnSpPr>
        <p:spPr>
          <a:xfrm>
            <a:off x="7828942" y="6388232"/>
            <a:ext cx="2683246" cy="0"/>
          </a:xfrm>
          <a:prstGeom prst="line">
            <a:avLst/>
          </a:prstGeom>
          <a:ln w="38100"/>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13" name="Rectangle 12">
                <a:extLst>
                  <a:ext uri="{FF2B5EF4-FFF2-40B4-BE49-F238E27FC236}">
                    <a16:creationId xmlns:a16="http://schemas.microsoft.com/office/drawing/2014/main" id="{864D7D29-CDFF-E045-8549-6A9AA89ED965}"/>
                  </a:ext>
                </a:extLst>
              </p:cNvPr>
              <p:cNvSpPr/>
              <p:nvPr/>
            </p:nvSpPr>
            <p:spPr>
              <a:xfrm>
                <a:off x="7130138" y="4465832"/>
                <a:ext cx="616771" cy="369332"/>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d>
                        <m:dPr>
                          <m:begChr m:val="|"/>
                          <m:endChr m:val="⟩"/>
                          <m:ctrlPr>
                            <a:rPr lang="en-CA" i="1" smtClean="0">
                              <a:latin typeface="Cambria Math" panose="02040503050406030204" pitchFamily="18" charset="0"/>
                            </a:rPr>
                          </m:ctrlPr>
                        </m:dPr>
                        <m:e>
                          <m:sSub>
                            <m:sSubPr>
                              <m:ctrlPr>
                                <a:rPr lang="en-CA" b="0" i="1" smtClean="0">
                                  <a:latin typeface="Cambria Math" panose="02040503050406030204" pitchFamily="18" charset="0"/>
                                </a:rPr>
                              </m:ctrlPr>
                            </m:sSubPr>
                            <m:e>
                              <m:r>
                                <a:rPr lang="en-CA" b="0" i="1" smtClean="0">
                                  <a:latin typeface="Cambria Math" panose="02040503050406030204" pitchFamily="18" charset="0"/>
                                </a:rPr>
                                <m:t>𝑥</m:t>
                              </m:r>
                            </m:e>
                            <m:sub>
                              <m:r>
                                <a:rPr lang="en-CA" b="0" i="1" smtClean="0">
                                  <a:latin typeface="Cambria Math" panose="02040503050406030204" pitchFamily="18" charset="0"/>
                                </a:rPr>
                                <m:t>1</m:t>
                              </m:r>
                            </m:sub>
                          </m:sSub>
                        </m:e>
                      </m:d>
                    </m:oMath>
                  </m:oMathPara>
                </a14:m>
                <a:endParaRPr lang="en-US" dirty="0"/>
              </a:p>
            </p:txBody>
          </p:sp>
        </mc:Choice>
        <mc:Fallback xmlns="">
          <p:sp>
            <p:nvSpPr>
              <p:cNvPr id="13" name="Rectangle 12">
                <a:extLst>
                  <a:ext uri="{FF2B5EF4-FFF2-40B4-BE49-F238E27FC236}">
                    <a16:creationId xmlns:a16="http://schemas.microsoft.com/office/drawing/2014/main" id="{864D7D29-CDFF-E045-8549-6A9AA89ED965}"/>
                  </a:ext>
                </a:extLst>
              </p:cNvPr>
              <p:cNvSpPr>
                <a:spLocks noRot="1" noChangeAspect="1" noMove="1" noResize="1" noEditPoints="1" noAdjustHandles="1" noChangeArrowheads="1" noChangeShapeType="1" noTextEdit="1"/>
              </p:cNvSpPr>
              <p:nvPr/>
            </p:nvSpPr>
            <p:spPr>
              <a:xfrm>
                <a:off x="7130138" y="4465832"/>
                <a:ext cx="616771" cy="369332"/>
              </a:xfrm>
              <a:prstGeom prst="rect">
                <a:avLst/>
              </a:prstGeom>
              <a:blipFill>
                <a:blip r:embed="rId4"/>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4" name="Rectangle 13">
                <a:extLst>
                  <a:ext uri="{FF2B5EF4-FFF2-40B4-BE49-F238E27FC236}">
                    <a16:creationId xmlns:a16="http://schemas.microsoft.com/office/drawing/2014/main" id="{D8FFE864-37E0-4661-AC80-0BE5391A7BE0}"/>
                  </a:ext>
                </a:extLst>
              </p:cNvPr>
              <p:cNvSpPr/>
              <p:nvPr/>
            </p:nvSpPr>
            <p:spPr>
              <a:xfrm>
                <a:off x="7125743" y="4798894"/>
                <a:ext cx="616771" cy="369332"/>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d>
                        <m:dPr>
                          <m:begChr m:val="|"/>
                          <m:endChr m:val="⟩"/>
                          <m:ctrlPr>
                            <a:rPr lang="en-CA" i="1" smtClean="0">
                              <a:latin typeface="Cambria Math" panose="02040503050406030204" pitchFamily="18" charset="0"/>
                            </a:rPr>
                          </m:ctrlPr>
                        </m:dPr>
                        <m:e>
                          <m:sSub>
                            <m:sSubPr>
                              <m:ctrlPr>
                                <a:rPr lang="en-CA" b="0" i="1" smtClean="0">
                                  <a:latin typeface="Cambria Math" panose="02040503050406030204" pitchFamily="18" charset="0"/>
                                </a:rPr>
                              </m:ctrlPr>
                            </m:sSubPr>
                            <m:e>
                              <m:r>
                                <a:rPr lang="en-CA" b="0" i="1" smtClean="0">
                                  <a:latin typeface="Cambria Math" panose="02040503050406030204" pitchFamily="18" charset="0"/>
                                </a:rPr>
                                <m:t>𝑥</m:t>
                              </m:r>
                            </m:e>
                            <m:sub>
                              <m:r>
                                <a:rPr lang="en-CA" b="0" i="1" smtClean="0">
                                  <a:latin typeface="Cambria Math" panose="02040503050406030204" pitchFamily="18" charset="0"/>
                                </a:rPr>
                                <m:t>2</m:t>
                              </m:r>
                            </m:sub>
                          </m:sSub>
                        </m:e>
                      </m:d>
                    </m:oMath>
                  </m:oMathPara>
                </a14:m>
                <a:endParaRPr lang="en-US" dirty="0"/>
              </a:p>
            </p:txBody>
          </p:sp>
        </mc:Choice>
        <mc:Fallback xmlns="">
          <p:sp>
            <p:nvSpPr>
              <p:cNvPr id="14" name="Rectangle 13">
                <a:extLst>
                  <a:ext uri="{FF2B5EF4-FFF2-40B4-BE49-F238E27FC236}">
                    <a16:creationId xmlns:a16="http://schemas.microsoft.com/office/drawing/2014/main" id="{D8FFE864-37E0-4661-AC80-0BE5391A7BE0}"/>
                  </a:ext>
                </a:extLst>
              </p:cNvPr>
              <p:cNvSpPr>
                <a:spLocks noRot="1" noChangeAspect="1" noMove="1" noResize="1" noEditPoints="1" noAdjustHandles="1" noChangeArrowheads="1" noChangeShapeType="1" noTextEdit="1"/>
              </p:cNvSpPr>
              <p:nvPr/>
            </p:nvSpPr>
            <p:spPr>
              <a:xfrm>
                <a:off x="7125743" y="4798894"/>
                <a:ext cx="616771" cy="369332"/>
              </a:xfrm>
              <a:prstGeom prst="rect">
                <a:avLst/>
              </a:prstGeom>
              <a:blipFill>
                <a:blip r:embed="rId5"/>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5" name="Rectangle 14">
                <a:extLst>
                  <a:ext uri="{FF2B5EF4-FFF2-40B4-BE49-F238E27FC236}">
                    <a16:creationId xmlns:a16="http://schemas.microsoft.com/office/drawing/2014/main" id="{9C22749A-3391-F483-AC6B-539BD426DF28}"/>
                  </a:ext>
                </a:extLst>
              </p:cNvPr>
              <p:cNvSpPr/>
              <p:nvPr/>
            </p:nvSpPr>
            <p:spPr>
              <a:xfrm>
                <a:off x="7129821" y="5180564"/>
                <a:ext cx="616771" cy="369332"/>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d>
                        <m:dPr>
                          <m:begChr m:val="|"/>
                          <m:endChr m:val="⟩"/>
                          <m:ctrlPr>
                            <a:rPr lang="en-CA" i="1" smtClean="0">
                              <a:latin typeface="Cambria Math" panose="02040503050406030204" pitchFamily="18" charset="0"/>
                            </a:rPr>
                          </m:ctrlPr>
                        </m:dPr>
                        <m:e>
                          <m:sSub>
                            <m:sSubPr>
                              <m:ctrlPr>
                                <a:rPr lang="en-CA" b="0" i="1" smtClean="0">
                                  <a:latin typeface="Cambria Math" panose="02040503050406030204" pitchFamily="18" charset="0"/>
                                </a:rPr>
                              </m:ctrlPr>
                            </m:sSubPr>
                            <m:e>
                              <m:r>
                                <a:rPr lang="en-CA" b="0" i="1" smtClean="0">
                                  <a:latin typeface="Cambria Math" panose="02040503050406030204" pitchFamily="18" charset="0"/>
                                </a:rPr>
                                <m:t>𝑥</m:t>
                              </m:r>
                            </m:e>
                            <m:sub>
                              <m:r>
                                <a:rPr lang="en-CA" b="0" i="1" smtClean="0">
                                  <a:latin typeface="Cambria Math" panose="02040503050406030204" pitchFamily="18" charset="0"/>
                                </a:rPr>
                                <m:t>3</m:t>
                              </m:r>
                            </m:sub>
                          </m:sSub>
                        </m:e>
                      </m:d>
                    </m:oMath>
                  </m:oMathPara>
                </a14:m>
                <a:endParaRPr lang="en-US" dirty="0"/>
              </a:p>
            </p:txBody>
          </p:sp>
        </mc:Choice>
        <mc:Fallback xmlns="">
          <p:sp>
            <p:nvSpPr>
              <p:cNvPr id="15" name="Rectangle 14">
                <a:extLst>
                  <a:ext uri="{FF2B5EF4-FFF2-40B4-BE49-F238E27FC236}">
                    <a16:creationId xmlns:a16="http://schemas.microsoft.com/office/drawing/2014/main" id="{9C22749A-3391-F483-AC6B-539BD426DF28}"/>
                  </a:ext>
                </a:extLst>
              </p:cNvPr>
              <p:cNvSpPr>
                <a:spLocks noRot="1" noChangeAspect="1" noMove="1" noResize="1" noEditPoints="1" noAdjustHandles="1" noChangeArrowheads="1" noChangeShapeType="1" noTextEdit="1"/>
              </p:cNvSpPr>
              <p:nvPr/>
            </p:nvSpPr>
            <p:spPr>
              <a:xfrm>
                <a:off x="7129821" y="5180564"/>
                <a:ext cx="616771" cy="369332"/>
              </a:xfrm>
              <a:prstGeom prst="rect">
                <a:avLst/>
              </a:prstGeom>
              <a:blipFill>
                <a:blip r:embed="rId6"/>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6" name="Rectangle 15">
                <a:extLst>
                  <a:ext uri="{FF2B5EF4-FFF2-40B4-BE49-F238E27FC236}">
                    <a16:creationId xmlns:a16="http://schemas.microsoft.com/office/drawing/2014/main" id="{618D2E4C-580F-209E-7C8D-E37AB56E9BBD}"/>
                  </a:ext>
                </a:extLst>
              </p:cNvPr>
              <p:cNvSpPr/>
              <p:nvPr/>
            </p:nvSpPr>
            <p:spPr>
              <a:xfrm>
                <a:off x="7125743" y="6184776"/>
                <a:ext cx="523668" cy="369332"/>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d>
                        <m:dPr>
                          <m:begChr m:val="|"/>
                          <m:endChr m:val="⟩"/>
                          <m:ctrlPr>
                            <a:rPr lang="en-CA" i="1" smtClean="0">
                              <a:latin typeface="Cambria Math" panose="02040503050406030204" pitchFamily="18" charset="0"/>
                            </a:rPr>
                          </m:ctrlPr>
                        </m:dPr>
                        <m:e>
                          <m:r>
                            <a:rPr lang="en-CA" b="0" i="1" smtClean="0">
                              <a:latin typeface="Cambria Math" panose="02040503050406030204" pitchFamily="18" charset="0"/>
                            </a:rPr>
                            <m:t>𝑏</m:t>
                          </m:r>
                        </m:e>
                      </m:d>
                    </m:oMath>
                  </m:oMathPara>
                </a14:m>
                <a:endParaRPr lang="en-US" dirty="0"/>
              </a:p>
            </p:txBody>
          </p:sp>
        </mc:Choice>
        <mc:Fallback xmlns="">
          <p:sp>
            <p:nvSpPr>
              <p:cNvPr id="16" name="Rectangle 15">
                <a:extLst>
                  <a:ext uri="{FF2B5EF4-FFF2-40B4-BE49-F238E27FC236}">
                    <a16:creationId xmlns:a16="http://schemas.microsoft.com/office/drawing/2014/main" id="{618D2E4C-580F-209E-7C8D-E37AB56E9BBD}"/>
                  </a:ext>
                </a:extLst>
              </p:cNvPr>
              <p:cNvSpPr>
                <a:spLocks noRot="1" noChangeAspect="1" noMove="1" noResize="1" noEditPoints="1" noAdjustHandles="1" noChangeArrowheads="1" noChangeShapeType="1" noTextEdit="1"/>
              </p:cNvSpPr>
              <p:nvPr/>
            </p:nvSpPr>
            <p:spPr>
              <a:xfrm>
                <a:off x="7125743" y="6184776"/>
                <a:ext cx="523668" cy="369332"/>
              </a:xfrm>
              <a:prstGeom prst="rect">
                <a:avLst/>
              </a:prstGeom>
              <a:blipFill>
                <a:blip r:embed="rId7"/>
                <a:stretch>
                  <a:fillRect/>
                </a:stretch>
              </a:blipFill>
            </p:spPr>
            <p:txBody>
              <a:bodyPr/>
              <a:lstStyle/>
              <a:p>
                <a:r>
                  <a:rPr lang="en-US">
                    <a:noFill/>
                  </a:rPr>
                  <a:t> </a:t>
                </a:r>
              </a:p>
            </p:txBody>
          </p:sp>
        </mc:Fallback>
      </mc:AlternateContent>
      <p:cxnSp>
        <p:nvCxnSpPr>
          <p:cNvPr id="17" name="Straight Connector 16">
            <a:extLst>
              <a:ext uri="{FF2B5EF4-FFF2-40B4-BE49-F238E27FC236}">
                <a16:creationId xmlns:a16="http://schemas.microsoft.com/office/drawing/2014/main" id="{2A3DACC5-66EB-7E52-0CDA-CCB7B2058547}"/>
              </a:ext>
            </a:extLst>
          </p:cNvPr>
          <p:cNvCxnSpPr>
            <a:cxnSpLocks/>
          </p:cNvCxnSpPr>
          <p:nvPr/>
        </p:nvCxnSpPr>
        <p:spPr>
          <a:xfrm>
            <a:off x="7820580" y="6009300"/>
            <a:ext cx="2683246" cy="0"/>
          </a:xfrm>
          <a:prstGeom prst="line">
            <a:avLst/>
          </a:prstGeom>
          <a:ln w="38100"/>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18" name="Rectangle 17">
                <a:extLst>
                  <a:ext uri="{FF2B5EF4-FFF2-40B4-BE49-F238E27FC236}">
                    <a16:creationId xmlns:a16="http://schemas.microsoft.com/office/drawing/2014/main" id="{55713C74-0280-97A2-DAF3-7BB7B465CE9C}"/>
                  </a:ext>
                </a:extLst>
              </p:cNvPr>
              <p:cNvSpPr/>
              <p:nvPr/>
            </p:nvSpPr>
            <p:spPr>
              <a:xfrm>
                <a:off x="7117381" y="5805844"/>
                <a:ext cx="636200" cy="369332"/>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d>
                        <m:dPr>
                          <m:begChr m:val="|"/>
                          <m:endChr m:val="⟩"/>
                          <m:ctrlPr>
                            <a:rPr lang="en-CA" i="1" smtClean="0">
                              <a:latin typeface="Cambria Math" panose="02040503050406030204" pitchFamily="18" charset="0"/>
                            </a:rPr>
                          </m:ctrlPr>
                        </m:dPr>
                        <m:e>
                          <m:sSub>
                            <m:sSubPr>
                              <m:ctrlPr>
                                <a:rPr lang="en-CA" b="0" i="1" smtClean="0">
                                  <a:latin typeface="Cambria Math" panose="02040503050406030204" pitchFamily="18" charset="0"/>
                                </a:rPr>
                              </m:ctrlPr>
                            </m:sSubPr>
                            <m:e>
                              <m:r>
                                <a:rPr lang="en-CA" b="0" i="1" smtClean="0">
                                  <a:latin typeface="Cambria Math" panose="02040503050406030204" pitchFamily="18" charset="0"/>
                                </a:rPr>
                                <m:t>𝑥</m:t>
                              </m:r>
                            </m:e>
                            <m:sub>
                              <m:r>
                                <a:rPr lang="en-CA" b="0" i="1" smtClean="0">
                                  <a:latin typeface="Cambria Math" panose="02040503050406030204" pitchFamily="18" charset="0"/>
                                </a:rPr>
                                <m:t>𝑛</m:t>
                              </m:r>
                            </m:sub>
                          </m:sSub>
                        </m:e>
                      </m:d>
                    </m:oMath>
                  </m:oMathPara>
                </a14:m>
                <a:endParaRPr lang="en-US" dirty="0"/>
              </a:p>
            </p:txBody>
          </p:sp>
        </mc:Choice>
        <mc:Fallback xmlns="">
          <p:sp>
            <p:nvSpPr>
              <p:cNvPr id="18" name="Rectangle 17">
                <a:extLst>
                  <a:ext uri="{FF2B5EF4-FFF2-40B4-BE49-F238E27FC236}">
                    <a16:creationId xmlns:a16="http://schemas.microsoft.com/office/drawing/2014/main" id="{55713C74-0280-97A2-DAF3-7BB7B465CE9C}"/>
                  </a:ext>
                </a:extLst>
              </p:cNvPr>
              <p:cNvSpPr>
                <a:spLocks noRot="1" noChangeAspect="1" noMove="1" noResize="1" noEditPoints="1" noAdjustHandles="1" noChangeArrowheads="1" noChangeShapeType="1" noTextEdit="1"/>
              </p:cNvSpPr>
              <p:nvPr/>
            </p:nvSpPr>
            <p:spPr>
              <a:xfrm>
                <a:off x="7117381" y="5805844"/>
                <a:ext cx="636200" cy="369332"/>
              </a:xfrm>
              <a:prstGeom prst="rect">
                <a:avLst/>
              </a:prstGeom>
              <a:blipFill>
                <a:blip r:embed="rId8"/>
                <a:stretch>
                  <a:fillRect/>
                </a:stretch>
              </a:blipFill>
            </p:spPr>
            <p:txBody>
              <a:bodyPr/>
              <a:lstStyle/>
              <a:p>
                <a:r>
                  <a:rPr lang="en-US">
                    <a:noFill/>
                  </a:rPr>
                  <a:t> </a:t>
                </a:r>
              </a:p>
            </p:txBody>
          </p:sp>
        </mc:Fallback>
      </mc:AlternateContent>
      <p:sp>
        <p:nvSpPr>
          <p:cNvPr id="19" name="TextBox 18">
            <a:extLst>
              <a:ext uri="{FF2B5EF4-FFF2-40B4-BE49-F238E27FC236}">
                <a16:creationId xmlns:a16="http://schemas.microsoft.com/office/drawing/2014/main" id="{4BD43386-F072-448C-82BD-F2EB8F067585}"/>
              </a:ext>
            </a:extLst>
          </p:cNvPr>
          <p:cNvSpPr txBox="1"/>
          <p:nvPr/>
        </p:nvSpPr>
        <p:spPr>
          <a:xfrm rot="5400000">
            <a:off x="7264606" y="5599127"/>
            <a:ext cx="475565" cy="369332"/>
          </a:xfrm>
          <a:prstGeom prst="rect">
            <a:avLst/>
          </a:prstGeom>
          <a:noFill/>
        </p:spPr>
        <p:txBody>
          <a:bodyPr wrap="square" rtlCol="0">
            <a:spAutoFit/>
          </a:bodyPr>
          <a:lstStyle/>
          <a:p>
            <a:r>
              <a:rPr lang="en-US" dirty="0"/>
              <a:t>…</a:t>
            </a:r>
          </a:p>
        </p:txBody>
      </p:sp>
      <p:sp>
        <p:nvSpPr>
          <p:cNvPr id="20" name="TextBox 19">
            <a:extLst>
              <a:ext uri="{FF2B5EF4-FFF2-40B4-BE49-F238E27FC236}">
                <a16:creationId xmlns:a16="http://schemas.microsoft.com/office/drawing/2014/main" id="{24DCAC8E-4734-7A83-A112-59FA1A9B8964}"/>
              </a:ext>
            </a:extLst>
          </p:cNvPr>
          <p:cNvSpPr txBox="1"/>
          <p:nvPr/>
        </p:nvSpPr>
        <p:spPr>
          <a:xfrm rot="5400000">
            <a:off x="10178875" y="5621178"/>
            <a:ext cx="475565" cy="369332"/>
          </a:xfrm>
          <a:prstGeom prst="rect">
            <a:avLst/>
          </a:prstGeom>
          <a:noFill/>
        </p:spPr>
        <p:txBody>
          <a:bodyPr wrap="square" rtlCol="0">
            <a:spAutoFit/>
          </a:bodyPr>
          <a:lstStyle/>
          <a:p>
            <a:r>
              <a:rPr lang="en-US" dirty="0"/>
              <a:t>…</a:t>
            </a:r>
          </a:p>
        </p:txBody>
      </p:sp>
      <mc:AlternateContent xmlns:mc="http://schemas.openxmlformats.org/markup-compatibility/2006" xmlns:a14="http://schemas.microsoft.com/office/drawing/2010/main">
        <mc:Choice Requires="a14">
          <p:sp>
            <p:nvSpPr>
              <p:cNvPr id="21" name="TextBox 20">
                <a:extLst>
                  <a:ext uri="{FF2B5EF4-FFF2-40B4-BE49-F238E27FC236}">
                    <a16:creationId xmlns:a16="http://schemas.microsoft.com/office/drawing/2014/main" id="{24DC0B14-7A7A-9954-DD93-F156E6C27BBC}"/>
                  </a:ext>
                </a:extLst>
              </p:cNvPr>
              <p:cNvSpPr txBox="1"/>
              <p:nvPr/>
            </p:nvSpPr>
            <p:spPr>
              <a:xfrm>
                <a:off x="8717162" y="3853052"/>
                <a:ext cx="641827" cy="624210"/>
              </a:xfrm>
              <a:prstGeom prst="rect">
                <a:avLst/>
              </a:prstGeom>
              <a:solidFill>
                <a:schemeClr val="bg1"/>
              </a:solidFill>
            </p:spPr>
            <p:txBody>
              <a:bodyPr wrap="square" rtlCol="0">
                <a:spAutoFit/>
              </a:bodyPr>
              <a:lstStyle/>
              <a:p>
                <a:pPr/>
                <a14:m>
                  <m:oMathPara xmlns:m="http://schemas.openxmlformats.org/officeDocument/2006/math">
                    <m:oMathParaPr>
                      <m:jc m:val="centerGroup"/>
                    </m:oMathParaPr>
                    <m:oMath xmlns:m="http://schemas.openxmlformats.org/officeDocument/2006/math">
                      <m:sSub>
                        <m:sSubPr>
                          <m:ctrlPr>
                            <a:rPr lang="en-CA" sz="3200" b="0" i="1" smtClean="0">
                              <a:latin typeface="Cambria Math" panose="02040503050406030204" pitchFamily="18" charset="0"/>
                            </a:rPr>
                          </m:ctrlPr>
                        </m:sSubPr>
                        <m:e>
                          <m:r>
                            <a:rPr lang="en-CA" sz="3200" b="0" i="1" smtClean="0">
                              <a:latin typeface="Cambria Math" panose="02040503050406030204" pitchFamily="18" charset="0"/>
                            </a:rPr>
                            <m:t>𝑅</m:t>
                          </m:r>
                        </m:e>
                        <m:sub>
                          <m:r>
                            <a:rPr lang="en-CA" sz="3200" b="0" i="1" smtClean="0">
                              <a:latin typeface="Cambria Math" panose="02040503050406030204" pitchFamily="18" charset="0"/>
                            </a:rPr>
                            <m:t>𝑓</m:t>
                          </m:r>
                        </m:sub>
                      </m:sSub>
                    </m:oMath>
                  </m:oMathPara>
                </a14:m>
                <a:endParaRPr lang="en-US" sz="3200" dirty="0"/>
              </a:p>
            </p:txBody>
          </p:sp>
        </mc:Choice>
        <mc:Fallback xmlns="">
          <p:sp>
            <p:nvSpPr>
              <p:cNvPr id="21" name="TextBox 20">
                <a:extLst>
                  <a:ext uri="{FF2B5EF4-FFF2-40B4-BE49-F238E27FC236}">
                    <a16:creationId xmlns:a16="http://schemas.microsoft.com/office/drawing/2014/main" id="{24DC0B14-7A7A-9954-DD93-F156E6C27BBC}"/>
                  </a:ext>
                </a:extLst>
              </p:cNvPr>
              <p:cNvSpPr txBox="1">
                <a:spLocks noRot="1" noChangeAspect="1" noMove="1" noResize="1" noEditPoints="1" noAdjustHandles="1" noChangeArrowheads="1" noChangeShapeType="1" noTextEdit="1"/>
              </p:cNvSpPr>
              <p:nvPr/>
            </p:nvSpPr>
            <p:spPr>
              <a:xfrm>
                <a:off x="8717162" y="3853052"/>
                <a:ext cx="641827" cy="624210"/>
              </a:xfrm>
              <a:prstGeom prst="rect">
                <a:avLst/>
              </a:prstGeom>
              <a:blipFill>
                <a:blip r:embed="rId9"/>
                <a:stretch>
                  <a:fillRect l="-3922" b="-12000"/>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22" name="Rectangle 21">
                <a:extLst>
                  <a:ext uri="{FF2B5EF4-FFF2-40B4-BE49-F238E27FC236}">
                    <a16:creationId xmlns:a16="http://schemas.microsoft.com/office/drawing/2014/main" id="{FEFD4140-0CE8-575F-1687-028EBED3DF9B}"/>
                  </a:ext>
                </a:extLst>
              </p:cNvPr>
              <p:cNvSpPr/>
              <p:nvPr/>
            </p:nvSpPr>
            <p:spPr>
              <a:xfrm>
                <a:off x="10596926" y="4465832"/>
                <a:ext cx="616771" cy="369332"/>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d>
                        <m:dPr>
                          <m:begChr m:val="|"/>
                          <m:endChr m:val="⟩"/>
                          <m:ctrlPr>
                            <a:rPr lang="en-CA" i="1" smtClean="0">
                              <a:latin typeface="Cambria Math" panose="02040503050406030204" pitchFamily="18" charset="0"/>
                            </a:rPr>
                          </m:ctrlPr>
                        </m:dPr>
                        <m:e>
                          <m:sSub>
                            <m:sSubPr>
                              <m:ctrlPr>
                                <a:rPr lang="en-CA" b="0" i="1" smtClean="0">
                                  <a:latin typeface="Cambria Math" panose="02040503050406030204" pitchFamily="18" charset="0"/>
                                </a:rPr>
                              </m:ctrlPr>
                            </m:sSubPr>
                            <m:e>
                              <m:r>
                                <a:rPr lang="en-CA" b="0" i="1" smtClean="0">
                                  <a:latin typeface="Cambria Math" panose="02040503050406030204" pitchFamily="18" charset="0"/>
                                </a:rPr>
                                <m:t>𝑥</m:t>
                              </m:r>
                            </m:e>
                            <m:sub>
                              <m:r>
                                <a:rPr lang="en-CA" b="0" i="1" smtClean="0">
                                  <a:latin typeface="Cambria Math" panose="02040503050406030204" pitchFamily="18" charset="0"/>
                                </a:rPr>
                                <m:t>1</m:t>
                              </m:r>
                            </m:sub>
                          </m:sSub>
                        </m:e>
                      </m:d>
                    </m:oMath>
                  </m:oMathPara>
                </a14:m>
                <a:endParaRPr lang="en-US" dirty="0"/>
              </a:p>
            </p:txBody>
          </p:sp>
        </mc:Choice>
        <mc:Fallback xmlns="">
          <p:sp>
            <p:nvSpPr>
              <p:cNvPr id="22" name="Rectangle 21">
                <a:extLst>
                  <a:ext uri="{FF2B5EF4-FFF2-40B4-BE49-F238E27FC236}">
                    <a16:creationId xmlns:a16="http://schemas.microsoft.com/office/drawing/2014/main" id="{FEFD4140-0CE8-575F-1687-028EBED3DF9B}"/>
                  </a:ext>
                </a:extLst>
              </p:cNvPr>
              <p:cNvSpPr>
                <a:spLocks noRot="1" noChangeAspect="1" noMove="1" noResize="1" noEditPoints="1" noAdjustHandles="1" noChangeArrowheads="1" noChangeShapeType="1" noTextEdit="1"/>
              </p:cNvSpPr>
              <p:nvPr/>
            </p:nvSpPr>
            <p:spPr>
              <a:xfrm>
                <a:off x="10596926" y="4465832"/>
                <a:ext cx="616771" cy="369332"/>
              </a:xfrm>
              <a:prstGeom prst="rect">
                <a:avLst/>
              </a:prstGeom>
              <a:blipFill>
                <a:blip r:embed="rId10"/>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23" name="Rectangle 22">
                <a:extLst>
                  <a:ext uri="{FF2B5EF4-FFF2-40B4-BE49-F238E27FC236}">
                    <a16:creationId xmlns:a16="http://schemas.microsoft.com/office/drawing/2014/main" id="{8C2163DE-5AC6-B0DD-78B9-589628A91669}"/>
                  </a:ext>
                </a:extLst>
              </p:cNvPr>
              <p:cNvSpPr/>
              <p:nvPr/>
            </p:nvSpPr>
            <p:spPr>
              <a:xfrm>
                <a:off x="10592531" y="4798894"/>
                <a:ext cx="616771" cy="369332"/>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d>
                        <m:dPr>
                          <m:begChr m:val="|"/>
                          <m:endChr m:val="⟩"/>
                          <m:ctrlPr>
                            <a:rPr lang="en-CA" i="1" smtClean="0">
                              <a:latin typeface="Cambria Math" panose="02040503050406030204" pitchFamily="18" charset="0"/>
                            </a:rPr>
                          </m:ctrlPr>
                        </m:dPr>
                        <m:e>
                          <m:sSub>
                            <m:sSubPr>
                              <m:ctrlPr>
                                <a:rPr lang="en-CA" b="0" i="1" smtClean="0">
                                  <a:latin typeface="Cambria Math" panose="02040503050406030204" pitchFamily="18" charset="0"/>
                                </a:rPr>
                              </m:ctrlPr>
                            </m:sSubPr>
                            <m:e>
                              <m:r>
                                <a:rPr lang="en-CA" b="0" i="1" smtClean="0">
                                  <a:latin typeface="Cambria Math" panose="02040503050406030204" pitchFamily="18" charset="0"/>
                                </a:rPr>
                                <m:t>𝑥</m:t>
                              </m:r>
                            </m:e>
                            <m:sub>
                              <m:r>
                                <a:rPr lang="en-CA" b="0" i="1" smtClean="0">
                                  <a:latin typeface="Cambria Math" panose="02040503050406030204" pitchFamily="18" charset="0"/>
                                </a:rPr>
                                <m:t>2</m:t>
                              </m:r>
                            </m:sub>
                          </m:sSub>
                        </m:e>
                      </m:d>
                    </m:oMath>
                  </m:oMathPara>
                </a14:m>
                <a:endParaRPr lang="en-US" dirty="0"/>
              </a:p>
            </p:txBody>
          </p:sp>
        </mc:Choice>
        <mc:Fallback xmlns="">
          <p:sp>
            <p:nvSpPr>
              <p:cNvPr id="23" name="Rectangle 22">
                <a:extLst>
                  <a:ext uri="{FF2B5EF4-FFF2-40B4-BE49-F238E27FC236}">
                    <a16:creationId xmlns:a16="http://schemas.microsoft.com/office/drawing/2014/main" id="{8C2163DE-5AC6-B0DD-78B9-589628A91669}"/>
                  </a:ext>
                </a:extLst>
              </p:cNvPr>
              <p:cNvSpPr>
                <a:spLocks noRot="1" noChangeAspect="1" noMove="1" noResize="1" noEditPoints="1" noAdjustHandles="1" noChangeArrowheads="1" noChangeShapeType="1" noTextEdit="1"/>
              </p:cNvSpPr>
              <p:nvPr/>
            </p:nvSpPr>
            <p:spPr>
              <a:xfrm>
                <a:off x="10592531" y="4798894"/>
                <a:ext cx="616771" cy="369332"/>
              </a:xfrm>
              <a:prstGeom prst="rect">
                <a:avLst/>
              </a:prstGeom>
              <a:blipFill>
                <a:blip r:embed="rId11"/>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24" name="Rectangle 23">
                <a:extLst>
                  <a:ext uri="{FF2B5EF4-FFF2-40B4-BE49-F238E27FC236}">
                    <a16:creationId xmlns:a16="http://schemas.microsoft.com/office/drawing/2014/main" id="{92587D04-DFA2-94BA-320B-F7C319F91F3A}"/>
                  </a:ext>
                </a:extLst>
              </p:cNvPr>
              <p:cNvSpPr/>
              <p:nvPr/>
            </p:nvSpPr>
            <p:spPr>
              <a:xfrm>
                <a:off x="10596609" y="5180564"/>
                <a:ext cx="616771" cy="369332"/>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d>
                        <m:dPr>
                          <m:begChr m:val="|"/>
                          <m:endChr m:val="⟩"/>
                          <m:ctrlPr>
                            <a:rPr lang="en-CA" i="1" smtClean="0">
                              <a:latin typeface="Cambria Math" panose="02040503050406030204" pitchFamily="18" charset="0"/>
                            </a:rPr>
                          </m:ctrlPr>
                        </m:dPr>
                        <m:e>
                          <m:sSub>
                            <m:sSubPr>
                              <m:ctrlPr>
                                <a:rPr lang="en-CA" b="0" i="1" smtClean="0">
                                  <a:latin typeface="Cambria Math" panose="02040503050406030204" pitchFamily="18" charset="0"/>
                                </a:rPr>
                              </m:ctrlPr>
                            </m:sSubPr>
                            <m:e>
                              <m:r>
                                <a:rPr lang="en-CA" b="0" i="1" smtClean="0">
                                  <a:latin typeface="Cambria Math" panose="02040503050406030204" pitchFamily="18" charset="0"/>
                                </a:rPr>
                                <m:t>𝑥</m:t>
                              </m:r>
                            </m:e>
                            <m:sub>
                              <m:r>
                                <a:rPr lang="en-CA" b="0" i="1" smtClean="0">
                                  <a:latin typeface="Cambria Math" panose="02040503050406030204" pitchFamily="18" charset="0"/>
                                </a:rPr>
                                <m:t>3</m:t>
                              </m:r>
                            </m:sub>
                          </m:sSub>
                        </m:e>
                      </m:d>
                    </m:oMath>
                  </m:oMathPara>
                </a14:m>
                <a:endParaRPr lang="en-US" dirty="0"/>
              </a:p>
            </p:txBody>
          </p:sp>
        </mc:Choice>
        <mc:Fallback xmlns="">
          <p:sp>
            <p:nvSpPr>
              <p:cNvPr id="24" name="Rectangle 23">
                <a:extLst>
                  <a:ext uri="{FF2B5EF4-FFF2-40B4-BE49-F238E27FC236}">
                    <a16:creationId xmlns:a16="http://schemas.microsoft.com/office/drawing/2014/main" id="{92587D04-DFA2-94BA-320B-F7C319F91F3A}"/>
                  </a:ext>
                </a:extLst>
              </p:cNvPr>
              <p:cNvSpPr>
                <a:spLocks noRot="1" noChangeAspect="1" noMove="1" noResize="1" noEditPoints="1" noAdjustHandles="1" noChangeArrowheads="1" noChangeShapeType="1" noTextEdit="1"/>
              </p:cNvSpPr>
              <p:nvPr/>
            </p:nvSpPr>
            <p:spPr>
              <a:xfrm>
                <a:off x="10596609" y="5180564"/>
                <a:ext cx="616771" cy="369332"/>
              </a:xfrm>
              <a:prstGeom prst="rect">
                <a:avLst/>
              </a:prstGeom>
              <a:blipFill>
                <a:blip r:embed="rId12"/>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25" name="Rectangle 24">
                <a:extLst>
                  <a:ext uri="{FF2B5EF4-FFF2-40B4-BE49-F238E27FC236}">
                    <a16:creationId xmlns:a16="http://schemas.microsoft.com/office/drawing/2014/main" id="{C2A05528-03FE-7042-DA3D-918B651D015F}"/>
                  </a:ext>
                </a:extLst>
              </p:cNvPr>
              <p:cNvSpPr/>
              <p:nvPr/>
            </p:nvSpPr>
            <p:spPr>
              <a:xfrm>
                <a:off x="10592531" y="6184776"/>
                <a:ext cx="1311641" cy="369332"/>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d>
                        <m:dPr>
                          <m:begChr m:val="|"/>
                          <m:endChr m:val="⟩"/>
                          <m:ctrlPr>
                            <a:rPr lang="en-CA" i="1" smtClean="0">
                              <a:latin typeface="Cambria Math" panose="02040503050406030204" pitchFamily="18" charset="0"/>
                            </a:rPr>
                          </m:ctrlPr>
                        </m:dPr>
                        <m:e>
                          <m:r>
                            <a:rPr lang="en-CA" b="0" i="1" smtClean="0">
                              <a:latin typeface="Cambria Math" panose="02040503050406030204" pitchFamily="18" charset="0"/>
                            </a:rPr>
                            <m:t>𝑏</m:t>
                          </m:r>
                          <m:r>
                            <a:rPr lang="en-CA" b="0" i="1" smtClean="0">
                              <a:latin typeface="Cambria Math" panose="02040503050406030204" pitchFamily="18" charset="0"/>
                            </a:rPr>
                            <m:t>⊕</m:t>
                          </m:r>
                          <m:r>
                            <a:rPr lang="en-CA" b="0" i="1" smtClean="0">
                              <a:latin typeface="Cambria Math" panose="02040503050406030204" pitchFamily="18" charset="0"/>
                            </a:rPr>
                            <m:t>𝑓</m:t>
                          </m:r>
                          <m:r>
                            <a:rPr lang="en-CA" b="0" i="1" smtClean="0">
                              <a:latin typeface="Cambria Math" panose="02040503050406030204" pitchFamily="18" charset="0"/>
                            </a:rPr>
                            <m:t>(</m:t>
                          </m:r>
                          <m:r>
                            <a:rPr lang="en-CA" b="0" i="1" smtClean="0">
                              <a:latin typeface="Cambria Math" panose="02040503050406030204" pitchFamily="18" charset="0"/>
                            </a:rPr>
                            <m:t>𝑥</m:t>
                          </m:r>
                          <m:r>
                            <a:rPr lang="en-CA" b="0" i="1" smtClean="0">
                              <a:latin typeface="Cambria Math" panose="02040503050406030204" pitchFamily="18" charset="0"/>
                            </a:rPr>
                            <m:t>)</m:t>
                          </m:r>
                        </m:e>
                      </m:d>
                    </m:oMath>
                  </m:oMathPara>
                </a14:m>
                <a:endParaRPr lang="en-US" dirty="0"/>
              </a:p>
            </p:txBody>
          </p:sp>
        </mc:Choice>
        <mc:Fallback xmlns="">
          <p:sp>
            <p:nvSpPr>
              <p:cNvPr id="25" name="Rectangle 24">
                <a:extLst>
                  <a:ext uri="{FF2B5EF4-FFF2-40B4-BE49-F238E27FC236}">
                    <a16:creationId xmlns:a16="http://schemas.microsoft.com/office/drawing/2014/main" id="{C2A05528-03FE-7042-DA3D-918B651D015F}"/>
                  </a:ext>
                </a:extLst>
              </p:cNvPr>
              <p:cNvSpPr>
                <a:spLocks noRot="1" noChangeAspect="1" noMove="1" noResize="1" noEditPoints="1" noAdjustHandles="1" noChangeArrowheads="1" noChangeShapeType="1" noTextEdit="1"/>
              </p:cNvSpPr>
              <p:nvPr/>
            </p:nvSpPr>
            <p:spPr>
              <a:xfrm>
                <a:off x="10592531" y="6184776"/>
                <a:ext cx="1311641" cy="369332"/>
              </a:xfrm>
              <a:prstGeom prst="rect">
                <a:avLst/>
              </a:prstGeom>
              <a:blipFill>
                <a:blip r:embed="rId13"/>
                <a:stretch>
                  <a:fillRect b="-17241"/>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26" name="Rectangle 25">
                <a:extLst>
                  <a:ext uri="{FF2B5EF4-FFF2-40B4-BE49-F238E27FC236}">
                    <a16:creationId xmlns:a16="http://schemas.microsoft.com/office/drawing/2014/main" id="{6F728D63-CD89-C4F9-4548-758D537A216D}"/>
                  </a:ext>
                </a:extLst>
              </p:cNvPr>
              <p:cNvSpPr/>
              <p:nvPr/>
            </p:nvSpPr>
            <p:spPr>
              <a:xfrm>
                <a:off x="10584169" y="5805844"/>
                <a:ext cx="636200" cy="369332"/>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d>
                        <m:dPr>
                          <m:begChr m:val="|"/>
                          <m:endChr m:val="⟩"/>
                          <m:ctrlPr>
                            <a:rPr lang="en-CA" i="1" smtClean="0">
                              <a:latin typeface="Cambria Math" panose="02040503050406030204" pitchFamily="18" charset="0"/>
                            </a:rPr>
                          </m:ctrlPr>
                        </m:dPr>
                        <m:e>
                          <m:sSub>
                            <m:sSubPr>
                              <m:ctrlPr>
                                <a:rPr lang="en-CA" b="0" i="1" smtClean="0">
                                  <a:latin typeface="Cambria Math" panose="02040503050406030204" pitchFamily="18" charset="0"/>
                                </a:rPr>
                              </m:ctrlPr>
                            </m:sSubPr>
                            <m:e>
                              <m:r>
                                <a:rPr lang="en-CA" b="0" i="1" smtClean="0">
                                  <a:latin typeface="Cambria Math" panose="02040503050406030204" pitchFamily="18" charset="0"/>
                                </a:rPr>
                                <m:t>𝑥</m:t>
                              </m:r>
                            </m:e>
                            <m:sub>
                              <m:r>
                                <a:rPr lang="en-CA" b="0" i="1" smtClean="0">
                                  <a:latin typeface="Cambria Math" panose="02040503050406030204" pitchFamily="18" charset="0"/>
                                </a:rPr>
                                <m:t>𝑛</m:t>
                              </m:r>
                            </m:sub>
                          </m:sSub>
                        </m:e>
                      </m:d>
                    </m:oMath>
                  </m:oMathPara>
                </a14:m>
                <a:endParaRPr lang="en-US" dirty="0"/>
              </a:p>
            </p:txBody>
          </p:sp>
        </mc:Choice>
        <mc:Fallback xmlns="">
          <p:sp>
            <p:nvSpPr>
              <p:cNvPr id="26" name="Rectangle 25">
                <a:extLst>
                  <a:ext uri="{FF2B5EF4-FFF2-40B4-BE49-F238E27FC236}">
                    <a16:creationId xmlns:a16="http://schemas.microsoft.com/office/drawing/2014/main" id="{6F728D63-CD89-C4F9-4548-758D537A216D}"/>
                  </a:ext>
                </a:extLst>
              </p:cNvPr>
              <p:cNvSpPr>
                <a:spLocks noRot="1" noChangeAspect="1" noMove="1" noResize="1" noEditPoints="1" noAdjustHandles="1" noChangeArrowheads="1" noChangeShapeType="1" noTextEdit="1"/>
              </p:cNvSpPr>
              <p:nvPr/>
            </p:nvSpPr>
            <p:spPr>
              <a:xfrm>
                <a:off x="10584169" y="5805844"/>
                <a:ext cx="636200" cy="369332"/>
              </a:xfrm>
              <a:prstGeom prst="rect">
                <a:avLst/>
              </a:prstGeom>
              <a:blipFill>
                <a:blip r:embed="rId14"/>
                <a:stretch>
                  <a:fillRect/>
                </a:stretch>
              </a:blipFill>
            </p:spPr>
            <p:txBody>
              <a:bodyPr/>
              <a:lstStyle/>
              <a:p>
                <a:r>
                  <a:rPr lang="en-US">
                    <a:noFill/>
                  </a:rPr>
                  <a:t> </a:t>
                </a:r>
              </a:p>
            </p:txBody>
          </p:sp>
        </mc:Fallback>
      </mc:AlternateContent>
      <p:sp>
        <p:nvSpPr>
          <p:cNvPr id="27" name="TextBox 26">
            <a:extLst>
              <a:ext uri="{FF2B5EF4-FFF2-40B4-BE49-F238E27FC236}">
                <a16:creationId xmlns:a16="http://schemas.microsoft.com/office/drawing/2014/main" id="{29CEB2AD-68B9-221C-B693-9B0128B989AF}"/>
              </a:ext>
            </a:extLst>
          </p:cNvPr>
          <p:cNvSpPr txBox="1"/>
          <p:nvPr/>
        </p:nvSpPr>
        <p:spPr>
          <a:xfrm rot="5400000">
            <a:off x="10731394" y="5599127"/>
            <a:ext cx="475565" cy="369332"/>
          </a:xfrm>
          <a:prstGeom prst="rect">
            <a:avLst/>
          </a:prstGeom>
          <a:noFill/>
        </p:spPr>
        <p:txBody>
          <a:bodyPr wrap="square" rtlCol="0">
            <a:spAutoFit/>
          </a:bodyPr>
          <a:lstStyle/>
          <a:p>
            <a:r>
              <a:rPr lang="en-US" dirty="0"/>
              <a:t>…</a:t>
            </a:r>
          </a:p>
        </p:txBody>
      </p:sp>
      <mc:AlternateContent xmlns:mc="http://schemas.openxmlformats.org/markup-compatibility/2006" xmlns:a14="http://schemas.microsoft.com/office/drawing/2010/main">
        <mc:Choice Requires="a14">
          <p:sp>
            <p:nvSpPr>
              <p:cNvPr id="28" name="TextBox 27">
                <a:extLst>
                  <a:ext uri="{FF2B5EF4-FFF2-40B4-BE49-F238E27FC236}">
                    <a16:creationId xmlns:a16="http://schemas.microsoft.com/office/drawing/2014/main" id="{C883C81A-1285-50F9-22C9-18F43EAD110A}"/>
                  </a:ext>
                </a:extLst>
              </p:cNvPr>
              <p:cNvSpPr txBox="1"/>
              <p:nvPr/>
            </p:nvSpPr>
            <p:spPr>
              <a:xfrm>
                <a:off x="3103323" y="3962745"/>
                <a:ext cx="641827" cy="624210"/>
              </a:xfrm>
              <a:prstGeom prst="rect">
                <a:avLst/>
              </a:prstGeom>
              <a:solidFill>
                <a:schemeClr val="bg1"/>
              </a:solidFill>
            </p:spPr>
            <p:txBody>
              <a:bodyPr wrap="square" rtlCol="0">
                <a:spAutoFit/>
              </a:bodyPr>
              <a:lstStyle/>
              <a:p>
                <a:pPr/>
                <a14:m>
                  <m:oMathPara xmlns:m="http://schemas.openxmlformats.org/officeDocument/2006/math">
                    <m:oMathParaPr>
                      <m:jc m:val="centerGroup"/>
                    </m:oMathParaPr>
                    <m:oMath xmlns:m="http://schemas.openxmlformats.org/officeDocument/2006/math">
                      <m:sSub>
                        <m:sSubPr>
                          <m:ctrlPr>
                            <a:rPr lang="en-CA" sz="3200" b="0" i="1" smtClean="0">
                              <a:latin typeface="Cambria Math" panose="02040503050406030204" pitchFamily="18" charset="0"/>
                            </a:rPr>
                          </m:ctrlPr>
                        </m:sSubPr>
                        <m:e>
                          <m:r>
                            <a:rPr lang="en-CA" sz="3200" b="0" i="1" smtClean="0">
                              <a:latin typeface="Cambria Math" panose="02040503050406030204" pitchFamily="18" charset="0"/>
                            </a:rPr>
                            <m:t>𝐶</m:t>
                          </m:r>
                        </m:e>
                        <m:sub>
                          <m:r>
                            <a:rPr lang="en-CA" sz="3200" b="0" i="1" smtClean="0">
                              <a:latin typeface="Cambria Math" panose="02040503050406030204" pitchFamily="18" charset="0"/>
                            </a:rPr>
                            <m:t>𝑓</m:t>
                          </m:r>
                        </m:sub>
                      </m:sSub>
                    </m:oMath>
                  </m:oMathPara>
                </a14:m>
                <a:endParaRPr lang="en-US" sz="3200" dirty="0"/>
              </a:p>
            </p:txBody>
          </p:sp>
        </mc:Choice>
        <mc:Fallback xmlns="">
          <p:sp>
            <p:nvSpPr>
              <p:cNvPr id="28" name="TextBox 27">
                <a:extLst>
                  <a:ext uri="{FF2B5EF4-FFF2-40B4-BE49-F238E27FC236}">
                    <a16:creationId xmlns:a16="http://schemas.microsoft.com/office/drawing/2014/main" id="{C883C81A-1285-50F9-22C9-18F43EAD110A}"/>
                  </a:ext>
                </a:extLst>
              </p:cNvPr>
              <p:cNvSpPr txBox="1">
                <a:spLocks noRot="1" noChangeAspect="1" noMove="1" noResize="1" noEditPoints="1" noAdjustHandles="1" noChangeArrowheads="1" noChangeShapeType="1" noTextEdit="1"/>
              </p:cNvSpPr>
              <p:nvPr/>
            </p:nvSpPr>
            <p:spPr>
              <a:xfrm>
                <a:off x="3103323" y="3962745"/>
                <a:ext cx="641827" cy="624210"/>
              </a:xfrm>
              <a:prstGeom prst="rect">
                <a:avLst/>
              </a:prstGeom>
              <a:blipFill>
                <a:blip r:embed="rId15"/>
                <a:stretch>
                  <a:fillRect l="-3922" b="-14286"/>
                </a:stretch>
              </a:blipFill>
            </p:spPr>
            <p:txBody>
              <a:bodyPr/>
              <a:lstStyle/>
              <a:p>
                <a:r>
                  <a:rPr lang="en-US">
                    <a:noFill/>
                  </a:rPr>
                  <a:t> </a:t>
                </a:r>
              </a:p>
            </p:txBody>
          </p:sp>
        </mc:Fallback>
      </mc:AlternateContent>
      <p:sp>
        <p:nvSpPr>
          <p:cNvPr id="29" name="Rectangle 28">
            <a:extLst>
              <a:ext uri="{FF2B5EF4-FFF2-40B4-BE49-F238E27FC236}">
                <a16:creationId xmlns:a16="http://schemas.microsoft.com/office/drawing/2014/main" id="{69BF4AC5-57B8-D66F-9553-67B8234A24D7}"/>
              </a:ext>
            </a:extLst>
          </p:cNvPr>
          <p:cNvSpPr/>
          <p:nvPr/>
        </p:nvSpPr>
        <p:spPr>
          <a:xfrm>
            <a:off x="8720162" y="4932021"/>
            <a:ext cx="389570" cy="62468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32" name="Rectangle 31">
            <a:extLst>
              <a:ext uri="{FF2B5EF4-FFF2-40B4-BE49-F238E27FC236}">
                <a16:creationId xmlns:a16="http://schemas.microsoft.com/office/drawing/2014/main" id="{D7B0F65E-BFBF-DD5F-511E-3086004827B3}"/>
              </a:ext>
            </a:extLst>
          </p:cNvPr>
          <p:cNvSpPr/>
          <p:nvPr/>
        </p:nvSpPr>
        <p:spPr>
          <a:xfrm>
            <a:off x="9321034" y="5805844"/>
            <a:ext cx="315425" cy="837847"/>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33" name="Rectangle 32">
            <a:extLst>
              <a:ext uri="{FF2B5EF4-FFF2-40B4-BE49-F238E27FC236}">
                <a16:creationId xmlns:a16="http://schemas.microsoft.com/office/drawing/2014/main" id="{D5A8D7D7-B597-3BDA-518D-5E118808E9AD}"/>
              </a:ext>
            </a:extLst>
          </p:cNvPr>
          <p:cNvSpPr/>
          <p:nvPr/>
        </p:nvSpPr>
        <p:spPr>
          <a:xfrm>
            <a:off x="9876018" y="5232684"/>
            <a:ext cx="389570" cy="42798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34" name="Rectangle 33">
            <a:extLst>
              <a:ext uri="{FF2B5EF4-FFF2-40B4-BE49-F238E27FC236}">
                <a16:creationId xmlns:a16="http://schemas.microsoft.com/office/drawing/2014/main" id="{5B298ECF-B591-05A0-8648-E0A642B25870}"/>
              </a:ext>
            </a:extLst>
          </p:cNvPr>
          <p:cNvSpPr/>
          <p:nvPr/>
        </p:nvSpPr>
        <p:spPr>
          <a:xfrm>
            <a:off x="10154428" y="6179199"/>
            <a:ext cx="389570" cy="42798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36" name="직사각형 35"/>
          <p:cNvSpPr/>
          <p:nvPr/>
        </p:nvSpPr>
        <p:spPr>
          <a:xfrm>
            <a:off x="11036129" y="910348"/>
            <a:ext cx="1023456" cy="429936"/>
          </a:xfrm>
          <a:prstGeom prst="rect">
            <a:avLst/>
          </a:prstGeom>
        </p:spPr>
        <p:style>
          <a:lnRef idx="2">
            <a:schemeClr val="accent2">
              <a:shade val="50000"/>
            </a:schemeClr>
          </a:lnRef>
          <a:fillRef idx="1">
            <a:schemeClr val="accent2"/>
          </a:fillRef>
          <a:effectRef idx="0">
            <a:schemeClr val="accent2"/>
          </a:effectRef>
          <a:fontRef idx="minor">
            <a:schemeClr val="lt1"/>
          </a:fontRef>
        </p:style>
        <p:txBody>
          <a:bodyPr rtlCol="0" anchor="ctr"/>
          <a:lstStyle/>
          <a:p>
            <a:pPr algn="ctr"/>
            <a:r>
              <a:rPr lang="en-US" altLang="ko-KR" sz="1400" dirty="0" smtClean="0"/>
              <a:t>Slightly advanced</a:t>
            </a:r>
            <a:endParaRPr lang="ko-KR" altLang="en-US" sz="1400" dirty="0"/>
          </a:p>
        </p:txBody>
      </p:sp>
    </p:spTree>
    <p:extLst>
      <p:ext uri="{BB962C8B-B14F-4D97-AF65-F5344CB8AC3E}">
        <p14:creationId xmlns:p14="http://schemas.microsoft.com/office/powerpoint/2010/main" val="200131724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1" end="1"/>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116A5BA-F7E0-BB86-C9E7-C9824CDFB3A9}"/>
              </a:ext>
            </a:extLst>
          </p:cNvPr>
          <p:cNvSpPr>
            <a:spLocks noGrp="1"/>
          </p:cNvSpPr>
          <p:nvPr>
            <p:ph type="title"/>
          </p:nvPr>
        </p:nvSpPr>
        <p:spPr/>
        <p:txBody>
          <a:bodyPr>
            <a:normAutofit/>
          </a:bodyPr>
          <a:lstStyle/>
          <a:p>
            <a:r>
              <a:rPr lang="en-US" sz="4000" dirty="0"/>
              <a:t>Universal </a:t>
            </a:r>
            <a:r>
              <a:rPr lang="en-US" sz="4000" dirty="0" smtClean="0"/>
              <a:t>gate set for reversible computing</a:t>
            </a:r>
            <a:endParaRPr lang="en-US" sz="4000" dirty="0"/>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12194FAD-725C-122F-760E-6489EFE61761}"/>
                  </a:ext>
                </a:extLst>
              </p:cNvPr>
              <p:cNvSpPr>
                <a:spLocks noGrp="1"/>
              </p:cNvSpPr>
              <p:nvPr>
                <p:ph idx="1"/>
              </p:nvPr>
            </p:nvSpPr>
            <p:spPr>
              <a:xfrm>
                <a:off x="838200" y="1825624"/>
                <a:ext cx="10515600" cy="4532313"/>
              </a:xfrm>
            </p:spPr>
            <p:txBody>
              <a:bodyPr>
                <a:normAutofit/>
              </a:bodyPr>
              <a:lstStyle/>
              <a:p>
                <a:r>
                  <a:rPr lang="en-US" sz="2400" dirty="0"/>
                  <a:t>Every Boolean function </a:t>
                </a:r>
                <a14:m>
                  <m:oMath xmlns:m="http://schemas.openxmlformats.org/officeDocument/2006/math">
                    <m:r>
                      <a:rPr lang="en-CA" sz="2400" b="0" i="1" smtClean="0">
                        <a:latin typeface="Cambria Math" panose="02040503050406030204" pitchFamily="18" charset="0"/>
                      </a:rPr>
                      <m:t>𝑓</m:t>
                    </m:r>
                    <m:r>
                      <a:rPr lang="en-CA" sz="2400" b="0" i="1" smtClean="0">
                        <a:latin typeface="Cambria Math" panose="02040503050406030204" pitchFamily="18" charset="0"/>
                      </a:rPr>
                      <m:t>:</m:t>
                    </m:r>
                    <m:sSup>
                      <m:sSupPr>
                        <m:ctrlPr>
                          <a:rPr lang="en-CA" sz="2400" b="0" i="1" smtClean="0">
                            <a:latin typeface="Cambria Math" panose="02040503050406030204" pitchFamily="18" charset="0"/>
                          </a:rPr>
                        </m:ctrlPr>
                      </m:sSupPr>
                      <m:e>
                        <m:d>
                          <m:dPr>
                            <m:begChr m:val="{"/>
                            <m:endChr m:val="}"/>
                            <m:ctrlPr>
                              <a:rPr lang="en-CA" sz="2400" b="0" i="1" smtClean="0">
                                <a:latin typeface="Cambria Math" panose="02040503050406030204" pitchFamily="18" charset="0"/>
                              </a:rPr>
                            </m:ctrlPr>
                          </m:dPr>
                          <m:e>
                            <m:r>
                              <a:rPr lang="en-CA" sz="2400" b="0" i="1" smtClean="0">
                                <a:latin typeface="Cambria Math" panose="02040503050406030204" pitchFamily="18" charset="0"/>
                              </a:rPr>
                              <m:t>0,1</m:t>
                            </m:r>
                          </m:e>
                        </m:d>
                      </m:e>
                      <m:sup>
                        <m:r>
                          <a:rPr lang="en-CA" sz="2400" b="0" i="1" smtClean="0">
                            <a:latin typeface="Cambria Math" panose="02040503050406030204" pitchFamily="18" charset="0"/>
                          </a:rPr>
                          <m:t>𝑛</m:t>
                        </m:r>
                      </m:sup>
                    </m:sSup>
                    <m:r>
                      <a:rPr lang="en-CA" sz="2400" b="0" i="1" smtClean="0">
                        <a:latin typeface="Cambria Math" panose="02040503050406030204" pitchFamily="18" charset="0"/>
                      </a:rPr>
                      <m:t>→</m:t>
                    </m:r>
                    <m:d>
                      <m:dPr>
                        <m:begChr m:val="{"/>
                        <m:endChr m:val="}"/>
                        <m:ctrlPr>
                          <a:rPr lang="en-CA" sz="2400" b="0" i="1" smtClean="0">
                            <a:latin typeface="Cambria Math" panose="02040503050406030204" pitchFamily="18" charset="0"/>
                          </a:rPr>
                        </m:ctrlPr>
                      </m:dPr>
                      <m:e>
                        <m:r>
                          <a:rPr lang="en-CA" sz="2400" b="0" i="1" smtClean="0">
                            <a:latin typeface="Cambria Math" panose="02040503050406030204" pitchFamily="18" charset="0"/>
                          </a:rPr>
                          <m:t>0,1</m:t>
                        </m:r>
                      </m:e>
                    </m:d>
                  </m:oMath>
                </a14:m>
                <a:r>
                  <a:rPr lang="en-US" sz="2400" dirty="0"/>
                  <a:t> </a:t>
                </a:r>
                <a:r>
                  <a:rPr lang="en-US" sz="2400" dirty="0" smtClean="0"/>
                  <a:t/>
                </a:r>
                <a:br>
                  <a:rPr lang="en-US" sz="2400" dirty="0" smtClean="0"/>
                </a:br>
                <a:r>
                  <a:rPr lang="en-US" sz="2400" dirty="0" smtClean="0"/>
                  <a:t>can be represented by a Boolean polynomial</a:t>
                </a:r>
                <a:r>
                  <a:rPr lang="en-US" sz="2400" dirty="0"/>
                  <a:t/>
                </a:r>
                <a:br>
                  <a:rPr lang="en-US" sz="2400" dirty="0"/>
                </a:br>
                <a:r>
                  <a:rPr lang="en-CA" sz="1600" dirty="0"/>
                  <a:t/>
                </a:r>
                <a:br>
                  <a:rPr lang="en-CA" sz="1600" dirty="0"/>
                </a:br>
                <a:endParaRPr lang="en-US" sz="1200" dirty="0"/>
              </a:p>
              <a:p>
                <a:r>
                  <a:rPr lang="en-US" sz="2400" dirty="0" smtClean="0"/>
                  <a:t>NOT + CNOT + CCNOT forms a universal gate set (with </a:t>
                </a:r>
                <a:r>
                  <a:rPr lang="en-US" sz="2400" dirty="0" err="1" smtClean="0"/>
                  <a:t>ancillas</a:t>
                </a:r>
                <a:r>
                  <a:rPr lang="en-US" sz="2400" dirty="0" smtClean="0"/>
                  <a:t>)</a:t>
                </a:r>
                <a:r>
                  <a:rPr lang="en-US" sz="2400" dirty="0"/>
                  <a:t/>
                </a:r>
                <a:br>
                  <a:rPr lang="en-US" sz="2400" dirty="0"/>
                </a:br>
                <a:r>
                  <a:rPr lang="en-US" sz="2400" dirty="0" smtClean="0"/>
                  <a:t>because they can form any Boolean polynomial gate</a:t>
                </a:r>
                <a:endParaRPr lang="en-US" sz="2400" dirty="0"/>
              </a:p>
              <a:p>
                <a:pPr marL="0" indent="0">
                  <a:buNone/>
                </a:pPr>
                <a:endParaRPr lang="en-US" sz="2400" dirty="0"/>
              </a:p>
            </p:txBody>
          </p:sp>
        </mc:Choice>
        <mc:Fallback xmlns="">
          <p:sp>
            <p:nvSpPr>
              <p:cNvPr id="3" name="Content Placeholder 2">
                <a:extLst>
                  <a:ext uri="{FF2B5EF4-FFF2-40B4-BE49-F238E27FC236}">
                    <a16:creationId xmlns:a16="http://schemas.microsoft.com/office/drawing/2014/main" id="{12194FAD-725C-122F-760E-6489EFE61761}"/>
                  </a:ext>
                </a:extLst>
              </p:cNvPr>
              <p:cNvSpPr>
                <a:spLocks noGrp="1" noRot="1" noChangeAspect="1" noMove="1" noResize="1" noEditPoints="1" noAdjustHandles="1" noChangeArrowheads="1" noChangeShapeType="1" noTextEdit="1"/>
              </p:cNvSpPr>
              <p:nvPr>
                <p:ph idx="1"/>
              </p:nvPr>
            </p:nvSpPr>
            <p:spPr>
              <a:xfrm>
                <a:off x="838200" y="1825624"/>
                <a:ext cx="10515600" cy="4532313"/>
              </a:xfrm>
              <a:blipFill>
                <a:blip r:embed="rId2"/>
                <a:stretch>
                  <a:fillRect l="-812" t="-1882"/>
                </a:stretch>
              </a:blipFill>
            </p:spPr>
            <p:txBody>
              <a:bodyPr/>
              <a:lstStyle/>
              <a:p>
                <a:r>
                  <a:rPr lang="ko-KR" altLang="en-US">
                    <a:noFill/>
                  </a:rPr>
                  <a:t> </a:t>
                </a:r>
              </a:p>
            </p:txBody>
          </p:sp>
        </mc:Fallback>
      </mc:AlternateContent>
      <p:cxnSp>
        <p:nvCxnSpPr>
          <p:cNvPr id="26" name="Straight Connector 45">
            <a:extLst>
              <a:ext uri="{FF2B5EF4-FFF2-40B4-BE49-F238E27FC236}">
                <a16:creationId xmlns:a16="http://schemas.microsoft.com/office/drawing/2014/main" id="{E95E7823-476B-6B69-D9AB-251CD032614F}"/>
              </a:ext>
            </a:extLst>
          </p:cNvPr>
          <p:cNvCxnSpPr>
            <a:cxnSpLocks/>
          </p:cNvCxnSpPr>
          <p:nvPr/>
        </p:nvCxnSpPr>
        <p:spPr>
          <a:xfrm>
            <a:off x="6178572" y="4614861"/>
            <a:ext cx="887866" cy="0"/>
          </a:xfrm>
          <a:prstGeom prst="line">
            <a:avLst/>
          </a:prstGeom>
          <a:ln w="38100"/>
        </p:spPr>
        <p:style>
          <a:lnRef idx="1">
            <a:schemeClr val="accent1"/>
          </a:lnRef>
          <a:fillRef idx="0">
            <a:schemeClr val="accent1"/>
          </a:fillRef>
          <a:effectRef idx="0">
            <a:schemeClr val="accent1"/>
          </a:effectRef>
          <a:fontRef idx="minor">
            <a:schemeClr val="tx1"/>
          </a:fontRef>
        </p:style>
      </p:cxnSp>
      <p:cxnSp>
        <p:nvCxnSpPr>
          <p:cNvPr id="27" name="Straight Connector 46">
            <a:extLst>
              <a:ext uri="{FF2B5EF4-FFF2-40B4-BE49-F238E27FC236}">
                <a16:creationId xmlns:a16="http://schemas.microsoft.com/office/drawing/2014/main" id="{0B6723A4-C950-915E-A495-C56DD524D533}"/>
              </a:ext>
            </a:extLst>
          </p:cNvPr>
          <p:cNvCxnSpPr>
            <a:cxnSpLocks/>
          </p:cNvCxnSpPr>
          <p:nvPr/>
        </p:nvCxnSpPr>
        <p:spPr>
          <a:xfrm>
            <a:off x="6178572" y="4995862"/>
            <a:ext cx="887866" cy="0"/>
          </a:xfrm>
          <a:prstGeom prst="line">
            <a:avLst/>
          </a:prstGeom>
          <a:ln w="38100"/>
        </p:spPr>
        <p:style>
          <a:lnRef idx="1">
            <a:schemeClr val="accent1"/>
          </a:lnRef>
          <a:fillRef idx="0">
            <a:schemeClr val="accent1"/>
          </a:fillRef>
          <a:effectRef idx="0">
            <a:schemeClr val="accent1"/>
          </a:effectRef>
          <a:fontRef idx="minor">
            <a:schemeClr val="tx1"/>
          </a:fontRef>
        </p:style>
      </p:cxnSp>
      <p:cxnSp>
        <p:nvCxnSpPr>
          <p:cNvPr id="28" name="Straight Connector 47">
            <a:extLst>
              <a:ext uri="{FF2B5EF4-FFF2-40B4-BE49-F238E27FC236}">
                <a16:creationId xmlns:a16="http://schemas.microsoft.com/office/drawing/2014/main" id="{6B2D63A5-DA8A-A49C-E713-AC5266557201}"/>
              </a:ext>
            </a:extLst>
          </p:cNvPr>
          <p:cNvCxnSpPr>
            <a:cxnSpLocks/>
            <a:stCxn id="29" idx="4"/>
            <a:endCxn id="30" idx="4"/>
          </p:cNvCxnSpPr>
          <p:nvPr/>
        </p:nvCxnSpPr>
        <p:spPr>
          <a:xfrm>
            <a:off x="6642938" y="4671307"/>
            <a:ext cx="4762" cy="412335"/>
          </a:xfrm>
          <a:prstGeom prst="line">
            <a:avLst/>
          </a:prstGeom>
          <a:ln w="38100"/>
        </p:spPr>
        <p:style>
          <a:lnRef idx="1">
            <a:schemeClr val="accent1"/>
          </a:lnRef>
          <a:fillRef idx="0">
            <a:schemeClr val="accent1"/>
          </a:fillRef>
          <a:effectRef idx="0">
            <a:schemeClr val="accent1"/>
          </a:effectRef>
          <a:fontRef idx="minor">
            <a:schemeClr val="tx1"/>
          </a:fontRef>
        </p:style>
      </p:cxnSp>
      <p:sp>
        <p:nvSpPr>
          <p:cNvPr id="29" name="Oval 48">
            <a:extLst>
              <a:ext uri="{FF2B5EF4-FFF2-40B4-BE49-F238E27FC236}">
                <a16:creationId xmlns:a16="http://schemas.microsoft.com/office/drawing/2014/main" id="{7409B2A2-257A-C892-637A-EFCC42529337}"/>
              </a:ext>
            </a:extLst>
          </p:cNvPr>
          <p:cNvSpPr/>
          <p:nvPr/>
        </p:nvSpPr>
        <p:spPr>
          <a:xfrm>
            <a:off x="6567437" y="4508915"/>
            <a:ext cx="151002" cy="162392"/>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0" name="Oval 49">
            <a:extLst>
              <a:ext uri="{FF2B5EF4-FFF2-40B4-BE49-F238E27FC236}">
                <a16:creationId xmlns:a16="http://schemas.microsoft.com/office/drawing/2014/main" id="{731DEB19-D2B3-D0FE-2635-C5C12ADDBDD3}"/>
              </a:ext>
            </a:extLst>
          </p:cNvPr>
          <p:cNvSpPr/>
          <p:nvPr/>
        </p:nvSpPr>
        <p:spPr>
          <a:xfrm>
            <a:off x="6567437" y="4880155"/>
            <a:ext cx="160526" cy="203487"/>
          </a:xfrm>
          <a:prstGeom prst="ellipse">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4" name="TextBox 33">
            <a:extLst>
              <a:ext uri="{FF2B5EF4-FFF2-40B4-BE49-F238E27FC236}">
                <a16:creationId xmlns:a16="http://schemas.microsoft.com/office/drawing/2014/main" id="{389549D6-D926-E6C4-939B-3F5B5233FE7A}"/>
              </a:ext>
            </a:extLst>
          </p:cNvPr>
          <p:cNvSpPr txBox="1"/>
          <p:nvPr/>
        </p:nvSpPr>
        <p:spPr>
          <a:xfrm>
            <a:off x="5983477" y="3976076"/>
            <a:ext cx="1651331" cy="307777"/>
          </a:xfrm>
          <a:prstGeom prst="rect">
            <a:avLst/>
          </a:prstGeom>
          <a:noFill/>
        </p:spPr>
        <p:txBody>
          <a:bodyPr wrap="square" rtlCol="0">
            <a:spAutoFit/>
          </a:bodyPr>
          <a:lstStyle/>
          <a:p>
            <a:r>
              <a:rPr lang="en-US" sz="1400" dirty="0"/>
              <a:t>CNOT gate</a:t>
            </a:r>
          </a:p>
        </p:txBody>
      </p:sp>
      <p:sp>
        <p:nvSpPr>
          <p:cNvPr id="43" name="TextBox 42">
            <a:extLst>
              <a:ext uri="{FF2B5EF4-FFF2-40B4-BE49-F238E27FC236}">
                <a16:creationId xmlns:a16="http://schemas.microsoft.com/office/drawing/2014/main" id="{4A1150F2-6D78-71A7-81BC-966916C94FF7}"/>
              </a:ext>
            </a:extLst>
          </p:cNvPr>
          <p:cNvSpPr txBox="1"/>
          <p:nvPr/>
        </p:nvSpPr>
        <p:spPr>
          <a:xfrm>
            <a:off x="5489633" y="4421048"/>
            <a:ext cx="660041" cy="369332"/>
          </a:xfrm>
          <a:prstGeom prst="rect">
            <a:avLst/>
          </a:prstGeom>
          <a:noFill/>
        </p:spPr>
        <p:txBody>
          <a:bodyPr wrap="square" rtlCol="0">
            <a:spAutoFit/>
          </a:bodyPr>
          <a:lstStyle/>
          <a:p>
            <a:r>
              <a:rPr lang="en-US" dirty="0"/>
              <a:t>ctrl</a:t>
            </a:r>
          </a:p>
        </p:txBody>
      </p:sp>
      <p:sp>
        <p:nvSpPr>
          <p:cNvPr id="44" name="TextBox 43">
            <a:extLst>
              <a:ext uri="{FF2B5EF4-FFF2-40B4-BE49-F238E27FC236}">
                <a16:creationId xmlns:a16="http://schemas.microsoft.com/office/drawing/2014/main" id="{0F723EE2-D46A-C11C-8365-53F1EAC32C97}"/>
              </a:ext>
            </a:extLst>
          </p:cNvPr>
          <p:cNvSpPr txBox="1"/>
          <p:nvPr/>
        </p:nvSpPr>
        <p:spPr>
          <a:xfrm>
            <a:off x="5489633" y="4764708"/>
            <a:ext cx="1651331" cy="369332"/>
          </a:xfrm>
          <a:prstGeom prst="rect">
            <a:avLst/>
          </a:prstGeom>
          <a:noFill/>
        </p:spPr>
        <p:txBody>
          <a:bodyPr wrap="square" rtlCol="0">
            <a:spAutoFit/>
          </a:bodyPr>
          <a:lstStyle/>
          <a:p>
            <a:r>
              <a:rPr lang="en-US" dirty="0" err="1"/>
              <a:t>tgt</a:t>
            </a:r>
            <a:endParaRPr lang="en-US" dirty="0"/>
          </a:p>
        </p:txBody>
      </p:sp>
      <p:cxnSp>
        <p:nvCxnSpPr>
          <p:cNvPr id="45" name="Straight Connector 45">
            <a:extLst>
              <a:ext uri="{FF2B5EF4-FFF2-40B4-BE49-F238E27FC236}">
                <a16:creationId xmlns:a16="http://schemas.microsoft.com/office/drawing/2014/main" id="{E95E7823-476B-6B69-D9AB-251CD032614F}"/>
              </a:ext>
            </a:extLst>
          </p:cNvPr>
          <p:cNvCxnSpPr>
            <a:cxnSpLocks/>
          </p:cNvCxnSpPr>
          <p:nvPr/>
        </p:nvCxnSpPr>
        <p:spPr>
          <a:xfrm>
            <a:off x="8801483" y="4983161"/>
            <a:ext cx="887866" cy="0"/>
          </a:xfrm>
          <a:prstGeom prst="line">
            <a:avLst/>
          </a:prstGeom>
          <a:ln w="38100"/>
        </p:spPr>
        <p:style>
          <a:lnRef idx="1">
            <a:schemeClr val="accent1"/>
          </a:lnRef>
          <a:fillRef idx="0">
            <a:schemeClr val="accent1"/>
          </a:fillRef>
          <a:effectRef idx="0">
            <a:schemeClr val="accent1"/>
          </a:effectRef>
          <a:fontRef idx="minor">
            <a:schemeClr val="tx1"/>
          </a:fontRef>
        </p:style>
      </p:cxnSp>
      <p:cxnSp>
        <p:nvCxnSpPr>
          <p:cNvPr id="46" name="Straight Connector 46">
            <a:extLst>
              <a:ext uri="{FF2B5EF4-FFF2-40B4-BE49-F238E27FC236}">
                <a16:creationId xmlns:a16="http://schemas.microsoft.com/office/drawing/2014/main" id="{0B6723A4-C950-915E-A495-C56DD524D533}"/>
              </a:ext>
            </a:extLst>
          </p:cNvPr>
          <p:cNvCxnSpPr>
            <a:cxnSpLocks/>
          </p:cNvCxnSpPr>
          <p:nvPr/>
        </p:nvCxnSpPr>
        <p:spPr>
          <a:xfrm>
            <a:off x="8801483" y="5364162"/>
            <a:ext cx="887866" cy="0"/>
          </a:xfrm>
          <a:prstGeom prst="line">
            <a:avLst/>
          </a:prstGeom>
          <a:ln w="38100"/>
        </p:spPr>
        <p:style>
          <a:lnRef idx="1">
            <a:schemeClr val="accent1"/>
          </a:lnRef>
          <a:fillRef idx="0">
            <a:schemeClr val="accent1"/>
          </a:fillRef>
          <a:effectRef idx="0">
            <a:schemeClr val="accent1"/>
          </a:effectRef>
          <a:fontRef idx="minor">
            <a:schemeClr val="tx1"/>
          </a:fontRef>
        </p:style>
      </p:cxnSp>
      <p:cxnSp>
        <p:nvCxnSpPr>
          <p:cNvPr id="47" name="Straight Connector 47">
            <a:extLst>
              <a:ext uri="{FF2B5EF4-FFF2-40B4-BE49-F238E27FC236}">
                <a16:creationId xmlns:a16="http://schemas.microsoft.com/office/drawing/2014/main" id="{6B2D63A5-DA8A-A49C-E713-AC5266557201}"/>
              </a:ext>
            </a:extLst>
          </p:cNvPr>
          <p:cNvCxnSpPr>
            <a:cxnSpLocks/>
            <a:stCxn id="48" idx="4"/>
            <a:endCxn id="49" idx="4"/>
          </p:cNvCxnSpPr>
          <p:nvPr/>
        </p:nvCxnSpPr>
        <p:spPr>
          <a:xfrm>
            <a:off x="9265849" y="5039607"/>
            <a:ext cx="4762" cy="412335"/>
          </a:xfrm>
          <a:prstGeom prst="line">
            <a:avLst/>
          </a:prstGeom>
          <a:ln w="38100"/>
        </p:spPr>
        <p:style>
          <a:lnRef idx="1">
            <a:schemeClr val="accent1"/>
          </a:lnRef>
          <a:fillRef idx="0">
            <a:schemeClr val="accent1"/>
          </a:fillRef>
          <a:effectRef idx="0">
            <a:schemeClr val="accent1"/>
          </a:effectRef>
          <a:fontRef idx="minor">
            <a:schemeClr val="tx1"/>
          </a:fontRef>
        </p:style>
      </p:cxnSp>
      <p:sp>
        <p:nvSpPr>
          <p:cNvPr id="48" name="Oval 48">
            <a:extLst>
              <a:ext uri="{FF2B5EF4-FFF2-40B4-BE49-F238E27FC236}">
                <a16:creationId xmlns:a16="http://schemas.microsoft.com/office/drawing/2014/main" id="{7409B2A2-257A-C892-637A-EFCC42529337}"/>
              </a:ext>
            </a:extLst>
          </p:cNvPr>
          <p:cNvSpPr/>
          <p:nvPr/>
        </p:nvSpPr>
        <p:spPr>
          <a:xfrm>
            <a:off x="9190348" y="4877215"/>
            <a:ext cx="151002" cy="162392"/>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9" name="Oval 49">
            <a:extLst>
              <a:ext uri="{FF2B5EF4-FFF2-40B4-BE49-F238E27FC236}">
                <a16:creationId xmlns:a16="http://schemas.microsoft.com/office/drawing/2014/main" id="{731DEB19-D2B3-D0FE-2635-C5C12ADDBDD3}"/>
              </a:ext>
            </a:extLst>
          </p:cNvPr>
          <p:cNvSpPr/>
          <p:nvPr/>
        </p:nvSpPr>
        <p:spPr>
          <a:xfrm>
            <a:off x="9190348" y="5248455"/>
            <a:ext cx="160526" cy="203487"/>
          </a:xfrm>
          <a:prstGeom prst="ellipse">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0" name="TextBox 49">
            <a:extLst>
              <a:ext uri="{FF2B5EF4-FFF2-40B4-BE49-F238E27FC236}">
                <a16:creationId xmlns:a16="http://schemas.microsoft.com/office/drawing/2014/main" id="{389549D6-D926-E6C4-939B-3F5B5233FE7A}"/>
              </a:ext>
            </a:extLst>
          </p:cNvPr>
          <p:cNvSpPr txBox="1"/>
          <p:nvPr/>
        </p:nvSpPr>
        <p:spPr>
          <a:xfrm>
            <a:off x="8606388" y="3976076"/>
            <a:ext cx="1651331" cy="307777"/>
          </a:xfrm>
          <a:prstGeom prst="rect">
            <a:avLst/>
          </a:prstGeom>
          <a:noFill/>
        </p:spPr>
        <p:txBody>
          <a:bodyPr wrap="square" rtlCol="0">
            <a:spAutoFit/>
          </a:bodyPr>
          <a:lstStyle/>
          <a:p>
            <a:r>
              <a:rPr lang="en-US" sz="1400" dirty="0" smtClean="0"/>
              <a:t>CCNOT </a:t>
            </a:r>
            <a:r>
              <a:rPr lang="en-US" sz="1400" dirty="0"/>
              <a:t>gate</a:t>
            </a:r>
          </a:p>
        </p:txBody>
      </p:sp>
      <p:sp>
        <p:nvSpPr>
          <p:cNvPr id="51" name="TextBox 50">
            <a:extLst>
              <a:ext uri="{FF2B5EF4-FFF2-40B4-BE49-F238E27FC236}">
                <a16:creationId xmlns:a16="http://schemas.microsoft.com/office/drawing/2014/main" id="{4A1150F2-6D78-71A7-81BC-966916C94FF7}"/>
              </a:ext>
            </a:extLst>
          </p:cNvPr>
          <p:cNvSpPr txBox="1"/>
          <p:nvPr/>
        </p:nvSpPr>
        <p:spPr>
          <a:xfrm>
            <a:off x="8112544" y="4789348"/>
            <a:ext cx="660041" cy="369332"/>
          </a:xfrm>
          <a:prstGeom prst="rect">
            <a:avLst/>
          </a:prstGeom>
          <a:noFill/>
        </p:spPr>
        <p:txBody>
          <a:bodyPr wrap="square" rtlCol="0">
            <a:spAutoFit/>
          </a:bodyPr>
          <a:lstStyle/>
          <a:p>
            <a:r>
              <a:rPr lang="en-US" dirty="0"/>
              <a:t>ctrl</a:t>
            </a:r>
          </a:p>
        </p:txBody>
      </p:sp>
      <p:sp>
        <p:nvSpPr>
          <p:cNvPr id="52" name="TextBox 51">
            <a:extLst>
              <a:ext uri="{FF2B5EF4-FFF2-40B4-BE49-F238E27FC236}">
                <a16:creationId xmlns:a16="http://schemas.microsoft.com/office/drawing/2014/main" id="{0F723EE2-D46A-C11C-8365-53F1EAC32C97}"/>
              </a:ext>
            </a:extLst>
          </p:cNvPr>
          <p:cNvSpPr txBox="1"/>
          <p:nvPr/>
        </p:nvSpPr>
        <p:spPr>
          <a:xfrm>
            <a:off x="8112544" y="5133008"/>
            <a:ext cx="1651331" cy="369332"/>
          </a:xfrm>
          <a:prstGeom prst="rect">
            <a:avLst/>
          </a:prstGeom>
          <a:noFill/>
        </p:spPr>
        <p:txBody>
          <a:bodyPr wrap="square" rtlCol="0">
            <a:spAutoFit/>
          </a:bodyPr>
          <a:lstStyle/>
          <a:p>
            <a:r>
              <a:rPr lang="en-US" dirty="0" err="1"/>
              <a:t>tgt</a:t>
            </a:r>
            <a:endParaRPr lang="en-US" dirty="0"/>
          </a:p>
        </p:txBody>
      </p:sp>
      <p:cxnSp>
        <p:nvCxnSpPr>
          <p:cNvPr id="53" name="Straight Connector 45">
            <a:extLst>
              <a:ext uri="{FF2B5EF4-FFF2-40B4-BE49-F238E27FC236}">
                <a16:creationId xmlns:a16="http://schemas.microsoft.com/office/drawing/2014/main" id="{E95E7823-476B-6B69-D9AB-251CD032614F}"/>
              </a:ext>
            </a:extLst>
          </p:cNvPr>
          <p:cNvCxnSpPr>
            <a:cxnSpLocks/>
          </p:cNvCxnSpPr>
          <p:nvPr/>
        </p:nvCxnSpPr>
        <p:spPr>
          <a:xfrm>
            <a:off x="8801483" y="4588909"/>
            <a:ext cx="887866" cy="0"/>
          </a:xfrm>
          <a:prstGeom prst="line">
            <a:avLst/>
          </a:prstGeom>
          <a:ln w="38100"/>
        </p:spPr>
        <p:style>
          <a:lnRef idx="1">
            <a:schemeClr val="accent1"/>
          </a:lnRef>
          <a:fillRef idx="0">
            <a:schemeClr val="accent1"/>
          </a:fillRef>
          <a:effectRef idx="0">
            <a:schemeClr val="accent1"/>
          </a:effectRef>
          <a:fontRef idx="minor">
            <a:schemeClr val="tx1"/>
          </a:fontRef>
        </p:style>
      </p:cxnSp>
      <p:cxnSp>
        <p:nvCxnSpPr>
          <p:cNvPr id="54" name="Straight Connector 47">
            <a:extLst>
              <a:ext uri="{FF2B5EF4-FFF2-40B4-BE49-F238E27FC236}">
                <a16:creationId xmlns:a16="http://schemas.microsoft.com/office/drawing/2014/main" id="{6B2D63A5-DA8A-A49C-E713-AC5266557201}"/>
              </a:ext>
            </a:extLst>
          </p:cNvPr>
          <p:cNvCxnSpPr>
            <a:cxnSpLocks/>
            <a:stCxn id="55" idx="4"/>
          </p:cNvCxnSpPr>
          <p:nvPr/>
        </p:nvCxnSpPr>
        <p:spPr>
          <a:xfrm>
            <a:off x="9265849" y="4645355"/>
            <a:ext cx="4762" cy="412335"/>
          </a:xfrm>
          <a:prstGeom prst="line">
            <a:avLst/>
          </a:prstGeom>
          <a:ln w="38100"/>
        </p:spPr>
        <p:style>
          <a:lnRef idx="1">
            <a:schemeClr val="accent1"/>
          </a:lnRef>
          <a:fillRef idx="0">
            <a:schemeClr val="accent1"/>
          </a:fillRef>
          <a:effectRef idx="0">
            <a:schemeClr val="accent1"/>
          </a:effectRef>
          <a:fontRef idx="minor">
            <a:schemeClr val="tx1"/>
          </a:fontRef>
        </p:style>
      </p:cxnSp>
      <p:sp>
        <p:nvSpPr>
          <p:cNvPr id="55" name="Oval 48">
            <a:extLst>
              <a:ext uri="{FF2B5EF4-FFF2-40B4-BE49-F238E27FC236}">
                <a16:creationId xmlns:a16="http://schemas.microsoft.com/office/drawing/2014/main" id="{7409B2A2-257A-C892-637A-EFCC42529337}"/>
              </a:ext>
            </a:extLst>
          </p:cNvPr>
          <p:cNvSpPr/>
          <p:nvPr/>
        </p:nvSpPr>
        <p:spPr>
          <a:xfrm>
            <a:off x="9190348" y="4482963"/>
            <a:ext cx="151002" cy="162392"/>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6" name="TextBox 55">
            <a:extLst>
              <a:ext uri="{FF2B5EF4-FFF2-40B4-BE49-F238E27FC236}">
                <a16:creationId xmlns:a16="http://schemas.microsoft.com/office/drawing/2014/main" id="{4A1150F2-6D78-71A7-81BC-966916C94FF7}"/>
              </a:ext>
            </a:extLst>
          </p:cNvPr>
          <p:cNvSpPr txBox="1"/>
          <p:nvPr/>
        </p:nvSpPr>
        <p:spPr>
          <a:xfrm>
            <a:off x="8112544" y="4395096"/>
            <a:ext cx="660041" cy="369332"/>
          </a:xfrm>
          <a:prstGeom prst="rect">
            <a:avLst/>
          </a:prstGeom>
          <a:noFill/>
        </p:spPr>
        <p:txBody>
          <a:bodyPr wrap="square" rtlCol="0">
            <a:spAutoFit/>
          </a:bodyPr>
          <a:lstStyle/>
          <a:p>
            <a:r>
              <a:rPr lang="en-US" dirty="0"/>
              <a:t>ctrl</a:t>
            </a:r>
          </a:p>
        </p:txBody>
      </p:sp>
      <p:cxnSp>
        <p:nvCxnSpPr>
          <p:cNvPr id="57" name="Straight Connector 61">
            <a:extLst>
              <a:ext uri="{FF2B5EF4-FFF2-40B4-BE49-F238E27FC236}">
                <a16:creationId xmlns:a16="http://schemas.microsoft.com/office/drawing/2014/main" id="{76790BBF-0DF5-0E92-2BEE-DC59A5903CDE}"/>
              </a:ext>
            </a:extLst>
          </p:cNvPr>
          <p:cNvCxnSpPr>
            <a:cxnSpLocks/>
          </p:cNvCxnSpPr>
          <p:nvPr/>
        </p:nvCxnSpPr>
        <p:spPr>
          <a:xfrm>
            <a:off x="2995973" y="4579614"/>
            <a:ext cx="1150996" cy="0"/>
          </a:xfrm>
          <a:prstGeom prst="line">
            <a:avLst/>
          </a:prstGeom>
          <a:ln w="38100"/>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58" name="TextBox 57">
                <a:extLst>
                  <a:ext uri="{FF2B5EF4-FFF2-40B4-BE49-F238E27FC236}">
                    <a16:creationId xmlns:a16="http://schemas.microsoft.com/office/drawing/2014/main" id="{8720BA48-174A-233D-BDA6-43D052787430}"/>
                  </a:ext>
                </a:extLst>
              </p:cNvPr>
              <p:cNvSpPr txBox="1"/>
              <p:nvPr/>
            </p:nvSpPr>
            <p:spPr>
              <a:xfrm>
                <a:off x="2307034" y="4385801"/>
                <a:ext cx="660041" cy="369332"/>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r>
                        <a:rPr lang="en-CA" b="0" i="1" smtClean="0">
                          <a:latin typeface="Cambria Math" panose="02040503050406030204" pitchFamily="18" charset="0"/>
                        </a:rPr>
                        <m:t>|</m:t>
                      </m:r>
                      <m:r>
                        <a:rPr lang="en-CA" b="0" i="1" smtClean="0">
                          <a:latin typeface="Cambria Math" panose="02040503050406030204" pitchFamily="18" charset="0"/>
                        </a:rPr>
                        <m:t>𝑎</m:t>
                      </m:r>
                      <m:r>
                        <a:rPr lang="en-CA" b="0" i="1" smtClean="0">
                          <a:latin typeface="Cambria Math" panose="02040503050406030204" pitchFamily="18" charset="0"/>
                        </a:rPr>
                        <m:t>⟩</m:t>
                      </m:r>
                    </m:oMath>
                  </m:oMathPara>
                </a14:m>
                <a:endParaRPr lang="en-US" dirty="0"/>
              </a:p>
            </p:txBody>
          </p:sp>
        </mc:Choice>
        <mc:Fallback xmlns="">
          <p:sp>
            <p:nvSpPr>
              <p:cNvPr id="58" name="TextBox 57">
                <a:extLst>
                  <a:ext uri="{FF2B5EF4-FFF2-40B4-BE49-F238E27FC236}">
                    <a16:creationId xmlns:a16="http://schemas.microsoft.com/office/drawing/2014/main" id="{8720BA48-174A-233D-BDA6-43D052787430}"/>
                  </a:ext>
                </a:extLst>
              </p:cNvPr>
              <p:cNvSpPr txBox="1">
                <a:spLocks noRot="1" noChangeAspect="1" noMove="1" noResize="1" noEditPoints="1" noAdjustHandles="1" noChangeArrowheads="1" noChangeShapeType="1" noTextEdit="1"/>
              </p:cNvSpPr>
              <p:nvPr/>
            </p:nvSpPr>
            <p:spPr>
              <a:xfrm>
                <a:off x="2307034" y="4385801"/>
                <a:ext cx="660041" cy="369332"/>
              </a:xfrm>
              <a:prstGeom prst="rect">
                <a:avLst/>
              </a:prstGeom>
              <a:blipFill>
                <a:blip r:embed="rId3"/>
                <a:stretch>
                  <a:fillRect b="-16393"/>
                </a:stretch>
              </a:blipFill>
            </p:spPr>
            <p:txBody>
              <a:bodyPr/>
              <a:lstStyle/>
              <a:p>
                <a:r>
                  <a:rPr lang="ko-KR" altLang="en-US">
                    <a:noFill/>
                  </a:rPr>
                  <a:t> </a:t>
                </a:r>
              </a:p>
            </p:txBody>
          </p:sp>
        </mc:Fallback>
      </mc:AlternateContent>
      <p:sp>
        <p:nvSpPr>
          <p:cNvPr id="59" name="Rectangle 63">
            <a:extLst>
              <a:ext uri="{FF2B5EF4-FFF2-40B4-BE49-F238E27FC236}">
                <a16:creationId xmlns:a16="http://schemas.microsoft.com/office/drawing/2014/main" id="{DD064357-CFBD-74AB-283D-6258239531AB}"/>
              </a:ext>
            </a:extLst>
          </p:cNvPr>
          <p:cNvSpPr/>
          <p:nvPr/>
        </p:nvSpPr>
        <p:spPr>
          <a:xfrm>
            <a:off x="3282679" y="4400110"/>
            <a:ext cx="601159" cy="407162"/>
          </a:xfrm>
          <a:prstGeom prst="rect">
            <a:avLst/>
          </a:prstGeom>
          <a:solidFill>
            <a:schemeClr val="accent1">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mc:AlternateContent xmlns:mc="http://schemas.openxmlformats.org/markup-compatibility/2006" xmlns:a14="http://schemas.microsoft.com/office/drawing/2010/main">
        <mc:Choice Requires="a14">
          <p:sp>
            <p:nvSpPr>
              <p:cNvPr id="60" name="TextBox 59">
                <a:extLst>
                  <a:ext uri="{FF2B5EF4-FFF2-40B4-BE49-F238E27FC236}">
                    <a16:creationId xmlns:a16="http://schemas.microsoft.com/office/drawing/2014/main" id="{65235A5B-9A22-3B6D-5F5A-828FCAFEA8F8}"/>
                  </a:ext>
                </a:extLst>
              </p:cNvPr>
              <p:cNvSpPr txBox="1"/>
              <p:nvPr/>
            </p:nvSpPr>
            <p:spPr>
              <a:xfrm>
                <a:off x="3282679" y="4418979"/>
                <a:ext cx="594127" cy="369332"/>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r>
                        <a:rPr lang="en-US" b="0" i="1" smtClean="0">
                          <a:latin typeface="Cambria Math" panose="02040503050406030204" pitchFamily="18" charset="0"/>
                        </a:rPr>
                        <m:t>𝑋</m:t>
                      </m:r>
                    </m:oMath>
                  </m:oMathPara>
                </a14:m>
                <a:endParaRPr lang="en-US" dirty="0"/>
              </a:p>
            </p:txBody>
          </p:sp>
        </mc:Choice>
        <mc:Fallback xmlns="">
          <p:sp>
            <p:nvSpPr>
              <p:cNvPr id="60" name="TextBox 59">
                <a:extLst>
                  <a:ext uri="{FF2B5EF4-FFF2-40B4-BE49-F238E27FC236}">
                    <a16:creationId xmlns:a16="http://schemas.microsoft.com/office/drawing/2014/main" id="{65235A5B-9A22-3B6D-5F5A-828FCAFEA8F8}"/>
                  </a:ext>
                </a:extLst>
              </p:cNvPr>
              <p:cNvSpPr txBox="1">
                <a:spLocks noRot="1" noChangeAspect="1" noMove="1" noResize="1" noEditPoints="1" noAdjustHandles="1" noChangeArrowheads="1" noChangeShapeType="1" noTextEdit="1"/>
              </p:cNvSpPr>
              <p:nvPr/>
            </p:nvSpPr>
            <p:spPr>
              <a:xfrm>
                <a:off x="3282679" y="4418979"/>
                <a:ext cx="594127" cy="369332"/>
              </a:xfrm>
              <a:prstGeom prst="rect">
                <a:avLst/>
              </a:prstGeom>
              <a:blipFill>
                <a:blip r:embed="rId4"/>
                <a:stretch>
                  <a:fillRect/>
                </a:stretch>
              </a:blipFill>
            </p:spPr>
            <p:txBody>
              <a:bodyPr/>
              <a:lstStyle/>
              <a:p>
                <a:r>
                  <a:rPr lang="ko-KR" altLang="en-US">
                    <a:noFill/>
                  </a:rPr>
                  <a:t> </a:t>
                </a:r>
              </a:p>
            </p:txBody>
          </p:sp>
        </mc:Fallback>
      </mc:AlternateContent>
      <mc:AlternateContent xmlns:mc="http://schemas.openxmlformats.org/markup-compatibility/2006" xmlns:a14="http://schemas.microsoft.com/office/drawing/2010/main">
        <mc:Choice Requires="a14">
          <p:sp>
            <p:nvSpPr>
              <p:cNvPr id="61" name="TextBox 60">
                <a:extLst>
                  <a:ext uri="{FF2B5EF4-FFF2-40B4-BE49-F238E27FC236}">
                    <a16:creationId xmlns:a16="http://schemas.microsoft.com/office/drawing/2014/main" id="{F9734B81-D098-43A9-7352-1C2CE3FC593C}"/>
                  </a:ext>
                </a:extLst>
              </p:cNvPr>
              <p:cNvSpPr txBox="1"/>
              <p:nvPr/>
            </p:nvSpPr>
            <p:spPr>
              <a:xfrm>
                <a:off x="4069431" y="4385801"/>
                <a:ext cx="1140956" cy="369332"/>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r>
                        <a:rPr lang="en-CA" b="0" i="1" smtClean="0">
                          <a:latin typeface="Cambria Math" panose="02040503050406030204" pitchFamily="18" charset="0"/>
                        </a:rPr>
                        <m:t>|</m:t>
                      </m:r>
                      <m:r>
                        <a:rPr lang="en-CA" b="0" i="1" smtClean="0">
                          <a:latin typeface="Cambria Math" panose="02040503050406030204" pitchFamily="18" charset="0"/>
                        </a:rPr>
                        <m:t>𝑎</m:t>
                      </m:r>
                      <m:r>
                        <a:rPr lang="en-CA" b="0" i="1" smtClean="0">
                          <a:latin typeface="Cambria Math" panose="02040503050406030204" pitchFamily="18" charset="0"/>
                        </a:rPr>
                        <m:t>⊕1⟩</m:t>
                      </m:r>
                    </m:oMath>
                  </m:oMathPara>
                </a14:m>
                <a:endParaRPr lang="en-US" dirty="0"/>
              </a:p>
            </p:txBody>
          </p:sp>
        </mc:Choice>
        <mc:Fallback xmlns="">
          <p:sp>
            <p:nvSpPr>
              <p:cNvPr id="61" name="TextBox 60">
                <a:extLst>
                  <a:ext uri="{FF2B5EF4-FFF2-40B4-BE49-F238E27FC236}">
                    <a16:creationId xmlns:a16="http://schemas.microsoft.com/office/drawing/2014/main" id="{F9734B81-D098-43A9-7352-1C2CE3FC593C}"/>
                  </a:ext>
                </a:extLst>
              </p:cNvPr>
              <p:cNvSpPr txBox="1">
                <a:spLocks noRot="1" noChangeAspect="1" noMove="1" noResize="1" noEditPoints="1" noAdjustHandles="1" noChangeArrowheads="1" noChangeShapeType="1" noTextEdit="1"/>
              </p:cNvSpPr>
              <p:nvPr/>
            </p:nvSpPr>
            <p:spPr>
              <a:xfrm>
                <a:off x="4069431" y="4385801"/>
                <a:ext cx="1140956" cy="369332"/>
              </a:xfrm>
              <a:prstGeom prst="rect">
                <a:avLst/>
              </a:prstGeom>
              <a:blipFill>
                <a:blip r:embed="rId5"/>
                <a:stretch>
                  <a:fillRect b="-16393"/>
                </a:stretch>
              </a:blipFill>
            </p:spPr>
            <p:txBody>
              <a:bodyPr/>
              <a:lstStyle/>
              <a:p>
                <a:r>
                  <a:rPr lang="ko-KR" altLang="en-US">
                    <a:noFill/>
                  </a:rPr>
                  <a:t> </a:t>
                </a:r>
              </a:p>
            </p:txBody>
          </p:sp>
        </mc:Fallback>
      </mc:AlternateContent>
      <p:sp>
        <p:nvSpPr>
          <p:cNvPr id="62" name="TextBox 61">
            <a:extLst>
              <a:ext uri="{FF2B5EF4-FFF2-40B4-BE49-F238E27FC236}">
                <a16:creationId xmlns:a16="http://schemas.microsoft.com/office/drawing/2014/main" id="{2148A943-3028-406E-3A28-55242FEEFF86}"/>
              </a:ext>
            </a:extLst>
          </p:cNvPr>
          <p:cNvSpPr txBox="1"/>
          <p:nvPr/>
        </p:nvSpPr>
        <p:spPr>
          <a:xfrm>
            <a:off x="3162170" y="3976076"/>
            <a:ext cx="1099716" cy="523220"/>
          </a:xfrm>
          <a:prstGeom prst="rect">
            <a:avLst/>
          </a:prstGeom>
          <a:noFill/>
        </p:spPr>
        <p:txBody>
          <a:bodyPr wrap="square">
            <a:spAutoFit/>
          </a:bodyPr>
          <a:lstStyle/>
          <a:p>
            <a:r>
              <a:rPr lang="en-US" sz="1400" dirty="0"/>
              <a:t>NOT gate</a:t>
            </a:r>
          </a:p>
          <a:p>
            <a:endParaRPr lang="en-US" sz="1400" dirty="0"/>
          </a:p>
        </p:txBody>
      </p:sp>
      <p:sp>
        <p:nvSpPr>
          <p:cNvPr id="32" name="직사각형 31"/>
          <p:cNvSpPr/>
          <p:nvPr/>
        </p:nvSpPr>
        <p:spPr>
          <a:xfrm>
            <a:off x="11036129" y="910348"/>
            <a:ext cx="1023456" cy="429936"/>
          </a:xfrm>
          <a:prstGeom prst="rect">
            <a:avLst/>
          </a:prstGeom>
        </p:spPr>
        <p:style>
          <a:lnRef idx="2">
            <a:schemeClr val="accent2">
              <a:shade val="50000"/>
            </a:schemeClr>
          </a:lnRef>
          <a:fillRef idx="1">
            <a:schemeClr val="accent2"/>
          </a:fillRef>
          <a:effectRef idx="0">
            <a:schemeClr val="accent2"/>
          </a:effectRef>
          <a:fontRef idx="minor">
            <a:schemeClr val="lt1"/>
          </a:fontRef>
        </p:style>
        <p:txBody>
          <a:bodyPr rtlCol="0" anchor="ctr"/>
          <a:lstStyle/>
          <a:p>
            <a:pPr algn="ctr"/>
            <a:r>
              <a:rPr lang="en-US" altLang="ko-KR" sz="1400" dirty="0" smtClean="0"/>
              <a:t>Slightly advanced</a:t>
            </a:r>
            <a:endParaRPr lang="ko-KR" altLang="en-US" sz="1400" dirty="0"/>
          </a:p>
        </p:txBody>
      </p:sp>
    </p:spTree>
    <p:extLst>
      <p:ext uri="{BB962C8B-B14F-4D97-AF65-F5344CB8AC3E}">
        <p14:creationId xmlns:p14="http://schemas.microsoft.com/office/powerpoint/2010/main" val="3184826164"/>
      </p:ext>
    </p:extLst>
  </p:cSld>
  <p:clrMapOvr>
    <a:masterClrMapping/>
  </p:clrMapOvr>
  <p:timing>
    <p:tnLst>
      <p:par>
        <p:cTn id="1" dur="indefinite" restart="never" nodeType="tmRoot"/>
      </p:par>
    </p:tnLst>
  </p:timing>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2856BE7-710B-55F6-D872-93BC51DC6965}"/>
              </a:ext>
            </a:extLst>
          </p:cNvPr>
          <p:cNvSpPr>
            <a:spLocks noGrp="1"/>
          </p:cNvSpPr>
          <p:nvPr>
            <p:ph type="title"/>
          </p:nvPr>
        </p:nvSpPr>
        <p:spPr/>
        <p:txBody>
          <a:bodyPr/>
          <a:lstStyle/>
          <a:p>
            <a:r>
              <a:rPr lang="en-US" dirty="0" smtClean="0"/>
              <a:t>Summary of reversible computing</a:t>
            </a:r>
            <a:endParaRPr lang="en-US" dirty="0"/>
          </a:p>
        </p:txBody>
      </p:sp>
      <p:sp>
        <p:nvSpPr>
          <p:cNvPr id="3" name="Content Placeholder 2">
            <a:extLst>
              <a:ext uri="{FF2B5EF4-FFF2-40B4-BE49-F238E27FC236}">
                <a16:creationId xmlns:a16="http://schemas.microsoft.com/office/drawing/2014/main" id="{481B553B-CDA5-30AE-5456-EA946F62CEB0}"/>
              </a:ext>
            </a:extLst>
          </p:cNvPr>
          <p:cNvSpPr>
            <a:spLocks noGrp="1"/>
          </p:cNvSpPr>
          <p:nvPr>
            <p:ph idx="1"/>
          </p:nvPr>
        </p:nvSpPr>
        <p:spPr/>
        <p:txBody>
          <a:bodyPr>
            <a:normAutofit/>
          </a:bodyPr>
          <a:lstStyle/>
          <a:p>
            <a:r>
              <a:rPr lang="en-US" sz="2400" dirty="0" err="1" smtClean="0"/>
              <a:t>Landauer</a:t>
            </a:r>
            <a:r>
              <a:rPr lang="en-US" sz="2400" dirty="0" smtClean="0"/>
              <a:t>: </a:t>
            </a:r>
            <a:r>
              <a:rPr lang="en-US" sz="2400" dirty="0"/>
              <a:t>reversibility of physics implies reversibility of computation</a:t>
            </a:r>
          </a:p>
          <a:p>
            <a:endParaRPr lang="en-US" sz="2400" dirty="0"/>
          </a:p>
          <a:p>
            <a:r>
              <a:rPr lang="en-US" sz="2400" dirty="0"/>
              <a:t>Principles of reversible computing</a:t>
            </a:r>
          </a:p>
          <a:p>
            <a:endParaRPr lang="en-US" sz="2400" dirty="0"/>
          </a:p>
          <a:p>
            <a:r>
              <a:rPr lang="en-US" sz="2400" dirty="0"/>
              <a:t>Universal computing with reversible circuits</a:t>
            </a:r>
          </a:p>
          <a:p>
            <a:endParaRPr lang="en-US" sz="2400" dirty="0"/>
          </a:p>
          <a:p>
            <a:r>
              <a:rPr lang="en-US" sz="2400" dirty="0"/>
              <a:t>Linear algebra formulation of reversible computing</a:t>
            </a:r>
          </a:p>
          <a:p>
            <a:endParaRPr lang="en-US" sz="2400" dirty="0"/>
          </a:p>
          <a:p>
            <a:r>
              <a:rPr lang="en-US" sz="2400" b="1" dirty="0"/>
              <a:t>Next</a:t>
            </a:r>
            <a:r>
              <a:rPr lang="en-US" sz="2400" dirty="0"/>
              <a:t>: quantum information!</a:t>
            </a:r>
            <a:endParaRPr lang="en-US" sz="2400" b="1" dirty="0"/>
          </a:p>
        </p:txBody>
      </p:sp>
    </p:spTree>
    <p:extLst>
      <p:ext uri="{BB962C8B-B14F-4D97-AF65-F5344CB8AC3E}">
        <p14:creationId xmlns:p14="http://schemas.microsoft.com/office/powerpoint/2010/main" val="793206601"/>
      </p:ext>
    </p:extLst>
  </p:cSld>
  <p:clrMapOvr>
    <a:masterClrMapping/>
  </p:clrMapOvr>
  <p:timing>
    <p:tnLst>
      <p:par>
        <p:cTn id="1" dur="indefinite" restart="never" nodeType="tmRoot"/>
      </p:par>
    </p:tnLst>
  </p:timing>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제목 1"/>
          <p:cNvSpPr>
            <a:spLocks noGrp="1"/>
          </p:cNvSpPr>
          <p:nvPr>
            <p:ph type="title"/>
          </p:nvPr>
        </p:nvSpPr>
        <p:spPr/>
        <p:txBody>
          <a:bodyPr/>
          <a:lstStyle/>
          <a:p>
            <a:r>
              <a:rPr lang="en-US" altLang="ko-KR" dirty="0" smtClean="0"/>
              <a:t>Basic complexity theory, btw</a:t>
            </a:r>
            <a:endParaRPr lang="ko-KR" altLang="en-US" dirty="0"/>
          </a:p>
        </p:txBody>
      </p:sp>
      <mc:AlternateContent xmlns:mc="http://schemas.openxmlformats.org/markup-compatibility/2006" xmlns:a14="http://schemas.microsoft.com/office/drawing/2010/main">
        <mc:Choice Requires="a14">
          <p:sp>
            <p:nvSpPr>
              <p:cNvPr id="3" name="내용 개체 틀 2"/>
              <p:cNvSpPr>
                <a:spLocks noGrp="1"/>
              </p:cNvSpPr>
              <p:nvPr>
                <p:ph idx="1"/>
              </p:nvPr>
            </p:nvSpPr>
            <p:spPr/>
            <p:txBody>
              <a:bodyPr>
                <a:normAutofit/>
              </a:bodyPr>
              <a:lstStyle/>
              <a:p>
                <a:pPr marL="0" indent="0">
                  <a:buNone/>
                </a:pPr>
                <a:r>
                  <a:rPr lang="en-US" altLang="ko-KR" sz="2400" dirty="0" smtClean="0"/>
                  <a:t>The basic problems, </a:t>
                </a:r>
                <a:r>
                  <a:rPr lang="en-US" altLang="ko-KR" sz="2400" b="1" i="1" dirty="0" smtClean="0"/>
                  <a:t>language</a:t>
                </a:r>
                <a:r>
                  <a:rPr lang="en-US" altLang="ko-KR" sz="2400" dirty="0" smtClean="0"/>
                  <a:t>, are </a:t>
                </a:r>
                <a:r>
                  <a:rPr lang="en-US" altLang="ko-KR" sz="2400" b="1" dirty="0" smtClean="0"/>
                  <a:t>decisional</a:t>
                </a:r>
                <a:r>
                  <a:rPr lang="en-US" altLang="ko-KR" sz="2400" dirty="0" smtClean="0"/>
                  <a:t> problems:</a:t>
                </a:r>
                <a:br>
                  <a:rPr lang="en-US" altLang="ko-KR" sz="2400" dirty="0" smtClean="0"/>
                </a:br>
                <a:r>
                  <a:rPr lang="en-US" altLang="ko-KR" sz="2400" dirty="0" smtClean="0"/>
                  <a:t>YES/No questions given binary descriptions </a:t>
                </a:r>
              </a:p>
              <a:p>
                <a:pPr marL="0" indent="0">
                  <a:buNone/>
                </a:pPr>
                <a:r>
                  <a:rPr lang="en-US" altLang="ko-KR" sz="2400" dirty="0" smtClean="0"/>
                  <a:t>Equivalently, the language </a:t>
                </a:r>
                <a14:m>
                  <m:oMath xmlns:m="http://schemas.openxmlformats.org/officeDocument/2006/math">
                    <m:r>
                      <a:rPr lang="en-US" altLang="ko-KR" sz="2400" i="1">
                        <a:latin typeface="Cambria Math" panose="02040503050406030204" pitchFamily="18" charset="0"/>
                      </a:rPr>
                      <m:t>𝐿</m:t>
                    </m:r>
                  </m:oMath>
                </a14:m>
                <a:r>
                  <a:rPr lang="en-US" altLang="ko-KR" sz="2400" dirty="0" smtClean="0"/>
                  <a:t> asks, given problem instance </a:t>
                </a:r>
                <a14:m>
                  <m:oMath xmlns:m="http://schemas.openxmlformats.org/officeDocument/2006/math">
                    <m:r>
                      <a:rPr lang="en-US" altLang="ko-KR" sz="2400" b="0" i="1" smtClean="0">
                        <a:latin typeface="Cambria Math" panose="02040503050406030204" pitchFamily="18" charset="0"/>
                      </a:rPr>
                      <m:t>𝑥</m:t>
                    </m:r>
                  </m:oMath>
                </a14:m>
                <a:r>
                  <a:rPr lang="en-US" altLang="ko-KR" sz="2400" dirty="0" smtClean="0"/>
                  <a:t>:</a:t>
                </a:r>
              </a:p>
              <a:p>
                <a:r>
                  <a:rPr lang="en-US" altLang="ko-KR" sz="2000" dirty="0" smtClean="0"/>
                  <a:t>To compute </a:t>
                </a:r>
                <a14:m>
                  <m:oMath xmlns:m="http://schemas.openxmlformats.org/officeDocument/2006/math">
                    <m:sSub>
                      <m:sSubPr>
                        <m:ctrlPr>
                          <a:rPr lang="en-US" altLang="ko-KR" sz="2000" b="0" i="1" smtClean="0">
                            <a:latin typeface="Cambria Math" panose="02040503050406030204" pitchFamily="18" charset="0"/>
                          </a:rPr>
                        </m:ctrlPr>
                      </m:sSubPr>
                      <m:e>
                        <m:r>
                          <a:rPr lang="en-US" altLang="ko-KR" sz="2000" b="0" i="1" smtClean="0">
                            <a:latin typeface="Cambria Math" panose="02040503050406030204" pitchFamily="18" charset="0"/>
                          </a:rPr>
                          <m:t>𝑓</m:t>
                        </m:r>
                      </m:e>
                      <m:sub>
                        <m:r>
                          <a:rPr lang="en-US" altLang="ko-KR" sz="2000" i="1">
                            <a:latin typeface="Cambria Math" panose="02040503050406030204" pitchFamily="18" charset="0"/>
                          </a:rPr>
                          <m:t>|</m:t>
                        </m:r>
                        <m:r>
                          <a:rPr lang="en-US" altLang="ko-KR" sz="2000" i="1">
                            <a:latin typeface="Cambria Math" panose="02040503050406030204" pitchFamily="18" charset="0"/>
                          </a:rPr>
                          <m:t>𝑥</m:t>
                        </m:r>
                        <m:r>
                          <a:rPr lang="en-US" altLang="ko-KR" sz="2000" i="1">
                            <a:latin typeface="Cambria Math" panose="02040503050406030204" pitchFamily="18" charset="0"/>
                          </a:rPr>
                          <m:t>|</m:t>
                        </m:r>
                      </m:sub>
                    </m:sSub>
                    <m:r>
                      <a:rPr lang="en-US" altLang="ko-KR" sz="2000" b="0" i="1" smtClean="0">
                        <a:latin typeface="Cambria Math" panose="02040503050406030204" pitchFamily="18" charset="0"/>
                      </a:rPr>
                      <m:t>(</m:t>
                    </m:r>
                    <m:r>
                      <a:rPr lang="en-US" altLang="ko-KR" sz="2000" b="0" i="1" smtClean="0">
                        <a:latin typeface="Cambria Math" panose="02040503050406030204" pitchFamily="18" charset="0"/>
                      </a:rPr>
                      <m:t>𝑥</m:t>
                    </m:r>
                    <m:r>
                      <a:rPr lang="en-US" altLang="ko-KR" sz="2000" b="0" i="1" smtClean="0">
                        <a:latin typeface="Cambria Math" panose="02040503050406030204" pitchFamily="18" charset="0"/>
                      </a:rPr>
                      <m:t>)</m:t>
                    </m:r>
                  </m:oMath>
                </a14:m>
                <a:r>
                  <a:rPr lang="en-US" altLang="ko-KR" sz="2000" dirty="0" smtClean="0"/>
                  <a:t> for Boolean functions </a:t>
                </a:r>
                <a14:m>
                  <m:oMath xmlns:m="http://schemas.openxmlformats.org/officeDocument/2006/math">
                    <m:sSub>
                      <m:sSubPr>
                        <m:ctrlPr>
                          <a:rPr lang="en-US" altLang="ko-KR" sz="2000" b="1" i="1" smtClean="0">
                            <a:solidFill>
                              <a:srgbClr val="FF0000"/>
                            </a:solidFill>
                            <a:latin typeface="Cambria Math" panose="02040503050406030204" pitchFamily="18" charset="0"/>
                          </a:rPr>
                        </m:ctrlPr>
                      </m:sSubPr>
                      <m:e>
                        <m:d>
                          <m:dPr>
                            <m:ctrlPr>
                              <a:rPr lang="en-US" altLang="ko-KR" sz="2000" b="1" i="1" smtClean="0">
                                <a:solidFill>
                                  <a:srgbClr val="FF0000"/>
                                </a:solidFill>
                                <a:latin typeface="Cambria Math" panose="02040503050406030204" pitchFamily="18" charset="0"/>
                              </a:rPr>
                            </m:ctrlPr>
                          </m:dPr>
                          <m:e>
                            <m:sSub>
                              <m:sSubPr>
                                <m:ctrlPr>
                                  <a:rPr lang="en-US" altLang="ko-KR" sz="2000" b="1" i="1" smtClean="0">
                                    <a:solidFill>
                                      <a:srgbClr val="FF0000"/>
                                    </a:solidFill>
                                    <a:latin typeface="Cambria Math" panose="02040503050406030204" pitchFamily="18" charset="0"/>
                                  </a:rPr>
                                </m:ctrlPr>
                              </m:sSubPr>
                              <m:e>
                                <m:r>
                                  <a:rPr lang="en-US" altLang="ko-KR" sz="2000" b="1" i="1" smtClean="0">
                                    <a:solidFill>
                                      <a:srgbClr val="FF0000"/>
                                    </a:solidFill>
                                    <a:latin typeface="Cambria Math" panose="02040503050406030204" pitchFamily="18" charset="0"/>
                                  </a:rPr>
                                  <m:t>𝒇</m:t>
                                </m:r>
                              </m:e>
                              <m:sub>
                                <m:r>
                                  <a:rPr lang="en-US" altLang="ko-KR" sz="2000" b="1" i="1" smtClean="0">
                                    <a:solidFill>
                                      <a:srgbClr val="FF0000"/>
                                    </a:solidFill>
                                    <a:latin typeface="Cambria Math" panose="02040503050406030204" pitchFamily="18" charset="0"/>
                                  </a:rPr>
                                  <m:t>𝒏</m:t>
                                </m:r>
                              </m:sub>
                            </m:sSub>
                            <m:r>
                              <a:rPr lang="en-US" altLang="ko-KR" sz="2000" b="1" i="1" smtClean="0">
                                <a:solidFill>
                                  <a:srgbClr val="FF0000"/>
                                </a:solidFill>
                                <a:latin typeface="Cambria Math" panose="02040503050406030204" pitchFamily="18" charset="0"/>
                              </a:rPr>
                              <m:t>:</m:t>
                            </m:r>
                            <m:sSup>
                              <m:sSupPr>
                                <m:ctrlPr>
                                  <a:rPr lang="en-US" altLang="ko-KR" sz="2000" b="1" i="1" smtClean="0">
                                    <a:solidFill>
                                      <a:srgbClr val="FF0000"/>
                                    </a:solidFill>
                                    <a:latin typeface="Cambria Math" panose="02040503050406030204" pitchFamily="18" charset="0"/>
                                  </a:rPr>
                                </m:ctrlPr>
                              </m:sSupPr>
                              <m:e>
                                <m:d>
                                  <m:dPr>
                                    <m:begChr m:val="{"/>
                                    <m:endChr m:val="}"/>
                                    <m:ctrlPr>
                                      <a:rPr lang="en-US" altLang="ko-KR" sz="2000" b="1" i="1" smtClean="0">
                                        <a:solidFill>
                                          <a:srgbClr val="FF0000"/>
                                        </a:solidFill>
                                        <a:latin typeface="Cambria Math" panose="02040503050406030204" pitchFamily="18" charset="0"/>
                                      </a:rPr>
                                    </m:ctrlPr>
                                  </m:dPr>
                                  <m:e>
                                    <m:r>
                                      <a:rPr lang="en-US" altLang="ko-KR" sz="2000" b="1" i="1" smtClean="0">
                                        <a:solidFill>
                                          <a:srgbClr val="FF0000"/>
                                        </a:solidFill>
                                        <a:latin typeface="Cambria Math" panose="02040503050406030204" pitchFamily="18" charset="0"/>
                                      </a:rPr>
                                      <m:t>𝟎</m:t>
                                    </m:r>
                                    <m:r>
                                      <a:rPr lang="en-US" altLang="ko-KR" sz="2000" b="1" i="1" smtClean="0">
                                        <a:solidFill>
                                          <a:srgbClr val="FF0000"/>
                                        </a:solidFill>
                                        <a:latin typeface="Cambria Math" panose="02040503050406030204" pitchFamily="18" charset="0"/>
                                      </a:rPr>
                                      <m:t>,</m:t>
                                    </m:r>
                                    <m:r>
                                      <a:rPr lang="en-US" altLang="ko-KR" sz="2000" b="1" i="1" smtClean="0">
                                        <a:solidFill>
                                          <a:srgbClr val="FF0000"/>
                                        </a:solidFill>
                                        <a:latin typeface="Cambria Math" panose="02040503050406030204" pitchFamily="18" charset="0"/>
                                      </a:rPr>
                                      <m:t>𝟏</m:t>
                                    </m:r>
                                  </m:e>
                                </m:d>
                              </m:e>
                              <m:sup>
                                <m:r>
                                  <a:rPr lang="en-US" altLang="ko-KR" sz="2000" b="1" i="1" smtClean="0">
                                    <a:solidFill>
                                      <a:srgbClr val="FF0000"/>
                                    </a:solidFill>
                                    <a:latin typeface="Cambria Math" panose="02040503050406030204" pitchFamily="18" charset="0"/>
                                  </a:rPr>
                                  <m:t>𝒏</m:t>
                                </m:r>
                              </m:sup>
                            </m:sSup>
                            <m:r>
                              <a:rPr lang="en-US" altLang="ko-KR" sz="2000" b="1" i="1" smtClean="0">
                                <a:solidFill>
                                  <a:srgbClr val="FF0000"/>
                                </a:solidFill>
                                <a:latin typeface="Cambria Math" panose="02040503050406030204" pitchFamily="18" charset="0"/>
                              </a:rPr>
                              <m:t>→{</m:t>
                            </m:r>
                            <m:r>
                              <a:rPr lang="en-US" altLang="ko-KR" sz="2000" b="1" i="1" smtClean="0">
                                <a:solidFill>
                                  <a:srgbClr val="FF0000"/>
                                </a:solidFill>
                                <a:latin typeface="Cambria Math" panose="02040503050406030204" pitchFamily="18" charset="0"/>
                              </a:rPr>
                              <m:t>𝟎</m:t>
                            </m:r>
                            <m:r>
                              <a:rPr lang="en-US" altLang="ko-KR" sz="2000" b="1" i="1" smtClean="0">
                                <a:solidFill>
                                  <a:srgbClr val="FF0000"/>
                                </a:solidFill>
                                <a:latin typeface="Cambria Math" panose="02040503050406030204" pitchFamily="18" charset="0"/>
                              </a:rPr>
                              <m:t>,</m:t>
                            </m:r>
                            <m:r>
                              <a:rPr lang="en-US" altLang="ko-KR" sz="2000" b="1" i="1" smtClean="0">
                                <a:solidFill>
                                  <a:srgbClr val="FF0000"/>
                                </a:solidFill>
                                <a:latin typeface="Cambria Math" panose="02040503050406030204" pitchFamily="18" charset="0"/>
                              </a:rPr>
                              <m:t>𝟏</m:t>
                            </m:r>
                            <m:r>
                              <a:rPr lang="en-US" altLang="ko-KR" sz="2000" b="1" i="1" smtClean="0">
                                <a:solidFill>
                                  <a:srgbClr val="FF0000"/>
                                </a:solidFill>
                                <a:latin typeface="Cambria Math" panose="02040503050406030204" pitchFamily="18" charset="0"/>
                              </a:rPr>
                              <m:t>}</m:t>
                            </m:r>
                          </m:e>
                        </m:d>
                      </m:e>
                      <m:sub>
                        <m:r>
                          <a:rPr lang="en-US" altLang="ko-KR" sz="2000" b="1" i="1" smtClean="0">
                            <a:solidFill>
                              <a:srgbClr val="FF0000"/>
                            </a:solidFill>
                            <a:latin typeface="Cambria Math" panose="02040503050406030204" pitchFamily="18" charset="0"/>
                          </a:rPr>
                          <m:t>𝒏</m:t>
                        </m:r>
                        <m:r>
                          <a:rPr lang="en-US" altLang="ko-KR" sz="2000" b="1" i="1" smtClean="0">
                            <a:solidFill>
                              <a:srgbClr val="FF0000"/>
                            </a:solidFill>
                            <a:latin typeface="Cambria Math" panose="02040503050406030204" pitchFamily="18" charset="0"/>
                          </a:rPr>
                          <m:t>∈</m:t>
                        </m:r>
                        <m:r>
                          <a:rPr lang="en-US" altLang="ko-KR" sz="2000" b="1" i="1" smtClean="0">
                            <a:solidFill>
                              <a:srgbClr val="FF0000"/>
                            </a:solidFill>
                            <a:latin typeface="Cambria Math" panose="02040503050406030204" pitchFamily="18" charset="0"/>
                            <a:ea typeface="Cambria Math" panose="02040503050406030204" pitchFamily="18" charset="0"/>
                          </a:rPr>
                          <m:t>ℕ</m:t>
                        </m:r>
                      </m:sub>
                    </m:sSub>
                  </m:oMath>
                </a14:m>
                <a:r>
                  <a:rPr lang="en-US" altLang="ko-KR" sz="2000" dirty="0" smtClean="0"/>
                  <a:t> for each n</a:t>
                </a:r>
              </a:p>
              <a:p>
                <a:r>
                  <a:rPr lang="en-US" altLang="ko-KR" sz="2000" dirty="0" smtClean="0"/>
                  <a:t>To compute </a:t>
                </a:r>
                <a14:m>
                  <m:oMath xmlns:m="http://schemas.openxmlformats.org/officeDocument/2006/math">
                    <m:r>
                      <a:rPr lang="en-US" altLang="ko-KR" sz="2000" b="0" i="1" smtClean="0">
                        <a:latin typeface="Cambria Math" panose="02040503050406030204" pitchFamily="18" charset="0"/>
                      </a:rPr>
                      <m:t>𝑓</m:t>
                    </m:r>
                    <m:r>
                      <a:rPr lang="en-US" altLang="ko-KR" sz="2000" i="1">
                        <a:latin typeface="Cambria Math" panose="02040503050406030204" pitchFamily="18" charset="0"/>
                      </a:rPr>
                      <m:t>(</m:t>
                    </m:r>
                    <m:r>
                      <a:rPr lang="en-US" altLang="ko-KR" sz="2000" i="1">
                        <a:latin typeface="Cambria Math" panose="02040503050406030204" pitchFamily="18" charset="0"/>
                      </a:rPr>
                      <m:t>𝑥</m:t>
                    </m:r>
                    <m:r>
                      <a:rPr lang="en-US" altLang="ko-KR" sz="2000" i="1">
                        <a:latin typeface="Cambria Math" panose="02040503050406030204" pitchFamily="18" charset="0"/>
                      </a:rPr>
                      <m:t>)</m:t>
                    </m:r>
                  </m:oMath>
                </a14:m>
                <a:r>
                  <a:rPr lang="en-US" altLang="ko-KR" sz="2000" dirty="0" smtClean="0"/>
                  <a:t> for a Boolean function </a:t>
                </a:r>
                <a14:m>
                  <m:oMath xmlns:m="http://schemas.openxmlformats.org/officeDocument/2006/math">
                    <m:r>
                      <a:rPr lang="en-US" altLang="ko-KR" sz="2000" b="1" i="1" smtClean="0">
                        <a:solidFill>
                          <a:srgbClr val="FF0000"/>
                        </a:solidFill>
                        <a:latin typeface="Cambria Math" panose="02040503050406030204" pitchFamily="18" charset="0"/>
                      </a:rPr>
                      <m:t>𝒇</m:t>
                    </m:r>
                    <m:r>
                      <a:rPr lang="en-US" altLang="ko-KR" sz="2000" b="1" i="1" smtClean="0">
                        <a:solidFill>
                          <a:srgbClr val="FF0000"/>
                        </a:solidFill>
                        <a:latin typeface="Cambria Math" panose="02040503050406030204" pitchFamily="18" charset="0"/>
                      </a:rPr>
                      <m:t>:</m:t>
                    </m:r>
                    <m:sSup>
                      <m:sSupPr>
                        <m:ctrlPr>
                          <a:rPr lang="en-US" altLang="ko-KR" sz="2000" b="1" i="1" smtClean="0">
                            <a:solidFill>
                              <a:srgbClr val="FF0000"/>
                            </a:solidFill>
                            <a:latin typeface="Cambria Math" panose="02040503050406030204" pitchFamily="18" charset="0"/>
                          </a:rPr>
                        </m:ctrlPr>
                      </m:sSupPr>
                      <m:e>
                        <m:d>
                          <m:dPr>
                            <m:begChr m:val="{"/>
                            <m:endChr m:val="}"/>
                            <m:ctrlPr>
                              <a:rPr lang="en-US" altLang="ko-KR" sz="2000" b="1" i="1" smtClean="0">
                                <a:solidFill>
                                  <a:srgbClr val="FF0000"/>
                                </a:solidFill>
                                <a:latin typeface="Cambria Math" panose="02040503050406030204" pitchFamily="18" charset="0"/>
                              </a:rPr>
                            </m:ctrlPr>
                          </m:dPr>
                          <m:e>
                            <m:r>
                              <a:rPr lang="en-US" altLang="ko-KR" sz="2000" b="1" i="1" smtClean="0">
                                <a:solidFill>
                                  <a:srgbClr val="FF0000"/>
                                </a:solidFill>
                                <a:latin typeface="Cambria Math" panose="02040503050406030204" pitchFamily="18" charset="0"/>
                              </a:rPr>
                              <m:t>𝟎</m:t>
                            </m:r>
                            <m:r>
                              <a:rPr lang="en-US" altLang="ko-KR" sz="2000" b="1" i="1" smtClean="0">
                                <a:solidFill>
                                  <a:srgbClr val="FF0000"/>
                                </a:solidFill>
                                <a:latin typeface="Cambria Math" panose="02040503050406030204" pitchFamily="18" charset="0"/>
                              </a:rPr>
                              <m:t>,</m:t>
                            </m:r>
                            <m:r>
                              <a:rPr lang="en-US" altLang="ko-KR" sz="2000" b="1" i="1" smtClean="0">
                                <a:solidFill>
                                  <a:srgbClr val="FF0000"/>
                                </a:solidFill>
                                <a:latin typeface="Cambria Math" panose="02040503050406030204" pitchFamily="18" charset="0"/>
                              </a:rPr>
                              <m:t>𝟏</m:t>
                            </m:r>
                          </m:e>
                        </m:d>
                      </m:e>
                      <m:sup>
                        <m:r>
                          <a:rPr lang="en-US" altLang="ko-KR" sz="2000" b="1" i="1" smtClean="0">
                            <a:solidFill>
                              <a:srgbClr val="FF0000"/>
                            </a:solidFill>
                            <a:latin typeface="Cambria Math" panose="02040503050406030204" pitchFamily="18" charset="0"/>
                          </a:rPr>
                          <m:t>∗</m:t>
                        </m:r>
                      </m:sup>
                    </m:sSup>
                    <m:r>
                      <a:rPr lang="en-US" altLang="ko-KR" sz="2000" b="1" i="1" smtClean="0">
                        <a:solidFill>
                          <a:srgbClr val="FF0000"/>
                        </a:solidFill>
                        <a:latin typeface="Cambria Math" panose="02040503050406030204" pitchFamily="18" charset="0"/>
                      </a:rPr>
                      <m:t>→{</m:t>
                    </m:r>
                    <m:r>
                      <a:rPr lang="en-US" altLang="ko-KR" sz="2000" b="1" i="1" smtClean="0">
                        <a:solidFill>
                          <a:srgbClr val="FF0000"/>
                        </a:solidFill>
                        <a:latin typeface="Cambria Math" panose="02040503050406030204" pitchFamily="18" charset="0"/>
                      </a:rPr>
                      <m:t>𝟎</m:t>
                    </m:r>
                    <m:r>
                      <a:rPr lang="en-US" altLang="ko-KR" sz="2000" b="1" i="1" smtClean="0">
                        <a:solidFill>
                          <a:srgbClr val="FF0000"/>
                        </a:solidFill>
                        <a:latin typeface="Cambria Math" panose="02040503050406030204" pitchFamily="18" charset="0"/>
                      </a:rPr>
                      <m:t>,</m:t>
                    </m:r>
                    <m:r>
                      <a:rPr lang="en-US" altLang="ko-KR" sz="2000" b="1" i="1" smtClean="0">
                        <a:solidFill>
                          <a:srgbClr val="FF0000"/>
                        </a:solidFill>
                        <a:latin typeface="Cambria Math" panose="02040503050406030204" pitchFamily="18" charset="0"/>
                      </a:rPr>
                      <m:t>𝟏</m:t>
                    </m:r>
                    <m:r>
                      <a:rPr lang="en-US" altLang="ko-KR" sz="2000" b="1" i="1" smtClean="0">
                        <a:solidFill>
                          <a:srgbClr val="FF0000"/>
                        </a:solidFill>
                        <a:latin typeface="Cambria Math" panose="02040503050406030204" pitchFamily="18" charset="0"/>
                      </a:rPr>
                      <m:t>}</m:t>
                    </m:r>
                  </m:oMath>
                </a14:m>
                <a:endParaRPr lang="en-US" altLang="ko-KR" sz="2000" b="1" dirty="0" smtClean="0"/>
              </a:p>
              <a:p>
                <a:r>
                  <a:rPr lang="en-US" altLang="ko-KR" sz="2000" dirty="0" smtClean="0"/>
                  <a:t>To check if </a:t>
                </a:r>
                <a14:m>
                  <m:oMath xmlns:m="http://schemas.openxmlformats.org/officeDocument/2006/math">
                    <m:r>
                      <a:rPr lang="en-US" altLang="ko-KR" sz="2000" b="0" i="1" smtClean="0">
                        <a:latin typeface="Cambria Math" panose="02040503050406030204" pitchFamily="18" charset="0"/>
                      </a:rPr>
                      <m:t>𝑥</m:t>
                    </m:r>
                    <m:r>
                      <a:rPr lang="en-US" altLang="ko-KR" sz="2000" b="0" i="1" smtClean="0">
                        <a:latin typeface="Cambria Math" panose="02040503050406030204" pitchFamily="18" charset="0"/>
                      </a:rPr>
                      <m:t>∈</m:t>
                    </m:r>
                    <m:sSub>
                      <m:sSubPr>
                        <m:ctrlPr>
                          <a:rPr lang="en-US" altLang="ko-KR" sz="2000" b="0" i="1" smtClean="0">
                            <a:latin typeface="Cambria Math" panose="02040503050406030204" pitchFamily="18" charset="0"/>
                          </a:rPr>
                        </m:ctrlPr>
                      </m:sSubPr>
                      <m:e>
                        <m:r>
                          <a:rPr lang="en-US" altLang="ko-KR" sz="2000" b="0" i="1" smtClean="0">
                            <a:latin typeface="Cambria Math" panose="02040503050406030204" pitchFamily="18" charset="0"/>
                          </a:rPr>
                          <m:t>𝐿</m:t>
                        </m:r>
                      </m:e>
                      <m:sub>
                        <m:r>
                          <a:rPr lang="en-US" altLang="ko-KR" sz="2000" b="0" i="1" smtClean="0">
                            <a:latin typeface="Cambria Math" panose="02040503050406030204" pitchFamily="18" charset="0"/>
                          </a:rPr>
                          <m:t>𝑦𝑒𝑠</m:t>
                        </m:r>
                      </m:sub>
                    </m:sSub>
                  </m:oMath>
                </a14:m>
                <a:r>
                  <a:rPr lang="en-US" altLang="ko-KR" sz="2000" dirty="0" smtClean="0"/>
                  <a:t> for a set </a:t>
                </a:r>
                <a14:m>
                  <m:oMath xmlns:m="http://schemas.openxmlformats.org/officeDocument/2006/math">
                    <m:sSub>
                      <m:sSubPr>
                        <m:ctrlPr>
                          <a:rPr lang="en-US" altLang="ko-KR" sz="2000" b="1" i="1" smtClean="0">
                            <a:solidFill>
                              <a:srgbClr val="FF0000"/>
                            </a:solidFill>
                            <a:latin typeface="Cambria Math" panose="02040503050406030204" pitchFamily="18" charset="0"/>
                          </a:rPr>
                        </m:ctrlPr>
                      </m:sSubPr>
                      <m:e>
                        <m:r>
                          <a:rPr lang="en-US" altLang="ko-KR" sz="2000" b="1" i="1" smtClean="0">
                            <a:solidFill>
                              <a:srgbClr val="FF0000"/>
                            </a:solidFill>
                            <a:latin typeface="Cambria Math" panose="02040503050406030204" pitchFamily="18" charset="0"/>
                          </a:rPr>
                          <m:t>𝑳</m:t>
                        </m:r>
                      </m:e>
                      <m:sub>
                        <m:r>
                          <a:rPr lang="en-US" altLang="ko-KR" sz="2000" b="1" i="1" smtClean="0">
                            <a:solidFill>
                              <a:srgbClr val="FF0000"/>
                            </a:solidFill>
                            <a:latin typeface="Cambria Math" panose="02040503050406030204" pitchFamily="18" charset="0"/>
                          </a:rPr>
                          <m:t>𝒚𝒆𝒔</m:t>
                        </m:r>
                      </m:sub>
                    </m:sSub>
                    <m:r>
                      <a:rPr lang="en-US" altLang="ko-KR" sz="2000" b="1" i="1" smtClean="0">
                        <a:solidFill>
                          <a:srgbClr val="FF0000"/>
                        </a:solidFill>
                        <a:latin typeface="Cambria Math" panose="02040503050406030204" pitchFamily="18" charset="0"/>
                      </a:rPr>
                      <m:t>⊂</m:t>
                    </m:r>
                    <m:sSup>
                      <m:sSupPr>
                        <m:ctrlPr>
                          <a:rPr lang="en-US" altLang="ko-KR" sz="2000" b="1" i="1" smtClean="0">
                            <a:solidFill>
                              <a:srgbClr val="FF0000"/>
                            </a:solidFill>
                            <a:latin typeface="Cambria Math" panose="02040503050406030204" pitchFamily="18" charset="0"/>
                          </a:rPr>
                        </m:ctrlPr>
                      </m:sSupPr>
                      <m:e>
                        <m:d>
                          <m:dPr>
                            <m:begChr m:val="{"/>
                            <m:endChr m:val="}"/>
                            <m:ctrlPr>
                              <a:rPr lang="en-US" altLang="ko-KR" sz="2000" b="1" i="1" smtClean="0">
                                <a:solidFill>
                                  <a:srgbClr val="FF0000"/>
                                </a:solidFill>
                                <a:latin typeface="Cambria Math" panose="02040503050406030204" pitchFamily="18" charset="0"/>
                              </a:rPr>
                            </m:ctrlPr>
                          </m:dPr>
                          <m:e>
                            <m:r>
                              <a:rPr lang="en-US" altLang="ko-KR" sz="2000" b="1" i="1" smtClean="0">
                                <a:solidFill>
                                  <a:srgbClr val="FF0000"/>
                                </a:solidFill>
                                <a:latin typeface="Cambria Math" panose="02040503050406030204" pitchFamily="18" charset="0"/>
                              </a:rPr>
                              <m:t>𝟎</m:t>
                            </m:r>
                            <m:r>
                              <a:rPr lang="en-US" altLang="ko-KR" sz="2000" b="1" i="1" smtClean="0">
                                <a:solidFill>
                                  <a:srgbClr val="FF0000"/>
                                </a:solidFill>
                                <a:latin typeface="Cambria Math" panose="02040503050406030204" pitchFamily="18" charset="0"/>
                              </a:rPr>
                              <m:t>,</m:t>
                            </m:r>
                            <m:r>
                              <a:rPr lang="en-US" altLang="ko-KR" sz="2000" b="1" i="1" smtClean="0">
                                <a:solidFill>
                                  <a:srgbClr val="FF0000"/>
                                </a:solidFill>
                                <a:latin typeface="Cambria Math" panose="02040503050406030204" pitchFamily="18" charset="0"/>
                              </a:rPr>
                              <m:t>𝟏</m:t>
                            </m:r>
                          </m:e>
                        </m:d>
                      </m:e>
                      <m:sup>
                        <m:r>
                          <a:rPr lang="en-US" altLang="ko-KR" sz="2000" b="1" i="1" smtClean="0">
                            <a:solidFill>
                              <a:srgbClr val="FF0000"/>
                            </a:solidFill>
                            <a:latin typeface="Cambria Math" panose="02040503050406030204" pitchFamily="18" charset="0"/>
                          </a:rPr>
                          <m:t>∗</m:t>
                        </m:r>
                      </m:sup>
                    </m:sSup>
                  </m:oMath>
                </a14:m>
                <a:endParaRPr lang="en-US" altLang="ko-KR" sz="2000" b="1" dirty="0" smtClean="0"/>
              </a:p>
              <a:p>
                <a:endParaRPr lang="en-US" altLang="ko-KR" sz="2000" dirty="0"/>
              </a:p>
              <a:p>
                <a:pPr marL="0" indent="0">
                  <a:buNone/>
                </a:pPr>
                <a:r>
                  <a:rPr lang="en-US" altLang="ko-KR" sz="2000" dirty="0" smtClean="0"/>
                  <a:t>We say a language </a:t>
                </a:r>
                <a14:m>
                  <m:oMath xmlns:m="http://schemas.openxmlformats.org/officeDocument/2006/math">
                    <m:r>
                      <a:rPr lang="en-US" altLang="ko-KR" sz="2000" b="0" i="1" smtClean="0">
                        <a:latin typeface="Cambria Math" panose="02040503050406030204" pitchFamily="18" charset="0"/>
                      </a:rPr>
                      <m:t>𝐿</m:t>
                    </m:r>
                  </m:oMath>
                </a14:m>
                <a:r>
                  <a:rPr lang="en-US" altLang="ko-KR" sz="2000" dirty="0" smtClean="0"/>
                  <a:t> is in </a:t>
                </a:r>
                <a:r>
                  <a:rPr lang="en-US" altLang="ko-KR" sz="2000" b="1" dirty="0" smtClean="0"/>
                  <a:t>P</a:t>
                </a:r>
                <a:r>
                  <a:rPr lang="en-US" altLang="ko-KR" sz="2000" dirty="0" smtClean="0"/>
                  <a:t> if there is an algorithm (aka Turing machine) </a:t>
                </a:r>
                <a14:m>
                  <m:oMath xmlns:m="http://schemas.openxmlformats.org/officeDocument/2006/math">
                    <m:r>
                      <a:rPr lang="en-US" altLang="ko-KR" sz="2000" b="0" i="1" smtClean="0">
                        <a:latin typeface="Cambria Math" panose="02040503050406030204" pitchFamily="18" charset="0"/>
                      </a:rPr>
                      <m:t>𝑀</m:t>
                    </m:r>
                  </m:oMath>
                </a14:m>
                <a:r>
                  <a:rPr lang="en-US" altLang="ko-KR" sz="2000" dirty="0" smtClean="0"/>
                  <a:t> such that:</a:t>
                </a:r>
              </a:p>
              <a:p>
                <a:pPr marL="457200" indent="-457200">
                  <a:buFont typeface="+mj-lt"/>
                  <a:buAutoNum type="arabicPeriod"/>
                </a:pPr>
                <a:r>
                  <a:rPr lang="en-US" altLang="ko-KR" sz="2000" dirty="0"/>
                  <a:t>F</a:t>
                </a:r>
                <a:r>
                  <a:rPr lang="en-US" altLang="ko-KR" sz="2000" dirty="0" smtClean="0"/>
                  <a:t>or all x, </a:t>
                </a:r>
                <a14:m>
                  <m:oMath xmlns:m="http://schemas.openxmlformats.org/officeDocument/2006/math">
                    <m:r>
                      <a:rPr lang="en-US" altLang="ko-KR" sz="2000" i="1">
                        <a:latin typeface="Cambria Math" panose="02040503050406030204" pitchFamily="18" charset="0"/>
                      </a:rPr>
                      <m:t>𝑀</m:t>
                    </m:r>
                    <m:d>
                      <m:dPr>
                        <m:ctrlPr>
                          <a:rPr lang="en-US" altLang="ko-KR" sz="2000" b="0" i="1" smtClean="0">
                            <a:latin typeface="Cambria Math" panose="02040503050406030204" pitchFamily="18" charset="0"/>
                          </a:rPr>
                        </m:ctrlPr>
                      </m:dPr>
                      <m:e>
                        <m:r>
                          <a:rPr lang="en-US" altLang="ko-KR" sz="2000" b="0" i="1" smtClean="0">
                            <a:latin typeface="Cambria Math" panose="02040503050406030204" pitchFamily="18" charset="0"/>
                          </a:rPr>
                          <m:t>𝑥</m:t>
                        </m:r>
                      </m:e>
                    </m:d>
                    <m:r>
                      <a:rPr lang="en-US" altLang="ko-KR" sz="2000" b="0" i="1" smtClean="0">
                        <a:latin typeface="Cambria Math" panose="02040503050406030204" pitchFamily="18" charset="0"/>
                      </a:rPr>
                      <m:t>=</m:t>
                    </m:r>
                    <m:r>
                      <a:rPr lang="en-US" altLang="ko-KR" sz="2000" b="0" i="1" smtClean="0">
                        <a:latin typeface="Cambria Math" panose="02040503050406030204" pitchFamily="18" charset="0"/>
                      </a:rPr>
                      <m:t>𝐿</m:t>
                    </m:r>
                    <m:r>
                      <a:rPr lang="en-US" altLang="ko-KR" sz="2000" b="0" i="1" smtClean="0">
                        <a:latin typeface="Cambria Math" panose="02040503050406030204" pitchFamily="18" charset="0"/>
                      </a:rPr>
                      <m:t>(</m:t>
                    </m:r>
                    <m:r>
                      <a:rPr lang="en-US" altLang="ko-KR" sz="2000" b="0" i="1" smtClean="0">
                        <a:latin typeface="Cambria Math" panose="02040503050406030204" pitchFamily="18" charset="0"/>
                      </a:rPr>
                      <m:t>𝑥</m:t>
                    </m:r>
                    <m:r>
                      <a:rPr lang="en-US" altLang="ko-KR" sz="2000" b="0" i="1" smtClean="0">
                        <a:latin typeface="Cambria Math" panose="02040503050406030204" pitchFamily="18" charset="0"/>
                      </a:rPr>
                      <m:t>)</m:t>
                    </m:r>
                  </m:oMath>
                </a14:m>
                <a:endParaRPr lang="en-US" altLang="ko-KR" sz="2000" dirty="0" smtClean="0"/>
              </a:p>
              <a:p>
                <a:pPr marL="457200" indent="-457200">
                  <a:buFont typeface="+mj-lt"/>
                  <a:buAutoNum type="arabicPeriod"/>
                </a:pPr>
                <a:r>
                  <a:rPr lang="en-US" altLang="ko-KR" sz="2000" dirty="0" smtClean="0"/>
                  <a:t>For all x, </a:t>
                </a:r>
                <a14:m>
                  <m:oMath xmlns:m="http://schemas.openxmlformats.org/officeDocument/2006/math">
                    <m:r>
                      <a:rPr lang="en-US" altLang="ko-KR" sz="2000" i="1">
                        <a:latin typeface="Cambria Math" panose="02040503050406030204" pitchFamily="18" charset="0"/>
                      </a:rPr>
                      <m:t>𝑀</m:t>
                    </m:r>
                    <m:d>
                      <m:dPr>
                        <m:ctrlPr>
                          <a:rPr lang="en-US" altLang="ko-KR" sz="2000" i="1">
                            <a:latin typeface="Cambria Math" panose="02040503050406030204" pitchFamily="18" charset="0"/>
                          </a:rPr>
                        </m:ctrlPr>
                      </m:dPr>
                      <m:e>
                        <m:r>
                          <a:rPr lang="en-US" altLang="ko-KR" sz="2000" i="1">
                            <a:latin typeface="Cambria Math" panose="02040503050406030204" pitchFamily="18" charset="0"/>
                          </a:rPr>
                          <m:t>𝑥</m:t>
                        </m:r>
                      </m:e>
                    </m:d>
                  </m:oMath>
                </a14:m>
                <a:r>
                  <a:rPr lang="en-US" altLang="ko-KR" sz="2000" dirty="0" smtClean="0"/>
                  <a:t> runs in time </a:t>
                </a:r>
                <a14:m>
                  <m:oMath xmlns:m="http://schemas.openxmlformats.org/officeDocument/2006/math">
                    <m:r>
                      <a:rPr lang="en-US" altLang="ko-KR" sz="2000" b="0" i="1" smtClean="0">
                        <a:latin typeface="Cambria Math" panose="02040503050406030204" pitchFamily="18" charset="0"/>
                      </a:rPr>
                      <m:t>𝑝</m:t>
                    </m:r>
                    <m:r>
                      <a:rPr lang="en-US" altLang="ko-KR" sz="2000" b="0" i="1" smtClean="0">
                        <a:latin typeface="Cambria Math" panose="02040503050406030204" pitchFamily="18" charset="0"/>
                      </a:rPr>
                      <m:t>(</m:t>
                    </m:r>
                    <m:d>
                      <m:dPr>
                        <m:begChr m:val="|"/>
                        <m:endChr m:val="|"/>
                        <m:ctrlPr>
                          <a:rPr lang="en-US" altLang="ko-KR" sz="2000" b="0" i="1" smtClean="0">
                            <a:latin typeface="Cambria Math" panose="02040503050406030204" pitchFamily="18" charset="0"/>
                          </a:rPr>
                        </m:ctrlPr>
                      </m:dPr>
                      <m:e>
                        <m:r>
                          <a:rPr lang="en-US" altLang="ko-KR" sz="2000" b="0" i="1" smtClean="0">
                            <a:latin typeface="Cambria Math" panose="02040503050406030204" pitchFamily="18" charset="0"/>
                          </a:rPr>
                          <m:t>𝑥</m:t>
                        </m:r>
                      </m:e>
                    </m:d>
                    <m:r>
                      <a:rPr lang="en-US" altLang="ko-KR" sz="2000" b="0" i="1" smtClean="0">
                        <a:latin typeface="Cambria Math" panose="02040503050406030204" pitchFamily="18" charset="0"/>
                      </a:rPr>
                      <m:t>)</m:t>
                    </m:r>
                  </m:oMath>
                </a14:m>
                <a:r>
                  <a:rPr lang="en-US" altLang="ko-KR" sz="2000" dirty="0" smtClean="0"/>
                  <a:t> for a fixed polynomial </a:t>
                </a:r>
                <a14:m>
                  <m:oMath xmlns:m="http://schemas.openxmlformats.org/officeDocument/2006/math">
                    <m:r>
                      <a:rPr lang="en-US" altLang="ko-KR" sz="2000" i="1">
                        <a:latin typeface="Cambria Math" panose="02040503050406030204" pitchFamily="18" charset="0"/>
                      </a:rPr>
                      <m:t>𝑝</m:t>
                    </m:r>
                  </m:oMath>
                </a14:m>
                <a:endParaRPr lang="en-US" altLang="ko-KR" sz="2000" dirty="0"/>
              </a:p>
            </p:txBody>
          </p:sp>
        </mc:Choice>
        <mc:Fallback xmlns="">
          <p:sp>
            <p:nvSpPr>
              <p:cNvPr id="3" name="내용 개체 틀 2"/>
              <p:cNvSpPr>
                <a:spLocks noGrp="1" noRot="1" noChangeAspect="1" noMove="1" noResize="1" noEditPoints="1" noAdjustHandles="1" noChangeArrowheads="1" noChangeShapeType="1" noTextEdit="1"/>
              </p:cNvSpPr>
              <p:nvPr>
                <p:ph idx="1"/>
              </p:nvPr>
            </p:nvSpPr>
            <p:spPr>
              <a:blipFill>
                <a:blip r:embed="rId2"/>
                <a:stretch>
                  <a:fillRect l="-928" t="-1961"/>
                </a:stretch>
              </a:blipFill>
            </p:spPr>
            <p:txBody>
              <a:bodyPr/>
              <a:lstStyle/>
              <a:p>
                <a:r>
                  <a:rPr lang="ko-KR" altLang="en-US">
                    <a:noFill/>
                  </a:rPr>
                  <a:t> </a:t>
                </a:r>
              </a:p>
            </p:txBody>
          </p:sp>
        </mc:Fallback>
      </mc:AlternateContent>
      <mc:AlternateContent xmlns:mc="http://schemas.openxmlformats.org/markup-compatibility/2006" xmlns:a14="http://schemas.microsoft.com/office/drawing/2010/main">
        <mc:Choice Requires="a14">
          <p:sp>
            <p:nvSpPr>
              <p:cNvPr id="4" name="직사각형 3"/>
              <p:cNvSpPr/>
              <p:nvPr/>
            </p:nvSpPr>
            <p:spPr>
              <a:xfrm>
                <a:off x="9174623" y="906740"/>
                <a:ext cx="2625754" cy="646331"/>
              </a:xfrm>
              <a:prstGeom prst="rect">
                <a:avLst/>
              </a:prstGeom>
            </p:spPr>
            <p:txBody>
              <a:bodyPr wrap="square">
                <a:spAutoFit/>
              </a:bodyPr>
              <a:lstStyle/>
              <a:p>
                <a14:m>
                  <m:oMath xmlns:m="http://schemas.openxmlformats.org/officeDocument/2006/math">
                    <m:sSup>
                      <m:sSupPr>
                        <m:ctrlPr>
                          <a:rPr lang="en-US" altLang="ko-KR" i="1">
                            <a:latin typeface="Cambria Math" panose="02040503050406030204" pitchFamily="18" charset="0"/>
                          </a:rPr>
                        </m:ctrlPr>
                      </m:sSupPr>
                      <m:e>
                        <m:d>
                          <m:dPr>
                            <m:begChr m:val="{"/>
                            <m:endChr m:val="}"/>
                            <m:ctrlPr>
                              <a:rPr lang="en-US" altLang="ko-KR" i="1">
                                <a:latin typeface="Cambria Math" panose="02040503050406030204" pitchFamily="18" charset="0"/>
                              </a:rPr>
                            </m:ctrlPr>
                          </m:dPr>
                          <m:e>
                            <m:r>
                              <a:rPr lang="en-US" altLang="ko-KR" i="1">
                                <a:latin typeface="Cambria Math" panose="02040503050406030204" pitchFamily="18" charset="0"/>
                              </a:rPr>
                              <m:t>0,1</m:t>
                            </m:r>
                          </m:e>
                        </m:d>
                      </m:e>
                      <m:sup>
                        <m:r>
                          <a:rPr lang="en-US" altLang="ko-KR" i="1">
                            <a:latin typeface="Cambria Math" panose="02040503050406030204" pitchFamily="18" charset="0"/>
                          </a:rPr>
                          <m:t>∗</m:t>
                        </m:r>
                      </m:sup>
                    </m:sSup>
                  </m:oMath>
                </a14:m>
                <a:r>
                  <a:rPr lang="ko-KR" altLang="en-US" dirty="0" smtClean="0"/>
                  <a:t> </a:t>
                </a:r>
                <a:r>
                  <a:rPr lang="en-US" altLang="ko-KR" dirty="0" smtClean="0"/>
                  <a:t>denotes the set of all binary strings</a:t>
                </a:r>
                <a:endParaRPr lang="ko-KR" altLang="en-US" dirty="0"/>
              </a:p>
            </p:txBody>
          </p:sp>
        </mc:Choice>
        <mc:Fallback xmlns="">
          <p:sp>
            <p:nvSpPr>
              <p:cNvPr id="4" name="직사각형 3"/>
              <p:cNvSpPr>
                <a:spLocks noRot="1" noChangeAspect="1" noMove="1" noResize="1" noEditPoints="1" noAdjustHandles="1" noChangeArrowheads="1" noChangeShapeType="1" noTextEdit="1"/>
              </p:cNvSpPr>
              <p:nvPr/>
            </p:nvSpPr>
            <p:spPr>
              <a:xfrm>
                <a:off x="9174623" y="906740"/>
                <a:ext cx="2625754" cy="646331"/>
              </a:xfrm>
              <a:prstGeom prst="rect">
                <a:avLst/>
              </a:prstGeom>
              <a:blipFill>
                <a:blip r:embed="rId3"/>
                <a:stretch>
                  <a:fillRect l="-1856" t="-5660" b="-14151"/>
                </a:stretch>
              </a:blipFill>
            </p:spPr>
            <p:txBody>
              <a:bodyPr/>
              <a:lstStyle/>
              <a:p>
                <a:r>
                  <a:rPr lang="ko-KR" altLang="en-US">
                    <a:noFill/>
                  </a:rPr>
                  <a:t> </a:t>
                </a:r>
              </a:p>
            </p:txBody>
          </p:sp>
        </mc:Fallback>
      </mc:AlternateContent>
      <mc:AlternateContent xmlns:mc="http://schemas.openxmlformats.org/markup-compatibility/2006" xmlns:a14="http://schemas.microsoft.com/office/drawing/2010/main">
        <mc:Choice Requires="a14">
          <p:sp>
            <p:nvSpPr>
              <p:cNvPr id="5" name="직사각형 4"/>
              <p:cNvSpPr/>
              <p:nvPr/>
            </p:nvSpPr>
            <p:spPr>
              <a:xfrm>
                <a:off x="8976221" y="402471"/>
                <a:ext cx="3022559" cy="369332"/>
              </a:xfrm>
              <a:prstGeom prst="rect">
                <a:avLst/>
              </a:prstGeom>
            </p:spPr>
            <p:txBody>
              <a:bodyPr wrap="none">
                <a:spAutoFit/>
              </a:bodyPr>
              <a:lstStyle/>
              <a:p>
                <a14:m>
                  <m:oMath xmlns:m="http://schemas.openxmlformats.org/officeDocument/2006/math">
                    <m:r>
                      <a:rPr lang="en-US" altLang="ko-KR" i="1">
                        <a:latin typeface="Cambria Math" panose="02040503050406030204" pitchFamily="18" charset="0"/>
                      </a:rPr>
                      <m:t>|</m:t>
                    </m:r>
                    <m:r>
                      <a:rPr lang="en-US" altLang="ko-KR" i="1">
                        <a:latin typeface="Cambria Math" panose="02040503050406030204" pitchFamily="18" charset="0"/>
                      </a:rPr>
                      <m:t>𝑥</m:t>
                    </m:r>
                    <m:r>
                      <a:rPr lang="en-US" altLang="ko-KR" i="1">
                        <a:latin typeface="Cambria Math" panose="02040503050406030204" pitchFamily="18" charset="0"/>
                      </a:rPr>
                      <m:t>|</m:t>
                    </m:r>
                  </m:oMath>
                </a14:m>
                <a:r>
                  <a:rPr lang="ko-KR" altLang="en-US" dirty="0" smtClean="0"/>
                  <a:t> </a:t>
                </a:r>
                <a:r>
                  <a:rPr lang="en-US" altLang="ko-KR" dirty="0" smtClean="0"/>
                  <a:t>denotes the length of x</a:t>
                </a:r>
                <a:endParaRPr lang="ko-KR" altLang="en-US" dirty="0"/>
              </a:p>
            </p:txBody>
          </p:sp>
        </mc:Choice>
        <mc:Fallback xmlns="">
          <p:sp>
            <p:nvSpPr>
              <p:cNvPr id="5" name="직사각형 4"/>
              <p:cNvSpPr>
                <a:spLocks noRot="1" noChangeAspect="1" noMove="1" noResize="1" noEditPoints="1" noAdjustHandles="1" noChangeArrowheads="1" noChangeShapeType="1" noTextEdit="1"/>
              </p:cNvSpPr>
              <p:nvPr/>
            </p:nvSpPr>
            <p:spPr>
              <a:xfrm>
                <a:off x="8976221" y="402471"/>
                <a:ext cx="3022559" cy="369332"/>
              </a:xfrm>
              <a:prstGeom prst="rect">
                <a:avLst/>
              </a:prstGeom>
              <a:blipFill>
                <a:blip r:embed="rId4"/>
                <a:stretch>
                  <a:fillRect l="-605" t="-8197" r="-806" b="-24590"/>
                </a:stretch>
              </a:blipFill>
            </p:spPr>
            <p:txBody>
              <a:bodyPr/>
              <a:lstStyle/>
              <a:p>
                <a:r>
                  <a:rPr lang="ko-KR" altLang="en-US">
                    <a:noFill/>
                  </a:rPr>
                  <a:t> </a:t>
                </a:r>
              </a:p>
            </p:txBody>
          </p:sp>
        </mc:Fallback>
      </mc:AlternateContent>
      <p:sp>
        <p:nvSpPr>
          <p:cNvPr id="6" name="직사각형 5"/>
          <p:cNvSpPr/>
          <p:nvPr/>
        </p:nvSpPr>
        <p:spPr>
          <a:xfrm>
            <a:off x="8271546" y="5603845"/>
            <a:ext cx="3447874" cy="293135"/>
          </a:xfrm>
          <a:prstGeom prst="rect">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pPr algn="ctr"/>
            <a:r>
              <a:rPr lang="en-US" altLang="ko-KR" sz="1400" dirty="0" smtClean="0"/>
              <a:t>We say M a polynomial time algorithm</a:t>
            </a:r>
            <a:endParaRPr lang="ko-KR" altLang="en-US" sz="1400" dirty="0"/>
          </a:p>
        </p:txBody>
      </p:sp>
      <mc:AlternateContent xmlns:mc="http://schemas.openxmlformats.org/markup-compatibility/2006" xmlns:a14="http://schemas.microsoft.com/office/drawing/2010/main">
        <mc:Choice Requires="a14">
          <p:sp>
            <p:nvSpPr>
              <p:cNvPr id="7" name="직사각형 6"/>
              <p:cNvSpPr/>
              <p:nvPr/>
            </p:nvSpPr>
            <p:spPr>
              <a:xfrm>
                <a:off x="9174622" y="3572121"/>
                <a:ext cx="2544797" cy="293135"/>
              </a:xfrm>
              <a:prstGeom prst="rect">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pPr algn="ctr"/>
                <a:r>
                  <a:rPr lang="en-US" altLang="ko-KR" sz="1400" dirty="0" smtClean="0"/>
                  <a:t>We define </a:t>
                </a:r>
                <a14:m>
                  <m:oMath xmlns:m="http://schemas.openxmlformats.org/officeDocument/2006/math">
                    <m:r>
                      <a:rPr lang="en-US" altLang="ko-KR" sz="1400" b="0" i="1" smtClean="0">
                        <a:latin typeface="Cambria Math" panose="02040503050406030204" pitchFamily="18" charset="0"/>
                      </a:rPr>
                      <m:t>𝐿</m:t>
                    </m:r>
                    <m:r>
                      <a:rPr lang="en-US" altLang="ko-KR" sz="1400" b="0" i="1" smtClean="0">
                        <a:latin typeface="Cambria Math" panose="02040503050406030204" pitchFamily="18" charset="0"/>
                      </a:rPr>
                      <m:t>:=</m:t>
                    </m:r>
                    <m:r>
                      <a:rPr lang="en-US" altLang="ko-KR" sz="1400" b="0" i="1" smtClean="0">
                        <a:latin typeface="Cambria Math" panose="02040503050406030204" pitchFamily="18" charset="0"/>
                      </a:rPr>
                      <m:t>𝑓</m:t>
                    </m:r>
                  </m:oMath>
                </a14:m>
                <a:r>
                  <a:rPr lang="ko-KR" altLang="en-US" sz="1400" dirty="0" smtClean="0"/>
                  <a:t> </a:t>
                </a:r>
                <a:r>
                  <a:rPr lang="en-US" altLang="ko-KR" sz="1400" dirty="0" smtClean="0"/>
                  <a:t>in this case</a:t>
                </a:r>
                <a:endParaRPr lang="ko-KR" altLang="en-US" sz="1400" dirty="0"/>
              </a:p>
            </p:txBody>
          </p:sp>
        </mc:Choice>
        <mc:Fallback xmlns="">
          <p:sp>
            <p:nvSpPr>
              <p:cNvPr id="7" name="직사각형 6"/>
              <p:cNvSpPr>
                <a:spLocks noRot="1" noChangeAspect="1" noMove="1" noResize="1" noEditPoints="1" noAdjustHandles="1" noChangeArrowheads="1" noChangeShapeType="1" noTextEdit="1"/>
              </p:cNvSpPr>
              <p:nvPr/>
            </p:nvSpPr>
            <p:spPr>
              <a:xfrm>
                <a:off x="9174622" y="3572121"/>
                <a:ext cx="2544797" cy="293135"/>
              </a:xfrm>
              <a:prstGeom prst="rect">
                <a:avLst/>
              </a:prstGeom>
              <a:blipFill>
                <a:blip r:embed="rId5"/>
                <a:stretch>
                  <a:fillRect t="-4000" b="-22000"/>
                </a:stretch>
              </a:blipFill>
            </p:spPr>
            <p:txBody>
              <a:bodyPr/>
              <a:lstStyle/>
              <a:p>
                <a:r>
                  <a:rPr lang="ko-KR" altLang="en-US">
                    <a:noFill/>
                  </a:rPr>
                  <a:t> </a:t>
                </a:r>
              </a:p>
            </p:txBody>
          </p:sp>
        </mc:Fallback>
      </mc:AlternateContent>
    </p:spTree>
    <p:extLst>
      <p:ext uri="{BB962C8B-B14F-4D97-AF65-F5344CB8AC3E}">
        <p14:creationId xmlns:p14="http://schemas.microsoft.com/office/powerpoint/2010/main" val="200422755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2" end="2"/>
                                            </p:txEl>
                                          </p:spTgt>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7"/>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nodeType="clickEffect">
                                  <p:stCondLst>
                                    <p:cond delay="0"/>
                                  </p:stCondLst>
                                  <p:childTnLst>
                                    <p:set>
                                      <p:cBhvr>
                                        <p:cTn id="16"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nodeType="clickEffect">
                                  <p:stCondLst>
                                    <p:cond delay="0"/>
                                  </p:stCondLst>
                                  <p:childTnLst>
                                    <p:set>
                                      <p:cBhvr>
                                        <p:cTn id="20"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nodeType="clickEffect">
                                  <p:stCondLst>
                                    <p:cond delay="0"/>
                                  </p:stCondLst>
                                  <p:childTnLst>
                                    <p:set>
                                      <p:cBhvr>
                                        <p:cTn id="24" dur="1" fill="hold">
                                          <p:stCondLst>
                                            <p:cond delay="0"/>
                                          </p:stCondLst>
                                        </p:cTn>
                                        <p:tgtEl>
                                          <p:spTgt spid="3">
                                            <p:txEl>
                                              <p:pRg st="6" end="6"/>
                                            </p:txEl>
                                          </p:spTgt>
                                        </p:tgtEl>
                                        <p:attrNameLst>
                                          <p:attrName>style.visibility</p:attrName>
                                        </p:attrNameLst>
                                      </p:cBhvr>
                                      <p:to>
                                        <p:strVal val="visible"/>
                                      </p:to>
                                    </p:set>
                                  </p:childTnLst>
                                </p:cTn>
                              </p:par>
                              <p:par>
                                <p:cTn id="25" presetID="1" presetClass="entr" presetSubtype="0" fill="hold" nodeType="withEffect">
                                  <p:stCondLst>
                                    <p:cond delay="0"/>
                                  </p:stCondLst>
                                  <p:childTnLst>
                                    <p:set>
                                      <p:cBhvr>
                                        <p:cTn id="26" dur="1" fill="hold">
                                          <p:stCondLst>
                                            <p:cond delay="0"/>
                                          </p:stCondLst>
                                        </p:cTn>
                                        <p:tgtEl>
                                          <p:spTgt spid="3">
                                            <p:txEl>
                                              <p:pRg st="7" end="7"/>
                                            </p:txEl>
                                          </p:spTgt>
                                        </p:tgtEl>
                                        <p:attrNameLst>
                                          <p:attrName>style.visibility</p:attrName>
                                        </p:attrNameLst>
                                      </p:cBhvr>
                                      <p:to>
                                        <p:strVal val="visible"/>
                                      </p:to>
                                    </p:set>
                                  </p:childTnLst>
                                </p:cTn>
                              </p:par>
                              <p:par>
                                <p:cTn id="27" presetID="1" presetClass="entr" presetSubtype="0" fill="hold" nodeType="withEffect">
                                  <p:stCondLst>
                                    <p:cond delay="0"/>
                                  </p:stCondLst>
                                  <p:childTnLst>
                                    <p:set>
                                      <p:cBhvr>
                                        <p:cTn id="28" dur="1" fill="hold">
                                          <p:stCondLst>
                                            <p:cond delay="0"/>
                                          </p:stCondLst>
                                        </p:cTn>
                                        <p:tgtEl>
                                          <p:spTgt spid="3">
                                            <p:txEl>
                                              <p:pRg st="8" end="8"/>
                                            </p:txEl>
                                          </p:spTgt>
                                        </p:tgtEl>
                                        <p:attrNameLst>
                                          <p:attrName>style.visibility</p:attrName>
                                        </p:attrNameLst>
                                      </p:cBhvr>
                                      <p:to>
                                        <p:strVal val="visible"/>
                                      </p:to>
                                    </p:set>
                                  </p:childTnLst>
                                </p:cTn>
                              </p:par>
                            </p:childTnLst>
                          </p:cTn>
                        </p:par>
                      </p:childTnLst>
                    </p:cTn>
                  </p:par>
                  <p:par>
                    <p:cTn id="29" fill="hold">
                      <p:stCondLst>
                        <p:cond delay="indefinite"/>
                      </p:stCondLst>
                      <p:childTnLst>
                        <p:par>
                          <p:cTn id="30" fill="hold">
                            <p:stCondLst>
                              <p:cond delay="0"/>
                            </p:stCondLst>
                            <p:childTnLst>
                              <p:par>
                                <p:cTn id="31" presetID="1" presetClass="entr" presetSubtype="0" fill="hold" grpId="0" nodeType="clickEffect">
                                  <p:stCondLst>
                                    <p:cond delay="0"/>
                                  </p:stCondLst>
                                  <p:childTnLst>
                                    <p:set>
                                      <p:cBhvr>
                                        <p:cTn id="32" dur="1" fill="hold">
                                          <p:stCondLst>
                                            <p:cond delay="0"/>
                                          </p:stCondLst>
                                        </p:cTn>
                                        <p:tgtEl>
                                          <p:spTgt spid="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animBg="1"/>
      <p:bldP spid="7" grpId="0" animBg="1"/>
    </p:bldLst>
  </p:timing>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제목 1"/>
          <p:cNvSpPr>
            <a:spLocks noGrp="1"/>
          </p:cNvSpPr>
          <p:nvPr>
            <p:ph type="title"/>
          </p:nvPr>
        </p:nvSpPr>
        <p:spPr/>
        <p:txBody>
          <a:bodyPr/>
          <a:lstStyle/>
          <a:p>
            <a:r>
              <a:rPr lang="en-US" altLang="ko-KR" dirty="0" smtClean="0"/>
              <a:t>Circuit-style definitions </a:t>
            </a:r>
            <a:br>
              <a:rPr lang="en-US" altLang="ko-KR" dirty="0" smtClean="0"/>
            </a:br>
            <a:r>
              <a:rPr lang="en-US" altLang="ko-KR" sz="2800" dirty="0" smtClean="0"/>
              <a:t>(proving equivalence is            )</a:t>
            </a:r>
            <a:endParaRPr lang="ko-KR" altLang="en-US" dirty="0"/>
          </a:p>
        </p:txBody>
      </p:sp>
      <mc:AlternateContent xmlns:mc="http://schemas.openxmlformats.org/markup-compatibility/2006" xmlns:a14="http://schemas.microsoft.com/office/drawing/2010/main">
        <mc:Choice Requires="a14">
          <p:sp>
            <p:nvSpPr>
              <p:cNvPr id="3" name="내용 개체 틀 2"/>
              <p:cNvSpPr>
                <a:spLocks noGrp="1"/>
              </p:cNvSpPr>
              <p:nvPr>
                <p:ph idx="1"/>
              </p:nvPr>
            </p:nvSpPr>
            <p:spPr/>
            <p:txBody>
              <a:bodyPr>
                <a:normAutofit fontScale="92500" lnSpcReduction="10000"/>
              </a:bodyPr>
              <a:lstStyle/>
              <a:p>
                <a:pPr marL="0" indent="0">
                  <a:buNone/>
                </a:pPr>
                <a:r>
                  <a:rPr lang="en-US" altLang="ko-KR" sz="2000" dirty="0" smtClean="0"/>
                  <a:t>We say a language </a:t>
                </a:r>
                <a14:m>
                  <m:oMath xmlns:m="http://schemas.openxmlformats.org/officeDocument/2006/math">
                    <m:r>
                      <a:rPr lang="en-US" altLang="ko-KR" sz="2000" i="1">
                        <a:latin typeface="Cambria Math" panose="02040503050406030204" pitchFamily="18" charset="0"/>
                      </a:rPr>
                      <m:t>𝐿</m:t>
                    </m:r>
                  </m:oMath>
                </a14:m>
                <a:r>
                  <a:rPr lang="en-US" altLang="ko-KR" sz="2000" dirty="0"/>
                  <a:t> is in </a:t>
                </a:r>
                <a:r>
                  <a:rPr lang="en-US" altLang="ko-KR" sz="2000" b="1" dirty="0"/>
                  <a:t>P</a:t>
                </a:r>
                <a:r>
                  <a:rPr lang="en-US" altLang="ko-KR" sz="2000" dirty="0"/>
                  <a:t> if there is </a:t>
                </a:r>
                <a:r>
                  <a:rPr lang="en-US" altLang="ko-KR" sz="2000" dirty="0" smtClean="0"/>
                  <a:t>a </a:t>
                </a:r>
                <a:r>
                  <a:rPr lang="en-US" altLang="ko-KR" sz="2000" b="1" dirty="0" smtClean="0"/>
                  <a:t>polynomial-time</a:t>
                </a:r>
                <a:r>
                  <a:rPr lang="en-US" altLang="ko-KR" sz="2000" dirty="0" smtClean="0"/>
                  <a:t> algorithm </a:t>
                </a:r>
                <a14:m>
                  <m:oMath xmlns:m="http://schemas.openxmlformats.org/officeDocument/2006/math">
                    <m:r>
                      <a:rPr lang="en-US" altLang="ko-KR" sz="2000" i="1">
                        <a:latin typeface="Cambria Math" panose="02040503050406030204" pitchFamily="18" charset="0"/>
                      </a:rPr>
                      <m:t>𝑀</m:t>
                    </m:r>
                  </m:oMath>
                </a14:m>
                <a:r>
                  <a:rPr lang="en-US" altLang="ko-KR" sz="2000" dirty="0"/>
                  <a:t> such that:</a:t>
                </a:r>
              </a:p>
              <a:p>
                <a:r>
                  <a:rPr lang="en-US" altLang="ko-KR" sz="2000" dirty="0" smtClean="0"/>
                  <a:t>For </a:t>
                </a:r>
                <a:r>
                  <a:rPr lang="en-US" altLang="ko-KR" sz="2000" dirty="0"/>
                  <a:t>all x</a:t>
                </a:r>
                <a:r>
                  <a:rPr lang="en-US" altLang="ko-KR" sz="2000" dirty="0" smtClean="0"/>
                  <a:t>, </a:t>
                </a:r>
                <a14:m>
                  <m:oMath xmlns:m="http://schemas.openxmlformats.org/officeDocument/2006/math">
                    <m:r>
                      <a:rPr lang="en-US" altLang="ko-KR" sz="2000" i="1">
                        <a:latin typeface="Cambria Math" panose="02040503050406030204" pitchFamily="18" charset="0"/>
                      </a:rPr>
                      <m:t>𝑀</m:t>
                    </m:r>
                    <m:d>
                      <m:dPr>
                        <m:ctrlPr>
                          <a:rPr lang="en-US" altLang="ko-KR" sz="2000" i="1">
                            <a:latin typeface="Cambria Math" panose="02040503050406030204" pitchFamily="18" charset="0"/>
                          </a:rPr>
                        </m:ctrlPr>
                      </m:dPr>
                      <m:e>
                        <m:r>
                          <a:rPr lang="en-US" altLang="ko-KR" sz="2000" b="0" i="1" smtClean="0">
                            <a:latin typeface="Cambria Math" panose="02040503050406030204" pitchFamily="18" charset="0"/>
                          </a:rPr>
                          <m:t>𝑥</m:t>
                        </m:r>
                      </m:e>
                    </m:d>
                  </m:oMath>
                </a14:m>
                <a:r>
                  <a:rPr lang="en-US" altLang="ko-KR" sz="2000" dirty="0"/>
                  <a:t> outputs a </a:t>
                </a:r>
                <a:r>
                  <a:rPr lang="en-US" altLang="ko-KR" sz="2000" dirty="0" smtClean="0"/>
                  <a:t>polynomial-size</a:t>
                </a:r>
                <a:r>
                  <a:rPr lang="en-US" altLang="ko-KR" sz="2000" dirty="0"/>
                  <a:t> (binary-output)</a:t>
                </a:r>
                <a:r>
                  <a:rPr lang="en-US" altLang="ko-KR" sz="2000" dirty="0" smtClean="0"/>
                  <a:t> circuit </a:t>
                </a:r>
                <a14:m>
                  <m:oMath xmlns:m="http://schemas.openxmlformats.org/officeDocument/2006/math">
                    <m:sSub>
                      <m:sSubPr>
                        <m:ctrlPr>
                          <a:rPr lang="en-US" altLang="ko-KR" sz="2000" i="1">
                            <a:latin typeface="Cambria Math" panose="02040503050406030204" pitchFamily="18" charset="0"/>
                          </a:rPr>
                        </m:ctrlPr>
                      </m:sSubPr>
                      <m:e>
                        <m:r>
                          <a:rPr lang="en-US" altLang="ko-KR" sz="2000" i="1">
                            <a:latin typeface="Cambria Math" panose="02040503050406030204" pitchFamily="18" charset="0"/>
                          </a:rPr>
                          <m:t>𝐶</m:t>
                        </m:r>
                      </m:e>
                      <m:sub>
                        <m:r>
                          <a:rPr lang="en-US" altLang="ko-KR" sz="2000" b="0" i="1" smtClean="0">
                            <a:latin typeface="Cambria Math" panose="02040503050406030204" pitchFamily="18" charset="0"/>
                          </a:rPr>
                          <m:t>|</m:t>
                        </m:r>
                        <m:r>
                          <a:rPr lang="en-US" altLang="ko-KR" sz="2000" b="0" i="1" smtClean="0">
                            <a:latin typeface="Cambria Math" panose="02040503050406030204" pitchFamily="18" charset="0"/>
                          </a:rPr>
                          <m:t>𝑥</m:t>
                        </m:r>
                        <m:r>
                          <a:rPr lang="en-US" altLang="ko-KR" sz="2000" b="0" i="1" smtClean="0">
                            <a:latin typeface="Cambria Math" panose="02040503050406030204" pitchFamily="18" charset="0"/>
                          </a:rPr>
                          <m:t>|</m:t>
                        </m:r>
                      </m:sub>
                    </m:sSub>
                  </m:oMath>
                </a14:m>
                <a:r>
                  <a:rPr lang="en-US" altLang="ko-KR" sz="2000" dirty="0"/>
                  <a:t> such that </a:t>
                </a:r>
                <a14:m>
                  <m:oMath xmlns:m="http://schemas.openxmlformats.org/officeDocument/2006/math">
                    <m:sSub>
                      <m:sSubPr>
                        <m:ctrlPr>
                          <a:rPr lang="en-US" altLang="ko-KR" sz="2000" i="1">
                            <a:latin typeface="Cambria Math" panose="02040503050406030204" pitchFamily="18" charset="0"/>
                          </a:rPr>
                        </m:ctrlPr>
                      </m:sSubPr>
                      <m:e>
                        <m:r>
                          <a:rPr lang="en-US" altLang="ko-KR" sz="2000" i="1">
                            <a:latin typeface="Cambria Math" panose="02040503050406030204" pitchFamily="18" charset="0"/>
                          </a:rPr>
                          <m:t>𝐶</m:t>
                        </m:r>
                      </m:e>
                      <m:sub>
                        <m:r>
                          <a:rPr lang="en-US" altLang="ko-KR" sz="2000" b="0" i="1" smtClean="0">
                            <a:latin typeface="Cambria Math" panose="02040503050406030204" pitchFamily="18" charset="0"/>
                          </a:rPr>
                          <m:t>|</m:t>
                        </m:r>
                        <m:r>
                          <a:rPr lang="en-US" altLang="ko-KR" sz="2000" b="0" i="1" smtClean="0">
                            <a:latin typeface="Cambria Math" panose="02040503050406030204" pitchFamily="18" charset="0"/>
                          </a:rPr>
                          <m:t>𝑥</m:t>
                        </m:r>
                        <m:r>
                          <a:rPr lang="en-US" altLang="ko-KR" sz="2000" b="0" i="1" smtClean="0">
                            <a:latin typeface="Cambria Math" panose="02040503050406030204" pitchFamily="18" charset="0"/>
                          </a:rPr>
                          <m:t>|</m:t>
                        </m:r>
                      </m:sub>
                    </m:sSub>
                    <m:d>
                      <m:dPr>
                        <m:ctrlPr>
                          <a:rPr lang="en-US" altLang="ko-KR" sz="2000" i="1">
                            <a:latin typeface="Cambria Math" panose="02040503050406030204" pitchFamily="18" charset="0"/>
                          </a:rPr>
                        </m:ctrlPr>
                      </m:dPr>
                      <m:e>
                        <m:r>
                          <a:rPr lang="en-US" altLang="ko-KR" sz="2000" i="1">
                            <a:latin typeface="Cambria Math" panose="02040503050406030204" pitchFamily="18" charset="0"/>
                          </a:rPr>
                          <m:t>𝑥</m:t>
                        </m:r>
                      </m:e>
                    </m:d>
                    <m:r>
                      <a:rPr lang="en-US" altLang="ko-KR" sz="2000" i="1">
                        <a:latin typeface="Cambria Math" panose="02040503050406030204" pitchFamily="18" charset="0"/>
                      </a:rPr>
                      <m:t>=</m:t>
                    </m:r>
                    <m:r>
                      <a:rPr lang="en-US" altLang="ko-KR" sz="2000" b="0" i="1" smtClean="0">
                        <a:latin typeface="Cambria Math" panose="02040503050406030204" pitchFamily="18" charset="0"/>
                      </a:rPr>
                      <m:t>𝐿</m:t>
                    </m:r>
                    <m:r>
                      <a:rPr lang="en-US" altLang="ko-KR" sz="2000" i="1">
                        <a:latin typeface="Cambria Math" panose="02040503050406030204" pitchFamily="18" charset="0"/>
                      </a:rPr>
                      <m:t>(</m:t>
                    </m:r>
                    <m:r>
                      <a:rPr lang="en-US" altLang="ko-KR" sz="2000" i="1">
                        <a:latin typeface="Cambria Math" panose="02040503050406030204" pitchFamily="18" charset="0"/>
                      </a:rPr>
                      <m:t>𝑥</m:t>
                    </m:r>
                    <m:r>
                      <a:rPr lang="en-US" altLang="ko-KR" sz="2000" i="1">
                        <a:latin typeface="Cambria Math" panose="02040503050406030204" pitchFamily="18" charset="0"/>
                      </a:rPr>
                      <m:t>)</m:t>
                    </m:r>
                  </m:oMath>
                </a14:m>
                <a:endParaRPr lang="en-US" altLang="ko-KR" sz="2000" dirty="0" smtClean="0"/>
              </a:p>
              <a:p>
                <a:pPr marL="0" indent="0">
                  <a:buNone/>
                </a:pPr>
                <a:r>
                  <a:rPr lang="en-US" altLang="ko-KR" sz="2000" dirty="0" smtClean="0"/>
                  <a:t>Here we enforces that the circuit is generated in polynomial time!</a:t>
                </a:r>
              </a:p>
              <a:p>
                <a:pPr marL="0" indent="0">
                  <a:buNone/>
                </a:pPr>
                <a:endParaRPr lang="en-US" altLang="ko-KR" sz="2000" dirty="0"/>
              </a:p>
              <a:p>
                <a:pPr marL="0" indent="0">
                  <a:buNone/>
                </a:pPr>
                <a:r>
                  <a:rPr lang="en-US" altLang="ko-KR" sz="2000" dirty="0" smtClean="0"/>
                  <a:t>We </a:t>
                </a:r>
                <a:r>
                  <a:rPr lang="en-US" altLang="ko-KR" sz="2000" dirty="0"/>
                  <a:t>say a language </a:t>
                </a:r>
                <a14:m>
                  <m:oMath xmlns:m="http://schemas.openxmlformats.org/officeDocument/2006/math">
                    <m:r>
                      <a:rPr lang="en-US" altLang="ko-KR" sz="2000" i="1">
                        <a:latin typeface="Cambria Math" panose="02040503050406030204" pitchFamily="18" charset="0"/>
                      </a:rPr>
                      <m:t>𝐿</m:t>
                    </m:r>
                  </m:oMath>
                </a14:m>
                <a:r>
                  <a:rPr lang="en-US" altLang="ko-KR" sz="2000" dirty="0"/>
                  <a:t> is in </a:t>
                </a:r>
                <a:r>
                  <a:rPr lang="en-US" altLang="ko-KR" sz="2000" b="1" dirty="0" err="1" smtClean="0"/>
                  <a:t>RevP</a:t>
                </a:r>
                <a:r>
                  <a:rPr lang="en-US" altLang="ko-KR" sz="2000" dirty="0" smtClean="0"/>
                  <a:t> </a:t>
                </a:r>
                <a:r>
                  <a:rPr lang="en-US" altLang="ko-KR" sz="2000" dirty="0"/>
                  <a:t>if there is a </a:t>
                </a:r>
                <a:r>
                  <a:rPr lang="en-US" altLang="ko-KR" sz="2000" b="1" dirty="0"/>
                  <a:t>polynomial-time</a:t>
                </a:r>
                <a:r>
                  <a:rPr lang="en-US" altLang="ko-KR" sz="2000" dirty="0"/>
                  <a:t> algorithm </a:t>
                </a:r>
                <a14:m>
                  <m:oMath xmlns:m="http://schemas.openxmlformats.org/officeDocument/2006/math">
                    <m:r>
                      <a:rPr lang="en-US" altLang="ko-KR" sz="2000" i="1">
                        <a:latin typeface="Cambria Math" panose="02040503050406030204" pitchFamily="18" charset="0"/>
                      </a:rPr>
                      <m:t>𝑀</m:t>
                    </m:r>
                  </m:oMath>
                </a14:m>
                <a:r>
                  <a:rPr lang="en-US" altLang="ko-KR" sz="2000" dirty="0"/>
                  <a:t> such that:</a:t>
                </a:r>
              </a:p>
              <a:p>
                <a:r>
                  <a:rPr lang="en-US" altLang="ko-KR" sz="2000" dirty="0"/>
                  <a:t>For all x, </a:t>
                </a:r>
                <a14:m>
                  <m:oMath xmlns:m="http://schemas.openxmlformats.org/officeDocument/2006/math">
                    <m:r>
                      <a:rPr lang="en-US" altLang="ko-KR" sz="2000" i="1">
                        <a:latin typeface="Cambria Math" panose="02040503050406030204" pitchFamily="18" charset="0"/>
                      </a:rPr>
                      <m:t>𝑀</m:t>
                    </m:r>
                    <m:d>
                      <m:dPr>
                        <m:ctrlPr>
                          <a:rPr lang="en-US" altLang="ko-KR" sz="2000" i="1">
                            <a:latin typeface="Cambria Math" panose="02040503050406030204" pitchFamily="18" charset="0"/>
                          </a:rPr>
                        </m:ctrlPr>
                      </m:dPr>
                      <m:e>
                        <m:r>
                          <a:rPr lang="en-US" altLang="ko-KR" sz="2000" i="1">
                            <a:latin typeface="Cambria Math" panose="02040503050406030204" pitchFamily="18" charset="0"/>
                          </a:rPr>
                          <m:t>𝑥</m:t>
                        </m:r>
                      </m:e>
                    </m:d>
                  </m:oMath>
                </a14:m>
                <a:r>
                  <a:rPr lang="en-US" altLang="ko-KR" sz="2000" dirty="0"/>
                  <a:t> outputs a polynomial-size </a:t>
                </a:r>
                <a:r>
                  <a:rPr lang="en-US" altLang="ko-KR" sz="2000" b="1" dirty="0" smtClean="0"/>
                  <a:t>reversible</a:t>
                </a:r>
                <a:r>
                  <a:rPr lang="en-US" altLang="ko-KR" sz="2000" dirty="0" smtClean="0"/>
                  <a:t> circuit </a:t>
                </a:r>
                <a14:m>
                  <m:oMath xmlns:m="http://schemas.openxmlformats.org/officeDocument/2006/math">
                    <m:sSub>
                      <m:sSubPr>
                        <m:ctrlPr>
                          <a:rPr lang="en-US" altLang="ko-KR" sz="2000" i="1">
                            <a:latin typeface="Cambria Math" panose="02040503050406030204" pitchFamily="18" charset="0"/>
                          </a:rPr>
                        </m:ctrlPr>
                      </m:sSubPr>
                      <m:e>
                        <m:r>
                          <a:rPr lang="en-US" altLang="ko-KR" sz="2000" i="1">
                            <a:latin typeface="Cambria Math" panose="02040503050406030204" pitchFamily="18" charset="0"/>
                          </a:rPr>
                          <m:t>𝐶</m:t>
                        </m:r>
                      </m:e>
                      <m:sub>
                        <m:r>
                          <a:rPr lang="en-US" altLang="ko-KR" sz="2000" i="1">
                            <a:latin typeface="Cambria Math" panose="02040503050406030204" pitchFamily="18" charset="0"/>
                          </a:rPr>
                          <m:t>|</m:t>
                        </m:r>
                        <m:r>
                          <a:rPr lang="en-US" altLang="ko-KR" sz="2000" i="1">
                            <a:latin typeface="Cambria Math" panose="02040503050406030204" pitchFamily="18" charset="0"/>
                          </a:rPr>
                          <m:t>𝑥</m:t>
                        </m:r>
                        <m:r>
                          <a:rPr lang="en-US" altLang="ko-KR" sz="2000" i="1">
                            <a:latin typeface="Cambria Math" panose="02040503050406030204" pitchFamily="18" charset="0"/>
                          </a:rPr>
                          <m:t>|</m:t>
                        </m:r>
                      </m:sub>
                    </m:sSub>
                  </m:oMath>
                </a14:m>
                <a:r>
                  <a:rPr lang="en-US" altLang="ko-KR" sz="2000" dirty="0"/>
                  <a:t> such </a:t>
                </a:r>
                <a:r>
                  <a:rPr lang="en-US" altLang="ko-KR" sz="2000" dirty="0" smtClean="0"/>
                  <a:t>that</a:t>
                </a:r>
                <a:br>
                  <a:rPr lang="en-US" altLang="ko-KR" sz="2000" dirty="0" smtClean="0"/>
                </a:br>
                <a:r>
                  <a:rPr lang="en-US" altLang="ko-KR" sz="2000" dirty="0" smtClean="0"/>
                  <a:t>(the last bit of </a:t>
                </a:r>
                <a14:m>
                  <m:oMath xmlns:m="http://schemas.openxmlformats.org/officeDocument/2006/math">
                    <m:sSub>
                      <m:sSubPr>
                        <m:ctrlPr>
                          <a:rPr lang="en-US" altLang="ko-KR" sz="2000" i="1">
                            <a:latin typeface="Cambria Math" panose="02040503050406030204" pitchFamily="18" charset="0"/>
                          </a:rPr>
                        </m:ctrlPr>
                      </m:sSubPr>
                      <m:e>
                        <m:r>
                          <a:rPr lang="en-US" altLang="ko-KR" sz="2000" i="1">
                            <a:latin typeface="Cambria Math" panose="02040503050406030204" pitchFamily="18" charset="0"/>
                          </a:rPr>
                          <m:t>𝐶</m:t>
                        </m:r>
                      </m:e>
                      <m:sub>
                        <m:d>
                          <m:dPr>
                            <m:begChr m:val="|"/>
                            <m:endChr m:val="|"/>
                            <m:ctrlPr>
                              <a:rPr lang="en-US" altLang="ko-KR" sz="2000" i="1">
                                <a:latin typeface="Cambria Math" panose="02040503050406030204" pitchFamily="18" charset="0"/>
                              </a:rPr>
                            </m:ctrlPr>
                          </m:dPr>
                          <m:e>
                            <m:r>
                              <a:rPr lang="en-US" altLang="ko-KR" sz="2000" i="1">
                                <a:latin typeface="Cambria Math" panose="02040503050406030204" pitchFamily="18" charset="0"/>
                              </a:rPr>
                              <m:t>𝑥</m:t>
                            </m:r>
                          </m:e>
                        </m:d>
                      </m:sub>
                    </m:sSub>
                    <m:d>
                      <m:dPr>
                        <m:ctrlPr>
                          <a:rPr lang="en-US" altLang="ko-KR" sz="2000" b="0" i="1" smtClean="0">
                            <a:latin typeface="Cambria Math" panose="02040503050406030204" pitchFamily="18" charset="0"/>
                          </a:rPr>
                        </m:ctrlPr>
                      </m:dPr>
                      <m:e>
                        <m:r>
                          <a:rPr lang="en-US" altLang="ko-KR" sz="2000" b="0" i="1" smtClean="0">
                            <a:latin typeface="Cambria Math" panose="02040503050406030204" pitchFamily="18" charset="0"/>
                          </a:rPr>
                          <m:t>𝑥</m:t>
                        </m:r>
                      </m:e>
                    </m:d>
                  </m:oMath>
                </a14:m>
                <a:r>
                  <a:rPr lang="en-US" altLang="ko-KR" sz="2000" dirty="0" smtClean="0"/>
                  <a:t>)</a:t>
                </a:r>
                <a:r>
                  <a:rPr lang="en-US" altLang="ko-KR" sz="2000" dirty="0"/>
                  <a:t> </a:t>
                </a:r>
                <a14:m>
                  <m:oMath xmlns:m="http://schemas.openxmlformats.org/officeDocument/2006/math">
                    <m:r>
                      <a:rPr lang="en-US" altLang="ko-KR" sz="2000" i="1">
                        <a:latin typeface="Cambria Math" panose="02040503050406030204" pitchFamily="18" charset="0"/>
                      </a:rPr>
                      <m:t>=</m:t>
                    </m:r>
                    <m:r>
                      <a:rPr lang="en-US" altLang="ko-KR" sz="2000" b="0" i="1" smtClean="0">
                        <a:latin typeface="Cambria Math" panose="02040503050406030204" pitchFamily="18" charset="0"/>
                      </a:rPr>
                      <m:t>𝐿</m:t>
                    </m:r>
                    <m:r>
                      <a:rPr lang="en-US" altLang="ko-KR" sz="2000" i="1">
                        <a:latin typeface="Cambria Math" panose="02040503050406030204" pitchFamily="18" charset="0"/>
                      </a:rPr>
                      <m:t>(</m:t>
                    </m:r>
                    <m:r>
                      <a:rPr lang="en-US" altLang="ko-KR" sz="2000" i="1">
                        <a:latin typeface="Cambria Math" panose="02040503050406030204" pitchFamily="18" charset="0"/>
                      </a:rPr>
                      <m:t>𝑥</m:t>
                    </m:r>
                    <m:r>
                      <a:rPr lang="en-US" altLang="ko-KR" sz="2000" i="1">
                        <a:latin typeface="Cambria Math" panose="02040503050406030204" pitchFamily="18" charset="0"/>
                      </a:rPr>
                      <m:t>)</m:t>
                    </m:r>
                  </m:oMath>
                </a14:m>
                <a:endParaRPr lang="en-US" altLang="ko-KR" sz="2000" dirty="0"/>
              </a:p>
              <a:p>
                <a:pPr marL="0" indent="0">
                  <a:buNone/>
                </a:pPr>
                <a:endParaRPr lang="en-US" altLang="ko-KR" sz="2000" dirty="0" smtClean="0"/>
              </a:p>
              <a:p>
                <a:pPr marL="0" indent="0">
                  <a:buNone/>
                </a:pPr>
                <a:r>
                  <a:rPr lang="en-US" altLang="ko-KR" sz="2000" dirty="0" smtClean="0"/>
                  <a:t>The formal statement of “universal computation with reversible circuits”:</a:t>
                </a:r>
              </a:p>
              <a:p>
                <a:pPr marL="0" indent="0">
                  <a:buNone/>
                </a:pPr>
                <a:r>
                  <a:rPr lang="en-US" altLang="ko-KR" sz="2000" dirty="0" smtClean="0"/>
                  <a:t>[Theorem] There is a polynomial time algorithm that takes a (binary-output) circuit </a:t>
                </a:r>
                <a14:m>
                  <m:oMath xmlns:m="http://schemas.openxmlformats.org/officeDocument/2006/math">
                    <m:r>
                      <a:rPr lang="en-US" altLang="ko-KR" sz="2000" i="1">
                        <a:latin typeface="Cambria Math" panose="02040503050406030204" pitchFamily="18" charset="0"/>
                      </a:rPr>
                      <m:t>𝐶</m:t>
                    </m:r>
                  </m:oMath>
                </a14:m>
                <a:r>
                  <a:rPr lang="en-US" altLang="ko-KR" sz="2000" dirty="0" smtClean="0"/>
                  <a:t> as input and outputs a reversible circuit </a:t>
                </a:r>
                <a14:m>
                  <m:oMath xmlns:m="http://schemas.openxmlformats.org/officeDocument/2006/math">
                    <m:r>
                      <a:rPr lang="en-US" altLang="ko-KR" sz="2000" i="1">
                        <a:latin typeface="Cambria Math" panose="02040503050406030204" pitchFamily="18" charset="0"/>
                      </a:rPr>
                      <m:t>𝐶</m:t>
                    </m:r>
                    <m:r>
                      <a:rPr lang="en-US" altLang="ko-KR" sz="2000" b="0" i="1" smtClean="0">
                        <a:latin typeface="Cambria Math" panose="02040503050406030204" pitchFamily="18" charset="0"/>
                      </a:rPr>
                      <m:t>′</m:t>
                    </m:r>
                  </m:oMath>
                </a14:m>
                <a:r>
                  <a:rPr lang="en-US" altLang="ko-KR" sz="2000" dirty="0" smtClean="0"/>
                  <a:t> such that </a:t>
                </a:r>
                <a14:m>
                  <m:oMath xmlns:m="http://schemas.openxmlformats.org/officeDocument/2006/math">
                    <m:r>
                      <a:rPr lang="en-US" altLang="ko-KR" sz="2000" i="1">
                        <a:latin typeface="Cambria Math" panose="02040503050406030204" pitchFamily="18" charset="0"/>
                      </a:rPr>
                      <m:t>𝐶</m:t>
                    </m:r>
                    <m:d>
                      <m:dPr>
                        <m:ctrlPr>
                          <a:rPr lang="en-US" altLang="ko-KR" sz="2000" b="0" i="1" smtClean="0">
                            <a:latin typeface="Cambria Math" panose="02040503050406030204" pitchFamily="18" charset="0"/>
                          </a:rPr>
                        </m:ctrlPr>
                      </m:dPr>
                      <m:e>
                        <m:r>
                          <a:rPr lang="en-US" altLang="ko-KR" sz="2000" b="0" i="1" smtClean="0">
                            <a:latin typeface="Cambria Math" panose="02040503050406030204" pitchFamily="18" charset="0"/>
                          </a:rPr>
                          <m:t>𝑥</m:t>
                        </m:r>
                      </m:e>
                    </m:d>
                    <m:r>
                      <a:rPr lang="en-US" altLang="ko-KR" sz="2000" b="0" i="1" smtClean="0">
                        <a:latin typeface="Cambria Math" panose="02040503050406030204" pitchFamily="18" charset="0"/>
                      </a:rPr>
                      <m:t>=</m:t>
                    </m:r>
                    <m:r>
                      <m:rPr>
                        <m:nor/>
                      </m:rPr>
                      <a:rPr lang="en-US" altLang="ko-KR" sz="2000" dirty="0"/>
                      <m:t>(</m:t>
                    </m:r>
                    <m:r>
                      <m:rPr>
                        <m:nor/>
                      </m:rPr>
                      <a:rPr lang="en-US" altLang="ko-KR" sz="2000" dirty="0"/>
                      <m:t>the</m:t>
                    </m:r>
                    <m:r>
                      <m:rPr>
                        <m:nor/>
                      </m:rPr>
                      <a:rPr lang="en-US" altLang="ko-KR" sz="2000" dirty="0"/>
                      <m:t> </m:t>
                    </m:r>
                    <m:r>
                      <m:rPr>
                        <m:nor/>
                      </m:rPr>
                      <a:rPr lang="en-US" altLang="ko-KR" sz="2000" dirty="0"/>
                      <m:t>last</m:t>
                    </m:r>
                    <m:r>
                      <m:rPr>
                        <m:nor/>
                      </m:rPr>
                      <a:rPr lang="en-US" altLang="ko-KR" sz="2000" dirty="0"/>
                      <m:t> </m:t>
                    </m:r>
                    <m:r>
                      <m:rPr>
                        <m:nor/>
                      </m:rPr>
                      <a:rPr lang="en-US" altLang="ko-KR" sz="2000" dirty="0"/>
                      <m:t>bit</m:t>
                    </m:r>
                    <m:r>
                      <m:rPr>
                        <m:nor/>
                      </m:rPr>
                      <a:rPr lang="en-US" altLang="ko-KR" sz="2000" dirty="0"/>
                      <m:t> </m:t>
                    </m:r>
                    <m:r>
                      <m:rPr>
                        <m:nor/>
                      </m:rPr>
                      <a:rPr lang="en-US" altLang="ko-KR" sz="2000" dirty="0"/>
                      <m:t>of</m:t>
                    </m:r>
                    <m:r>
                      <m:rPr>
                        <m:nor/>
                      </m:rPr>
                      <a:rPr lang="en-US" altLang="ko-KR" sz="2000" dirty="0"/>
                      <m:t> </m:t>
                    </m:r>
                    <m:r>
                      <a:rPr lang="en-US" altLang="ko-KR" sz="2000" b="0" i="1" smtClean="0">
                        <a:latin typeface="Cambria Math" panose="02040503050406030204" pitchFamily="18" charset="0"/>
                      </a:rPr>
                      <m:t>𝐶</m:t>
                    </m:r>
                    <m:r>
                      <a:rPr lang="en-US" altLang="ko-KR" sz="2000" b="0" i="1" smtClean="0">
                        <a:latin typeface="Cambria Math" panose="02040503050406030204" pitchFamily="18" charset="0"/>
                      </a:rPr>
                      <m:t>′</m:t>
                    </m:r>
                    <m:d>
                      <m:dPr>
                        <m:ctrlPr>
                          <a:rPr lang="en-US" altLang="ko-KR" sz="2000" i="1">
                            <a:latin typeface="Cambria Math" panose="02040503050406030204" pitchFamily="18" charset="0"/>
                          </a:rPr>
                        </m:ctrlPr>
                      </m:dPr>
                      <m:e>
                        <m:r>
                          <a:rPr lang="en-US" altLang="ko-KR" sz="2000" i="1">
                            <a:latin typeface="Cambria Math" panose="02040503050406030204" pitchFamily="18" charset="0"/>
                          </a:rPr>
                          <m:t>𝑥</m:t>
                        </m:r>
                      </m:e>
                    </m:d>
                    <m:r>
                      <m:rPr>
                        <m:nor/>
                      </m:rPr>
                      <a:rPr lang="en-US" altLang="ko-KR" sz="2000" dirty="0"/>
                      <m:t>)</m:t>
                    </m:r>
                  </m:oMath>
                </a14:m>
                <a:r>
                  <a:rPr lang="en-US" altLang="ko-KR" sz="2000" dirty="0" smtClean="0"/>
                  <a:t> for all x</a:t>
                </a:r>
              </a:p>
              <a:p>
                <a:pPr marL="0" indent="0">
                  <a:buNone/>
                </a:pPr>
                <a:r>
                  <a:rPr lang="en-US" altLang="ko-KR" sz="2000" dirty="0" smtClean="0"/>
                  <a:t>[Corollary] </a:t>
                </a:r>
                <a:r>
                  <a:rPr lang="en-US" altLang="ko-KR" sz="2000" b="1" dirty="0" err="1" smtClean="0"/>
                  <a:t>RevP</a:t>
                </a:r>
                <a:r>
                  <a:rPr lang="en-US" altLang="ko-KR" sz="2000" dirty="0" smtClean="0"/>
                  <a:t>=</a:t>
                </a:r>
                <a:r>
                  <a:rPr lang="en-US" altLang="ko-KR" sz="2000" b="1" dirty="0" smtClean="0"/>
                  <a:t>P</a:t>
                </a:r>
              </a:p>
            </p:txBody>
          </p:sp>
        </mc:Choice>
        <mc:Fallback xmlns="">
          <p:sp>
            <p:nvSpPr>
              <p:cNvPr id="3" name="내용 개체 틀 2"/>
              <p:cNvSpPr>
                <a:spLocks noGrp="1" noRot="1" noChangeAspect="1" noMove="1" noResize="1" noEditPoints="1" noAdjustHandles="1" noChangeArrowheads="1" noChangeShapeType="1" noTextEdit="1"/>
              </p:cNvSpPr>
              <p:nvPr>
                <p:ph idx="1"/>
              </p:nvPr>
            </p:nvSpPr>
            <p:spPr>
              <a:blipFill>
                <a:blip r:embed="rId2"/>
                <a:stretch>
                  <a:fillRect l="-580" t="-2101" r="-1043"/>
                </a:stretch>
              </a:blipFill>
            </p:spPr>
            <p:txBody>
              <a:bodyPr/>
              <a:lstStyle/>
              <a:p>
                <a:r>
                  <a:rPr lang="ko-KR" altLang="en-US">
                    <a:noFill/>
                  </a:rPr>
                  <a:t> </a:t>
                </a:r>
              </a:p>
            </p:txBody>
          </p:sp>
        </mc:Fallback>
      </mc:AlternateContent>
      <p:sp>
        <p:nvSpPr>
          <p:cNvPr id="6" name="직사각형 5"/>
          <p:cNvSpPr/>
          <p:nvPr/>
        </p:nvSpPr>
        <p:spPr>
          <a:xfrm>
            <a:off x="4885031" y="1158186"/>
            <a:ext cx="1023456" cy="360727"/>
          </a:xfrm>
          <a:prstGeom prst="rect">
            <a:avLst/>
          </a:prstGeom>
          <a:solidFill>
            <a:srgbClr val="FF0000"/>
          </a:solidFill>
        </p:spPr>
        <p:style>
          <a:lnRef idx="2">
            <a:schemeClr val="accent2">
              <a:shade val="50000"/>
            </a:schemeClr>
          </a:lnRef>
          <a:fillRef idx="1">
            <a:schemeClr val="accent2"/>
          </a:fillRef>
          <a:effectRef idx="0">
            <a:schemeClr val="accent2"/>
          </a:effectRef>
          <a:fontRef idx="minor">
            <a:schemeClr val="lt1"/>
          </a:fontRef>
        </p:style>
        <p:txBody>
          <a:bodyPr rtlCol="0" anchor="ctr"/>
          <a:lstStyle/>
          <a:p>
            <a:pPr algn="ctr"/>
            <a:r>
              <a:rPr lang="en-US" altLang="ko-KR" sz="1400" dirty="0" smtClean="0"/>
              <a:t>advanced</a:t>
            </a:r>
          </a:p>
        </p:txBody>
      </p:sp>
      <p:sp>
        <p:nvSpPr>
          <p:cNvPr id="4" name="모서리가 둥근 사각형 설명선 3"/>
          <p:cNvSpPr/>
          <p:nvPr/>
        </p:nvSpPr>
        <p:spPr>
          <a:xfrm>
            <a:off x="8707773" y="2777010"/>
            <a:ext cx="2869035" cy="377250"/>
          </a:xfrm>
          <a:prstGeom prst="wedgeRoundRectCallout">
            <a:avLst>
              <a:gd name="adj1" fmla="val -35151"/>
              <a:gd name="adj2" fmla="val -95054"/>
              <a:gd name="adj3" fmla="val 16667"/>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ko-KR" dirty="0" smtClean="0"/>
              <a:t>This will be convenient</a:t>
            </a:r>
            <a:endParaRPr lang="ko-KR" altLang="en-US" dirty="0"/>
          </a:p>
        </p:txBody>
      </p:sp>
      <p:sp>
        <p:nvSpPr>
          <p:cNvPr id="7" name="직사각형 6"/>
          <p:cNvSpPr/>
          <p:nvPr/>
        </p:nvSpPr>
        <p:spPr>
          <a:xfrm>
            <a:off x="6905538" y="639121"/>
            <a:ext cx="1023456" cy="429936"/>
          </a:xfrm>
          <a:prstGeom prst="rect">
            <a:avLst/>
          </a:prstGeom>
        </p:spPr>
        <p:style>
          <a:lnRef idx="2">
            <a:schemeClr val="accent2">
              <a:shade val="50000"/>
            </a:schemeClr>
          </a:lnRef>
          <a:fillRef idx="1">
            <a:schemeClr val="accent2"/>
          </a:fillRef>
          <a:effectRef idx="0">
            <a:schemeClr val="accent2"/>
          </a:effectRef>
          <a:fontRef idx="minor">
            <a:schemeClr val="lt1"/>
          </a:fontRef>
        </p:style>
        <p:txBody>
          <a:bodyPr rtlCol="0" anchor="ctr"/>
          <a:lstStyle/>
          <a:p>
            <a:pPr algn="ctr"/>
            <a:r>
              <a:rPr lang="en-US" altLang="ko-KR" sz="1400" dirty="0" smtClean="0"/>
              <a:t>Slightly advanced</a:t>
            </a:r>
            <a:endParaRPr lang="ko-KR" altLang="en-US" sz="1400" dirty="0"/>
          </a:p>
        </p:txBody>
      </p:sp>
    </p:spTree>
    <p:extLst>
      <p:ext uri="{BB962C8B-B14F-4D97-AF65-F5344CB8AC3E}">
        <p14:creationId xmlns:p14="http://schemas.microsoft.com/office/powerpoint/2010/main" val="36232648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3">
                                            <p:txEl>
                                              <p:pRg st="1" end="1"/>
                                            </p:txEl>
                                          </p:spTgt>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4"/>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
                                            <p:txEl>
                                              <p:pRg st="4" end="4"/>
                                            </p:txEl>
                                          </p:spTgt>
                                        </p:tgtEl>
                                        <p:attrNameLst>
                                          <p:attrName>style.visibility</p:attrName>
                                        </p:attrNameLst>
                                      </p:cBhvr>
                                      <p:to>
                                        <p:strVal val="visible"/>
                                      </p:to>
                                    </p:set>
                                  </p:childTnLst>
                                </p:cTn>
                              </p:par>
                              <p:par>
                                <p:cTn id="19" presetID="1" presetClass="entr" presetSubtype="0" fill="hold" nodeType="withEffect">
                                  <p:stCondLst>
                                    <p:cond delay="0"/>
                                  </p:stCondLst>
                                  <p:childTnLst>
                                    <p:set>
                                      <p:cBhvr>
                                        <p:cTn id="20"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nodeType="clickEffect">
                                  <p:stCondLst>
                                    <p:cond delay="0"/>
                                  </p:stCondLst>
                                  <p:childTnLst>
                                    <p:set>
                                      <p:cBhvr>
                                        <p:cTn id="24" dur="1" fill="hold">
                                          <p:stCondLst>
                                            <p:cond delay="0"/>
                                          </p:stCondLst>
                                        </p:cTn>
                                        <p:tgtEl>
                                          <p:spTgt spid="3">
                                            <p:txEl>
                                              <p:pRg st="7" end="7"/>
                                            </p:txEl>
                                          </p:spTgt>
                                        </p:tgtEl>
                                        <p:attrNameLst>
                                          <p:attrName>style.visibility</p:attrName>
                                        </p:attrNameLst>
                                      </p:cBhvr>
                                      <p:to>
                                        <p:strVal val="visible"/>
                                      </p:to>
                                    </p:set>
                                  </p:childTnLst>
                                </p:cTn>
                              </p:par>
                            </p:childTnLst>
                          </p:cTn>
                        </p:par>
                      </p:childTnLst>
                    </p:cTn>
                  </p:par>
                  <p:par>
                    <p:cTn id="25" fill="hold">
                      <p:stCondLst>
                        <p:cond delay="indefinite"/>
                      </p:stCondLst>
                      <p:childTnLst>
                        <p:par>
                          <p:cTn id="26" fill="hold">
                            <p:stCondLst>
                              <p:cond delay="0"/>
                            </p:stCondLst>
                            <p:childTnLst>
                              <p:par>
                                <p:cTn id="27" presetID="1" presetClass="entr" presetSubtype="0" fill="hold" nodeType="clickEffect">
                                  <p:stCondLst>
                                    <p:cond delay="0"/>
                                  </p:stCondLst>
                                  <p:childTnLst>
                                    <p:set>
                                      <p:cBhvr>
                                        <p:cTn id="28" dur="1" fill="hold">
                                          <p:stCondLst>
                                            <p:cond delay="0"/>
                                          </p:stCondLst>
                                        </p:cTn>
                                        <p:tgtEl>
                                          <p:spTgt spid="3">
                                            <p:txEl>
                                              <p:pRg st="8" end="8"/>
                                            </p:txEl>
                                          </p:spTgt>
                                        </p:tgtEl>
                                        <p:attrNameLst>
                                          <p:attrName>style.visibility</p:attrName>
                                        </p:attrNameLst>
                                      </p:cBhvr>
                                      <p:to>
                                        <p:strVal val="visible"/>
                                      </p:to>
                                    </p:set>
                                  </p:childTnLst>
                                </p:cTn>
                              </p:par>
                            </p:childTnLst>
                          </p:cTn>
                        </p:par>
                      </p:childTnLst>
                    </p:cTn>
                  </p:par>
                  <p:par>
                    <p:cTn id="29" fill="hold">
                      <p:stCondLst>
                        <p:cond delay="indefinite"/>
                      </p:stCondLst>
                      <p:childTnLst>
                        <p:par>
                          <p:cTn id="30" fill="hold">
                            <p:stCondLst>
                              <p:cond delay="0"/>
                            </p:stCondLst>
                            <p:childTnLst>
                              <p:par>
                                <p:cTn id="31" presetID="1" presetClass="entr" presetSubtype="0" fill="hold" nodeType="clickEffect">
                                  <p:stCondLst>
                                    <p:cond delay="0"/>
                                  </p:stCondLst>
                                  <p:childTnLst>
                                    <p:set>
                                      <p:cBhvr>
                                        <p:cTn id="32" dur="1" fill="hold">
                                          <p:stCondLst>
                                            <p:cond delay="0"/>
                                          </p:stCondLst>
                                        </p:cTn>
                                        <p:tgtEl>
                                          <p:spTgt spid="3">
                                            <p:txEl>
                                              <p:pRg st="9" end="9"/>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Lst>
  </p:timing>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제목 1"/>
          <p:cNvSpPr>
            <a:spLocks noGrp="1"/>
          </p:cNvSpPr>
          <p:nvPr>
            <p:ph type="title"/>
          </p:nvPr>
        </p:nvSpPr>
        <p:spPr/>
        <p:txBody>
          <a:bodyPr/>
          <a:lstStyle/>
          <a:p>
            <a:r>
              <a:rPr lang="en-US" altLang="ko-KR" dirty="0" smtClean="0"/>
              <a:t>Other complexity notions</a:t>
            </a:r>
            <a:endParaRPr lang="ko-KR" altLang="en-US" dirty="0"/>
          </a:p>
        </p:txBody>
      </p:sp>
      <mc:AlternateContent xmlns:mc="http://schemas.openxmlformats.org/markup-compatibility/2006" xmlns:a14="http://schemas.microsoft.com/office/drawing/2010/main">
        <mc:Choice Requires="a14">
          <p:sp>
            <p:nvSpPr>
              <p:cNvPr id="3" name="내용 개체 틀 2"/>
              <p:cNvSpPr>
                <a:spLocks noGrp="1"/>
              </p:cNvSpPr>
              <p:nvPr>
                <p:ph idx="1"/>
              </p:nvPr>
            </p:nvSpPr>
            <p:spPr/>
            <p:txBody>
              <a:bodyPr>
                <a:normAutofit/>
              </a:bodyPr>
              <a:lstStyle/>
              <a:p>
                <a:pPr marL="0" indent="0">
                  <a:buNone/>
                </a:pPr>
                <a:r>
                  <a:rPr lang="en-US" altLang="ko-KR" sz="1800" dirty="0" smtClean="0"/>
                  <a:t>We say a language </a:t>
                </a:r>
                <a14:m>
                  <m:oMath xmlns:m="http://schemas.openxmlformats.org/officeDocument/2006/math">
                    <m:r>
                      <a:rPr lang="en-US" altLang="ko-KR" sz="1800" i="1">
                        <a:latin typeface="Cambria Math" panose="02040503050406030204" pitchFamily="18" charset="0"/>
                      </a:rPr>
                      <m:t>𝐿</m:t>
                    </m:r>
                  </m:oMath>
                </a14:m>
                <a:r>
                  <a:rPr lang="en-US" altLang="ko-KR" sz="1800" dirty="0"/>
                  <a:t> is in </a:t>
                </a:r>
                <a:r>
                  <a:rPr lang="en-US" altLang="ko-KR" sz="1800" b="1" dirty="0" smtClean="0"/>
                  <a:t>P/poly</a:t>
                </a:r>
                <a:r>
                  <a:rPr lang="en-US" altLang="ko-KR" sz="1800" dirty="0" smtClean="0"/>
                  <a:t> </a:t>
                </a:r>
                <a:r>
                  <a:rPr lang="en-US" altLang="ko-KR" sz="1800" dirty="0"/>
                  <a:t>if there is </a:t>
                </a:r>
                <a:r>
                  <a:rPr lang="en-US" altLang="ko-KR" sz="1800" dirty="0" smtClean="0"/>
                  <a:t>a </a:t>
                </a:r>
                <a:r>
                  <a:rPr lang="en-US" altLang="ko-KR" sz="1800" b="1" dirty="0" smtClean="0"/>
                  <a:t>family of circuits </a:t>
                </a:r>
                <a14:m>
                  <m:oMath xmlns:m="http://schemas.openxmlformats.org/officeDocument/2006/math">
                    <m:sSub>
                      <m:sSubPr>
                        <m:ctrlPr>
                          <a:rPr lang="en-US" altLang="ko-KR" sz="1800" b="0" i="1" smtClean="0">
                            <a:latin typeface="Cambria Math" panose="02040503050406030204" pitchFamily="18" charset="0"/>
                          </a:rPr>
                        </m:ctrlPr>
                      </m:sSubPr>
                      <m:e>
                        <m:d>
                          <m:dPr>
                            <m:begChr m:val="{"/>
                            <m:endChr m:val="}"/>
                            <m:ctrlPr>
                              <a:rPr lang="en-US" altLang="ko-KR" sz="1800" b="1" i="1" smtClean="0">
                                <a:latin typeface="Cambria Math" panose="02040503050406030204" pitchFamily="18" charset="0"/>
                              </a:rPr>
                            </m:ctrlPr>
                          </m:dPr>
                          <m:e>
                            <m:sSub>
                              <m:sSubPr>
                                <m:ctrlPr>
                                  <a:rPr lang="en-US" altLang="ko-KR" sz="1800" b="0" i="1" smtClean="0">
                                    <a:latin typeface="Cambria Math" panose="02040503050406030204" pitchFamily="18" charset="0"/>
                                  </a:rPr>
                                </m:ctrlPr>
                              </m:sSubPr>
                              <m:e>
                                <m:r>
                                  <a:rPr lang="en-US" altLang="ko-KR" sz="1800" i="1">
                                    <a:latin typeface="Cambria Math" panose="02040503050406030204" pitchFamily="18" charset="0"/>
                                  </a:rPr>
                                  <m:t>𝐶</m:t>
                                </m:r>
                              </m:e>
                              <m:sub>
                                <m:r>
                                  <a:rPr lang="en-US" altLang="ko-KR" sz="1800" b="0" i="1" smtClean="0">
                                    <a:latin typeface="Cambria Math" panose="02040503050406030204" pitchFamily="18" charset="0"/>
                                  </a:rPr>
                                  <m:t>𝑛</m:t>
                                </m:r>
                              </m:sub>
                            </m:sSub>
                          </m:e>
                        </m:d>
                      </m:e>
                      <m:sub>
                        <m:r>
                          <a:rPr lang="en-US" altLang="ko-KR" sz="1800" b="0" i="1" smtClean="0">
                            <a:latin typeface="Cambria Math" panose="02040503050406030204" pitchFamily="18" charset="0"/>
                          </a:rPr>
                          <m:t>𝑛</m:t>
                        </m:r>
                        <m:r>
                          <a:rPr lang="en-US" altLang="ko-KR" sz="1800" b="0" i="1" smtClean="0">
                            <a:latin typeface="Cambria Math" panose="02040503050406030204" pitchFamily="18" charset="0"/>
                          </a:rPr>
                          <m:t>∈</m:t>
                        </m:r>
                        <m:r>
                          <a:rPr lang="en-US" altLang="ko-KR" sz="1800" b="1" i="1" smtClean="0">
                            <a:solidFill>
                              <a:schemeClr val="tx1"/>
                            </a:solidFill>
                            <a:latin typeface="Cambria Math" panose="02040503050406030204" pitchFamily="18" charset="0"/>
                            <a:ea typeface="Cambria Math" panose="02040503050406030204" pitchFamily="18" charset="0"/>
                          </a:rPr>
                          <m:t>ℕ</m:t>
                        </m:r>
                      </m:sub>
                    </m:sSub>
                  </m:oMath>
                </a14:m>
                <a:r>
                  <a:rPr lang="en-US" altLang="ko-KR" sz="1800" dirty="0" smtClean="0"/>
                  <a:t> such </a:t>
                </a:r>
                <a:r>
                  <a:rPr lang="en-US" altLang="ko-KR" sz="1800" dirty="0"/>
                  <a:t>that:</a:t>
                </a:r>
              </a:p>
              <a:p>
                <a:r>
                  <a:rPr lang="en-US" altLang="ko-KR" sz="1800" dirty="0" smtClean="0"/>
                  <a:t>The size of </a:t>
                </a:r>
                <a14:m>
                  <m:oMath xmlns:m="http://schemas.openxmlformats.org/officeDocument/2006/math">
                    <m:sSub>
                      <m:sSubPr>
                        <m:ctrlPr>
                          <a:rPr lang="en-US" altLang="ko-KR" sz="1800" i="1">
                            <a:latin typeface="Cambria Math" panose="02040503050406030204" pitchFamily="18" charset="0"/>
                          </a:rPr>
                        </m:ctrlPr>
                      </m:sSubPr>
                      <m:e>
                        <m:r>
                          <a:rPr lang="en-US" altLang="ko-KR" sz="1800" i="1">
                            <a:latin typeface="Cambria Math" panose="02040503050406030204" pitchFamily="18" charset="0"/>
                          </a:rPr>
                          <m:t>𝐶</m:t>
                        </m:r>
                      </m:e>
                      <m:sub>
                        <m:r>
                          <a:rPr lang="en-US" altLang="ko-KR" sz="1800" i="1">
                            <a:latin typeface="Cambria Math" panose="02040503050406030204" pitchFamily="18" charset="0"/>
                          </a:rPr>
                          <m:t>𝑛</m:t>
                        </m:r>
                      </m:sub>
                    </m:sSub>
                  </m:oMath>
                </a14:m>
                <a:r>
                  <a:rPr lang="en-US" altLang="ko-KR" sz="1800" dirty="0" smtClean="0"/>
                  <a:t> grows </a:t>
                </a:r>
                <a:r>
                  <a:rPr lang="en-US" altLang="ko-KR" sz="1800" dirty="0" err="1" smtClean="0"/>
                  <a:t>polynomially</a:t>
                </a:r>
                <a:r>
                  <a:rPr lang="en-US" altLang="ko-KR" sz="1800" dirty="0" smtClean="0"/>
                  <a:t> in </a:t>
                </a:r>
                <a14:m>
                  <m:oMath xmlns:m="http://schemas.openxmlformats.org/officeDocument/2006/math">
                    <m:r>
                      <a:rPr lang="en-US" altLang="ko-KR" sz="1800" b="0" i="1" smtClean="0">
                        <a:latin typeface="Cambria Math" panose="02040503050406030204" pitchFamily="18" charset="0"/>
                      </a:rPr>
                      <m:t>𝑛</m:t>
                    </m:r>
                  </m:oMath>
                </a14:m>
                <a:r>
                  <a:rPr lang="en-US" altLang="ko-KR" sz="1800" dirty="0" smtClean="0"/>
                  <a:t> (i.e. C is polynomial-size circuits)</a:t>
                </a:r>
              </a:p>
              <a:p>
                <a14:m>
                  <m:oMath xmlns:m="http://schemas.openxmlformats.org/officeDocument/2006/math">
                    <m:sSub>
                      <m:sSubPr>
                        <m:ctrlPr>
                          <a:rPr lang="en-US" altLang="ko-KR" sz="1800" i="1">
                            <a:latin typeface="Cambria Math" panose="02040503050406030204" pitchFamily="18" charset="0"/>
                          </a:rPr>
                        </m:ctrlPr>
                      </m:sSubPr>
                      <m:e>
                        <m:r>
                          <a:rPr lang="en-US" altLang="ko-KR" sz="1800" i="1">
                            <a:latin typeface="Cambria Math" panose="02040503050406030204" pitchFamily="18" charset="0"/>
                          </a:rPr>
                          <m:t>𝐶</m:t>
                        </m:r>
                      </m:e>
                      <m:sub>
                        <m:d>
                          <m:dPr>
                            <m:begChr m:val="|"/>
                            <m:endChr m:val="|"/>
                            <m:ctrlPr>
                              <a:rPr lang="en-US" altLang="ko-KR" sz="1800" b="0" i="1" smtClean="0">
                                <a:latin typeface="Cambria Math" panose="02040503050406030204" pitchFamily="18" charset="0"/>
                              </a:rPr>
                            </m:ctrlPr>
                          </m:dPr>
                          <m:e>
                            <m:r>
                              <a:rPr lang="en-US" altLang="ko-KR" sz="1800" b="0" i="1" smtClean="0">
                                <a:latin typeface="Cambria Math" panose="02040503050406030204" pitchFamily="18" charset="0"/>
                              </a:rPr>
                              <m:t>𝑥</m:t>
                            </m:r>
                          </m:e>
                        </m:d>
                      </m:sub>
                    </m:sSub>
                    <m:d>
                      <m:dPr>
                        <m:ctrlPr>
                          <a:rPr lang="en-US" altLang="ko-KR" sz="1800" b="0" i="1" smtClean="0">
                            <a:latin typeface="Cambria Math" panose="02040503050406030204" pitchFamily="18" charset="0"/>
                          </a:rPr>
                        </m:ctrlPr>
                      </m:dPr>
                      <m:e>
                        <m:r>
                          <a:rPr lang="en-US" altLang="ko-KR" sz="1800" b="0" i="1" smtClean="0">
                            <a:latin typeface="Cambria Math" panose="02040503050406030204" pitchFamily="18" charset="0"/>
                          </a:rPr>
                          <m:t>𝑥</m:t>
                        </m:r>
                      </m:e>
                    </m:d>
                    <m:r>
                      <a:rPr lang="en-US" altLang="ko-KR" sz="1800" b="0" i="1" smtClean="0">
                        <a:latin typeface="Cambria Math" panose="02040503050406030204" pitchFamily="18" charset="0"/>
                      </a:rPr>
                      <m:t>=</m:t>
                    </m:r>
                    <m:r>
                      <a:rPr lang="en-US" altLang="ko-KR" sz="1800" b="0" i="1" smtClean="0">
                        <a:latin typeface="Cambria Math" panose="02040503050406030204" pitchFamily="18" charset="0"/>
                      </a:rPr>
                      <m:t>𝐿</m:t>
                    </m:r>
                    <m:r>
                      <a:rPr lang="en-US" altLang="ko-KR" sz="1800" b="0" i="1" smtClean="0">
                        <a:latin typeface="Cambria Math" panose="02040503050406030204" pitchFamily="18" charset="0"/>
                      </a:rPr>
                      <m:t>(</m:t>
                    </m:r>
                    <m:r>
                      <a:rPr lang="en-US" altLang="ko-KR" sz="1800" b="0" i="1" smtClean="0">
                        <a:latin typeface="Cambria Math" panose="02040503050406030204" pitchFamily="18" charset="0"/>
                      </a:rPr>
                      <m:t>𝑥</m:t>
                    </m:r>
                    <m:r>
                      <a:rPr lang="en-US" altLang="ko-KR" sz="1800" b="0" i="1" smtClean="0">
                        <a:latin typeface="Cambria Math" panose="02040503050406030204" pitchFamily="18" charset="0"/>
                      </a:rPr>
                      <m:t>)</m:t>
                    </m:r>
                  </m:oMath>
                </a14:m>
                <a:endParaRPr lang="en-US" altLang="ko-KR" sz="1800" dirty="0" smtClean="0"/>
              </a:p>
              <a:p>
                <a:pPr marL="0" indent="0">
                  <a:buNone/>
                </a:pPr>
                <a:endParaRPr lang="en-US" altLang="ko-KR" sz="1800" dirty="0"/>
              </a:p>
              <a:p>
                <a:pPr marL="0" indent="0">
                  <a:buNone/>
                </a:pPr>
                <a:r>
                  <a:rPr lang="en-US" altLang="ko-KR" sz="1800" dirty="0" smtClean="0"/>
                  <a:t>We </a:t>
                </a:r>
                <a:r>
                  <a:rPr lang="en-US" altLang="ko-KR" sz="1800" dirty="0"/>
                  <a:t>say a language </a:t>
                </a:r>
                <a14:m>
                  <m:oMath xmlns:m="http://schemas.openxmlformats.org/officeDocument/2006/math">
                    <m:r>
                      <a:rPr lang="en-US" altLang="ko-KR" sz="1800" i="1">
                        <a:latin typeface="Cambria Math" panose="02040503050406030204" pitchFamily="18" charset="0"/>
                      </a:rPr>
                      <m:t>𝐿</m:t>
                    </m:r>
                  </m:oMath>
                </a14:m>
                <a:r>
                  <a:rPr lang="en-US" altLang="ko-KR" sz="1800" dirty="0"/>
                  <a:t> is in </a:t>
                </a:r>
                <a:r>
                  <a:rPr lang="en-US" altLang="ko-KR" sz="1800" b="1" dirty="0" smtClean="0"/>
                  <a:t>NP</a:t>
                </a:r>
                <a:r>
                  <a:rPr lang="en-US" altLang="ko-KR" sz="1800" dirty="0" smtClean="0"/>
                  <a:t> </a:t>
                </a:r>
                <a:r>
                  <a:rPr lang="en-US" altLang="ko-KR" sz="1800" dirty="0"/>
                  <a:t>if there is a polynomial-time algorithm </a:t>
                </a:r>
                <a14:m>
                  <m:oMath xmlns:m="http://schemas.openxmlformats.org/officeDocument/2006/math">
                    <m:r>
                      <a:rPr lang="en-US" altLang="ko-KR" sz="1800" i="1">
                        <a:latin typeface="Cambria Math" panose="02040503050406030204" pitchFamily="18" charset="0"/>
                      </a:rPr>
                      <m:t>𝑀</m:t>
                    </m:r>
                  </m:oMath>
                </a14:m>
                <a:r>
                  <a:rPr lang="en-US" altLang="ko-KR" sz="1800" dirty="0"/>
                  <a:t> such that:</a:t>
                </a:r>
              </a:p>
              <a:p>
                <a:r>
                  <a:rPr lang="en-US" altLang="ko-KR" sz="1800" dirty="0"/>
                  <a:t>For all </a:t>
                </a:r>
                <a14:m>
                  <m:oMath xmlns:m="http://schemas.openxmlformats.org/officeDocument/2006/math">
                    <m:r>
                      <a:rPr lang="en-US" altLang="ko-KR" sz="1800" b="0" i="1" smtClean="0">
                        <a:latin typeface="Cambria Math" panose="02040503050406030204" pitchFamily="18" charset="0"/>
                      </a:rPr>
                      <m:t>𝑥</m:t>
                    </m:r>
                    <m:r>
                      <a:rPr lang="en-US" altLang="ko-KR" sz="1800" b="0" i="1" smtClean="0">
                        <a:latin typeface="Cambria Math" panose="02040503050406030204" pitchFamily="18" charset="0"/>
                      </a:rPr>
                      <m:t>∈</m:t>
                    </m:r>
                    <m:r>
                      <a:rPr lang="en-US" altLang="ko-KR" sz="1800" b="0" i="1" smtClean="0">
                        <a:latin typeface="Cambria Math" panose="02040503050406030204" pitchFamily="18" charset="0"/>
                      </a:rPr>
                      <m:t>𝐿</m:t>
                    </m:r>
                  </m:oMath>
                </a14:m>
                <a:r>
                  <a:rPr lang="en-US" altLang="ko-KR" sz="1800" dirty="0" smtClean="0"/>
                  <a:t>, there is y such that </a:t>
                </a:r>
                <a14:m>
                  <m:oMath xmlns:m="http://schemas.openxmlformats.org/officeDocument/2006/math">
                    <m:r>
                      <a:rPr lang="en-US" altLang="ko-KR" sz="1800" i="1">
                        <a:latin typeface="Cambria Math" panose="02040503050406030204" pitchFamily="18" charset="0"/>
                      </a:rPr>
                      <m:t>𝑀</m:t>
                    </m:r>
                    <m:d>
                      <m:dPr>
                        <m:ctrlPr>
                          <a:rPr lang="en-US" altLang="ko-KR" sz="1800" i="1">
                            <a:latin typeface="Cambria Math" panose="02040503050406030204" pitchFamily="18" charset="0"/>
                          </a:rPr>
                        </m:ctrlPr>
                      </m:dPr>
                      <m:e>
                        <m:r>
                          <a:rPr lang="en-US" altLang="ko-KR" sz="1800" i="1">
                            <a:latin typeface="Cambria Math" panose="02040503050406030204" pitchFamily="18" charset="0"/>
                          </a:rPr>
                          <m:t>𝑥</m:t>
                        </m:r>
                        <m:r>
                          <a:rPr lang="en-US" altLang="ko-KR" sz="1800" b="0" i="1" smtClean="0">
                            <a:latin typeface="Cambria Math" panose="02040503050406030204" pitchFamily="18" charset="0"/>
                          </a:rPr>
                          <m:t>,</m:t>
                        </m:r>
                        <m:r>
                          <a:rPr lang="en-US" altLang="ko-KR" sz="1800" b="0" i="1" smtClean="0">
                            <a:latin typeface="Cambria Math" panose="02040503050406030204" pitchFamily="18" charset="0"/>
                          </a:rPr>
                          <m:t>𝑦</m:t>
                        </m:r>
                      </m:e>
                    </m:d>
                    <m:r>
                      <a:rPr lang="en-US" altLang="ko-KR" sz="1800" b="0" i="1" smtClean="0">
                        <a:latin typeface="Cambria Math" panose="02040503050406030204" pitchFamily="18" charset="0"/>
                      </a:rPr>
                      <m:t>→1</m:t>
                    </m:r>
                  </m:oMath>
                </a14:m>
                <a:endParaRPr lang="en-US" altLang="ko-KR" sz="1800" dirty="0" smtClean="0"/>
              </a:p>
              <a:p>
                <a:r>
                  <a:rPr lang="en-US" altLang="ko-KR" sz="1800" dirty="0" smtClean="0"/>
                  <a:t>For all </a:t>
                </a:r>
                <a14:m>
                  <m:oMath xmlns:m="http://schemas.openxmlformats.org/officeDocument/2006/math">
                    <m:r>
                      <a:rPr lang="en-US" altLang="ko-KR" sz="1800" i="1">
                        <a:latin typeface="Cambria Math" panose="02040503050406030204" pitchFamily="18" charset="0"/>
                      </a:rPr>
                      <m:t>𝑥</m:t>
                    </m:r>
                    <m:r>
                      <a:rPr lang="en-US" altLang="ko-KR" sz="1800" b="0" i="1" smtClean="0">
                        <a:latin typeface="Cambria Math" panose="02040503050406030204" pitchFamily="18" charset="0"/>
                      </a:rPr>
                      <m:t>∉</m:t>
                    </m:r>
                    <m:r>
                      <a:rPr lang="en-US" altLang="ko-KR" sz="1800" i="1">
                        <a:latin typeface="Cambria Math" panose="02040503050406030204" pitchFamily="18" charset="0"/>
                      </a:rPr>
                      <m:t>𝐿</m:t>
                    </m:r>
                  </m:oMath>
                </a14:m>
                <a:r>
                  <a:rPr lang="en-US" altLang="ko-KR" sz="1800" dirty="0" smtClean="0"/>
                  <a:t>, </a:t>
                </a:r>
                <a14:m>
                  <m:oMath xmlns:m="http://schemas.openxmlformats.org/officeDocument/2006/math">
                    <m:r>
                      <a:rPr lang="en-US" altLang="ko-KR" sz="1800" i="1">
                        <a:latin typeface="Cambria Math" panose="02040503050406030204" pitchFamily="18" charset="0"/>
                      </a:rPr>
                      <m:t>𝑀</m:t>
                    </m:r>
                    <m:d>
                      <m:dPr>
                        <m:ctrlPr>
                          <a:rPr lang="en-US" altLang="ko-KR" sz="1800" i="1">
                            <a:latin typeface="Cambria Math" panose="02040503050406030204" pitchFamily="18" charset="0"/>
                          </a:rPr>
                        </m:ctrlPr>
                      </m:dPr>
                      <m:e>
                        <m:r>
                          <a:rPr lang="en-US" altLang="ko-KR" sz="1800" i="1">
                            <a:latin typeface="Cambria Math" panose="02040503050406030204" pitchFamily="18" charset="0"/>
                          </a:rPr>
                          <m:t>𝑥</m:t>
                        </m:r>
                        <m:r>
                          <a:rPr lang="en-US" altLang="ko-KR" sz="1800" i="1">
                            <a:latin typeface="Cambria Math" panose="02040503050406030204" pitchFamily="18" charset="0"/>
                          </a:rPr>
                          <m:t>,</m:t>
                        </m:r>
                        <m:r>
                          <a:rPr lang="en-US" altLang="ko-KR" sz="1800" i="1">
                            <a:latin typeface="Cambria Math" panose="02040503050406030204" pitchFamily="18" charset="0"/>
                          </a:rPr>
                          <m:t>𝑦</m:t>
                        </m:r>
                      </m:e>
                    </m:d>
                    <m:r>
                      <a:rPr lang="en-US" altLang="ko-KR" sz="1800" i="1">
                        <a:latin typeface="Cambria Math" panose="02040503050406030204" pitchFamily="18" charset="0"/>
                      </a:rPr>
                      <m:t>→</m:t>
                    </m:r>
                    <m:r>
                      <a:rPr lang="en-US" altLang="ko-KR" sz="1800" b="0" i="1" smtClean="0">
                        <a:latin typeface="Cambria Math" panose="02040503050406030204" pitchFamily="18" charset="0"/>
                      </a:rPr>
                      <m:t>0</m:t>
                    </m:r>
                  </m:oMath>
                </a14:m>
                <a:r>
                  <a:rPr lang="en-US" altLang="ko-KR" sz="1800" dirty="0" smtClean="0"/>
                  <a:t> for all </a:t>
                </a:r>
                <a14:m>
                  <m:oMath xmlns:m="http://schemas.openxmlformats.org/officeDocument/2006/math">
                    <m:r>
                      <a:rPr lang="en-US" altLang="ko-KR" sz="1800" i="1">
                        <a:latin typeface="Cambria Math" panose="02040503050406030204" pitchFamily="18" charset="0"/>
                      </a:rPr>
                      <m:t>𝑦</m:t>
                    </m:r>
                  </m:oMath>
                </a14:m>
                <a:endParaRPr lang="en-US" altLang="ko-KR" sz="1800" dirty="0"/>
              </a:p>
              <a:p>
                <a:pPr marL="0" indent="0">
                  <a:buNone/>
                </a:pPr>
                <a:endParaRPr lang="en-US" altLang="ko-KR" sz="1800" dirty="0"/>
              </a:p>
              <a:p>
                <a:pPr marL="0" indent="0">
                  <a:buNone/>
                </a:pPr>
                <a:r>
                  <a:rPr lang="en-US" altLang="ko-KR" sz="1800" dirty="0" smtClean="0"/>
                  <a:t>Most standard approaches to show </a:t>
                </a:r>
                <a:r>
                  <a:rPr lang="en-US" altLang="ko-KR" sz="1800" b="1" dirty="0"/>
                  <a:t>P</a:t>
                </a:r>
                <a14:m>
                  <m:oMath xmlns:m="http://schemas.openxmlformats.org/officeDocument/2006/math">
                    <m:r>
                      <a:rPr lang="en-US" altLang="ko-KR" sz="1800" b="0" i="1" smtClean="0">
                        <a:latin typeface="Cambria Math" panose="02040503050406030204" pitchFamily="18" charset="0"/>
                      </a:rPr>
                      <m:t>≠</m:t>
                    </m:r>
                  </m:oMath>
                </a14:m>
                <a:r>
                  <a:rPr lang="en-US" altLang="ko-KR" sz="1800" b="1" dirty="0" smtClean="0"/>
                  <a:t>NP</a:t>
                </a:r>
                <a:r>
                  <a:rPr lang="en-US" altLang="ko-KR" sz="1800" dirty="0" smtClean="0"/>
                  <a:t> actually try to show </a:t>
                </a:r>
                <a:r>
                  <a:rPr lang="en-US" altLang="ko-KR" sz="1800" b="1" dirty="0" smtClean="0"/>
                  <a:t>NP</a:t>
                </a:r>
                <a14:m>
                  <m:oMath xmlns:m="http://schemas.openxmlformats.org/officeDocument/2006/math">
                    <m:r>
                      <a:rPr lang="en-US" altLang="ko-KR" sz="1800" b="1" i="1" smtClean="0">
                        <a:latin typeface="Cambria Math" panose="02040503050406030204" pitchFamily="18" charset="0"/>
                        <a:ea typeface="Cambria Math" panose="02040503050406030204" pitchFamily="18" charset="0"/>
                      </a:rPr>
                      <m:t>⊈</m:t>
                    </m:r>
                  </m:oMath>
                </a14:m>
                <a:r>
                  <a:rPr lang="en-US" altLang="ko-KR" sz="1800" b="1" dirty="0" smtClean="0"/>
                  <a:t>P/poly</a:t>
                </a:r>
              </a:p>
              <a:p>
                <a:pPr marL="0" indent="0">
                  <a:buNone/>
                </a:pPr>
                <a:r>
                  <a:rPr lang="en-US" altLang="ko-KR" sz="1800" dirty="0" smtClean="0"/>
                  <a:t>We only know </a:t>
                </a:r>
                <a:r>
                  <a:rPr lang="en-US" altLang="ko-KR" sz="1800" b="1" dirty="0"/>
                  <a:t>NP</a:t>
                </a:r>
                <a14:m>
                  <m:oMath xmlns:m="http://schemas.openxmlformats.org/officeDocument/2006/math">
                    <m:r>
                      <a:rPr lang="en-US" altLang="ko-KR" sz="1800" b="1" i="1">
                        <a:latin typeface="Cambria Math" panose="02040503050406030204" pitchFamily="18" charset="0"/>
                        <a:ea typeface="Cambria Math" panose="02040503050406030204" pitchFamily="18" charset="0"/>
                      </a:rPr>
                      <m:t>⊈</m:t>
                    </m:r>
                  </m:oMath>
                </a14:m>
                <a:r>
                  <a:rPr lang="en-US" altLang="ko-KR" sz="1800" b="1" dirty="0" smtClean="0"/>
                  <a:t>Size[3.1n]</a:t>
                </a:r>
                <a:r>
                  <a:rPr lang="en-US" altLang="ko-KR" sz="1400" dirty="0" smtClean="0"/>
                  <a:t> (ignoring smaller terms)</a:t>
                </a:r>
                <a:endParaRPr lang="en-US" altLang="ko-KR" sz="1800" b="1" dirty="0"/>
              </a:p>
              <a:p>
                <a:pPr marL="0" indent="0">
                  <a:buNone/>
                </a:pPr>
                <a:r>
                  <a:rPr lang="en-US" altLang="ko-KR" sz="1800" dirty="0" smtClean="0"/>
                  <a:t>(2n in 1960s, 2.5n in 1977, 3n in 1984, 3.01n in 2016, 3.1n in 2022)</a:t>
                </a:r>
              </a:p>
            </p:txBody>
          </p:sp>
        </mc:Choice>
        <mc:Fallback xmlns="">
          <p:sp>
            <p:nvSpPr>
              <p:cNvPr id="3" name="내용 개체 틀 2"/>
              <p:cNvSpPr>
                <a:spLocks noGrp="1" noRot="1" noChangeAspect="1" noMove="1" noResize="1" noEditPoints="1" noAdjustHandles="1" noChangeArrowheads="1" noChangeShapeType="1" noTextEdit="1"/>
              </p:cNvSpPr>
              <p:nvPr>
                <p:ph idx="1"/>
              </p:nvPr>
            </p:nvSpPr>
            <p:spPr>
              <a:blipFill>
                <a:blip r:embed="rId2"/>
                <a:stretch>
                  <a:fillRect l="-522" t="-1401"/>
                </a:stretch>
              </a:blipFill>
            </p:spPr>
            <p:txBody>
              <a:bodyPr/>
              <a:lstStyle/>
              <a:p>
                <a:r>
                  <a:rPr lang="ko-KR" altLang="en-US">
                    <a:noFill/>
                  </a:rPr>
                  <a:t> </a:t>
                </a:r>
              </a:p>
            </p:txBody>
          </p:sp>
        </mc:Fallback>
      </mc:AlternateContent>
      <p:sp>
        <p:nvSpPr>
          <p:cNvPr id="6" name="직사각형 5"/>
          <p:cNvSpPr/>
          <p:nvPr/>
        </p:nvSpPr>
        <p:spPr>
          <a:xfrm>
            <a:off x="9172664" y="5182295"/>
            <a:ext cx="1238074" cy="438329"/>
          </a:xfrm>
          <a:prstGeom prst="rect">
            <a:avLst/>
          </a:prstGeom>
          <a:solidFill>
            <a:srgbClr val="FF0000"/>
          </a:solidFill>
        </p:spPr>
        <p:style>
          <a:lnRef idx="2">
            <a:schemeClr val="accent2">
              <a:shade val="50000"/>
            </a:schemeClr>
          </a:lnRef>
          <a:fillRef idx="1">
            <a:schemeClr val="accent2"/>
          </a:fillRef>
          <a:effectRef idx="0">
            <a:schemeClr val="accent2"/>
          </a:effectRef>
          <a:fontRef idx="minor">
            <a:schemeClr val="lt1"/>
          </a:fontRef>
        </p:style>
        <p:txBody>
          <a:bodyPr rtlCol="0" anchor="ctr"/>
          <a:lstStyle/>
          <a:p>
            <a:pPr algn="ctr"/>
            <a:r>
              <a:rPr lang="en-US" altLang="ko-KR" sz="1400" dirty="0" smtClean="0"/>
              <a:t>TOO MUCH advanced</a:t>
            </a:r>
            <a:endParaRPr lang="ko-KR" altLang="en-US" sz="1400" dirty="0"/>
          </a:p>
        </p:txBody>
      </p:sp>
      <p:sp>
        <p:nvSpPr>
          <p:cNvPr id="7" name="모서리가 둥근 사각형 설명선 6"/>
          <p:cNvSpPr/>
          <p:nvPr/>
        </p:nvSpPr>
        <p:spPr>
          <a:xfrm>
            <a:off x="4228052" y="2676342"/>
            <a:ext cx="5142451" cy="377250"/>
          </a:xfrm>
          <a:prstGeom prst="wedgeRoundRectCallout">
            <a:avLst>
              <a:gd name="adj1" fmla="val -33683"/>
              <a:gd name="adj2" fmla="val -72817"/>
              <a:gd name="adj3" fmla="val 16667"/>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ko-KR" dirty="0" smtClean="0"/>
              <a:t>If it grows like f(n), the class is called Size[f]</a:t>
            </a:r>
            <a:endParaRPr lang="ko-KR" altLang="en-US" dirty="0"/>
          </a:p>
        </p:txBody>
      </p:sp>
    </p:spTree>
    <p:extLst>
      <p:ext uri="{BB962C8B-B14F-4D97-AF65-F5344CB8AC3E}">
        <p14:creationId xmlns:p14="http://schemas.microsoft.com/office/powerpoint/2010/main" val="425319762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3">
                                            <p:txEl>
                                              <p:pRg st="1" end="1"/>
                                            </p:txEl>
                                          </p:spTgt>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7"/>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
                                            <p:txEl>
                                              <p:pRg st="4" end="4"/>
                                            </p:txEl>
                                          </p:spTgt>
                                        </p:tgtEl>
                                        <p:attrNameLst>
                                          <p:attrName>style.visibility</p:attrName>
                                        </p:attrNameLst>
                                      </p:cBhvr>
                                      <p:to>
                                        <p:strVal val="visible"/>
                                      </p:to>
                                    </p:set>
                                  </p:childTnLst>
                                </p:cTn>
                              </p:par>
                              <p:par>
                                <p:cTn id="19" presetID="1" presetClass="entr" presetSubtype="0" fill="hold" nodeType="withEffect">
                                  <p:stCondLst>
                                    <p:cond delay="0"/>
                                  </p:stCondLst>
                                  <p:childTnLst>
                                    <p:set>
                                      <p:cBhvr>
                                        <p:cTn id="20" dur="1" fill="hold">
                                          <p:stCondLst>
                                            <p:cond delay="0"/>
                                          </p:stCondLst>
                                        </p:cTn>
                                        <p:tgtEl>
                                          <p:spTgt spid="3">
                                            <p:txEl>
                                              <p:pRg st="5" end="5"/>
                                            </p:txEl>
                                          </p:spTgt>
                                        </p:tgtEl>
                                        <p:attrNameLst>
                                          <p:attrName>style.visibility</p:attrName>
                                        </p:attrNameLst>
                                      </p:cBhvr>
                                      <p:to>
                                        <p:strVal val="visible"/>
                                      </p:to>
                                    </p:set>
                                  </p:childTnLst>
                                </p:cTn>
                              </p:par>
                              <p:par>
                                <p:cTn id="21" presetID="1" presetClass="entr" presetSubtype="0" fill="hold" nodeType="withEffect">
                                  <p:stCondLst>
                                    <p:cond delay="0"/>
                                  </p:stCondLst>
                                  <p:childTnLst>
                                    <p:set>
                                      <p:cBhvr>
                                        <p:cTn id="22" dur="1" fill="hold">
                                          <p:stCondLst>
                                            <p:cond delay="0"/>
                                          </p:stCondLst>
                                        </p:cTn>
                                        <p:tgtEl>
                                          <p:spTgt spid="3">
                                            <p:txEl>
                                              <p:pRg st="6" end="6"/>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3">
                                            <p:txEl>
                                              <p:pRg st="8" end="8"/>
                                            </p:txEl>
                                          </p:spTgt>
                                        </p:tgtEl>
                                        <p:attrNameLst>
                                          <p:attrName>style.visibility</p:attrName>
                                        </p:attrNameLst>
                                      </p:cBhvr>
                                      <p:to>
                                        <p:strVal val="visible"/>
                                      </p:to>
                                    </p:set>
                                  </p:childTnLst>
                                </p:cTn>
                              </p:par>
                              <p:par>
                                <p:cTn id="27" presetID="1" presetClass="entr" presetSubtype="0" fill="hold" grpId="0" nodeType="withEffect">
                                  <p:stCondLst>
                                    <p:cond delay="0"/>
                                  </p:stCondLst>
                                  <p:childTnLst>
                                    <p:set>
                                      <p:cBhvr>
                                        <p:cTn id="28" dur="1" fill="hold">
                                          <p:stCondLst>
                                            <p:cond delay="0"/>
                                          </p:stCondLst>
                                        </p:cTn>
                                        <p:tgtEl>
                                          <p:spTgt spid="6"/>
                                        </p:tgtEl>
                                        <p:attrNameLst>
                                          <p:attrName>style.visibility</p:attrName>
                                        </p:attrNameLst>
                                      </p:cBhvr>
                                      <p:to>
                                        <p:strVal val="visible"/>
                                      </p:to>
                                    </p:set>
                                  </p:childTnLst>
                                </p:cTn>
                              </p:par>
                            </p:childTnLst>
                          </p:cTn>
                        </p:par>
                      </p:childTnLst>
                    </p:cTn>
                  </p:par>
                  <p:par>
                    <p:cTn id="29" fill="hold">
                      <p:stCondLst>
                        <p:cond delay="indefinite"/>
                      </p:stCondLst>
                      <p:childTnLst>
                        <p:par>
                          <p:cTn id="30" fill="hold">
                            <p:stCondLst>
                              <p:cond delay="0"/>
                            </p:stCondLst>
                            <p:childTnLst>
                              <p:par>
                                <p:cTn id="31" presetID="1" presetClass="entr" presetSubtype="0" fill="hold" nodeType="clickEffect">
                                  <p:stCondLst>
                                    <p:cond delay="0"/>
                                  </p:stCondLst>
                                  <p:childTnLst>
                                    <p:set>
                                      <p:cBhvr>
                                        <p:cTn id="32" dur="1" fill="hold">
                                          <p:stCondLst>
                                            <p:cond delay="0"/>
                                          </p:stCondLst>
                                        </p:cTn>
                                        <p:tgtEl>
                                          <p:spTgt spid="3">
                                            <p:txEl>
                                              <p:pRg st="9" end="9"/>
                                            </p:txEl>
                                          </p:spTgt>
                                        </p:tgtEl>
                                        <p:attrNameLst>
                                          <p:attrName>style.visibility</p:attrName>
                                        </p:attrNameLst>
                                      </p:cBhvr>
                                      <p:to>
                                        <p:strVal val="visible"/>
                                      </p:to>
                                    </p:set>
                                  </p:childTnLst>
                                </p:cTn>
                              </p:par>
                            </p:childTnLst>
                          </p:cTn>
                        </p:par>
                      </p:childTnLst>
                    </p:cTn>
                  </p:par>
                  <p:par>
                    <p:cTn id="33" fill="hold">
                      <p:stCondLst>
                        <p:cond delay="indefinite"/>
                      </p:stCondLst>
                      <p:childTnLst>
                        <p:par>
                          <p:cTn id="34" fill="hold">
                            <p:stCondLst>
                              <p:cond delay="0"/>
                            </p:stCondLst>
                            <p:childTnLst>
                              <p:par>
                                <p:cTn id="35" presetID="1" presetClass="entr" presetSubtype="0" fill="hold" nodeType="clickEffect">
                                  <p:stCondLst>
                                    <p:cond delay="0"/>
                                  </p:stCondLst>
                                  <p:childTnLst>
                                    <p:set>
                                      <p:cBhvr>
                                        <p:cTn id="36" dur="1" fill="hold">
                                          <p:stCondLst>
                                            <p:cond delay="0"/>
                                          </p:stCondLst>
                                        </p:cTn>
                                        <p:tgtEl>
                                          <p:spTgt spid="3">
                                            <p:txEl>
                                              <p:pRg st="10" end="10"/>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animBg="1"/>
      <p:bldP spid="7" grpId="0" animBg="1"/>
    </p:bldLst>
  </p:timing>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D2AFD9B-5989-164A-97CC-2A1F72ADAD02}"/>
              </a:ext>
            </a:extLst>
          </p:cNvPr>
          <p:cNvSpPr>
            <a:spLocks noGrp="1"/>
          </p:cNvSpPr>
          <p:nvPr>
            <p:ph type="title"/>
          </p:nvPr>
        </p:nvSpPr>
        <p:spPr/>
        <p:txBody>
          <a:bodyPr/>
          <a:lstStyle/>
          <a:p>
            <a:r>
              <a:rPr lang="en-US" dirty="0" smtClean="0"/>
              <a:t>Recommended textbook</a:t>
            </a:r>
            <a:endParaRPr lang="en-US" dirty="0"/>
          </a:p>
        </p:txBody>
      </p:sp>
      <p:pic>
        <p:nvPicPr>
          <p:cNvPr id="1026" name="Picture 2" descr="Computational Complexity: A Modern Approach"/>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853226" y="1910695"/>
            <a:ext cx="2485547" cy="354881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260512241"/>
      </p:ext>
    </p:extLst>
  </p:cSld>
  <p:clrMapOvr>
    <a:masterClrMapping/>
  </p:clrMapOvr>
  <p:timing>
    <p:tnLst>
      <p:par>
        <p:cTn id="1" dur="indefinite" restart="never" nodeType="tmRoot"/>
      </p:par>
    </p:tnLst>
  </p:timing>
</p:sld>
</file>

<file path=ppt/theme/theme1.xml><?xml version="1.0" encoding="utf-8"?>
<a:theme xmlns:a="http://schemas.openxmlformats.org/drawingml/2006/main" name="Office 테마">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맑은 고딕"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맑은 고딕"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테마">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맑은 고딕"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맑은 고딕"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6170</TotalTime>
  <Words>1245</Words>
  <Application>Microsoft Office PowerPoint</Application>
  <PresentationFormat>와이드스크린</PresentationFormat>
  <Paragraphs>517</Paragraphs>
  <Slides>44</Slides>
  <Notes>3</Notes>
  <HiddenSlides>0</HiddenSlides>
  <MMClips>0</MMClips>
  <ScaleCrop>false</ScaleCrop>
  <HeadingPairs>
    <vt:vector size="6" baseType="variant">
      <vt:variant>
        <vt:lpstr>사용한 글꼴</vt:lpstr>
      </vt:variant>
      <vt:variant>
        <vt:i4>4</vt:i4>
      </vt:variant>
      <vt:variant>
        <vt:lpstr>테마</vt:lpstr>
      </vt:variant>
      <vt:variant>
        <vt:i4>1</vt:i4>
      </vt:variant>
      <vt:variant>
        <vt:lpstr>슬라이드 제목</vt:lpstr>
      </vt:variant>
      <vt:variant>
        <vt:i4>44</vt:i4>
      </vt:variant>
    </vt:vector>
  </HeadingPairs>
  <TitlesOfParts>
    <vt:vector size="49" baseType="lpstr">
      <vt:lpstr>맑은 고딕</vt:lpstr>
      <vt:lpstr>Arial</vt:lpstr>
      <vt:lpstr>Cambria Math</vt:lpstr>
      <vt:lpstr>Courier New</vt:lpstr>
      <vt:lpstr>Office 테마</vt:lpstr>
      <vt:lpstr>Introduction to  Quantum Algorithms</vt:lpstr>
      <vt:lpstr>Administration</vt:lpstr>
      <vt:lpstr>Survey statistics</vt:lpstr>
      <vt:lpstr>Slide guide</vt:lpstr>
      <vt:lpstr>Today we will learn</vt:lpstr>
      <vt:lpstr>Physics of information</vt:lpstr>
      <vt:lpstr>Reversibility of physics</vt:lpstr>
      <vt:lpstr>Reversibility of physics</vt:lpstr>
      <vt:lpstr>Reversibility of computation</vt:lpstr>
      <vt:lpstr>Reversible classical information processing</vt:lpstr>
      <vt:lpstr>Reversible classical information processing</vt:lpstr>
      <vt:lpstr>Reversible classical information processing</vt:lpstr>
      <vt:lpstr>Reversible classical information processing</vt:lpstr>
      <vt:lpstr>Reversible classical information processing</vt:lpstr>
      <vt:lpstr>Reversible classical information processing</vt:lpstr>
      <vt:lpstr>Reversible classical information processing</vt:lpstr>
      <vt:lpstr>Reversible classical information processing</vt:lpstr>
      <vt:lpstr>Summary for the single system</vt:lpstr>
      <vt:lpstr>Composite systems</vt:lpstr>
      <vt:lpstr>Composite systems</vt:lpstr>
      <vt:lpstr>Composite systems</vt:lpstr>
      <vt:lpstr>Composite systems</vt:lpstr>
      <vt:lpstr>Reversible computation circuits</vt:lpstr>
      <vt:lpstr>Reversible circuits</vt:lpstr>
      <vt:lpstr>Reversible circuits</vt:lpstr>
      <vt:lpstr>Reversible circuits</vt:lpstr>
      <vt:lpstr>Reversible computing, linear algebra style</vt:lpstr>
      <vt:lpstr>Transformation matrices</vt:lpstr>
      <vt:lpstr>Transformation matrices</vt:lpstr>
      <vt:lpstr>Tensor products in linear algebra</vt:lpstr>
      <vt:lpstr>Tensor products, representations</vt:lpstr>
      <vt:lpstr>Tensor products, bits</vt:lpstr>
      <vt:lpstr>Tensor products, bits</vt:lpstr>
      <vt:lpstr>Reversible circuits as matrix products</vt:lpstr>
      <vt:lpstr>If you really want to formally write down…</vt:lpstr>
      <vt:lpstr>Summary of composite systems</vt:lpstr>
      <vt:lpstr>Universal computation with reversible circuits</vt:lpstr>
      <vt:lpstr>Irreversible circuits to reversible circuits</vt:lpstr>
      <vt:lpstr>Universal gate set for reversible computing</vt:lpstr>
      <vt:lpstr>Summary of reversible computing</vt:lpstr>
      <vt:lpstr>Basic complexity theory, btw</vt:lpstr>
      <vt:lpstr>Circuit-style definitions  (proving equivalence is            )</vt:lpstr>
      <vt:lpstr>Other complexity notions</vt:lpstr>
      <vt:lpstr>Recommended textbook</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Introduction to  Quantum Algorithms</dc:title>
  <dc:creator>Minki Hhan</dc:creator>
  <cp:lastModifiedBy>Minki Hhan</cp:lastModifiedBy>
  <cp:revision>60</cp:revision>
  <dcterms:created xsi:type="dcterms:W3CDTF">2026-02-24T07:16:23Z</dcterms:created>
  <dcterms:modified xsi:type="dcterms:W3CDTF">2026-03-31T01:49:00Z</dcterms:modified>
</cp:coreProperties>
</file>