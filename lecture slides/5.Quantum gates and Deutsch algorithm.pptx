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72" r:id="rId2"/>
    <p:sldId id="402" r:id="rId3"/>
    <p:sldId id="403" r:id="rId4"/>
    <p:sldId id="404" r:id="rId5"/>
    <p:sldId id="405" r:id="rId6"/>
    <p:sldId id="406" r:id="rId7"/>
    <p:sldId id="407" r:id="rId8"/>
    <p:sldId id="408" r:id="rId9"/>
    <p:sldId id="409" r:id="rId10"/>
    <p:sldId id="410" r:id="rId11"/>
    <p:sldId id="411" r:id="rId12"/>
    <p:sldId id="400" r:id="rId13"/>
    <p:sldId id="401" r:id="rId14"/>
    <p:sldId id="373" r:id="rId15"/>
    <p:sldId id="374" r:id="rId16"/>
    <p:sldId id="375" r:id="rId17"/>
    <p:sldId id="376" r:id="rId18"/>
    <p:sldId id="377" r:id="rId19"/>
    <p:sldId id="378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72" y="1272"/>
      </p:cViewPr>
      <p:guideLst>
        <p:guide orient="horz" pos="2137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F7EABD-121C-4E1C-A30D-B7AAAB8F758C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CA3E8-17C6-46E1-AB81-2C03EE0FF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499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636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05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600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6718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596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691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0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052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421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561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098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00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0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0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0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36.png"/><Relationship Id="rId3" Type="http://schemas.openxmlformats.org/officeDocument/2006/relationships/image" Target="../media/image37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39.png"/><Relationship Id="rId10" Type="http://schemas.openxmlformats.org/officeDocument/2006/relationships/image" Target="../media/image45.png"/><Relationship Id="rId4" Type="http://schemas.openxmlformats.org/officeDocument/2006/relationships/image" Target="../media/image38.png"/><Relationship Id="rId9" Type="http://schemas.openxmlformats.org/officeDocument/2006/relationships/image" Target="../media/image44.png"/><Relationship Id="rId14" Type="http://schemas.openxmlformats.org/officeDocument/2006/relationships/image" Target="../media/image4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1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5.xml.rels><?xml version="1.0" encoding="UTF-8" standalone="yes"?>
<Relationships xmlns="http://schemas.openxmlformats.org/package/2006/relationships"><Relationship Id="rId18" Type="http://schemas.openxmlformats.org/officeDocument/2006/relationships/image" Target="../media/image62.png"/><Relationship Id="rId17" Type="http://schemas.openxmlformats.org/officeDocument/2006/relationships/image" Target="../media/image60.png"/><Relationship Id="rId2" Type="http://schemas.openxmlformats.org/officeDocument/2006/relationships/image" Target="../media/image400.png"/><Relationship Id="rId16" Type="http://schemas.openxmlformats.org/officeDocument/2006/relationships/image" Target="../media/image490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61.png"/><Relationship Id="rId19" Type="http://schemas.openxmlformats.org/officeDocument/2006/relationships/image" Target="../media/image6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" Type="http://schemas.openxmlformats.org/officeDocument/2006/relationships/image" Target="../media/image65.png"/><Relationship Id="rId16" Type="http://schemas.openxmlformats.org/officeDocument/2006/relationships/image" Target="../media/image79.png"/><Relationship Id="rId20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19" Type="http://schemas.openxmlformats.org/officeDocument/2006/relationships/image" Target="../media/image82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6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12" Type="http://schemas.openxmlformats.org/officeDocument/2006/relationships/image" Target="../media/image105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104.png"/><Relationship Id="rId5" Type="http://schemas.openxmlformats.org/officeDocument/2006/relationships/image" Target="../media/image99.png"/><Relationship Id="rId10" Type="http://schemas.openxmlformats.org/officeDocument/2006/relationships/image" Target="../media/image103.png"/><Relationship Id="rId4" Type="http://schemas.openxmlformats.org/officeDocument/2006/relationships/image" Target="../media/image98.png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6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12" Type="http://schemas.openxmlformats.org/officeDocument/2006/relationships/image" Target="../media/image105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104.png"/><Relationship Id="rId5" Type="http://schemas.openxmlformats.org/officeDocument/2006/relationships/image" Target="../media/image99.png"/><Relationship Id="rId10" Type="http://schemas.openxmlformats.org/officeDocument/2006/relationships/image" Target="../media/image103.png"/><Relationship Id="rId4" Type="http://schemas.openxmlformats.org/officeDocument/2006/relationships/image" Target="../media/image98.png"/><Relationship Id="rId9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6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12" Type="http://schemas.openxmlformats.org/officeDocument/2006/relationships/image" Target="../media/image105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104.png"/><Relationship Id="rId5" Type="http://schemas.openxmlformats.org/officeDocument/2006/relationships/image" Target="../media/image99.png"/><Relationship Id="rId10" Type="http://schemas.openxmlformats.org/officeDocument/2006/relationships/image" Target="../media/image103.png"/><Relationship Id="rId4" Type="http://schemas.openxmlformats.org/officeDocument/2006/relationships/image" Target="../media/image98.png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0.png"/><Relationship Id="rId13" Type="http://schemas.openxmlformats.org/officeDocument/2006/relationships/image" Target="../media/image1060.png"/><Relationship Id="rId3" Type="http://schemas.openxmlformats.org/officeDocument/2006/relationships/image" Target="../media/image970.png"/><Relationship Id="rId7" Type="http://schemas.openxmlformats.org/officeDocument/2006/relationships/image" Target="../media/image1010.png"/><Relationship Id="rId12" Type="http://schemas.openxmlformats.org/officeDocument/2006/relationships/image" Target="../media/image1050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0.png"/><Relationship Id="rId11" Type="http://schemas.openxmlformats.org/officeDocument/2006/relationships/image" Target="../media/image1040.png"/><Relationship Id="rId5" Type="http://schemas.openxmlformats.org/officeDocument/2006/relationships/image" Target="../media/image990.png"/><Relationship Id="rId10" Type="http://schemas.openxmlformats.org/officeDocument/2006/relationships/image" Target="../media/image1030.png"/><Relationship Id="rId4" Type="http://schemas.openxmlformats.org/officeDocument/2006/relationships/image" Target="../media/image980.png"/><Relationship Id="rId9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11.png"/><Relationship Id="rId3" Type="http://schemas.openxmlformats.org/officeDocument/2006/relationships/image" Target="../media/image630.png"/><Relationship Id="rId7" Type="http://schemas.openxmlformats.org/officeDocument/2006/relationships/image" Target="../media/image670.png"/><Relationship Id="rId12" Type="http://schemas.openxmlformats.org/officeDocument/2006/relationships/image" Target="../media/image720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0.png"/><Relationship Id="rId11" Type="http://schemas.openxmlformats.org/officeDocument/2006/relationships/image" Target="../media/image710.png"/><Relationship Id="rId5" Type="http://schemas.openxmlformats.org/officeDocument/2006/relationships/image" Target="../media/image650.png"/><Relationship Id="rId10" Type="http://schemas.openxmlformats.org/officeDocument/2006/relationships/image" Target="../media/image700.png"/><Relationship Id="rId4" Type="http://schemas.openxmlformats.org/officeDocument/2006/relationships/image" Target="../media/image640.png"/><Relationship Id="rId9" Type="http://schemas.openxmlformats.org/officeDocument/2006/relationships/image" Target="../media/image1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7" Type="http://schemas.openxmlformats.org/officeDocument/2006/relationships/image" Target="../media/image2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480683"/>
            <a:ext cx="9144000" cy="2387600"/>
          </a:xfrm>
        </p:spPr>
        <p:txBody>
          <a:bodyPr/>
          <a:lstStyle/>
          <a:p>
            <a:r>
              <a:rPr lang="en-US" altLang="ko-KR" dirty="0" smtClean="0"/>
              <a:t>Introduction to </a:t>
            </a:r>
            <a:br>
              <a:rPr lang="en-US" altLang="ko-KR" dirty="0" smtClean="0"/>
            </a:br>
            <a:r>
              <a:rPr lang="en-US" altLang="ko-KR" dirty="0" smtClean="0"/>
              <a:t>Quantum Algorithms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2960357"/>
            <a:ext cx="9144000" cy="3648989"/>
          </a:xfrm>
        </p:spPr>
        <p:txBody>
          <a:bodyPr/>
          <a:lstStyle/>
          <a:p>
            <a:r>
              <a:rPr lang="en-US" altLang="ko-KR" dirty="0" smtClean="0"/>
              <a:t>CS.49900	(Spring 2026)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sz="3200" dirty="0" smtClean="0"/>
              <a:t>Multi-qubit gates, </a:t>
            </a:r>
            <a:r>
              <a:rPr lang="en-US" altLang="ko-KR" sz="3200" dirty="0" err="1" smtClean="0"/>
              <a:t>Unitaries</a:t>
            </a:r>
            <a:r>
              <a:rPr lang="en-US" altLang="ko-KR" sz="3200" dirty="0" smtClean="0"/>
              <a:t> for classical circuits, Deutsch’s algorithm</a:t>
            </a:r>
            <a:br>
              <a:rPr lang="en-US" altLang="ko-KR" sz="3200" dirty="0" smtClean="0"/>
            </a:br>
            <a:r>
              <a:rPr lang="en-US" altLang="ko-KR" sz="2800" dirty="0" smtClean="0"/>
              <a:t>+Hidden matching problem and application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787950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n</a:t>
            </a:r>
            <a:r>
              <a:rPr lang="en-US" sz="4000" dirty="0" smtClean="0"/>
              <a:t>-qubit Unitary matrix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400" dirty="0" smtClean="0"/>
                  <a:t>A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2400" dirty="0" smtClean="0"/>
                  <a:t>-qubit gate (unitary circuit)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ko-KR" sz="2400" dirty="0" smtClean="0"/>
                  <a:t> is represented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ko-KR" sz="2400" dirty="0" smtClean="0"/>
                  <a:t> matrix:</a:t>
                </a:r>
              </a:p>
              <a:p>
                <a:pPr marL="457200" indent="-457200">
                  <a:buAutoNum type="arabicPeriod"/>
                </a:pPr>
                <a:r>
                  <a:rPr lang="en-US" altLang="ko-KR" sz="2400" dirty="0" smtClean="0"/>
                  <a:t>The </a:t>
                </a:r>
                <a:r>
                  <a:rPr lang="en-US" altLang="ko-KR" sz="2400" dirty="0"/>
                  <a:t>inverse of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CA" altLang="ko-KR" sz="2400" dirty="0"/>
                  <a:t> is its Hermitian conjugate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2400" dirty="0" smtClean="0"/>
                  <a:t>, i.e.,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𝑈</m:t>
                    </m:r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altLang="ko-KR" sz="2400" dirty="0"/>
              </a:p>
              <a:p>
                <a:pPr marL="457200" indent="-457200">
                  <a:buAutoNum type="arabicPeriod"/>
                </a:pPr>
                <a:r>
                  <a:rPr lang="en-US" altLang="ko-KR" sz="2400" b="0" dirty="0" smtClean="0"/>
                  <a:t>or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  <m:sup/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begChr m:val="⟨"/>
                            <m:endChr m:val="|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r>
                  <a:rPr lang="en-CA" altLang="ko-KR" sz="2400" dirty="0" smtClean="0"/>
                  <a:t> 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r>
                  <a:rPr lang="en-CA" altLang="ko-KR" sz="2400" dirty="0" smtClean="0"/>
                  <a:t> form an orthonormal basis</a:t>
                </a:r>
              </a:p>
              <a:p>
                <a:pPr marL="457200" indent="-457200">
                  <a:buAutoNum type="arabicPeriod"/>
                </a:pPr>
                <a:endParaRPr lang="en-CA" altLang="ko-KR" sz="2400" dirty="0"/>
              </a:p>
              <a:p>
                <a:pPr marL="0" indent="0">
                  <a:buNone/>
                </a:pPr>
                <a:r>
                  <a:rPr lang="en-CA" altLang="ko-KR" sz="2400" dirty="0" smtClean="0"/>
                  <a:t>The other property holds similarly as in 1-qubit gate</a:t>
                </a:r>
              </a:p>
              <a:p>
                <a:pPr marL="0" indent="0">
                  <a:buNone/>
                </a:pPr>
                <a:endParaRPr lang="en-CA" altLang="ko-KR" sz="2400" dirty="0" smtClean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1101" t="-17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5">
            <a:extLst>
              <a:ext uri="{FF2B5EF4-FFF2-40B4-BE49-F238E27FC236}">
                <a16:creationId xmlns:a16="http://schemas.microsoft.com/office/drawing/2014/main" id="{99ACEA54-913D-8CB3-494F-B935AA4B07C1}"/>
              </a:ext>
            </a:extLst>
          </p:cNvPr>
          <p:cNvCxnSpPr/>
          <p:nvPr/>
        </p:nvCxnSpPr>
        <p:spPr>
          <a:xfrm>
            <a:off x="2732655" y="4516256"/>
            <a:ext cx="990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63BAF0D3-4D6C-F3EB-71DF-5F5595CD7217}"/>
              </a:ext>
            </a:extLst>
          </p:cNvPr>
          <p:cNvCxnSpPr/>
          <p:nvPr/>
        </p:nvCxnSpPr>
        <p:spPr>
          <a:xfrm>
            <a:off x="2732655" y="4897257"/>
            <a:ext cx="990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7">
            <a:extLst>
              <a:ext uri="{FF2B5EF4-FFF2-40B4-BE49-F238E27FC236}">
                <a16:creationId xmlns:a16="http://schemas.microsoft.com/office/drawing/2014/main" id="{8247A8B7-3E9E-68C0-8DBD-6C4052240DFF}"/>
              </a:ext>
            </a:extLst>
          </p:cNvPr>
          <p:cNvCxnSpPr>
            <a:cxnSpLocks/>
          </p:cNvCxnSpPr>
          <p:nvPr/>
        </p:nvCxnSpPr>
        <p:spPr>
          <a:xfrm>
            <a:off x="2732655" y="5311594"/>
            <a:ext cx="267958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8">
            <a:extLst>
              <a:ext uri="{FF2B5EF4-FFF2-40B4-BE49-F238E27FC236}">
                <a16:creationId xmlns:a16="http://schemas.microsoft.com/office/drawing/2014/main" id="{8F8C30A2-A972-77DA-0C5B-305510918A61}"/>
              </a:ext>
            </a:extLst>
          </p:cNvPr>
          <p:cNvSpPr/>
          <p:nvPr/>
        </p:nvSpPr>
        <p:spPr>
          <a:xfrm>
            <a:off x="2994078" y="4409303"/>
            <a:ext cx="2062675" cy="20393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10">
            <a:extLst>
              <a:ext uri="{FF2B5EF4-FFF2-40B4-BE49-F238E27FC236}">
                <a16:creationId xmlns:a16="http://schemas.microsoft.com/office/drawing/2014/main" id="{34CED6E9-D22B-BDE4-137A-0AA40FD6ABB9}"/>
              </a:ext>
            </a:extLst>
          </p:cNvPr>
          <p:cNvCxnSpPr>
            <a:cxnSpLocks/>
          </p:cNvCxnSpPr>
          <p:nvPr/>
        </p:nvCxnSpPr>
        <p:spPr>
          <a:xfrm>
            <a:off x="4259037" y="4897257"/>
            <a:ext cx="115319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1">
            <a:extLst>
              <a:ext uri="{FF2B5EF4-FFF2-40B4-BE49-F238E27FC236}">
                <a16:creationId xmlns:a16="http://schemas.microsoft.com/office/drawing/2014/main" id="{A44899F0-A2A0-31FC-6AA1-5D3991AFA5A2}"/>
              </a:ext>
            </a:extLst>
          </p:cNvPr>
          <p:cNvCxnSpPr>
            <a:cxnSpLocks/>
          </p:cNvCxnSpPr>
          <p:nvPr/>
        </p:nvCxnSpPr>
        <p:spPr>
          <a:xfrm>
            <a:off x="4259037" y="4516256"/>
            <a:ext cx="115319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4">
            <a:extLst>
              <a:ext uri="{FF2B5EF4-FFF2-40B4-BE49-F238E27FC236}">
                <a16:creationId xmlns:a16="http://schemas.microsoft.com/office/drawing/2014/main" id="{85DABE39-2961-0A53-EBDD-CF2F4A6F9058}"/>
              </a:ext>
            </a:extLst>
          </p:cNvPr>
          <p:cNvCxnSpPr>
            <a:cxnSpLocks/>
          </p:cNvCxnSpPr>
          <p:nvPr/>
        </p:nvCxnSpPr>
        <p:spPr>
          <a:xfrm>
            <a:off x="2728990" y="6253990"/>
            <a:ext cx="268324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7">
                <a:extLst>
                  <a:ext uri="{FF2B5EF4-FFF2-40B4-BE49-F238E27FC236}">
                    <a16:creationId xmlns:a16="http://schemas.microsoft.com/office/drawing/2014/main" id="{0056F082-62D1-EA18-850D-758B08830239}"/>
                  </a:ext>
                </a:extLst>
              </p:cNvPr>
              <p:cNvSpPr/>
              <p:nvPr/>
            </p:nvSpPr>
            <p:spPr>
              <a:xfrm>
                <a:off x="2030186" y="4331590"/>
                <a:ext cx="6167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7">
                <a:extLst>
                  <a:ext uri="{FF2B5EF4-FFF2-40B4-BE49-F238E27FC236}">
                    <a16:creationId xmlns:a16="http://schemas.microsoft.com/office/drawing/2014/main" id="{0056F082-62D1-EA18-850D-758B088302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186" y="4331590"/>
                <a:ext cx="616771" cy="369332"/>
              </a:xfrm>
              <a:prstGeom prst="rect">
                <a:avLst/>
              </a:prstGeom>
              <a:blipFill>
                <a:blip r:embed="rId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8">
                <a:extLst>
                  <a:ext uri="{FF2B5EF4-FFF2-40B4-BE49-F238E27FC236}">
                    <a16:creationId xmlns:a16="http://schemas.microsoft.com/office/drawing/2014/main" id="{6C9ED94D-B122-E5CD-665E-D29418FAAA6C}"/>
                  </a:ext>
                </a:extLst>
              </p:cNvPr>
              <p:cNvSpPr/>
              <p:nvPr/>
            </p:nvSpPr>
            <p:spPr>
              <a:xfrm>
                <a:off x="2025791" y="4664652"/>
                <a:ext cx="6167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8">
                <a:extLst>
                  <a:ext uri="{FF2B5EF4-FFF2-40B4-BE49-F238E27FC236}">
                    <a16:creationId xmlns:a16="http://schemas.microsoft.com/office/drawing/2014/main" id="{6C9ED94D-B122-E5CD-665E-D29418FAAA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791" y="4664652"/>
                <a:ext cx="616771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9">
                <a:extLst>
                  <a:ext uri="{FF2B5EF4-FFF2-40B4-BE49-F238E27FC236}">
                    <a16:creationId xmlns:a16="http://schemas.microsoft.com/office/drawing/2014/main" id="{C354FC34-81A8-723D-F447-FA82A017E6A4}"/>
                  </a:ext>
                </a:extLst>
              </p:cNvPr>
              <p:cNvSpPr/>
              <p:nvPr/>
            </p:nvSpPr>
            <p:spPr>
              <a:xfrm>
                <a:off x="2029869" y="5046322"/>
                <a:ext cx="6167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9">
                <a:extLst>
                  <a:ext uri="{FF2B5EF4-FFF2-40B4-BE49-F238E27FC236}">
                    <a16:creationId xmlns:a16="http://schemas.microsoft.com/office/drawing/2014/main" id="{C354FC34-81A8-723D-F447-FA82A017E6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9869" y="5046322"/>
                <a:ext cx="616771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20">
                <a:extLst>
                  <a:ext uri="{FF2B5EF4-FFF2-40B4-BE49-F238E27FC236}">
                    <a16:creationId xmlns:a16="http://schemas.microsoft.com/office/drawing/2014/main" id="{72464EE4-12FA-DEB3-F1DC-6BB6AADDF394}"/>
                  </a:ext>
                </a:extLst>
              </p:cNvPr>
              <p:cNvSpPr/>
              <p:nvPr/>
            </p:nvSpPr>
            <p:spPr>
              <a:xfrm>
                <a:off x="2025791" y="6050534"/>
                <a:ext cx="6650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20">
                <a:extLst>
                  <a:ext uri="{FF2B5EF4-FFF2-40B4-BE49-F238E27FC236}">
                    <a16:creationId xmlns:a16="http://schemas.microsoft.com/office/drawing/2014/main" id="{72464EE4-12FA-DEB3-F1DC-6BB6AADDF3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791" y="6050534"/>
                <a:ext cx="66505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30">
            <a:extLst>
              <a:ext uri="{FF2B5EF4-FFF2-40B4-BE49-F238E27FC236}">
                <a16:creationId xmlns:a16="http://schemas.microsoft.com/office/drawing/2014/main" id="{20E5B44C-32FE-9364-DF9B-F5D060FC0F3E}"/>
              </a:ext>
            </a:extLst>
          </p:cNvPr>
          <p:cNvCxnSpPr>
            <a:cxnSpLocks/>
          </p:cNvCxnSpPr>
          <p:nvPr/>
        </p:nvCxnSpPr>
        <p:spPr>
          <a:xfrm>
            <a:off x="2720628" y="5875058"/>
            <a:ext cx="268324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31">
                <a:extLst>
                  <a:ext uri="{FF2B5EF4-FFF2-40B4-BE49-F238E27FC236}">
                    <a16:creationId xmlns:a16="http://schemas.microsoft.com/office/drawing/2014/main" id="{B27DEBFF-3A76-91B7-D384-82C9F0038336}"/>
                  </a:ext>
                </a:extLst>
              </p:cNvPr>
              <p:cNvSpPr/>
              <p:nvPr/>
            </p:nvSpPr>
            <p:spPr>
              <a:xfrm>
                <a:off x="2017429" y="5671602"/>
                <a:ext cx="8846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31">
                <a:extLst>
                  <a:ext uri="{FF2B5EF4-FFF2-40B4-BE49-F238E27FC236}">
                    <a16:creationId xmlns:a16="http://schemas.microsoft.com/office/drawing/2014/main" id="{B27DEBFF-3A76-91B7-D384-82C9F00383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429" y="5671602"/>
                <a:ext cx="884666" cy="369332"/>
              </a:xfrm>
              <a:prstGeom prst="rect">
                <a:avLst/>
              </a:prstGeom>
              <a:blipFill>
                <a:blip r:embed="rId7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539FE2F5-6378-4391-ABD7-61F316438DC1}"/>
              </a:ext>
            </a:extLst>
          </p:cNvPr>
          <p:cNvSpPr txBox="1"/>
          <p:nvPr/>
        </p:nvSpPr>
        <p:spPr>
          <a:xfrm rot="5400000">
            <a:off x="2164654" y="5464885"/>
            <a:ext cx="47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28C979-1C3C-E8BE-557B-4639F86714F9}"/>
              </a:ext>
            </a:extLst>
          </p:cNvPr>
          <p:cNvSpPr txBox="1"/>
          <p:nvPr/>
        </p:nvSpPr>
        <p:spPr>
          <a:xfrm rot="5400000">
            <a:off x="5078923" y="5486936"/>
            <a:ext cx="47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15F584D-43C4-54C5-127E-34070AEF56E1}"/>
                  </a:ext>
                </a:extLst>
              </p:cNvPr>
              <p:cNvSpPr txBox="1"/>
              <p:nvPr/>
            </p:nvSpPr>
            <p:spPr>
              <a:xfrm>
                <a:off x="3704501" y="5039679"/>
                <a:ext cx="641827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15F584D-43C4-54C5-127E-34070AEF5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4501" y="5039679"/>
                <a:ext cx="641827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직사각형 42"/>
          <p:cNvSpPr/>
          <p:nvPr/>
        </p:nvSpPr>
        <p:spPr>
          <a:xfrm>
            <a:off x="11169069" y="3697321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ko-KR" altLang="en-US" dirty="0"/>
          </a:p>
        </p:txBody>
      </p:sp>
      <p:cxnSp>
        <p:nvCxnSpPr>
          <p:cNvPr id="44" name="Straight Connector 5">
            <a:extLst>
              <a:ext uri="{FF2B5EF4-FFF2-40B4-BE49-F238E27FC236}">
                <a16:creationId xmlns:a16="http://schemas.microsoft.com/office/drawing/2014/main" id="{282D9D76-FEDE-2651-EF74-FD134B6EFACC}"/>
              </a:ext>
            </a:extLst>
          </p:cNvPr>
          <p:cNvCxnSpPr>
            <a:cxnSpLocks/>
          </p:cNvCxnSpPr>
          <p:nvPr/>
        </p:nvCxnSpPr>
        <p:spPr>
          <a:xfrm>
            <a:off x="7984597" y="4516255"/>
            <a:ext cx="181939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6">
            <a:extLst>
              <a:ext uri="{FF2B5EF4-FFF2-40B4-BE49-F238E27FC236}">
                <a16:creationId xmlns:a16="http://schemas.microsoft.com/office/drawing/2014/main" id="{B2A18816-8ECE-F437-A83A-652BD9224B18}"/>
              </a:ext>
            </a:extLst>
          </p:cNvPr>
          <p:cNvCxnSpPr/>
          <p:nvPr/>
        </p:nvCxnSpPr>
        <p:spPr>
          <a:xfrm>
            <a:off x="7984597" y="4897256"/>
            <a:ext cx="990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7">
            <a:extLst>
              <a:ext uri="{FF2B5EF4-FFF2-40B4-BE49-F238E27FC236}">
                <a16:creationId xmlns:a16="http://schemas.microsoft.com/office/drawing/2014/main" id="{DA0D7262-C44D-77D7-4F1E-4853DD7B0E61}"/>
              </a:ext>
            </a:extLst>
          </p:cNvPr>
          <p:cNvCxnSpPr>
            <a:cxnSpLocks/>
          </p:cNvCxnSpPr>
          <p:nvPr/>
        </p:nvCxnSpPr>
        <p:spPr>
          <a:xfrm>
            <a:off x="7984597" y="5311593"/>
            <a:ext cx="267958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8">
            <a:extLst>
              <a:ext uri="{FF2B5EF4-FFF2-40B4-BE49-F238E27FC236}">
                <a16:creationId xmlns:a16="http://schemas.microsoft.com/office/drawing/2014/main" id="{C6C9463E-9B71-9B62-2A58-F22271296CBF}"/>
              </a:ext>
            </a:extLst>
          </p:cNvPr>
          <p:cNvSpPr/>
          <p:nvPr/>
        </p:nvSpPr>
        <p:spPr>
          <a:xfrm>
            <a:off x="8246021" y="4409303"/>
            <a:ext cx="389570" cy="624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8" name="Straight Connector 9">
            <a:extLst>
              <a:ext uri="{FF2B5EF4-FFF2-40B4-BE49-F238E27FC236}">
                <a16:creationId xmlns:a16="http://schemas.microsoft.com/office/drawing/2014/main" id="{280A945C-9E12-FE65-AA0E-B93230CE1A48}"/>
              </a:ext>
            </a:extLst>
          </p:cNvPr>
          <p:cNvCxnSpPr>
            <a:cxnSpLocks/>
          </p:cNvCxnSpPr>
          <p:nvPr/>
        </p:nvCxnSpPr>
        <p:spPr>
          <a:xfrm>
            <a:off x="8635591" y="4897256"/>
            <a:ext cx="202858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10">
            <a:extLst>
              <a:ext uri="{FF2B5EF4-FFF2-40B4-BE49-F238E27FC236}">
                <a16:creationId xmlns:a16="http://schemas.microsoft.com/office/drawing/2014/main" id="{7DDBEB20-31B4-3BA9-007F-198860B7AC25}"/>
              </a:ext>
            </a:extLst>
          </p:cNvPr>
          <p:cNvCxnSpPr>
            <a:cxnSpLocks/>
          </p:cNvCxnSpPr>
          <p:nvPr/>
        </p:nvCxnSpPr>
        <p:spPr>
          <a:xfrm>
            <a:off x="9510979" y="4516255"/>
            <a:ext cx="115319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11">
            <a:extLst>
              <a:ext uri="{FF2B5EF4-FFF2-40B4-BE49-F238E27FC236}">
                <a16:creationId xmlns:a16="http://schemas.microsoft.com/office/drawing/2014/main" id="{92958BA3-F4CA-C062-3D07-38F45BDC9285}"/>
              </a:ext>
            </a:extLst>
          </p:cNvPr>
          <p:cNvCxnSpPr>
            <a:cxnSpLocks/>
          </p:cNvCxnSpPr>
          <p:nvPr/>
        </p:nvCxnSpPr>
        <p:spPr>
          <a:xfrm>
            <a:off x="7980932" y="6253989"/>
            <a:ext cx="268324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12">
                <a:extLst>
                  <a:ext uri="{FF2B5EF4-FFF2-40B4-BE49-F238E27FC236}">
                    <a16:creationId xmlns:a16="http://schemas.microsoft.com/office/drawing/2014/main" id="{864D7D29-CDFF-E045-8549-6A9AA89ED965}"/>
                  </a:ext>
                </a:extLst>
              </p:cNvPr>
              <p:cNvSpPr/>
              <p:nvPr/>
            </p:nvSpPr>
            <p:spPr>
              <a:xfrm>
                <a:off x="7282128" y="4331589"/>
                <a:ext cx="6167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Rectangle 12">
                <a:extLst>
                  <a:ext uri="{FF2B5EF4-FFF2-40B4-BE49-F238E27FC236}">
                    <a16:creationId xmlns:a16="http://schemas.microsoft.com/office/drawing/2014/main" id="{864D7D29-CDFF-E045-8549-6A9AA89ED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2128" y="4331589"/>
                <a:ext cx="616771" cy="369332"/>
              </a:xfrm>
              <a:prstGeom prst="rect">
                <a:avLst/>
              </a:prstGeom>
              <a:blipFill>
                <a:blip r:embed="rId9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13">
                <a:extLst>
                  <a:ext uri="{FF2B5EF4-FFF2-40B4-BE49-F238E27FC236}">
                    <a16:creationId xmlns:a16="http://schemas.microsoft.com/office/drawing/2014/main" id="{D8FFE864-37E0-4661-AC80-0BE5391A7BE0}"/>
                  </a:ext>
                </a:extLst>
              </p:cNvPr>
              <p:cNvSpPr/>
              <p:nvPr/>
            </p:nvSpPr>
            <p:spPr>
              <a:xfrm>
                <a:off x="7277733" y="4664651"/>
                <a:ext cx="6167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Rectangle 13">
                <a:extLst>
                  <a:ext uri="{FF2B5EF4-FFF2-40B4-BE49-F238E27FC236}">
                    <a16:creationId xmlns:a16="http://schemas.microsoft.com/office/drawing/2014/main" id="{D8FFE864-37E0-4661-AC80-0BE5391A7B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733" y="4664651"/>
                <a:ext cx="616771" cy="369332"/>
              </a:xfrm>
              <a:prstGeom prst="rect">
                <a:avLst/>
              </a:prstGeom>
              <a:blipFill>
                <a:blip r:embed="rId10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14">
                <a:extLst>
                  <a:ext uri="{FF2B5EF4-FFF2-40B4-BE49-F238E27FC236}">
                    <a16:creationId xmlns:a16="http://schemas.microsoft.com/office/drawing/2014/main" id="{9C22749A-3391-F483-AC6B-539BD426DF28}"/>
                  </a:ext>
                </a:extLst>
              </p:cNvPr>
              <p:cNvSpPr/>
              <p:nvPr/>
            </p:nvSpPr>
            <p:spPr>
              <a:xfrm>
                <a:off x="7281811" y="5046321"/>
                <a:ext cx="6167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Rectangle 14">
                <a:extLst>
                  <a:ext uri="{FF2B5EF4-FFF2-40B4-BE49-F238E27FC236}">
                    <a16:creationId xmlns:a16="http://schemas.microsoft.com/office/drawing/2014/main" id="{9C22749A-3391-F483-AC6B-539BD426DF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1811" y="5046321"/>
                <a:ext cx="616771" cy="369332"/>
              </a:xfrm>
              <a:prstGeom prst="rect">
                <a:avLst/>
              </a:prstGeom>
              <a:blipFill>
                <a:blip r:embed="rId11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15">
                <a:extLst>
                  <a:ext uri="{FF2B5EF4-FFF2-40B4-BE49-F238E27FC236}">
                    <a16:creationId xmlns:a16="http://schemas.microsoft.com/office/drawing/2014/main" id="{618D2E4C-580F-209E-7C8D-E37AB56E9BBD}"/>
                  </a:ext>
                </a:extLst>
              </p:cNvPr>
              <p:cNvSpPr/>
              <p:nvPr/>
            </p:nvSpPr>
            <p:spPr>
              <a:xfrm>
                <a:off x="7277733" y="6050533"/>
                <a:ext cx="6650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Rectangle 15">
                <a:extLst>
                  <a:ext uri="{FF2B5EF4-FFF2-40B4-BE49-F238E27FC236}">
                    <a16:creationId xmlns:a16="http://schemas.microsoft.com/office/drawing/2014/main" id="{618D2E4C-580F-209E-7C8D-E37AB56E9B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733" y="6050533"/>
                <a:ext cx="66505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Connector 16">
            <a:extLst>
              <a:ext uri="{FF2B5EF4-FFF2-40B4-BE49-F238E27FC236}">
                <a16:creationId xmlns:a16="http://schemas.microsoft.com/office/drawing/2014/main" id="{2A3DACC5-66EB-7E52-0CDA-CCB7B2058547}"/>
              </a:ext>
            </a:extLst>
          </p:cNvPr>
          <p:cNvCxnSpPr>
            <a:cxnSpLocks/>
          </p:cNvCxnSpPr>
          <p:nvPr/>
        </p:nvCxnSpPr>
        <p:spPr>
          <a:xfrm>
            <a:off x="7972570" y="5875057"/>
            <a:ext cx="268324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17">
                <a:extLst>
                  <a:ext uri="{FF2B5EF4-FFF2-40B4-BE49-F238E27FC236}">
                    <a16:creationId xmlns:a16="http://schemas.microsoft.com/office/drawing/2014/main" id="{55713C74-0280-97A2-DAF3-7BB7B465CE9C}"/>
                  </a:ext>
                </a:extLst>
              </p:cNvPr>
              <p:cNvSpPr/>
              <p:nvPr/>
            </p:nvSpPr>
            <p:spPr>
              <a:xfrm>
                <a:off x="7269371" y="5671601"/>
                <a:ext cx="8846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Rectangle 17">
                <a:extLst>
                  <a:ext uri="{FF2B5EF4-FFF2-40B4-BE49-F238E27FC236}">
                    <a16:creationId xmlns:a16="http://schemas.microsoft.com/office/drawing/2014/main" id="{55713C74-0280-97A2-DAF3-7BB7B465CE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371" y="5671601"/>
                <a:ext cx="884666" cy="369332"/>
              </a:xfrm>
              <a:prstGeom prst="rect">
                <a:avLst/>
              </a:prstGeom>
              <a:blipFill>
                <a:blip r:embed="rId1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4BD43386-F072-448C-82BD-F2EB8F067585}"/>
              </a:ext>
            </a:extLst>
          </p:cNvPr>
          <p:cNvSpPr txBox="1"/>
          <p:nvPr/>
        </p:nvSpPr>
        <p:spPr>
          <a:xfrm rot="5400000">
            <a:off x="7416596" y="5464884"/>
            <a:ext cx="47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4DCAC8E-4734-7A83-A112-59FA1A9B8964}"/>
              </a:ext>
            </a:extLst>
          </p:cNvPr>
          <p:cNvSpPr txBox="1"/>
          <p:nvPr/>
        </p:nvSpPr>
        <p:spPr>
          <a:xfrm rot="5400000">
            <a:off x="10330865" y="5486935"/>
            <a:ext cx="47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4DC0B14-7A7A-9954-DD93-F156E6C27BBC}"/>
                  </a:ext>
                </a:extLst>
              </p:cNvPr>
              <p:cNvSpPr txBox="1"/>
              <p:nvPr/>
            </p:nvSpPr>
            <p:spPr>
              <a:xfrm>
                <a:off x="8869152" y="3718809"/>
                <a:ext cx="641827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4DC0B14-7A7A-9954-DD93-F156E6C27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9152" y="3718809"/>
                <a:ext cx="641827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28">
            <a:extLst>
              <a:ext uri="{FF2B5EF4-FFF2-40B4-BE49-F238E27FC236}">
                <a16:creationId xmlns:a16="http://schemas.microsoft.com/office/drawing/2014/main" id="{69BF4AC5-57B8-D66F-9553-67B8234A24D7}"/>
              </a:ext>
            </a:extLst>
          </p:cNvPr>
          <p:cNvSpPr/>
          <p:nvPr/>
        </p:nvSpPr>
        <p:spPr>
          <a:xfrm>
            <a:off x="8872152" y="4797778"/>
            <a:ext cx="389570" cy="624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31">
            <a:extLst>
              <a:ext uri="{FF2B5EF4-FFF2-40B4-BE49-F238E27FC236}">
                <a16:creationId xmlns:a16="http://schemas.microsoft.com/office/drawing/2014/main" id="{D7B0F65E-BFBF-DD5F-511E-3086004827B3}"/>
              </a:ext>
            </a:extLst>
          </p:cNvPr>
          <p:cNvSpPr/>
          <p:nvPr/>
        </p:nvSpPr>
        <p:spPr>
          <a:xfrm>
            <a:off x="9473024" y="5671601"/>
            <a:ext cx="315425" cy="8378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32">
            <a:extLst>
              <a:ext uri="{FF2B5EF4-FFF2-40B4-BE49-F238E27FC236}">
                <a16:creationId xmlns:a16="http://schemas.microsoft.com/office/drawing/2014/main" id="{D5A8D7D7-B597-3BDA-518D-5E118808E9AD}"/>
              </a:ext>
            </a:extLst>
          </p:cNvPr>
          <p:cNvSpPr/>
          <p:nvPr/>
        </p:nvSpPr>
        <p:spPr>
          <a:xfrm>
            <a:off x="10028008" y="5098441"/>
            <a:ext cx="389570" cy="4279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 33">
            <a:extLst>
              <a:ext uri="{FF2B5EF4-FFF2-40B4-BE49-F238E27FC236}">
                <a16:creationId xmlns:a16="http://schemas.microsoft.com/office/drawing/2014/main" id="{5B298ECF-B591-05A0-8648-E0A642B25870}"/>
              </a:ext>
            </a:extLst>
          </p:cNvPr>
          <p:cNvSpPr/>
          <p:nvPr/>
        </p:nvSpPr>
        <p:spPr>
          <a:xfrm>
            <a:off x="10306418" y="6044956"/>
            <a:ext cx="389570" cy="4279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직사각형 63"/>
              <p:cNvSpPr/>
              <p:nvPr/>
            </p:nvSpPr>
            <p:spPr>
              <a:xfrm>
                <a:off x="6123826" y="5316470"/>
                <a:ext cx="5373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64" name="직사각형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3826" y="5316470"/>
                <a:ext cx="53732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0148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/>
      <p:bldP spid="13" grpId="0"/>
      <p:bldP spid="14" grpId="0"/>
      <p:bldP spid="15" grpId="0"/>
      <p:bldP spid="17" grpId="0"/>
      <p:bldP spid="18" grpId="0"/>
      <p:bldP spid="19" grpId="0"/>
      <p:bldP spid="20" grpId="0" animBg="1"/>
      <p:bldP spid="43" grpId="0"/>
      <p:bldP spid="47" grpId="0" animBg="1"/>
      <p:bldP spid="51" grpId="0"/>
      <p:bldP spid="52" grpId="0"/>
      <p:bldP spid="53" grpId="0"/>
      <p:bldP spid="54" grpId="0"/>
      <p:bldP spid="56" grpId="0"/>
      <p:bldP spid="57" grpId="0"/>
      <p:bldP spid="58" grpId="0"/>
      <p:bldP spid="59" grpId="0" animBg="1"/>
      <p:bldP spid="60" grpId="0" animBg="1"/>
      <p:bldP spid="61" grpId="0" animBg="1"/>
      <p:bldP spid="62" grpId="0" animBg="1"/>
      <p:bldP spid="63" grpId="0" animBg="1"/>
      <p:bldP spid="6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Multiple qubit gates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000" dirty="0" smtClean="0"/>
                  <a:t>Recall the representation of unitary is given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b>
                        <m:sup/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⟨"/>
                              <m:endChr m:val="|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A unitary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ko-KR" sz="2000" dirty="0" smtClean="0"/>
                  <a:t> is perfectly described by the basis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|"/>
                        <m:endChr m:val="⟩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→|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Classical 2-(</a:t>
                </a:r>
                <a:r>
                  <a:rPr lang="en-US" altLang="ko-KR" sz="2000" dirty="0" err="1" smtClean="0"/>
                  <a:t>qu</a:t>
                </a:r>
                <a:r>
                  <a:rPr lang="en-US" altLang="ko-KR" sz="2000" dirty="0" smtClean="0"/>
                  <a:t>)bit gates: CNOT, CCNOT, …		( </a:t>
                </a:r>
                <a:r>
                  <a:rPr lang="en-US" altLang="ko-KR" sz="2000" dirty="0" err="1" smtClean="0"/>
                  <a:t>ket</a:t>
                </a:r>
                <a:r>
                  <a:rPr lang="en-US" altLang="ko-KR" sz="2000" dirty="0" smtClean="0"/>
                  <a:t>-bra notation on board 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638" t="-1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45">
            <a:extLst>
              <a:ext uri="{FF2B5EF4-FFF2-40B4-BE49-F238E27FC236}">
                <a16:creationId xmlns:a16="http://schemas.microsoft.com/office/drawing/2014/main" id="{E95E7823-476B-6B69-D9AB-251CD032614F}"/>
              </a:ext>
            </a:extLst>
          </p:cNvPr>
          <p:cNvCxnSpPr>
            <a:cxnSpLocks/>
          </p:cNvCxnSpPr>
          <p:nvPr/>
        </p:nvCxnSpPr>
        <p:spPr>
          <a:xfrm>
            <a:off x="2632902" y="5264442"/>
            <a:ext cx="8878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6">
            <a:extLst>
              <a:ext uri="{FF2B5EF4-FFF2-40B4-BE49-F238E27FC236}">
                <a16:creationId xmlns:a16="http://schemas.microsoft.com/office/drawing/2014/main" id="{0B6723A4-C950-915E-A495-C56DD524D533}"/>
              </a:ext>
            </a:extLst>
          </p:cNvPr>
          <p:cNvCxnSpPr>
            <a:cxnSpLocks/>
          </p:cNvCxnSpPr>
          <p:nvPr/>
        </p:nvCxnSpPr>
        <p:spPr>
          <a:xfrm>
            <a:off x="2632902" y="5645443"/>
            <a:ext cx="8878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47">
            <a:extLst>
              <a:ext uri="{FF2B5EF4-FFF2-40B4-BE49-F238E27FC236}">
                <a16:creationId xmlns:a16="http://schemas.microsoft.com/office/drawing/2014/main" id="{6B2D63A5-DA8A-A49C-E713-AC5266557201}"/>
              </a:ext>
            </a:extLst>
          </p:cNvPr>
          <p:cNvCxnSpPr>
            <a:cxnSpLocks/>
            <a:stCxn id="7" idx="4"/>
            <a:endCxn id="8" idx="4"/>
          </p:cNvCxnSpPr>
          <p:nvPr/>
        </p:nvCxnSpPr>
        <p:spPr>
          <a:xfrm>
            <a:off x="3097268" y="5320888"/>
            <a:ext cx="4762" cy="4123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48">
            <a:extLst>
              <a:ext uri="{FF2B5EF4-FFF2-40B4-BE49-F238E27FC236}">
                <a16:creationId xmlns:a16="http://schemas.microsoft.com/office/drawing/2014/main" id="{7409B2A2-257A-C892-637A-EFCC42529337}"/>
              </a:ext>
            </a:extLst>
          </p:cNvPr>
          <p:cNvSpPr/>
          <p:nvPr/>
        </p:nvSpPr>
        <p:spPr>
          <a:xfrm>
            <a:off x="3021767" y="5158496"/>
            <a:ext cx="151002" cy="1623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49">
            <a:extLst>
              <a:ext uri="{FF2B5EF4-FFF2-40B4-BE49-F238E27FC236}">
                <a16:creationId xmlns:a16="http://schemas.microsoft.com/office/drawing/2014/main" id="{731DEB19-D2B3-D0FE-2635-C5C12ADDBDD3}"/>
              </a:ext>
            </a:extLst>
          </p:cNvPr>
          <p:cNvSpPr/>
          <p:nvPr/>
        </p:nvSpPr>
        <p:spPr>
          <a:xfrm>
            <a:off x="3021767" y="5529736"/>
            <a:ext cx="160526" cy="20348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549D6-D926-E6C4-939B-3F5B5233FE7A}"/>
              </a:ext>
            </a:extLst>
          </p:cNvPr>
          <p:cNvSpPr txBox="1"/>
          <p:nvPr/>
        </p:nvSpPr>
        <p:spPr>
          <a:xfrm>
            <a:off x="2437807" y="4625657"/>
            <a:ext cx="1651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CNOT gate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1943963" y="5070715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963" y="5070715"/>
                <a:ext cx="6600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1956017" y="5446813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017" y="5446813"/>
                <a:ext cx="6600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3520768" y="5068371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768" y="5068371"/>
                <a:ext cx="6600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3532822" y="5444469"/>
                <a:ext cx="11146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822" y="5444469"/>
                <a:ext cx="1114679" cy="369332"/>
              </a:xfrm>
              <a:prstGeom prst="rect">
                <a:avLst/>
              </a:prstGeom>
              <a:blipFill>
                <a:blip r:embed="rId6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45">
            <a:extLst>
              <a:ext uri="{FF2B5EF4-FFF2-40B4-BE49-F238E27FC236}">
                <a16:creationId xmlns:a16="http://schemas.microsoft.com/office/drawing/2014/main" id="{E95E7823-476B-6B69-D9AB-251CD032614F}"/>
              </a:ext>
            </a:extLst>
          </p:cNvPr>
          <p:cNvCxnSpPr>
            <a:cxnSpLocks/>
          </p:cNvCxnSpPr>
          <p:nvPr/>
        </p:nvCxnSpPr>
        <p:spPr>
          <a:xfrm>
            <a:off x="7877419" y="5264442"/>
            <a:ext cx="8878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46">
            <a:extLst>
              <a:ext uri="{FF2B5EF4-FFF2-40B4-BE49-F238E27FC236}">
                <a16:creationId xmlns:a16="http://schemas.microsoft.com/office/drawing/2014/main" id="{0B6723A4-C950-915E-A495-C56DD524D533}"/>
              </a:ext>
            </a:extLst>
          </p:cNvPr>
          <p:cNvCxnSpPr>
            <a:cxnSpLocks/>
          </p:cNvCxnSpPr>
          <p:nvPr/>
        </p:nvCxnSpPr>
        <p:spPr>
          <a:xfrm>
            <a:off x="7877419" y="5620276"/>
            <a:ext cx="8878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47">
            <a:extLst>
              <a:ext uri="{FF2B5EF4-FFF2-40B4-BE49-F238E27FC236}">
                <a16:creationId xmlns:a16="http://schemas.microsoft.com/office/drawing/2014/main" id="{6B2D63A5-DA8A-A49C-E713-AC5266557201}"/>
              </a:ext>
            </a:extLst>
          </p:cNvPr>
          <p:cNvCxnSpPr>
            <a:cxnSpLocks/>
            <a:stCxn id="21" idx="4"/>
            <a:endCxn id="29" idx="4"/>
          </p:cNvCxnSpPr>
          <p:nvPr/>
        </p:nvCxnSpPr>
        <p:spPr>
          <a:xfrm>
            <a:off x="8341785" y="5320888"/>
            <a:ext cx="4762" cy="7327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48">
            <a:extLst>
              <a:ext uri="{FF2B5EF4-FFF2-40B4-BE49-F238E27FC236}">
                <a16:creationId xmlns:a16="http://schemas.microsoft.com/office/drawing/2014/main" id="{7409B2A2-257A-C892-637A-EFCC42529337}"/>
              </a:ext>
            </a:extLst>
          </p:cNvPr>
          <p:cNvSpPr/>
          <p:nvPr/>
        </p:nvSpPr>
        <p:spPr>
          <a:xfrm>
            <a:off x="8266284" y="5158496"/>
            <a:ext cx="151002" cy="1623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9549D6-D926-E6C4-939B-3F5B5233FE7A}"/>
              </a:ext>
            </a:extLst>
          </p:cNvPr>
          <p:cNvSpPr txBox="1"/>
          <p:nvPr/>
        </p:nvSpPr>
        <p:spPr>
          <a:xfrm>
            <a:off x="7682324" y="4625657"/>
            <a:ext cx="1651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CCNOT </a:t>
            </a:r>
            <a:r>
              <a:rPr lang="en-US" sz="1400" dirty="0"/>
              <a:t>gate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7188480" y="5070715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8480" y="5070715"/>
                <a:ext cx="66004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7200534" y="5421646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534" y="5421646"/>
                <a:ext cx="66004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8765285" y="5068371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5285" y="5068371"/>
                <a:ext cx="66004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8537965" y="5391481"/>
                <a:ext cx="11146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7965" y="5391481"/>
                <a:ext cx="111467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46">
            <a:extLst>
              <a:ext uri="{FF2B5EF4-FFF2-40B4-BE49-F238E27FC236}">
                <a16:creationId xmlns:a16="http://schemas.microsoft.com/office/drawing/2014/main" id="{0B6723A4-C950-915E-A495-C56DD524D533}"/>
              </a:ext>
            </a:extLst>
          </p:cNvPr>
          <p:cNvCxnSpPr>
            <a:cxnSpLocks/>
          </p:cNvCxnSpPr>
          <p:nvPr/>
        </p:nvCxnSpPr>
        <p:spPr>
          <a:xfrm>
            <a:off x="7877419" y="5940704"/>
            <a:ext cx="8878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49">
            <a:extLst>
              <a:ext uri="{FF2B5EF4-FFF2-40B4-BE49-F238E27FC236}">
                <a16:creationId xmlns:a16="http://schemas.microsoft.com/office/drawing/2014/main" id="{731DEB19-D2B3-D0FE-2635-C5C12ADDBDD3}"/>
              </a:ext>
            </a:extLst>
          </p:cNvPr>
          <p:cNvSpPr/>
          <p:nvPr/>
        </p:nvSpPr>
        <p:spPr>
          <a:xfrm>
            <a:off x="8266284" y="5850164"/>
            <a:ext cx="160526" cy="20348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7200534" y="5767241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534" y="5767241"/>
                <a:ext cx="66004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8815757" y="5745616"/>
                <a:ext cx="11146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757" y="5745616"/>
                <a:ext cx="1114679" cy="369332"/>
              </a:xfrm>
              <a:prstGeom prst="rect">
                <a:avLst/>
              </a:prstGeom>
              <a:blipFill>
                <a:blip r:embed="rId1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val 48">
            <a:extLst>
              <a:ext uri="{FF2B5EF4-FFF2-40B4-BE49-F238E27FC236}">
                <a16:creationId xmlns:a16="http://schemas.microsoft.com/office/drawing/2014/main" id="{7409B2A2-257A-C892-637A-EFCC42529337}"/>
              </a:ext>
            </a:extLst>
          </p:cNvPr>
          <p:cNvSpPr/>
          <p:nvPr/>
        </p:nvSpPr>
        <p:spPr>
          <a:xfrm>
            <a:off x="8259988" y="5533773"/>
            <a:ext cx="151002" cy="1623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89549D6-D926-E6C4-939B-3F5B5233FE7A}"/>
                  </a:ext>
                </a:extLst>
              </p:cNvPr>
              <p:cNvSpPr txBox="1"/>
              <p:nvPr/>
            </p:nvSpPr>
            <p:spPr>
              <a:xfrm>
                <a:off x="2437807" y="6021541"/>
                <a:ext cx="1651331" cy="615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sub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⟩⟨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89549D6-D926-E6C4-939B-3F5B5233F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7807" y="6021541"/>
                <a:ext cx="1651331" cy="615168"/>
              </a:xfrm>
              <a:prstGeom prst="rect">
                <a:avLst/>
              </a:prstGeom>
              <a:blipFill>
                <a:blip r:embed="rId13"/>
                <a:stretch>
                  <a:fillRect l="-34317" t="-115842" r="-369" b="-1663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89549D6-D926-E6C4-939B-3F5B5233FE7A}"/>
                  </a:ext>
                </a:extLst>
              </p:cNvPr>
              <p:cNvSpPr txBox="1"/>
              <p:nvPr/>
            </p:nvSpPr>
            <p:spPr>
              <a:xfrm>
                <a:off x="6728594" y="6174584"/>
                <a:ext cx="3396432" cy="615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𝑎𝑏𝑐</m:t>
                          </m:r>
                        </m:sub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⟩⟨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89549D6-D926-E6C4-939B-3F5B5233F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8594" y="6174584"/>
                <a:ext cx="3396432" cy="615168"/>
              </a:xfrm>
              <a:prstGeom prst="rect">
                <a:avLst/>
              </a:prstGeom>
              <a:blipFill>
                <a:blip r:embed="rId14"/>
                <a:stretch>
                  <a:fillRect t="-115842" b="-1663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1999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3" grpId="0"/>
      <p:bldP spid="16" grpId="0"/>
      <p:bldP spid="17" grpId="0"/>
      <p:bldP spid="21" grpId="0" animBg="1"/>
      <p:bldP spid="23" grpId="0"/>
      <p:bldP spid="24" grpId="0"/>
      <p:bldP spid="25" grpId="0"/>
      <p:bldP spid="26" grpId="0"/>
      <p:bldP spid="27" grpId="0"/>
      <p:bldP spid="29" grpId="0" animBg="1"/>
      <p:bldP spid="30" grpId="0"/>
      <p:bldP spid="31" grpId="0"/>
      <p:bldP spid="33" grpId="0" animBg="1"/>
      <p:bldP spid="32" grpId="0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Computing classical circuits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Proof sketch: Any classical circuit = circuit only using NAND gates</a:t>
                </a:r>
                <a:endParaRPr lang="en-US" altLang="ko-KR" sz="2000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𝑁𝐴𝑁𝐷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𝐴𝑁𝐷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𝐶𝐶𝑁𝑂𝑇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For each NAND gate on input </a:t>
                </a:r>
                <a:r>
                  <a:rPr lang="en-US" altLang="ko-KR" sz="2000" dirty="0" err="1" smtClean="0"/>
                  <a:t>a,b</a:t>
                </a:r>
                <a:r>
                  <a:rPr lang="en-US" altLang="ko-KR" sz="2000" dirty="0" smtClean="0"/>
                  <a:t>, we do:</a:t>
                </a:r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 smtClean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직사각형 10"/>
          <p:cNvSpPr/>
          <p:nvPr/>
        </p:nvSpPr>
        <p:spPr>
          <a:xfrm>
            <a:off x="838200" y="1820411"/>
            <a:ext cx="10515600" cy="4865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/>
              <a:t>(Theorem) Any classical circuit can be efficiently compiled into a quantum circuit of similar size</a:t>
            </a:r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620" y="3878027"/>
            <a:ext cx="1255601" cy="5542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2236564" y="3816991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6564" y="3816991"/>
                <a:ext cx="6600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2237962" y="4070059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7962" y="4070059"/>
                <a:ext cx="6600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3858339" y="3962109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𝑁𝐴𝑁𝐷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339" y="3962109"/>
                <a:ext cx="660041" cy="369332"/>
              </a:xfrm>
              <a:prstGeom prst="rect">
                <a:avLst/>
              </a:prstGeom>
              <a:blipFill>
                <a:blip r:embed="rId6"/>
                <a:stretch>
                  <a:fillRect r="-121296" b="-14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45">
            <a:extLst>
              <a:ext uri="{FF2B5EF4-FFF2-40B4-BE49-F238E27FC236}">
                <a16:creationId xmlns:a16="http://schemas.microsoft.com/office/drawing/2014/main" id="{E95E7823-476B-6B69-D9AB-251CD032614F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7118678" y="3779066"/>
            <a:ext cx="1808416" cy="2297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46">
            <a:extLst>
              <a:ext uri="{FF2B5EF4-FFF2-40B4-BE49-F238E27FC236}">
                <a16:creationId xmlns:a16="http://schemas.microsoft.com/office/drawing/2014/main" id="{0B6723A4-C950-915E-A495-C56DD524D533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7130732" y="4155164"/>
            <a:ext cx="1796362" cy="2787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47">
            <a:extLst>
              <a:ext uri="{FF2B5EF4-FFF2-40B4-BE49-F238E27FC236}">
                <a16:creationId xmlns:a16="http://schemas.microsoft.com/office/drawing/2014/main" id="{6B2D63A5-DA8A-A49C-E713-AC5266557201}"/>
              </a:ext>
            </a:extLst>
          </p:cNvPr>
          <p:cNvCxnSpPr>
            <a:cxnSpLocks/>
            <a:stCxn id="39" idx="4"/>
            <a:endCxn id="46" idx="4"/>
          </p:cNvCxnSpPr>
          <p:nvPr/>
        </p:nvCxnSpPr>
        <p:spPr>
          <a:xfrm>
            <a:off x="8503594" y="3858483"/>
            <a:ext cx="4762" cy="7327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48">
            <a:extLst>
              <a:ext uri="{FF2B5EF4-FFF2-40B4-BE49-F238E27FC236}">
                <a16:creationId xmlns:a16="http://schemas.microsoft.com/office/drawing/2014/main" id="{7409B2A2-257A-C892-637A-EFCC42529337}"/>
              </a:ext>
            </a:extLst>
          </p:cNvPr>
          <p:cNvSpPr/>
          <p:nvPr/>
        </p:nvSpPr>
        <p:spPr>
          <a:xfrm>
            <a:off x="8428093" y="3696091"/>
            <a:ext cx="151002" cy="1623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6458637" y="3594400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637" y="3594400"/>
                <a:ext cx="66004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6470691" y="3970498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691" y="3970498"/>
                <a:ext cx="66004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8882731" y="3592056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2731" y="3592056"/>
                <a:ext cx="66004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8655411" y="3940333"/>
                <a:ext cx="11146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5411" y="3940333"/>
                <a:ext cx="111467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6">
            <a:extLst>
              <a:ext uri="{FF2B5EF4-FFF2-40B4-BE49-F238E27FC236}">
                <a16:creationId xmlns:a16="http://schemas.microsoft.com/office/drawing/2014/main" id="{0B6723A4-C950-915E-A495-C56DD524D533}"/>
              </a:ext>
            </a:extLst>
          </p:cNvPr>
          <p:cNvCxnSpPr>
            <a:cxnSpLocks/>
          </p:cNvCxnSpPr>
          <p:nvPr/>
        </p:nvCxnSpPr>
        <p:spPr>
          <a:xfrm>
            <a:off x="7130732" y="4503466"/>
            <a:ext cx="179636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9">
            <a:extLst>
              <a:ext uri="{FF2B5EF4-FFF2-40B4-BE49-F238E27FC236}">
                <a16:creationId xmlns:a16="http://schemas.microsoft.com/office/drawing/2014/main" id="{731DEB19-D2B3-D0FE-2635-C5C12ADDBDD3}"/>
              </a:ext>
            </a:extLst>
          </p:cNvPr>
          <p:cNvSpPr/>
          <p:nvPr/>
        </p:nvSpPr>
        <p:spPr>
          <a:xfrm>
            <a:off x="8428093" y="4387759"/>
            <a:ext cx="160526" cy="20348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6470691" y="4290926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691" y="4290926"/>
                <a:ext cx="66004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8933203" y="4269301"/>
                <a:ext cx="11146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𝑁𝐴𝑁𝐷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3203" y="4269301"/>
                <a:ext cx="1114679" cy="369332"/>
              </a:xfrm>
              <a:prstGeom prst="rect">
                <a:avLst/>
              </a:prstGeom>
              <a:blipFill>
                <a:blip r:embed="rId12"/>
                <a:stretch>
                  <a:fillRect r="-30601"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Oval 48">
            <a:extLst>
              <a:ext uri="{FF2B5EF4-FFF2-40B4-BE49-F238E27FC236}">
                <a16:creationId xmlns:a16="http://schemas.microsoft.com/office/drawing/2014/main" id="{7409B2A2-257A-C892-637A-EFCC42529337}"/>
              </a:ext>
            </a:extLst>
          </p:cNvPr>
          <p:cNvSpPr/>
          <p:nvPr/>
        </p:nvSpPr>
        <p:spPr>
          <a:xfrm>
            <a:off x="8421797" y="4096535"/>
            <a:ext cx="151002" cy="1623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직사각형 55"/>
              <p:cNvSpPr/>
              <p:nvPr/>
            </p:nvSpPr>
            <p:spPr>
              <a:xfrm>
                <a:off x="7653408" y="4353537"/>
                <a:ext cx="315456" cy="31545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6" name="직사각형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3408" y="4353537"/>
                <a:ext cx="315456" cy="315456"/>
              </a:xfrm>
              <a:prstGeom prst="rect">
                <a:avLst/>
              </a:prstGeom>
              <a:blipFill>
                <a:blip r:embed="rId13"/>
                <a:stretch>
                  <a:fillRect l="-1852" r="-1852" b="-185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오른쪽 화살표 54"/>
          <p:cNvSpPr/>
          <p:nvPr/>
        </p:nvSpPr>
        <p:spPr>
          <a:xfrm>
            <a:off x="5670958" y="4070059"/>
            <a:ext cx="687897" cy="2396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082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2" grpId="0"/>
      <p:bldP spid="34" grpId="0"/>
      <p:bldP spid="35" grpId="0"/>
      <p:bldP spid="39" grpId="0" animBg="1"/>
      <p:bldP spid="41" grpId="0"/>
      <p:bldP spid="42" grpId="0"/>
      <p:bldP spid="43" grpId="0"/>
      <p:bldP spid="44" grpId="0"/>
      <p:bldP spid="46" grpId="0" animBg="1"/>
      <p:bldP spid="47" grpId="0"/>
      <p:bldP spid="48" grpId="0"/>
      <p:bldP spid="49" grpId="0" animBg="1"/>
      <p:bldP spid="56" grpId="0" animBg="1"/>
      <p:bldP spid="5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Computing classical circuits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A8FCB-12CC-692A-1B75-ED3ACF8A8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235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000" dirty="0" smtClean="0"/>
          </a:p>
        </p:txBody>
      </p:sp>
      <p:sp>
        <p:nvSpPr>
          <p:cNvPr id="11" name="직사각형 10"/>
          <p:cNvSpPr/>
          <p:nvPr/>
        </p:nvSpPr>
        <p:spPr>
          <a:xfrm>
            <a:off x="838200" y="1820411"/>
            <a:ext cx="10515600" cy="4865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/>
              <a:t>(Theorem) Any classical circuit can be efficiently compiled into a quantum circuit of similar size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직사각형 57"/>
              <p:cNvSpPr/>
              <p:nvPr/>
            </p:nvSpPr>
            <p:spPr>
              <a:xfrm>
                <a:off x="838200" y="2598550"/>
                <a:ext cx="10515600" cy="90176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dirty="0" smtClean="0"/>
                  <a:t>(Corollary) For any classical circuit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altLang="ko-KR" dirty="0" smtClean="0"/>
                  <a:t>, there is a similar-size unitary circuit for</a:t>
                </a:r>
                <a:endParaRPr lang="en-US" altLang="ko-KR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→|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altLang="ko-KR" dirty="0" smtClean="0"/>
              </a:p>
              <a:p>
                <a:r>
                  <a:rPr lang="en-US" altLang="ko-KR" dirty="0" smtClean="0"/>
                  <a:t>for any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8" name="직사각형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98550"/>
                <a:ext cx="10515600" cy="901760"/>
              </a:xfrm>
              <a:prstGeom prst="rect">
                <a:avLst/>
              </a:prstGeom>
              <a:blipFill>
                <a:blip r:embed="rId2"/>
                <a:stretch>
                  <a:fillRect l="-463" t="-3333" b="-10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직사각형 58"/>
              <p:cNvSpPr/>
              <p:nvPr/>
            </p:nvSpPr>
            <p:spPr>
              <a:xfrm>
                <a:off x="838200" y="6120141"/>
                <a:ext cx="10515600" cy="40076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dirty="0" smtClean="0"/>
                  <a:t>(Corollary)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𝐵𝑄𝑃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includes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ko-KR" dirty="0" smtClean="0"/>
                  <a:t>			(though we did not define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𝐵𝑄𝑃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yet)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9" name="직사각형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120141"/>
                <a:ext cx="10515600" cy="400765"/>
              </a:xfrm>
              <a:prstGeom prst="rect">
                <a:avLst/>
              </a:prstGeom>
              <a:blipFill>
                <a:blip r:embed="rId15"/>
                <a:stretch>
                  <a:fillRect l="-463" t="-2941" b="-17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5">
            <a:extLst>
              <a:ext uri="{FF2B5EF4-FFF2-40B4-BE49-F238E27FC236}">
                <a16:creationId xmlns:a16="http://schemas.microsoft.com/office/drawing/2014/main" id="{99ACEA54-913D-8CB3-494F-B935AA4B07C1}"/>
              </a:ext>
            </a:extLst>
          </p:cNvPr>
          <p:cNvCxnSpPr/>
          <p:nvPr/>
        </p:nvCxnSpPr>
        <p:spPr>
          <a:xfrm>
            <a:off x="4543646" y="3972142"/>
            <a:ext cx="990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6">
            <a:extLst>
              <a:ext uri="{FF2B5EF4-FFF2-40B4-BE49-F238E27FC236}">
                <a16:creationId xmlns:a16="http://schemas.microsoft.com/office/drawing/2014/main" id="{63BAF0D3-4D6C-F3EB-71DF-5F5595CD7217}"/>
              </a:ext>
            </a:extLst>
          </p:cNvPr>
          <p:cNvCxnSpPr/>
          <p:nvPr/>
        </p:nvCxnSpPr>
        <p:spPr>
          <a:xfrm>
            <a:off x="4543646" y="4353143"/>
            <a:ext cx="990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7">
            <a:extLst>
              <a:ext uri="{FF2B5EF4-FFF2-40B4-BE49-F238E27FC236}">
                <a16:creationId xmlns:a16="http://schemas.microsoft.com/office/drawing/2014/main" id="{8247A8B7-3E9E-68C0-8DBD-6C4052240DFF}"/>
              </a:ext>
            </a:extLst>
          </p:cNvPr>
          <p:cNvCxnSpPr>
            <a:cxnSpLocks/>
          </p:cNvCxnSpPr>
          <p:nvPr/>
        </p:nvCxnSpPr>
        <p:spPr>
          <a:xfrm>
            <a:off x="4543646" y="4767480"/>
            <a:ext cx="267958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8">
            <a:extLst>
              <a:ext uri="{FF2B5EF4-FFF2-40B4-BE49-F238E27FC236}">
                <a16:creationId xmlns:a16="http://schemas.microsoft.com/office/drawing/2014/main" id="{8F8C30A2-A972-77DA-0C5B-305510918A61}"/>
              </a:ext>
            </a:extLst>
          </p:cNvPr>
          <p:cNvSpPr/>
          <p:nvPr/>
        </p:nvSpPr>
        <p:spPr>
          <a:xfrm>
            <a:off x="4805069" y="3865189"/>
            <a:ext cx="2062675" cy="20393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10">
            <a:extLst>
              <a:ext uri="{FF2B5EF4-FFF2-40B4-BE49-F238E27FC236}">
                <a16:creationId xmlns:a16="http://schemas.microsoft.com/office/drawing/2014/main" id="{34CED6E9-D22B-BDE4-137A-0AA40FD6ABB9}"/>
              </a:ext>
            </a:extLst>
          </p:cNvPr>
          <p:cNvCxnSpPr>
            <a:cxnSpLocks/>
          </p:cNvCxnSpPr>
          <p:nvPr/>
        </p:nvCxnSpPr>
        <p:spPr>
          <a:xfrm>
            <a:off x="6070028" y="4353143"/>
            <a:ext cx="115319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11">
            <a:extLst>
              <a:ext uri="{FF2B5EF4-FFF2-40B4-BE49-F238E27FC236}">
                <a16:creationId xmlns:a16="http://schemas.microsoft.com/office/drawing/2014/main" id="{A44899F0-A2A0-31FC-6AA1-5D3991AFA5A2}"/>
              </a:ext>
            </a:extLst>
          </p:cNvPr>
          <p:cNvCxnSpPr>
            <a:cxnSpLocks/>
          </p:cNvCxnSpPr>
          <p:nvPr/>
        </p:nvCxnSpPr>
        <p:spPr>
          <a:xfrm>
            <a:off x="6070028" y="3972142"/>
            <a:ext cx="115319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14">
            <a:extLst>
              <a:ext uri="{FF2B5EF4-FFF2-40B4-BE49-F238E27FC236}">
                <a16:creationId xmlns:a16="http://schemas.microsoft.com/office/drawing/2014/main" id="{85DABE39-2961-0A53-EBDD-CF2F4A6F9058}"/>
              </a:ext>
            </a:extLst>
          </p:cNvPr>
          <p:cNvCxnSpPr>
            <a:cxnSpLocks/>
          </p:cNvCxnSpPr>
          <p:nvPr/>
        </p:nvCxnSpPr>
        <p:spPr>
          <a:xfrm>
            <a:off x="4539981" y="5709876"/>
            <a:ext cx="268324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20">
                <a:extLst>
                  <a:ext uri="{FF2B5EF4-FFF2-40B4-BE49-F238E27FC236}">
                    <a16:creationId xmlns:a16="http://schemas.microsoft.com/office/drawing/2014/main" id="{72464EE4-12FA-DEB3-F1DC-6BB6AADDF394}"/>
                  </a:ext>
                </a:extLst>
              </p:cNvPr>
              <p:cNvSpPr/>
              <p:nvPr/>
            </p:nvSpPr>
            <p:spPr>
              <a:xfrm>
                <a:off x="3836782" y="5506420"/>
                <a:ext cx="53860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Rectangle 20">
                <a:extLst>
                  <a:ext uri="{FF2B5EF4-FFF2-40B4-BE49-F238E27FC236}">
                    <a16:creationId xmlns:a16="http://schemas.microsoft.com/office/drawing/2014/main" id="{72464EE4-12FA-DEB3-F1DC-6BB6AADDF3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782" y="5506420"/>
                <a:ext cx="53860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Connector 30">
            <a:extLst>
              <a:ext uri="{FF2B5EF4-FFF2-40B4-BE49-F238E27FC236}">
                <a16:creationId xmlns:a16="http://schemas.microsoft.com/office/drawing/2014/main" id="{20E5B44C-32FE-9364-DF9B-F5D060FC0F3E}"/>
              </a:ext>
            </a:extLst>
          </p:cNvPr>
          <p:cNvCxnSpPr>
            <a:cxnSpLocks/>
          </p:cNvCxnSpPr>
          <p:nvPr/>
        </p:nvCxnSpPr>
        <p:spPr>
          <a:xfrm>
            <a:off x="4531619" y="5330944"/>
            <a:ext cx="268324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31">
                <a:extLst>
                  <a:ext uri="{FF2B5EF4-FFF2-40B4-BE49-F238E27FC236}">
                    <a16:creationId xmlns:a16="http://schemas.microsoft.com/office/drawing/2014/main" id="{B27DEBFF-3A76-91B7-D384-82C9F0038336}"/>
                  </a:ext>
                </a:extLst>
              </p:cNvPr>
              <p:cNvSpPr/>
              <p:nvPr/>
            </p:nvSpPr>
            <p:spPr>
              <a:xfrm>
                <a:off x="3815366" y="4495565"/>
                <a:ext cx="5528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Rectangle 31">
                <a:extLst>
                  <a:ext uri="{FF2B5EF4-FFF2-40B4-BE49-F238E27FC236}">
                    <a16:creationId xmlns:a16="http://schemas.microsoft.com/office/drawing/2014/main" id="{B27DEBFF-3A76-91B7-D384-82C9F00383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366" y="4495565"/>
                <a:ext cx="552844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E728C979-1C3C-E8BE-557B-4639F86714F9}"/>
              </a:ext>
            </a:extLst>
          </p:cNvPr>
          <p:cNvSpPr txBox="1"/>
          <p:nvPr/>
        </p:nvSpPr>
        <p:spPr>
          <a:xfrm rot="5400000">
            <a:off x="6889914" y="4942822"/>
            <a:ext cx="47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15F584D-43C4-54C5-127E-34070AEF56E1}"/>
                  </a:ext>
                </a:extLst>
              </p:cNvPr>
              <p:cNvSpPr txBox="1"/>
              <p:nvPr/>
            </p:nvSpPr>
            <p:spPr>
              <a:xfrm>
                <a:off x="5515492" y="4495565"/>
                <a:ext cx="641827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15F584D-43C4-54C5-127E-34070AEF5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5492" y="4495565"/>
                <a:ext cx="641827" cy="58477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양쪽 중괄호 53"/>
          <p:cNvSpPr/>
          <p:nvPr/>
        </p:nvSpPr>
        <p:spPr>
          <a:xfrm>
            <a:off x="4402693" y="3890305"/>
            <a:ext cx="589360" cy="1500082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20">
                <a:extLst>
                  <a:ext uri="{FF2B5EF4-FFF2-40B4-BE49-F238E27FC236}">
                    <a16:creationId xmlns:a16="http://schemas.microsoft.com/office/drawing/2014/main" id="{72464EE4-12FA-DEB3-F1DC-6BB6AADDF394}"/>
                  </a:ext>
                </a:extLst>
              </p:cNvPr>
              <p:cNvSpPr/>
              <p:nvPr/>
            </p:nvSpPr>
            <p:spPr>
              <a:xfrm>
                <a:off x="7194964" y="5497239"/>
                <a:ext cx="13412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Rectangle 20">
                <a:extLst>
                  <a:ext uri="{FF2B5EF4-FFF2-40B4-BE49-F238E27FC236}">
                    <a16:creationId xmlns:a16="http://schemas.microsoft.com/office/drawing/2014/main" id="{72464EE4-12FA-DEB3-F1DC-6BB6AADDF3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964" y="5497239"/>
                <a:ext cx="1341201" cy="369332"/>
              </a:xfrm>
              <a:prstGeom prst="rect">
                <a:avLst/>
              </a:prstGeom>
              <a:blipFill>
                <a:blip r:embed="rId1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31">
                <a:extLst>
                  <a:ext uri="{FF2B5EF4-FFF2-40B4-BE49-F238E27FC236}">
                    <a16:creationId xmlns:a16="http://schemas.microsoft.com/office/drawing/2014/main" id="{B27DEBFF-3A76-91B7-D384-82C9F0038336}"/>
                  </a:ext>
                </a:extLst>
              </p:cNvPr>
              <p:cNvSpPr/>
              <p:nvPr/>
            </p:nvSpPr>
            <p:spPr>
              <a:xfrm>
                <a:off x="7373566" y="4398148"/>
                <a:ext cx="5528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Rectangle 31">
                <a:extLst>
                  <a:ext uri="{FF2B5EF4-FFF2-40B4-BE49-F238E27FC236}">
                    <a16:creationId xmlns:a16="http://schemas.microsoft.com/office/drawing/2014/main" id="{B27DEBFF-3A76-91B7-D384-82C9F00383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3566" y="4398148"/>
                <a:ext cx="552844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양쪽 중괄호 60"/>
          <p:cNvSpPr/>
          <p:nvPr/>
        </p:nvSpPr>
        <p:spPr>
          <a:xfrm>
            <a:off x="6778178" y="3900092"/>
            <a:ext cx="589360" cy="1500082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9228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58" grpId="0" animBg="1"/>
      <p:bldP spid="59" grpId="0" animBg="1"/>
      <p:bldP spid="29" grpId="0" animBg="1"/>
      <p:bldP spid="40" grpId="0"/>
      <p:bldP spid="51" grpId="0"/>
      <p:bldP spid="52" grpId="0"/>
      <p:bldP spid="53" grpId="0" animBg="1"/>
      <p:bldP spid="54" grpId="0" animBg="1"/>
      <p:bldP spid="57" grpId="0"/>
      <p:bldP spid="60" grpId="0"/>
      <p:bldP spid="6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Four different single-(</a:t>
            </a:r>
            <a:r>
              <a:rPr lang="en-US" sz="4000" dirty="0" err="1" smtClean="0"/>
              <a:t>qu</a:t>
            </a:r>
            <a:r>
              <a:rPr lang="en-US" sz="4000" dirty="0" smtClean="0"/>
              <a:t>)bit functions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altLang="ko-KR" dirty="0" smtClean="0"/>
                  <a:t>Function		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dirty="0" smtClean="0"/>
                  <a:t>	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 smtClean="0"/>
                  <a:t>		  Circuit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altLang="ko-KR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dirty="0" smtClean="0"/>
                  <a:t>		0	  0</a:t>
                </a:r>
                <a:br>
                  <a:rPr lang="en-US" altLang="ko-KR" dirty="0" smtClean="0"/>
                </a:br>
                <a:r>
                  <a:rPr lang="en-US" altLang="ko-KR" dirty="0" smtClean="0"/>
                  <a:t>			1	  0</a:t>
                </a:r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	</a:t>
                </a:r>
                <a:r>
                  <a:rPr lang="en-US" altLang="ko-KR" dirty="0" smtClean="0"/>
                  <a:t>	0</a:t>
                </a:r>
                <a:r>
                  <a:rPr lang="en-US" altLang="ko-KR" dirty="0"/>
                  <a:t>	  </a:t>
                </a:r>
                <a:r>
                  <a:rPr lang="en-US" altLang="ko-KR" dirty="0" smtClean="0"/>
                  <a:t>1</a:t>
                </a:r>
                <a:r>
                  <a:rPr lang="en-US" altLang="ko-KR" dirty="0"/>
                  <a:t/>
                </a:r>
                <a:br>
                  <a:rPr lang="en-US" altLang="ko-KR" dirty="0"/>
                </a:br>
                <a:r>
                  <a:rPr lang="en-US" altLang="ko-KR" dirty="0"/>
                  <a:t>		</a:t>
                </a:r>
                <a:r>
                  <a:rPr lang="en-US" altLang="ko-KR" dirty="0" smtClean="0"/>
                  <a:t>	1</a:t>
                </a:r>
                <a:r>
                  <a:rPr lang="en-US" altLang="ko-KR" dirty="0"/>
                  <a:t>	  </a:t>
                </a:r>
                <a:r>
                  <a:rPr lang="en-US" altLang="ko-KR" dirty="0" smtClean="0"/>
                  <a:t>1</a:t>
                </a:r>
              </a:p>
              <a:p>
                <a:pPr marL="0" indent="0">
                  <a:buNone/>
                </a:pPr>
                <a:endParaRPr lang="en-US" altLang="ko-KR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	</a:t>
                </a:r>
                <a:r>
                  <a:rPr lang="en-US" altLang="ko-KR" dirty="0" smtClean="0"/>
                  <a:t>	0</a:t>
                </a:r>
                <a:r>
                  <a:rPr lang="en-US" altLang="ko-KR" dirty="0"/>
                  <a:t>	  0</a:t>
                </a:r>
                <a:br>
                  <a:rPr lang="en-US" altLang="ko-KR" dirty="0"/>
                </a:br>
                <a:r>
                  <a:rPr lang="en-US" altLang="ko-KR" dirty="0"/>
                  <a:t>		</a:t>
                </a:r>
                <a:r>
                  <a:rPr lang="en-US" altLang="ko-KR" dirty="0" smtClean="0"/>
                  <a:t>	1</a:t>
                </a:r>
                <a:r>
                  <a:rPr lang="en-US" altLang="ko-KR" dirty="0"/>
                  <a:t>	  </a:t>
                </a:r>
                <a:r>
                  <a:rPr lang="en-US" altLang="ko-KR" dirty="0" smtClean="0"/>
                  <a:t>1</a:t>
                </a: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⊕1 </m:t>
                    </m:r>
                  </m:oMath>
                </a14:m>
                <a:r>
                  <a:rPr lang="en-US" altLang="ko-KR" dirty="0" smtClean="0"/>
                  <a:t>	0	  1</a:t>
                </a:r>
                <a:br>
                  <a:rPr lang="en-US" altLang="ko-KR" dirty="0" smtClean="0"/>
                </a:br>
                <a:r>
                  <a:rPr lang="en-US" altLang="ko-KR" dirty="0" smtClean="0"/>
                  <a:t>			1	  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1043" t="-2648" b="-2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5923806" y="2806323"/>
            <a:ext cx="2261320" cy="893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5923806" y="2463962"/>
            <a:ext cx="2261320" cy="893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5915417" y="3994119"/>
            <a:ext cx="2261320" cy="893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5915417" y="3651758"/>
            <a:ext cx="2261320" cy="893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/>
              <p:cNvSpPr/>
              <p:nvPr/>
            </p:nvSpPr>
            <p:spPr>
              <a:xfrm>
                <a:off x="6888349" y="3845323"/>
                <a:ext cx="315456" cy="31545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직사각형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349" y="3845323"/>
                <a:ext cx="315456" cy="315456"/>
              </a:xfrm>
              <a:prstGeom prst="rect">
                <a:avLst/>
              </a:prstGeom>
              <a:blipFill>
                <a:blip r:embed="rId3"/>
                <a:stretch>
                  <a:fillRect l="-3704" r="-1852" b="-185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5915417" y="4908834"/>
            <a:ext cx="2261320" cy="893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Oval 48">
            <a:extLst>
              <a:ext uri="{FF2B5EF4-FFF2-40B4-BE49-F238E27FC236}">
                <a16:creationId xmlns:a16="http://schemas.microsoft.com/office/drawing/2014/main" id="{7409B2A2-257A-C892-637A-EFCC42529337}"/>
              </a:ext>
            </a:extLst>
          </p:cNvPr>
          <p:cNvSpPr/>
          <p:nvPr/>
        </p:nvSpPr>
        <p:spPr>
          <a:xfrm>
            <a:off x="6980855" y="4855471"/>
            <a:ext cx="151002" cy="16239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49">
            <a:extLst>
              <a:ext uri="{FF2B5EF4-FFF2-40B4-BE49-F238E27FC236}">
                <a16:creationId xmlns:a16="http://schemas.microsoft.com/office/drawing/2014/main" id="{731DEB19-D2B3-D0FE-2635-C5C12ADDBDD3}"/>
              </a:ext>
            </a:extLst>
          </p:cNvPr>
          <p:cNvSpPr/>
          <p:nvPr/>
        </p:nvSpPr>
        <p:spPr>
          <a:xfrm>
            <a:off x="6973680" y="5151317"/>
            <a:ext cx="160526" cy="203487"/>
          </a:xfrm>
          <a:prstGeom prst="ellipse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직선 연결선 18"/>
          <p:cNvCxnSpPr>
            <a:stCxn id="17" idx="0"/>
            <a:endCxn id="18" idx="4"/>
          </p:cNvCxnSpPr>
          <p:nvPr/>
        </p:nvCxnSpPr>
        <p:spPr>
          <a:xfrm flipH="1">
            <a:off x="7053943" y="4855471"/>
            <a:ext cx="2413" cy="49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5915417" y="5251195"/>
            <a:ext cx="2261320" cy="893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5923283" y="6068760"/>
            <a:ext cx="2261320" cy="893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Oval 48">
            <a:extLst>
              <a:ext uri="{FF2B5EF4-FFF2-40B4-BE49-F238E27FC236}">
                <a16:creationId xmlns:a16="http://schemas.microsoft.com/office/drawing/2014/main" id="{7409B2A2-257A-C892-637A-EFCC42529337}"/>
              </a:ext>
            </a:extLst>
          </p:cNvPr>
          <p:cNvSpPr/>
          <p:nvPr/>
        </p:nvSpPr>
        <p:spPr>
          <a:xfrm>
            <a:off x="6988721" y="6015397"/>
            <a:ext cx="151002" cy="16239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49">
            <a:extLst>
              <a:ext uri="{FF2B5EF4-FFF2-40B4-BE49-F238E27FC236}">
                <a16:creationId xmlns:a16="http://schemas.microsoft.com/office/drawing/2014/main" id="{731DEB19-D2B3-D0FE-2635-C5C12ADDBDD3}"/>
              </a:ext>
            </a:extLst>
          </p:cNvPr>
          <p:cNvSpPr/>
          <p:nvPr/>
        </p:nvSpPr>
        <p:spPr>
          <a:xfrm>
            <a:off x="6981546" y="6311243"/>
            <a:ext cx="160526" cy="203487"/>
          </a:xfrm>
          <a:prstGeom prst="ellipse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직선 연결선 23"/>
          <p:cNvCxnSpPr>
            <a:stCxn id="22" idx="0"/>
            <a:endCxn id="23" idx="4"/>
          </p:cNvCxnSpPr>
          <p:nvPr/>
        </p:nvCxnSpPr>
        <p:spPr>
          <a:xfrm flipH="1">
            <a:off x="7061809" y="6015397"/>
            <a:ext cx="2413" cy="49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5923283" y="6411121"/>
            <a:ext cx="2261320" cy="893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직사각형 30"/>
              <p:cNvSpPr/>
              <p:nvPr/>
            </p:nvSpPr>
            <p:spPr>
              <a:xfrm>
                <a:off x="7222335" y="6261782"/>
                <a:ext cx="315456" cy="31545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1" name="직사각형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335" y="6261782"/>
                <a:ext cx="315456" cy="315456"/>
              </a:xfrm>
              <a:prstGeom prst="rect">
                <a:avLst/>
              </a:prstGeom>
              <a:blipFill>
                <a:blip r:embed="rId4"/>
                <a:stretch>
                  <a:fillRect l="-3704" r="-1852" b="-185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5399447" y="2265759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447" y="2265759"/>
                <a:ext cx="6600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5399447" y="2594865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447" y="2594865"/>
                <a:ext cx="660041" cy="369332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8049444" y="2272977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9444" y="2272977"/>
                <a:ext cx="66004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8049444" y="2602083"/>
                <a:ext cx="14888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9444" y="2602083"/>
                <a:ext cx="1488839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5423082" y="3456979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3082" y="3456979"/>
                <a:ext cx="66004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5423082" y="3786085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3082" y="3786085"/>
                <a:ext cx="660041" cy="369332"/>
              </a:xfrm>
              <a:prstGeom prst="rect">
                <a:avLst/>
              </a:prstGeom>
              <a:blipFill>
                <a:blip r:embed="rId10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8073079" y="3464197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079" y="3464197"/>
                <a:ext cx="66004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8073079" y="3793303"/>
                <a:ext cx="14888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079" y="3793303"/>
                <a:ext cx="1488839" cy="369332"/>
              </a:xfrm>
              <a:prstGeom prst="rect">
                <a:avLst/>
              </a:prstGeom>
              <a:blipFill>
                <a:blip r:embed="rId12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5399447" y="4710404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447" y="4710404"/>
                <a:ext cx="66004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5399447" y="5039510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447" y="5039510"/>
                <a:ext cx="660041" cy="369332"/>
              </a:xfrm>
              <a:prstGeom prst="rect">
                <a:avLst/>
              </a:prstGeom>
              <a:blipFill>
                <a:blip r:embed="rId1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8049444" y="4717622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9444" y="4717622"/>
                <a:ext cx="66004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8049444" y="5046728"/>
                <a:ext cx="14888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9444" y="5046728"/>
                <a:ext cx="1488839" cy="369332"/>
              </a:xfrm>
              <a:prstGeom prst="rect">
                <a:avLst/>
              </a:prstGeom>
              <a:blipFill>
                <a:blip r:embed="rId1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5399447" y="5861071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447" y="5861071"/>
                <a:ext cx="660041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5399447" y="6190177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447" y="6190177"/>
                <a:ext cx="660041" cy="369332"/>
              </a:xfrm>
              <a:prstGeom prst="rect">
                <a:avLst/>
              </a:prstGeom>
              <a:blipFill>
                <a:blip r:embed="rId18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8049444" y="5868289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9444" y="5868289"/>
                <a:ext cx="660041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8049444" y="6197395"/>
                <a:ext cx="14888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9444" y="6197395"/>
                <a:ext cx="1488839" cy="369332"/>
              </a:xfrm>
              <a:prstGeom prst="rect">
                <a:avLst/>
              </a:prstGeom>
              <a:blipFill>
                <a:blip r:embed="rId2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직사각형 48"/>
          <p:cNvSpPr/>
          <p:nvPr/>
        </p:nvSpPr>
        <p:spPr>
          <a:xfrm>
            <a:off x="6719582" y="2197180"/>
            <a:ext cx="939567" cy="88084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6669247" y="3456979"/>
            <a:ext cx="939567" cy="88084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6847959" y="5840512"/>
            <a:ext cx="939567" cy="88084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/>
          <p:cNvSpPr/>
          <p:nvPr/>
        </p:nvSpPr>
        <p:spPr>
          <a:xfrm>
            <a:off x="6651083" y="4641858"/>
            <a:ext cx="939567" cy="88084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6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 animBg="1"/>
      <p:bldP spid="18" grpId="0" animBg="1"/>
      <p:bldP spid="22" grpId="0" animBg="1"/>
      <p:bldP spid="23" grpId="0" animBg="1"/>
      <p:bldP spid="31" grpId="0" animBg="1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9" grpId="0" animBg="1"/>
      <p:bldP spid="50" grpId="0" animBg="1"/>
      <p:bldP spid="51" grpId="0" animBg="1"/>
      <p:bldP spid="5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Deutsch’s algorithm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000" dirty="0" smtClean="0"/>
                  <a:t>Suppose we have a classical circuit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→{0,1}</m:t>
                    </m:r>
                  </m:oMath>
                </a14:m>
                <a:r>
                  <a:rPr lang="en-US" altLang="ko-KR" sz="2000" dirty="0" smtClean="0"/>
                  <a:t>. </a:t>
                </a:r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We want to know whether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altLang="ko-KR" sz="2000" dirty="0" smtClean="0"/>
                  <a:t> (Constant)		or  	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altLang="ko-KR" sz="2000" dirty="0" smtClean="0"/>
                  <a:t> (Balanced)</a:t>
                </a:r>
              </a:p>
              <a:p>
                <a:pPr marL="0" indent="0">
                  <a:buNone/>
                </a:pPr>
                <a:r>
                  <a:rPr lang="en-US" altLang="ko-KR" sz="2000" dirty="0" smtClean="0"/>
                  <a:t>Computing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ko-KR" sz="2000" dirty="0" smtClean="0"/>
                  <a:t> may be an expensive experimental task.</a:t>
                </a:r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When we only have classical access to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ko-KR" sz="2000" dirty="0" smtClean="0"/>
                  <a:t>, you need to compute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ko-KR" sz="2000" dirty="0" smtClean="0"/>
                  <a:t> twice.</a:t>
                </a:r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What if we have quantum access to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ko-KR" sz="2000" dirty="0" smtClean="0"/>
                  <a:t>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ko-KR" sz="2000" dirty="0" smtClean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638" t="-1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367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Deutsch’s algorithm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AutoNum type="arabicPeriod"/>
                </a:pPr>
                <a:r>
                  <a:rPr lang="en-US" altLang="ko-KR" sz="2000" dirty="0" smtClean="0"/>
                  <a:t>Prepare</a:t>
                </a:r>
                <a:r>
                  <a:rPr lang="en-US" altLang="ko-KR" sz="20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|01⟩</m:t>
                    </m:r>
                  </m:oMath>
                </a14:m>
                <a:endParaRPr lang="en-US" altLang="ko-KR" sz="2000" dirty="0" smtClean="0"/>
              </a:p>
              <a:p>
                <a:pPr marL="457200" indent="-457200">
                  <a:buAutoNum type="arabicPeriod"/>
                </a:pPr>
                <a:r>
                  <a:rPr lang="en-US" altLang="ko-KR" sz="2000" dirty="0" smtClean="0"/>
                  <a:t>Apply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⊗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endParaRPr lang="en-US" altLang="ko-KR" sz="2000" dirty="0"/>
              </a:p>
              <a:p>
                <a:pPr marL="457200" indent="-457200">
                  <a:buAutoNum type="arabicPeriod"/>
                </a:pPr>
                <a:r>
                  <a:rPr lang="en-US" altLang="ko-KR" sz="2000" dirty="0" smtClean="0"/>
                  <a:t>Apply </a:t>
                </a:r>
                <a:r>
                  <a:rPr lang="en-US" altLang="ko-KR" sz="2000" dirty="0"/>
                  <a:t>the </a:t>
                </a:r>
                <a:r>
                  <a:rPr lang="en-US" altLang="ko-KR" sz="2000" dirty="0" smtClean="0"/>
                  <a:t>unitary circuit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altLang="ko-KR" sz="2000" dirty="0"/>
              </a:p>
              <a:p>
                <a:pPr marL="457200" indent="-457200">
                  <a:buAutoNum type="arabicPeriod"/>
                </a:pPr>
                <a:r>
                  <a:rPr lang="en-US" altLang="ko-KR" sz="2000" dirty="0" smtClean="0"/>
                  <a:t>Apply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ko-KR" sz="2000" dirty="0" smtClean="0"/>
                  <a:t> on the first qubit</a:t>
                </a:r>
              </a:p>
              <a:p>
                <a:pPr marL="457200" indent="-457200">
                  <a:buAutoNum type="arabicPeriod"/>
                </a:pPr>
                <a:r>
                  <a:rPr lang="en-US" altLang="ko-KR" sz="2000" dirty="0" smtClean="0"/>
                  <a:t>Measure the first qubit</a:t>
                </a:r>
                <a:endParaRPr lang="en-US" altLang="ko-K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812" t="-21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3696205" y="5063347"/>
            <a:ext cx="511023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3696205" y="4720986"/>
            <a:ext cx="511023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/>
              <p:cNvSpPr/>
              <p:nvPr/>
            </p:nvSpPr>
            <p:spPr>
              <a:xfrm>
                <a:off x="7382796" y="4575259"/>
                <a:ext cx="315456" cy="31545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직사각형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796" y="4575259"/>
                <a:ext cx="315456" cy="315456"/>
              </a:xfrm>
              <a:prstGeom prst="rect">
                <a:avLst/>
              </a:prstGeom>
              <a:blipFill>
                <a:blip r:embed="rId3"/>
                <a:stretch>
                  <a:fillRect l="-5556" r="-3704" b="-188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3203870" y="4526207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70" y="4526207"/>
                <a:ext cx="6600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3203870" y="4855313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70" y="4855313"/>
                <a:ext cx="6600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/>
              <p:cNvSpPr/>
              <p:nvPr/>
            </p:nvSpPr>
            <p:spPr>
              <a:xfrm>
                <a:off x="5383503" y="4450293"/>
                <a:ext cx="939567" cy="880844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직사각형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3503" y="4450293"/>
                <a:ext cx="939567" cy="8808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/>
              <p:cNvSpPr/>
              <p:nvPr/>
            </p:nvSpPr>
            <p:spPr>
              <a:xfrm>
                <a:off x="4040790" y="4920524"/>
                <a:ext cx="315456" cy="31545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직사각형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0790" y="4920524"/>
                <a:ext cx="315456" cy="315456"/>
              </a:xfrm>
              <a:prstGeom prst="rect">
                <a:avLst/>
              </a:prstGeom>
              <a:blipFill>
                <a:blip r:embed="rId7"/>
                <a:stretch>
                  <a:fillRect l="-5556" r="-3704" b="-185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/>
              <p:cNvSpPr/>
              <p:nvPr/>
            </p:nvSpPr>
            <p:spPr>
              <a:xfrm>
                <a:off x="4040790" y="4542985"/>
                <a:ext cx="315456" cy="31545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직사각형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0790" y="4542985"/>
                <a:ext cx="315456" cy="315456"/>
              </a:xfrm>
              <a:prstGeom prst="rect">
                <a:avLst/>
              </a:prstGeom>
              <a:blipFill>
                <a:blip r:embed="rId8"/>
                <a:stretch>
                  <a:fillRect l="-5556" r="-3704" b="-185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그림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16059" y="4524698"/>
            <a:ext cx="467256" cy="36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99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/>
      <p:bldP spid="8" grpId="0"/>
      <p:bldP spid="11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Deutsch’s algorithm analysis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+|1⟩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|1⟩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−|11⟩</m:t>
                          </m:r>
                        </m:e>
                      </m:d>
                    </m:oMath>
                  </m:oMathPara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b="0" dirty="0" smtClean="0"/>
                  <a:t>	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2000" dirty="0" smtClean="0"/>
                  <a:t>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e>
                          </m:d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</m:e>
                          </m:d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d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−|11⟩</m:t>
                          </m:r>
                        </m:e>
                      </m:d>
                    </m:oMath>
                  </m:oMathPara>
                </a14:m>
                <a:endParaRPr lang="en-US" altLang="ko-KR" sz="200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+|1⟩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−|1⟩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|−⟩</m:t>
                      </m:r>
                    </m:oMath>
                  </m:oMathPara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	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ko-KR" sz="2000" dirty="0"/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−|1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=−|+⟩|−⟩</m:t>
                    </m:r>
                  </m:oMath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endParaRPr lang="en-US" altLang="ko-K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3325854" y="2375409"/>
            <a:ext cx="511023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3325854" y="2033048"/>
            <a:ext cx="511023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/>
              <p:cNvSpPr/>
              <p:nvPr/>
            </p:nvSpPr>
            <p:spPr>
              <a:xfrm>
                <a:off x="7012445" y="1887321"/>
                <a:ext cx="315456" cy="31545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직사각형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2445" y="1887321"/>
                <a:ext cx="315456" cy="315456"/>
              </a:xfrm>
              <a:prstGeom prst="rect">
                <a:avLst/>
              </a:prstGeom>
              <a:blipFill>
                <a:blip r:embed="rId3"/>
                <a:stretch>
                  <a:fillRect l="-5556" r="-5556" b="-188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2833519" y="1838269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519" y="1838269"/>
                <a:ext cx="6600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2833519" y="2167375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519" y="2167375"/>
                <a:ext cx="6600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/>
              <p:cNvSpPr/>
              <p:nvPr/>
            </p:nvSpPr>
            <p:spPr>
              <a:xfrm>
                <a:off x="5013152" y="1762355"/>
                <a:ext cx="939567" cy="880844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직사각형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152" y="1762355"/>
                <a:ext cx="939567" cy="8808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/>
              <p:cNvSpPr/>
              <p:nvPr/>
            </p:nvSpPr>
            <p:spPr>
              <a:xfrm>
                <a:off x="3670439" y="2232586"/>
                <a:ext cx="315456" cy="31545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직사각형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439" y="2232586"/>
                <a:ext cx="315456" cy="315456"/>
              </a:xfrm>
              <a:prstGeom prst="rect">
                <a:avLst/>
              </a:prstGeom>
              <a:blipFill>
                <a:blip r:embed="rId7"/>
                <a:stretch>
                  <a:fillRect l="-5556" r="-3704" b="-185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/>
              <p:cNvSpPr/>
              <p:nvPr/>
            </p:nvSpPr>
            <p:spPr>
              <a:xfrm>
                <a:off x="3670439" y="1855047"/>
                <a:ext cx="315456" cy="31545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직사각형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439" y="1855047"/>
                <a:ext cx="315456" cy="315456"/>
              </a:xfrm>
              <a:prstGeom prst="rect">
                <a:avLst/>
              </a:prstGeom>
              <a:blipFill>
                <a:blip r:embed="rId8"/>
                <a:stretch>
                  <a:fillRect l="-5556" r="-3704" b="-185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그림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45708" y="1836760"/>
            <a:ext cx="467256" cy="3660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4173242" y="2618725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3242" y="2618725"/>
                <a:ext cx="660041" cy="369332"/>
              </a:xfrm>
              <a:prstGeom prst="rect">
                <a:avLst/>
              </a:prstGeom>
              <a:blipFill>
                <a:blip r:embed="rId1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4169503" y="2618725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503" y="2618725"/>
                <a:ext cx="660041" cy="369332"/>
              </a:xfrm>
              <a:prstGeom prst="rect">
                <a:avLst/>
              </a:prstGeom>
              <a:blipFill>
                <a:blip r:embed="rId11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6152561" y="2647090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561" y="2647090"/>
                <a:ext cx="660041" cy="369332"/>
              </a:xfrm>
              <a:prstGeom prst="rect">
                <a:avLst/>
              </a:prstGeom>
              <a:blipFill>
                <a:blip r:embed="rId12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7353809" y="2653309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809" y="2653309"/>
                <a:ext cx="660041" cy="369332"/>
              </a:xfrm>
              <a:prstGeom prst="rect">
                <a:avLst/>
              </a:prstGeom>
              <a:blipFill>
                <a:blip r:embed="rId13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직선 연결선 22"/>
          <p:cNvCxnSpPr>
            <a:endCxn id="19" idx="0"/>
          </p:cNvCxnSpPr>
          <p:nvPr/>
        </p:nvCxnSpPr>
        <p:spPr>
          <a:xfrm>
            <a:off x="4499523" y="1690688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464682" y="1690688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7679135" y="1701955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162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Deutsch’s algorithm analysis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+|1⟩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|1⟩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−|11⟩</m:t>
                          </m:r>
                        </m:e>
                      </m:d>
                    </m:oMath>
                  </m:oMathPara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b="0" dirty="0" smtClean="0"/>
                  <a:t>	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2000" dirty="0" smtClean="0"/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00</m:t>
                            </m:r>
                          </m:e>
                        </m:d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01</m:t>
                            </m:r>
                          </m:e>
                        </m:d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−|11⟩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+|1⟩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−|1⟩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=|+,−⟩</m:t>
                    </m:r>
                  </m:oMath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	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ko-KR" sz="2000" dirty="0"/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−|1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=−|+,−⟩</m:t>
                    </m:r>
                  </m:oMath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/>
                  <a:t>	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2000" dirty="0"/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00</m:t>
                            </m:r>
                          </m:e>
                        </m:d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01</m:t>
                            </m:r>
                          </m:e>
                        </m:d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−|1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|1⟩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−|1⟩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=|−,−⟩</m:t>
                    </m:r>
                  </m:oMath>
                </a14:m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dirty="0"/>
                  <a:t>	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⊕1</m:t>
                    </m:r>
                  </m:oMath>
                </a14:m>
                <a:r>
                  <a:rPr lang="en-US" altLang="ko-KR" sz="2000" dirty="0"/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−|11⟩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=−|−,−⟩</m:t>
                    </m:r>
                  </m:oMath>
                </a14:m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endParaRPr lang="en-US" altLang="ko-K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3325854" y="2375409"/>
            <a:ext cx="511023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3325854" y="2033048"/>
            <a:ext cx="511023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/>
              <p:cNvSpPr/>
              <p:nvPr/>
            </p:nvSpPr>
            <p:spPr>
              <a:xfrm>
                <a:off x="7012445" y="1887321"/>
                <a:ext cx="315456" cy="31545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직사각형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2445" y="1887321"/>
                <a:ext cx="315456" cy="315456"/>
              </a:xfrm>
              <a:prstGeom prst="rect">
                <a:avLst/>
              </a:prstGeom>
              <a:blipFill>
                <a:blip r:embed="rId3"/>
                <a:stretch>
                  <a:fillRect l="-5556" r="-5556" b="-188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2833519" y="1838269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519" y="1838269"/>
                <a:ext cx="6600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2833519" y="2167375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519" y="2167375"/>
                <a:ext cx="6600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/>
              <p:cNvSpPr/>
              <p:nvPr/>
            </p:nvSpPr>
            <p:spPr>
              <a:xfrm>
                <a:off x="5013152" y="1762355"/>
                <a:ext cx="939567" cy="880844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직사각형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152" y="1762355"/>
                <a:ext cx="939567" cy="8808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/>
              <p:cNvSpPr/>
              <p:nvPr/>
            </p:nvSpPr>
            <p:spPr>
              <a:xfrm>
                <a:off x="3670439" y="2232586"/>
                <a:ext cx="315456" cy="31545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직사각형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439" y="2232586"/>
                <a:ext cx="315456" cy="315456"/>
              </a:xfrm>
              <a:prstGeom prst="rect">
                <a:avLst/>
              </a:prstGeom>
              <a:blipFill>
                <a:blip r:embed="rId7"/>
                <a:stretch>
                  <a:fillRect l="-5556" r="-3704" b="-185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/>
              <p:cNvSpPr/>
              <p:nvPr/>
            </p:nvSpPr>
            <p:spPr>
              <a:xfrm>
                <a:off x="3670439" y="1855047"/>
                <a:ext cx="315456" cy="31545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직사각형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439" y="1855047"/>
                <a:ext cx="315456" cy="315456"/>
              </a:xfrm>
              <a:prstGeom prst="rect">
                <a:avLst/>
              </a:prstGeom>
              <a:blipFill>
                <a:blip r:embed="rId8"/>
                <a:stretch>
                  <a:fillRect l="-5556" r="-3704" b="-185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그림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45708" y="1836760"/>
            <a:ext cx="467256" cy="3660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4173242" y="2618725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3242" y="2618725"/>
                <a:ext cx="660041" cy="369332"/>
              </a:xfrm>
              <a:prstGeom prst="rect">
                <a:avLst/>
              </a:prstGeom>
              <a:blipFill>
                <a:blip r:embed="rId1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4169503" y="2618725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503" y="2618725"/>
                <a:ext cx="660041" cy="369332"/>
              </a:xfrm>
              <a:prstGeom prst="rect">
                <a:avLst/>
              </a:prstGeom>
              <a:blipFill>
                <a:blip r:embed="rId11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6152561" y="2647090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561" y="2647090"/>
                <a:ext cx="660041" cy="369332"/>
              </a:xfrm>
              <a:prstGeom prst="rect">
                <a:avLst/>
              </a:prstGeom>
              <a:blipFill>
                <a:blip r:embed="rId12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7353809" y="2653309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809" y="2653309"/>
                <a:ext cx="660041" cy="369332"/>
              </a:xfrm>
              <a:prstGeom prst="rect">
                <a:avLst/>
              </a:prstGeom>
              <a:blipFill>
                <a:blip r:embed="rId13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직선 연결선 22"/>
          <p:cNvCxnSpPr>
            <a:endCxn id="19" idx="0"/>
          </p:cNvCxnSpPr>
          <p:nvPr/>
        </p:nvCxnSpPr>
        <p:spPr>
          <a:xfrm>
            <a:off x="4499523" y="1690688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464682" y="1690688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7679135" y="1701955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855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Deutsch’s algorithm analysis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b="0" dirty="0" smtClean="0"/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=±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+|1⟩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−|1⟩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US" altLang="ko-KR" sz="2000" dirty="0" smtClean="0"/>
                  <a:t>		if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/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=±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|1⟩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−|1⟩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US" altLang="ko-KR" sz="2000" dirty="0"/>
                  <a:t>		if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Applying </a:t>
                </a:r>
                <a:r>
                  <a:rPr lang="en-US" altLang="ko-KR" sz="2000" dirty="0" err="1" smtClean="0"/>
                  <a:t>Hadamard</a:t>
                </a:r>
                <a:r>
                  <a:rPr lang="en-US" altLang="ko-KR" sz="2000" dirty="0" smtClean="0"/>
                  <a:t>, we have</a:t>
                </a:r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dirty="0"/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=±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|0⟩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−|1⟩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US" altLang="ko-KR" sz="2000" dirty="0"/>
                  <a:t>		</a:t>
                </a:r>
                <a:r>
                  <a:rPr lang="en-US" altLang="ko-KR" sz="2000" dirty="0" smtClean="0"/>
                  <a:t>	if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dirty="0"/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=±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|1⟩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−|1⟩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US" altLang="ko-KR" sz="2000" dirty="0"/>
                  <a:t>		</a:t>
                </a:r>
                <a:r>
                  <a:rPr lang="en-US" altLang="ko-KR" sz="2000" dirty="0" smtClean="0"/>
                  <a:t>	if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endParaRPr lang="en-US" altLang="ko-K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3325854" y="2375409"/>
            <a:ext cx="511023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3325854" y="2033048"/>
            <a:ext cx="511023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/>
              <p:cNvSpPr/>
              <p:nvPr/>
            </p:nvSpPr>
            <p:spPr>
              <a:xfrm>
                <a:off x="7012445" y="1887321"/>
                <a:ext cx="315456" cy="31545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직사각형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2445" y="1887321"/>
                <a:ext cx="315456" cy="315456"/>
              </a:xfrm>
              <a:prstGeom prst="rect">
                <a:avLst/>
              </a:prstGeom>
              <a:blipFill>
                <a:blip r:embed="rId3"/>
                <a:stretch>
                  <a:fillRect l="-5556" r="-5556" b="-188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2833519" y="1838269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519" y="1838269"/>
                <a:ext cx="6600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2833519" y="2167375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519" y="2167375"/>
                <a:ext cx="6600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/>
              <p:cNvSpPr/>
              <p:nvPr/>
            </p:nvSpPr>
            <p:spPr>
              <a:xfrm>
                <a:off x="5013152" y="1762355"/>
                <a:ext cx="939567" cy="880844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직사각형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152" y="1762355"/>
                <a:ext cx="939567" cy="8808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/>
              <p:cNvSpPr/>
              <p:nvPr/>
            </p:nvSpPr>
            <p:spPr>
              <a:xfrm>
                <a:off x="3670439" y="2232586"/>
                <a:ext cx="315456" cy="31545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직사각형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439" y="2232586"/>
                <a:ext cx="315456" cy="315456"/>
              </a:xfrm>
              <a:prstGeom prst="rect">
                <a:avLst/>
              </a:prstGeom>
              <a:blipFill>
                <a:blip r:embed="rId7"/>
                <a:stretch>
                  <a:fillRect l="-5556" r="-3704" b="-185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/>
              <p:cNvSpPr/>
              <p:nvPr/>
            </p:nvSpPr>
            <p:spPr>
              <a:xfrm>
                <a:off x="3670439" y="1855047"/>
                <a:ext cx="315456" cy="31545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직사각형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439" y="1855047"/>
                <a:ext cx="315456" cy="315456"/>
              </a:xfrm>
              <a:prstGeom prst="rect">
                <a:avLst/>
              </a:prstGeom>
              <a:blipFill>
                <a:blip r:embed="rId8"/>
                <a:stretch>
                  <a:fillRect l="-5556" r="-3704" b="-185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그림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45708" y="1836760"/>
            <a:ext cx="467256" cy="3660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4173242" y="2618725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3242" y="2618725"/>
                <a:ext cx="660041" cy="369332"/>
              </a:xfrm>
              <a:prstGeom prst="rect">
                <a:avLst/>
              </a:prstGeom>
              <a:blipFill>
                <a:blip r:embed="rId1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4169503" y="2618725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503" y="2618725"/>
                <a:ext cx="660041" cy="369332"/>
              </a:xfrm>
              <a:prstGeom prst="rect">
                <a:avLst/>
              </a:prstGeom>
              <a:blipFill>
                <a:blip r:embed="rId11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6152561" y="2647090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561" y="2647090"/>
                <a:ext cx="660041" cy="369332"/>
              </a:xfrm>
              <a:prstGeom prst="rect">
                <a:avLst/>
              </a:prstGeom>
              <a:blipFill>
                <a:blip r:embed="rId12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7353809" y="2653309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809" y="2653309"/>
                <a:ext cx="660041" cy="369332"/>
              </a:xfrm>
              <a:prstGeom prst="rect">
                <a:avLst/>
              </a:prstGeom>
              <a:blipFill>
                <a:blip r:embed="rId13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직선 연결선 22"/>
          <p:cNvCxnSpPr>
            <a:endCxn id="19" idx="0"/>
          </p:cNvCxnSpPr>
          <p:nvPr/>
        </p:nvCxnSpPr>
        <p:spPr>
          <a:xfrm>
            <a:off x="4499523" y="1690688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464682" y="1690688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7679135" y="1701955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241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Deutsch’s algorithm analysis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The final outcome is 0 if</a:t>
                </a:r>
                <a:r>
                  <a:rPr lang="en-US" altLang="ko-KR" sz="2000" dirty="0"/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altLang="ko-KR" sz="2000" dirty="0" smtClean="0"/>
                  <a:t> and 1 if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 algn="ctr">
                  <a:buNone/>
                </a:pPr>
                <a:r>
                  <a:rPr lang="en-US" altLang="ko-KR" sz="2000" dirty="0" smtClean="0"/>
                  <a:t>(One-shot analysis on board)</a:t>
                </a: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3325854" y="2375409"/>
            <a:ext cx="511023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3325854" y="2033048"/>
            <a:ext cx="511023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/>
              <p:cNvSpPr/>
              <p:nvPr/>
            </p:nvSpPr>
            <p:spPr>
              <a:xfrm>
                <a:off x="7012445" y="1887321"/>
                <a:ext cx="315456" cy="31545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직사각형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2445" y="1887321"/>
                <a:ext cx="315456" cy="315456"/>
              </a:xfrm>
              <a:prstGeom prst="rect">
                <a:avLst/>
              </a:prstGeom>
              <a:blipFill>
                <a:blip r:embed="rId3"/>
                <a:stretch>
                  <a:fillRect l="-5556" r="-5556" b="-188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2833519" y="1838269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519" y="1838269"/>
                <a:ext cx="6600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2833519" y="2167375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519" y="2167375"/>
                <a:ext cx="6600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/>
              <p:cNvSpPr/>
              <p:nvPr/>
            </p:nvSpPr>
            <p:spPr>
              <a:xfrm>
                <a:off x="5013152" y="1762355"/>
                <a:ext cx="939567" cy="880844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직사각형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152" y="1762355"/>
                <a:ext cx="939567" cy="8808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/>
              <p:cNvSpPr/>
              <p:nvPr/>
            </p:nvSpPr>
            <p:spPr>
              <a:xfrm>
                <a:off x="3670439" y="2232586"/>
                <a:ext cx="315456" cy="31545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직사각형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439" y="2232586"/>
                <a:ext cx="315456" cy="315456"/>
              </a:xfrm>
              <a:prstGeom prst="rect">
                <a:avLst/>
              </a:prstGeom>
              <a:blipFill>
                <a:blip r:embed="rId7"/>
                <a:stretch>
                  <a:fillRect l="-5556" r="-3704" b="-185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/>
              <p:cNvSpPr/>
              <p:nvPr/>
            </p:nvSpPr>
            <p:spPr>
              <a:xfrm>
                <a:off x="3670439" y="1855047"/>
                <a:ext cx="315456" cy="31545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직사각형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439" y="1855047"/>
                <a:ext cx="315456" cy="315456"/>
              </a:xfrm>
              <a:prstGeom prst="rect">
                <a:avLst/>
              </a:prstGeom>
              <a:blipFill>
                <a:blip r:embed="rId8"/>
                <a:stretch>
                  <a:fillRect l="-5556" r="-3704" b="-185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그림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45708" y="1836760"/>
            <a:ext cx="467256" cy="3660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4173242" y="2618725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3242" y="2618725"/>
                <a:ext cx="660041" cy="369332"/>
              </a:xfrm>
              <a:prstGeom prst="rect">
                <a:avLst/>
              </a:prstGeom>
              <a:blipFill>
                <a:blip r:embed="rId1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4169503" y="2618725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503" y="2618725"/>
                <a:ext cx="660041" cy="369332"/>
              </a:xfrm>
              <a:prstGeom prst="rect">
                <a:avLst/>
              </a:prstGeom>
              <a:blipFill>
                <a:blip r:embed="rId11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6152561" y="2647090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561" y="2647090"/>
                <a:ext cx="660041" cy="369332"/>
              </a:xfrm>
              <a:prstGeom prst="rect">
                <a:avLst/>
              </a:prstGeom>
              <a:blipFill>
                <a:blip r:embed="rId12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7353809" y="2653309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809" y="2653309"/>
                <a:ext cx="660041" cy="369332"/>
              </a:xfrm>
              <a:prstGeom prst="rect">
                <a:avLst/>
              </a:prstGeom>
              <a:blipFill>
                <a:blip r:embed="rId13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직선 연결선 22"/>
          <p:cNvCxnSpPr>
            <a:endCxn id="19" idx="0"/>
          </p:cNvCxnSpPr>
          <p:nvPr/>
        </p:nvCxnSpPr>
        <p:spPr>
          <a:xfrm>
            <a:off x="4499523" y="1690688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464682" y="1690688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7679135" y="1701955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08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Two </a:t>
            </a:r>
            <a:r>
              <a:rPr lang="en-US" sz="4000" dirty="0" err="1" smtClean="0"/>
              <a:t>unitaries</a:t>
            </a:r>
            <a:r>
              <a:rPr lang="en-US" sz="4000" dirty="0" smtClean="0"/>
              <a:t> for classical circuits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000" dirty="0" smtClean="0"/>
                  <a:t>For any binary-output circuit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ko-KR" sz="2000" i="1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ko-KR" sz="2000" dirty="0" smtClean="0"/>
                  <a:t>, we just show how to implement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|"/>
                        <m:endChr m:val="⟩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→|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ko-KR" sz="2000" dirty="0" smtClean="0"/>
                  <a:t>, i.e.,</a:t>
                </a:r>
                <a:r>
                  <a:rPr lang="en-US" altLang="ko-KR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⊕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d>
                          <m:dPr>
                            <m:begChr m:val="⟨"/>
                            <m:endChr m:val="|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nary>
                  </m:oMath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Consider the “phase” implementation of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altLang="ko-KR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 smtClean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638" t="-23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5">
            <a:extLst>
              <a:ext uri="{FF2B5EF4-FFF2-40B4-BE49-F238E27FC236}">
                <a16:creationId xmlns:a16="http://schemas.microsoft.com/office/drawing/2014/main" id="{99ACEA54-913D-8CB3-494F-B935AA4B07C1}"/>
              </a:ext>
            </a:extLst>
          </p:cNvPr>
          <p:cNvCxnSpPr/>
          <p:nvPr/>
        </p:nvCxnSpPr>
        <p:spPr>
          <a:xfrm>
            <a:off x="1046467" y="4121973"/>
            <a:ext cx="990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6">
            <a:extLst>
              <a:ext uri="{FF2B5EF4-FFF2-40B4-BE49-F238E27FC236}">
                <a16:creationId xmlns:a16="http://schemas.microsoft.com/office/drawing/2014/main" id="{63BAF0D3-4D6C-F3EB-71DF-5F5595CD7217}"/>
              </a:ext>
            </a:extLst>
          </p:cNvPr>
          <p:cNvCxnSpPr/>
          <p:nvPr/>
        </p:nvCxnSpPr>
        <p:spPr>
          <a:xfrm>
            <a:off x="1046467" y="4502974"/>
            <a:ext cx="990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7">
            <a:extLst>
              <a:ext uri="{FF2B5EF4-FFF2-40B4-BE49-F238E27FC236}">
                <a16:creationId xmlns:a16="http://schemas.microsoft.com/office/drawing/2014/main" id="{8247A8B7-3E9E-68C0-8DBD-6C4052240DFF}"/>
              </a:ext>
            </a:extLst>
          </p:cNvPr>
          <p:cNvCxnSpPr>
            <a:cxnSpLocks/>
          </p:cNvCxnSpPr>
          <p:nvPr/>
        </p:nvCxnSpPr>
        <p:spPr>
          <a:xfrm>
            <a:off x="1046467" y="4917311"/>
            <a:ext cx="267958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8">
            <a:extLst>
              <a:ext uri="{FF2B5EF4-FFF2-40B4-BE49-F238E27FC236}">
                <a16:creationId xmlns:a16="http://schemas.microsoft.com/office/drawing/2014/main" id="{8F8C30A2-A972-77DA-0C5B-305510918A61}"/>
              </a:ext>
            </a:extLst>
          </p:cNvPr>
          <p:cNvSpPr/>
          <p:nvPr/>
        </p:nvSpPr>
        <p:spPr>
          <a:xfrm>
            <a:off x="1307890" y="4015020"/>
            <a:ext cx="2062675" cy="20393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10">
            <a:extLst>
              <a:ext uri="{FF2B5EF4-FFF2-40B4-BE49-F238E27FC236}">
                <a16:creationId xmlns:a16="http://schemas.microsoft.com/office/drawing/2014/main" id="{34CED6E9-D22B-BDE4-137A-0AA40FD6ABB9}"/>
              </a:ext>
            </a:extLst>
          </p:cNvPr>
          <p:cNvCxnSpPr>
            <a:cxnSpLocks/>
          </p:cNvCxnSpPr>
          <p:nvPr/>
        </p:nvCxnSpPr>
        <p:spPr>
          <a:xfrm>
            <a:off x="2572849" y="4502974"/>
            <a:ext cx="115319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11">
            <a:extLst>
              <a:ext uri="{FF2B5EF4-FFF2-40B4-BE49-F238E27FC236}">
                <a16:creationId xmlns:a16="http://schemas.microsoft.com/office/drawing/2014/main" id="{A44899F0-A2A0-31FC-6AA1-5D3991AFA5A2}"/>
              </a:ext>
            </a:extLst>
          </p:cNvPr>
          <p:cNvCxnSpPr>
            <a:cxnSpLocks/>
          </p:cNvCxnSpPr>
          <p:nvPr/>
        </p:nvCxnSpPr>
        <p:spPr>
          <a:xfrm>
            <a:off x="2572849" y="4121973"/>
            <a:ext cx="115319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14">
            <a:extLst>
              <a:ext uri="{FF2B5EF4-FFF2-40B4-BE49-F238E27FC236}">
                <a16:creationId xmlns:a16="http://schemas.microsoft.com/office/drawing/2014/main" id="{85DABE39-2961-0A53-EBDD-CF2F4A6F9058}"/>
              </a:ext>
            </a:extLst>
          </p:cNvPr>
          <p:cNvCxnSpPr>
            <a:cxnSpLocks/>
          </p:cNvCxnSpPr>
          <p:nvPr/>
        </p:nvCxnSpPr>
        <p:spPr>
          <a:xfrm>
            <a:off x="1042802" y="5859707"/>
            <a:ext cx="268324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20">
                <a:extLst>
                  <a:ext uri="{FF2B5EF4-FFF2-40B4-BE49-F238E27FC236}">
                    <a16:creationId xmlns:a16="http://schemas.microsoft.com/office/drawing/2014/main" id="{72464EE4-12FA-DEB3-F1DC-6BB6AADDF394}"/>
                  </a:ext>
                </a:extLst>
              </p:cNvPr>
              <p:cNvSpPr/>
              <p:nvPr/>
            </p:nvSpPr>
            <p:spPr>
              <a:xfrm>
                <a:off x="339603" y="5656251"/>
                <a:ext cx="53860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Rectangle 20">
                <a:extLst>
                  <a:ext uri="{FF2B5EF4-FFF2-40B4-BE49-F238E27FC236}">
                    <a16:creationId xmlns:a16="http://schemas.microsoft.com/office/drawing/2014/main" id="{72464EE4-12FA-DEB3-F1DC-6BB6AADDF3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03" y="5656251"/>
                <a:ext cx="53860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0">
            <a:extLst>
              <a:ext uri="{FF2B5EF4-FFF2-40B4-BE49-F238E27FC236}">
                <a16:creationId xmlns:a16="http://schemas.microsoft.com/office/drawing/2014/main" id="{20E5B44C-32FE-9364-DF9B-F5D060FC0F3E}"/>
              </a:ext>
            </a:extLst>
          </p:cNvPr>
          <p:cNvCxnSpPr>
            <a:cxnSpLocks/>
          </p:cNvCxnSpPr>
          <p:nvPr/>
        </p:nvCxnSpPr>
        <p:spPr>
          <a:xfrm>
            <a:off x="1034440" y="5480775"/>
            <a:ext cx="268324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1">
                <a:extLst>
                  <a:ext uri="{FF2B5EF4-FFF2-40B4-BE49-F238E27FC236}">
                    <a16:creationId xmlns:a16="http://schemas.microsoft.com/office/drawing/2014/main" id="{B27DEBFF-3A76-91B7-D384-82C9F0038336}"/>
                  </a:ext>
                </a:extLst>
              </p:cNvPr>
              <p:cNvSpPr/>
              <p:nvPr/>
            </p:nvSpPr>
            <p:spPr>
              <a:xfrm>
                <a:off x="318187" y="4645396"/>
                <a:ext cx="5528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Rectangle 31">
                <a:extLst>
                  <a:ext uri="{FF2B5EF4-FFF2-40B4-BE49-F238E27FC236}">
                    <a16:creationId xmlns:a16="http://schemas.microsoft.com/office/drawing/2014/main" id="{B27DEBFF-3A76-91B7-D384-82C9F00383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87" y="4645396"/>
                <a:ext cx="55284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E728C979-1C3C-E8BE-557B-4639F86714F9}"/>
              </a:ext>
            </a:extLst>
          </p:cNvPr>
          <p:cNvSpPr txBox="1"/>
          <p:nvPr/>
        </p:nvSpPr>
        <p:spPr>
          <a:xfrm rot="5400000">
            <a:off x="3392735" y="5092653"/>
            <a:ext cx="47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15F584D-43C4-54C5-127E-34070AEF56E1}"/>
                  </a:ext>
                </a:extLst>
              </p:cNvPr>
              <p:cNvSpPr txBox="1"/>
              <p:nvPr/>
            </p:nvSpPr>
            <p:spPr>
              <a:xfrm>
                <a:off x="2018313" y="4645396"/>
                <a:ext cx="641827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15F584D-43C4-54C5-127E-34070AEF5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313" y="4645396"/>
                <a:ext cx="64182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양쪽 중괄호 41"/>
          <p:cNvSpPr/>
          <p:nvPr/>
        </p:nvSpPr>
        <p:spPr>
          <a:xfrm>
            <a:off x="905514" y="4040136"/>
            <a:ext cx="589360" cy="1500082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20">
                <a:extLst>
                  <a:ext uri="{FF2B5EF4-FFF2-40B4-BE49-F238E27FC236}">
                    <a16:creationId xmlns:a16="http://schemas.microsoft.com/office/drawing/2014/main" id="{72464EE4-12FA-DEB3-F1DC-6BB6AADDF394}"/>
                  </a:ext>
                </a:extLst>
              </p:cNvPr>
              <p:cNvSpPr/>
              <p:nvPr/>
            </p:nvSpPr>
            <p:spPr>
              <a:xfrm>
                <a:off x="3697785" y="5647070"/>
                <a:ext cx="13412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Rectangle 20">
                <a:extLst>
                  <a:ext uri="{FF2B5EF4-FFF2-40B4-BE49-F238E27FC236}">
                    <a16:creationId xmlns:a16="http://schemas.microsoft.com/office/drawing/2014/main" id="{72464EE4-12FA-DEB3-F1DC-6BB6AADDF3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785" y="5647070"/>
                <a:ext cx="1341201" cy="369332"/>
              </a:xfrm>
              <a:prstGeom prst="rect">
                <a:avLst/>
              </a:prstGeom>
              <a:blipFill>
                <a:blip r:embed="rId6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31">
                <a:extLst>
                  <a:ext uri="{FF2B5EF4-FFF2-40B4-BE49-F238E27FC236}">
                    <a16:creationId xmlns:a16="http://schemas.microsoft.com/office/drawing/2014/main" id="{B27DEBFF-3A76-91B7-D384-82C9F0038336}"/>
                  </a:ext>
                </a:extLst>
              </p:cNvPr>
              <p:cNvSpPr/>
              <p:nvPr/>
            </p:nvSpPr>
            <p:spPr>
              <a:xfrm>
                <a:off x="3876387" y="4547979"/>
                <a:ext cx="5528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Rectangle 31">
                <a:extLst>
                  <a:ext uri="{FF2B5EF4-FFF2-40B4-BE49-F238E27FC236}">
                    <a16:creationId xmlns:a16="http://schemas.microsoft.com/office/drawing/2014/main" id="{B27DEBFF-3A76-91B7-D384-82C9F00383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387" y="4547979"/>
                <a:ext cx="55284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양쪽 중괄호 44"/>
          <p:cNvSpPr/>
          <p:nvPr/>
        </p:nvSpPr>
        <p:spPr>
          <a:xfrm>
            <a:off x="3280999" y="4049923"/>
            <a:ext cx="589360" cy="1500082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6" name="Straight Connector 5">
            <a:extLst>
              <a:ext uri="{FF2B5EF4-FFF2-40B4-BE49-F238E27FC236}">
                <a16:creationId xmlns:a16="http://schemas.microsoft.com/office/drawing/2014/main" id="{99ACEA54-913D-8CB3-494F-B935AA4B07C1}"/>
              </a:ext>
            </a:extLst>
          </p:cNvPr>
          <p:cNvCxnSpPr/>
          <p:nvPr/>
        </p:nvCxnSpPr>
        <p:spPr>
          <a:xfrm>
            <a:off x="6962104" y="4121973"/>
            <a:ext cx="990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6">
            <a:extLst>
              <a:ext uri="{FF2B5EF4-FFF2-40B4-BE49-F238E27FC236}">
                <a16:creationId xmlns:a16="http://schemas.microsoft.com/office/drawing/2014/main" id="{63BAF0D3-4D6C-F3EB-71DF-5F5595CD7217}"/>
              </a:ext>
            </a:extLst>
          </p:cNvPr>
          <p:cNvCxnSpPr/>
          <p:nvPr/>
        </p:nvCxnSpPr>
        <p:spPr>
          <a:xfrm>
            <a:off x="6962104" y="4502974"/>
            <a:ext cx="990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7">
            <a:extLst>
              <a:ext uri="{FF2B5EF4-FFF2-40B4-BE49-F238E27FC236}">
                <a16:creationId xmlns:a16="http://schemas.microsoft.com/office/drawing/2014/main" id="{8247A8B7-3E9E-68C0-8DBD-6C4052240DFF}"/>
              </a:ext>
            </a:extLst>
          </p:cNvPr>
          <p:cNvCxnSpPr>
            <a:cxnSpLocks/>
          </p:cNvCxnSpPr>
          <p:nvPr/>
        </p:nvCxnSpPr>
        <p:spPr>
          <a:xfrm>
            <a:off x="6962104" y="4917311"/>
            <a:ext cx="267958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8">
            <a:extLst>
              <a:ext uri="{FF2B5EF4-FFF2-40B4-BE49-F238E27FC236}">
                <a16:creationId xmlns:a16="http://schemas.microsoft.com/office/drawing/2014/main" id="{8F8C30A2-A972-77DA-0C5B-305510918A61}"/>
              </a:ext>
            </a:extLst>
          </p:cNvPr>
          <p:cNvSpPr/>
          <p:nvPr/>
        </p:nvSpPr>
        <p:spPr>
          <a:xfrm>
            <a:off x="7424863" y="4015020"/>
            <a:ext cx="2062675" cy="20393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10">
            <a:extLst>
              <a:ext uri="{FF2B5EF4-FFF2-40B4-BE49-F238E27FC236}">
                <a16:creationId xmlns:a16="http://schemas.microsoft.com/office/drawing/2014/main" id="{34CED6E9-D22B-BDE4-137A-0AA40FD6ABB9}"/>
              </a:ext>
            </a:extLst>
          </p:cNvPr>
          <p:cNvCxnSpPr>
            <a:cxnSpLocks/>
          </p:cNvCxnSpPr>
          <p:nvPr/>
        </p:nvCxnSpPr>
        <p:spPr>
          <a:xfrm>
            <a:off x="8488486" y="4502974"/>
            <a:ext cx="115319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11">
            <a:extLst>
              <a:ext uri="{FF2B5EF4-FFF2-40B4-BE49-F238E27FC236}">
                <a16:creationId xmlns:a16="http://schemas.microsoft.com/office/drawing/2014/main" id="{A44899F0-A2A0-31FC-6AA1-5D3991AFA5A2}"/>
              </a:ext>
            </a:extLst>
          </p:cNvPr>
          <p:cNvCxnSpPr>
            <a:cxnSpLocks/>
          </p:cNvCxnSpPr>
          <p:nvPr/>
        </p:nvCxnSpPr>
        <p:spPr>
          <a:xfrm>
            <a:off x="8488486" y="4121973"/>
            <a:ext cx="115319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14">
            <a:extLst>
              <a:ext uri="{FF2B5EF4-FFF2-40B4-BE49-F238E27FC236}">
                <a16:creationId xmlns:a16="http://schemas.microsoft.com/office/drawing/2014/main" id="{85DABE39-2961-0A53-EBDD-CF2F4A6F9058}"/>
              </a:ext>
            </a:extLst>
          </p:cNvPr>
          <p:cNvCxnSpPr>
            <a:cxnSpLocks/>
          </p:cNvCxnSpPr>
          <p:nvPr/>
        </p:nvCxnSpPr>
        <p:spPr>
          <a:xfrm>
            <a:off x="6958439" y="5859707"/>
            <a:ext cx="268324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30">
            <a:extLst>
              <a:ext uri="{FF2B5EF4-FFF2-40B4-BE49-F238E27FC236}">
                <a16:creationId xmlns:a16="http://schemas.microsoft.com/office/drawing/2014/main" id="{20E5B44C-32FE-9364-DF9B-F5D060FC0F3E}"/>
              </a:ext>
            </a:extLst>
          </p:cNvPr>
          <p:cNvCxnSpPr>
            <a:cxnSpLocks/>
          </p:cNvCxnSpPr>
          <p:nvPr/>
        </p:nvCxnSpPr>
        <p:spPr>
          <a:xfrm>
            <a:off x="6950077" y="5480775"/>
            <a:ext cx="268324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15F584D-43C4-54C5-127E-34070AEF56E1}"/>
                  </a:ext>
                </a:extLst>
              </p:cNvPr>
              <p:cNvSpPr txBox="1"/>
              <p:nvPr/>
            </p:nvSpPr>
            <p:spPr>
              <a:xfrm>
                <a:off x="8135286" y="4645396"/>
                <a:ext cx="641827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15F584D-43C4-54C5-127E-34070AEF5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286" y="4645396"/>
                <a:ext cx="641827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20">
                <a:extLst>
                  <a:ext uri="{FF2B5EF4-FFF2-40B4-BE49-F238E27FC236}">
                    <a16:creationId xmlns:a16="http://schemas.microsoft.com/office/drawing/2014/main" id="{72464EE4-12FA-DEB3-F1DC-6BB6AADDF394}"/>
                  </a:ext>
                </a:extLst>
              </p:cNvPr>
              <p:cNvSpPr/>
              <p:nvPr/>
            </p:nvSpPr>
            <p:spPr>
              <a:xfrm>
                <a:off x="6207304" y="5642651"/>
                <a:ext cx="5506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Rectangle 20">
                <a:extLst>
                  <a:ext uri="{FF2B5EF4-FFF2-40B4-BE49-F238E27FC236}">
                    <a16:creationId xmlns:a16="http://schemas.microsoft.com/office/drawing/2014/main" id="{72464EE4-12FA-DEB3-F1DC-6BB6AADDF3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7304" y="5642651"/>
                <a:ext cx="55066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31">
                <a:extLst>
                  <a:ext uri="{FF2B5EF4-FFF2-40B4-BE49-F238E27FC236}">
                    <a16:creationId xmlns:a16="http://schemas.microsoft.com/office/drawing/2014/main" id="{B27DEBFF-3A76-91B7-D384-82C9F0038336}"/>
                  </a:ext>
                </a:extLst>
              </p:cNvPr>
              <p:cNvSpPr/>
              <p:nvPr/>
            </p:nvSpPr>
            <p:spPr>
              <a:xfrm>
                <a:off x="6185888" y="4631796"/>
                <a:ext cx="5528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Rectangle 31">
                <a:extLst>
                  <a:ext uri="{FF2B5EF4-FFF2-40B4-BE49-F238E27FC236}">
                    <a16:creationId xmlns:a16="http://schemas.microsoft.com/office/drawing/2014/main" id="{B27DEBFF-3A76-91B7-D384-82C9F00383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888" y="4631796"/>
                <a:ext cx="55284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양쪽 중괄호 63"/>
          <p:cNvSpPr/>
          <p:nvPr/>
        </p:nvSpPr>
        <p:spPr>
          <a:xfrm>
            <a:off x="6773336" y="4015020"/>
            <a:ext cx="903969" cy="1500082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20">
                <a:extLst>
                  <a:ext uri="{FF2B5EF4-FFF2-40B4-BE49-F238E27FC236}">
                    <a16:creationId xmlns:a16="http://schemas.microsoft.com/office/drawing/2014/main" id="{72464EE4-12FA-DEB3-F1DC-6BB6AADDF394}"/>
                  </a:ext>
                </a:extLst>
              </p:cNvPr>
              <p:cNvSpPr/>
              <p:nvPr/>
            </p:nvSpPr>
            <p:spPr>
              <a:xfrm>
                <a:off x="10199968" y="5638475"/>
                <a:ext cx="59554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Rectangle 20">
                <a:extLst>
                  <a:ext uri="{FF2B5EF4-FFF2-40B4-BE49-F238E27FC236}">
                    <a16:creationId xmlns:a16="http://schemas.microsoft.com/office/drawing/2014/main" id="{72464EE4-12FA-DEB3-F1DC-6BB6AADDF3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968" y="5638475"/>
                <a:ext cx="59554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31">
                <a:extLst>
                  <a:ext uri="{FF2B5EF4-FFF2-40B4-BE49-F238E27FC236}">
                    <a16:creationId xmlns:a16="http://schemas.microsoft.com/office/drawing/2014/main" id="{B27DEBFF-3A76-91B7-D384-82C9F0038336}"/>
                  </a:ext>
                </a:extLst>
              </p:cNvPr>
              <p:cNvSpPr/>
              <p:nvPr/>
            </p:nvSpPr>
            <p:spPr>
              <a:xfrm>
                <a:off x="9730821" y="4529888"/>
                <a:ext cx="1410258" cy="3808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Rectangle 31">
                <a:extLst>
                  <a:ext uri="{FF2B5EF4-FFF2-40B4-BE49-F238E27FC236}">
                    <a16:creationId xmlns:a16="http://schemas.microsoft.com/office/drawing/2014/main" id="{B27DEBFF-3A76-91B7-D384-82C9F00383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0821" y="4529888"/>
                <a:ext cx="1410258" cy="3808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양쪽 중괄호 67"/>
          <p:cNvSpPr/>
          <p:nvPr/>
        </p:nvSpPr>
        <p:spPr>
          <a:xfrm>
            <a:off x="9135433" y="4031832"/>
            <a:ext cx="589360" cy="1500082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직사각형 38"/>
              <p:cNvSpPr/>
              <p:nvPr/>
            </p:nvSpPr>
            <p:spPr>
              <a:xfrm>
                <a:off x="7000795" y="5712649"/>
                <a:ext cx="315456" cy="31545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9" name="직사각형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795" y="5712649"/>
                <a:ext cx="315456" cy="315456"/>
              </a:xfrm>
              <a:prstGeom prst="rect">
                <a:avLst/>
              </a:prstGeom>
              <a:blipFill>
                <a:blip r:embed="rId13"/>
                <a:stretch>
                  <a:fillRect l="-5556" r="-5556" b="-185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741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6" grpId="0"/>
      <p:bldP spid="38" grpId="0"/>
      <p:bldP spid="40" grpId="0"/>
      <p:bldP spid="41" grpId="0" animBg="1"/>
      <p:bldP spid="42" grpId="0" animBg="1"/>
      <p:bldP spid="43" grpId="0"/>
      <p:bldP spid="44" grpId="0"/>
      <p:bldP spid="45" grpId="0" animBg="1"/>
      <p:bldP spid="49" grpId="0" animBg="1"/>
      <p:bldP spid="55" grpId="0" animBg="1"/>
      <p:bldP spid="62" grpId="0"/>
      <p:bldP spid="63" grpId="0"/>
      <p:bldP spid="64" grpId="0" animBg="1"/>
      <p:bldP spid="66" grpId="0"/>
      <p:bldP spid="67" grpId="0"/>
      <p:bldP spid="68" grpId="0" animBg="1"/>
      <p:bldP spid="3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Deutsch’s </a:t>
            </a:r>
            <a:r>
              <a:rPr lang="en-US" altLang="ko-KR" sz="4000" dirty="0" smtClean="0"/>
              <a:t>algorithm by phase circuit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AutoNum type="arabicPeriod"/>
                </a:pPr>
                <a:r>
                  <a:rPr lang="en-US" altLang="ko-KR" sz="2000" dirty="0" smtClean="0"/>
                  <a:t>Prepare the following 1-qubit state </a:t>
                </a:r>
                <a:r>
                  <a:rPr lang="en-US" altLang="ko-KR" sz="2000" b="0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altLang="ko-KR" sz="2000" b="0" i="1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∈{0,1}</m:t>
                        </m:r>
                      </m:sub>
                      <m:sup/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nary>
                  </m:oMath>
                </a14:m>
                <a:endParaRPr lang="en-US" altLang="ko-KR" sz="2000" dirty="0" smtClean="0"/>
              </a:p>
              <a:p>
                <a:pPr marL="457200" indent="-457200">
                  <a:buAutoNum type="arabicPeriod"/>
                </a:pPr>
                <a:r>
                  <a:rPr lang="en-US" altLang="ko-KR" sz="2000" dirty="0" smtClean="0"/>
                  <a:t>Apply the phase circuit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altLang="ko-KR" sz="2000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altLang="ko-KR" sz="2000" i="1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∈{0,1}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nary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∈{0,1}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nary>
                  </m:oMath>
                </a14:m>
                <a:endParaRPr lang="en-US" altLang="ko-KR" sz="2000" dirty="0" smtClean="0"/>
              </a:p>
              <a:p>
                <a:pPr marL="457200" indent="-457200">
                  <a:buAutoNum type="arabicPeriod"/>
                </a:pPr>
                <a:r>
                  <a:rPr lang="en-US" altLang="ko-KR" sz="2000" dirty="0" smtClean="0"/>
                  <a:t>Measure the state under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r>
                  <a:rPr lang="en-US" altLang="ko-KR" sz="2000" dirty="0" smtClean="0"/>
                  <a:t>.</a:t>
                </a:r>
              </a:p>
              <a:p>
                <a:pPr marL="457200" indent="-457200">
                  <a:buAutoNum type="arabicPeriod"/>
                </a:pPr>
                <a:endParaRPr lang="en-US" altLang="ko-KR" sz="2000" dirty="0"/>
              </a:p>
              <a:p>
                <a:pPr marL="0" indent="0" algn="ctr">
                  <a:buNone/>
                </a:pPr>
                <a:r>
                  <a:rPr lang="en-US" altLang="ko-KR" sz="2000" dirty="0" smtClean="0"/>
                  <a:t>Analysis on board.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812" t="-21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3627858" y="5724204"/>
            <a:ext cx="511023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/>
              <p:cNvSpPr/>
              <p:nvPr/>
            </p:nvSpPr>
            <p:spPr>
              <a:xfrm>
                <a:off x="7314449" y="5578477"/>
                <a:ext cx="315456" cy="31545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직사각형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4449" y="5578477"/>
                <a:ext cx="315456" cy="315456"/>
              </a:xfrm>
              <a:prstGeom prst="rect">
                <a:avLst/>
              </a:prstGeom>
              <a:blipFill>
                <a:blip r:embed="rId3"/>
                <a:stretch>
                  <a:fillRect l="-5556" r="-3704" b="-185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3135523" y="5529425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5523" y="5529425"/>
                <a:ext cx="6600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/>
              <p:cNvSpPr/>
              <p:nvPr/>
            </p:nvSpPr>
            <p:spPr>
              <a:xfrm>
                <a:off x="5544021" y="5483720"/>
                <a:ext cx="464859" cy="440422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직사각형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021" y="5483720"/>
                <a:ext cx="464859" cy="440422"/>
              </a:xfrm>
              <a:prstGeom prst="rect">
                <a:avLst/>
              </a:prstGeom>
              <a:blipFill>
                <a:blip r:embed="rId5"/>
                <a:stretch>
                  <a:fillRect b="-1351"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/>
              <p:cNvSpPr/>
              <p:nvPr/>
            </p:nvSpPr>
            <p:spPr>
              <a:xfrm>
                <a:off x="3972443" y="5546203"/>
                <a:ext cx="315456" cy="31545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직사각형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2443" y="5546203"/>
                <a:ext cx="315456" cy="315456"/>
              </a:xfrm>
              <a:prstGeom prst="rect">
                <a:avLst/>
              </a:prstGeom>
              <a:blipFill>
                <a:blip r:embed="rId6"/>
                <a:stretch>
                  <a:fillRect l="-7547" r="-5660" b="-185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7712" y="5527916"/>
            <a:ext cx="467256" cy="36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423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/>
      <p:bldP spid="9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Hidden matching problem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000" dirty="0" smtClean="0"/>
                  <a:t>We are considering the following problem between Alice and Bob:</a:t>
                </a:r>
              </a:p>
              <a:p>
                <a:r>
                  <a:rPr lang="en-US" altLang="ko-KR" sz="2000" dirty="0" smtClean="0"/>
                  <a:t>Alice has a function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→{0,1}</m:t>
                    </m:r>
                  </m:oMath>
                </a14:m>
                <a:r>
                  <a:rPr lang="en-US" altLang="ko-KR" sz="2000" dirty="0" smtClean="0"/>
                  <a:t> 		(where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ko-KR" sz="2000" dirty="0" smtClean="0"/>
                  <a:t>’s description is unknown)</a:t>
                </a:r>
              </a:p>
              <a:p>
                <a:r>
                  <a:rPr lang="en-US" altLang="ko-KR" sz="2000" dirty="0" smtClean="0"/>
                  <a:t>Bob has a bijection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altLang="ko-KR" sz="2000" dirty="0"/>
              </a:p>
              <a:p>
                <a:endParaRPr lang="en-US" altLang="ko-KR" sz="2000" dirty="0" smtClean="0"/>
              </a:p>
              <a:p>
                <a:r>
                  <a:rPr lang="en-US" altLang="ko-KR" sz="2000" dirty="0" smtClean="0"/>
                  <a:t>Alice sends a message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altLang="ko-KR" sz="2000" dirty="0" smtClean="0"/>
                  <a:t> to Bob, and Bob,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altLang="ko-KR" sz="2000" dirty="0" smtClean="0"/>
                  <a:t>, is asked to output</a:t>
                </a:r>
                <a:endParaRPr lang="en-US" altLang="ko-KR" sz="2000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such that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(0,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)⊕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(1,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sz="2000" dirty="0" smtClean="0"/>
                  <a:t> with high probability (say 99%)</a:t>
                </a:r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 smtClean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638" t="-1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/>
          <p:cNvSpPr/>
          <p:nvPr/>
        </p:nvSpPr>
        <p:spPr>
          <a:xfrm>
            <a:off x="9712906" y="812938"/>
            <a:ext cx="1023456" cy="4299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Slightly advanced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15900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Hidden matching problem</a:t>
            </a:r>
            <a:br>
              <a:rPr lang="en-US" sz="4000" dirty="0" smtClean="0"/>
            </a:br>
            <a:r>
              <a:rPr lang="en-US" sz="4000" dirty="0" smtClean="0"/>
              <a:t>Classical strategy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000" dirty="0" smtClean="0"/>
                  <a:t>Suppose Alice and Bob shares random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sz="2000" dirty="0" smtClean="0"/>
                  <a:t> a priori (before deciding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altLang="ko-KR" sz="2000" dirty="0" smtClean="0"/>
                  <a:t>)</a:t>
                </a:r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457200" indent="-457200">
                  <a:buAutoNum type="arabicPeriod"/>
                </a:pPr>
                <a:r>
                  <a:rPr lang="en-US" altLang="ko-KR" sz="2000" dirty="0" smtClean="0"/>
                  <a:t>Alice sends</a:t>
                </a:r>
                <a14:m>
                  <m:oMath xmlns:m="http://schemas.openxmlformats.org/officeDocument/2006/math"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altLang="ko-KR" sz="2000" dirty="0" smtClean="0"/>
                  <a:t> to Bob</a:t>
                </a:r>
              </a:p>
              <a:p>
                <a:pPr marL="457200" indent="-457200">
                  <a:buAutoNum type="arabicPeriod"/>
                </a:pPr>
                <a:r>
                  <a:rPr lang="en-US" altLang="ko-KR" sz="2000" dirty="0" smtClean="0"/>
                  <a:t>Bob checks if there are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sz="2000" dirty="0" smtClean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ko-KR" sz="2000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Birthday paradox: Such a pair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ko-KR" sz="2000" dirty="0" smtClean="0"/>
                  <a:t> exists with probability 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Choosing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</m:oMath>
                </a14:m>
                <a:r>
                  <a:rPr lang="en-US" altLang="ko-KR" sz="2000" dirty="0" smtClean="0"/>
                  <a:t> gives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</m:oMath>
                </a14:m>
                <a:r>
                  <a:rPr lang="en-US" altLang="ko-KR" sz="2000" dirty="0" smtClean="0"/>
                  <a:t>-bit communication classical protocol</a:t>
                </a:r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dirty="0"/>
                  <a:t>This is the best strategy!</a:t>
                </a:r>
                <a:endParaRPr lang="en-US" altLang="ko-KR" sz="2000" dirty="0" smtClean="0"/>
              </a:p>
              <a:p>
                <a:r>
                  <a:rPr lang="en-US" altLang="ko-KR" sz="2000" dirty="0" smtClean="0"/>
                  <a:t>Classical protocol (i.e.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altLang="ko-KR" sz="2000" dirty="0" smtClean="0"/>
                  <a:t> is classical string) requires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sz="2000" dirty="0" smtClean="0"/>
                  <a:t> bits of communication</a:t>
                </a:r>
              </a:p>
              <a:p>
                <a:r>
                  <a:rPr lang="en-US" altLang="ko-KR" sz="2000" dirty="0" smtClean="0"/>
                  <a:t>Without shared randomness, it </a:t>
                </a:r>
                <a:r>
                  <a:rPr lang="en-US" altLang="ko-KR" sz="2000" dirty="0"/>
                  <a:t>requires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sz="2000" dirty="0"/>
                  <a:t> bits of communication</a:t>
                </a:r>
              </a:p>
              <a:p>
                <a:endParaRPr lang="en-US" altLang="ko-KR" sz="2000" dirty="0" smtClean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812" t="-1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/>
          <p:cNvSpPr/>
          <p:nvPr/>
        </p:nvSpPr>
        <p:spPr>
          <a:xfrm>
            <a:off x="9712906" y="812938"/>
            <a:ext cx="1023456" cy="4299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Slightly advanced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0869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Hidden matching problem</a:t>
            </a:r>
            <a:br>
              <a:rPr lang="en-US" sz="4000" dirty="0" smtClean="0"/>
            </a:br>
            <a:r>
              <a:rPr lang="en-US" sz="4000" dirty="0" smtClean="0"/>
              <a:t>Quantum strategy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000" dirty="0" smtClean="0"/>
                  <a:t>We consider the following state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altLang="ko-KR" sz="2000" dirty="0" smtClean="0"/>
                  <a:t>:</a:t>
                </a:r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b>
                        <m:sup/>
                        <m:e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and the set of states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+|1,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)⟩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ko-KR" sz="2000" dirty="0" smtClean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)⟩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ko-KR" sz="2000" dirty="0" smtClean="0"/>
                  <a:t> for each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Check on board:</a:t>
                </a:r>
              </a:p>
              <a:p>
                <a:r>
                  <a:rPr lang="en-US" altLang="ko-KR" sz="2000" dirty="0" smtClean="0"/>
                  <a:t>This is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ko-KR" sz="2000" dirty="0" smtClean="0"/>
                  <a:t>-qubit quantum state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</m:d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</m:e>
                        </m:d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 :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sz="2000" dirty="0" smtClean="0"/>
                  <a:t> forms an orthonormal basis</a:t>
                </a:r>
              </a:p>
              <a:p>
                <a:endParaRPr lang="en-US" altLang="ko-KR" sz="2000" dirty="0" smtClean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638" t="-1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직사각형 4"/>
          <p:cNvSpPr/>
          <p:nvPr/>
        </p:nvSpPr>
        <p:spPr>
          <a:xfrm>
            <a:off x="9712906" y="812938"/>
            <a:ext cx="1023456" cy="4299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Slightly advanced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12136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Example: Hidden matching problem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000" dirty="0" smtClean="0"/>
                  <a:t>Measuring the following state under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</m:d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</m:e>
                        </m:d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 :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sz="2000" dirty="0" smtClean="0"/>
                  <a:t>:</a:t>
                </a:r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b>
                        <m:sup/>
                        <m:e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⟩=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⟨"/>
                                  <m:endChr m:val="|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⟨"/>
                                  <m:endChr m:val="|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US" altLang="ko-KR" sz="2000" b="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|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⟩=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⟨"/>
                                  <m:endChr m:val="|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⟨"/>
                                  <m:endChr m:val="|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We always observe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ko-KR" sz="2000" dirty="0" smtClean="0"/>
                  <a:t> if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(0,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)⊕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2000" dirty="0" smtClean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altLang="ko-KR" sz="2000" dirty="0"/>
                  <a:t> if</a:t>
                </a:r>
                <a:r>
                  <a:rPr lang="en-US" altLang="ko-KR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d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ko-KR" sz="2000" dirty="0" smtClean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638" t="-1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직사각형 4"/>
          <p:cNvSpPr/>
          <p:nvPr/>
        </p:nvSpPr>
        <p:spPr>
          <a:xfrm>
            <a:off x="9712906" y="812938"/>
            <a:ext cx="1023456" cy="4299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Slightly advanced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4536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Quantum information supremacy experiment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000" dirty="0" smtClean="0"/>
                  <a:t>We consider the following “proof of quantum-or-large-memory”:</a:t>
                </a:r>
              </a:p>
              <a:p>
                <a:pPr marL="0" indent="0">
                  <a:buNone/>
                </a:pPr>
                <a:r>
                  <a:rPr lang="en-US" altLang="ko-KR" sz="2000" dirty="0" smtClean="0"/>
                  <a:t>As </a:t>
                </a:r>
                <a:r>
                  <a:rPr lang="en-US" altLang="ko-KR" sz="2000" dirty="0"/>
                  <a:t>a </a:t>
                </a:r>
                <a:r>
                  <a:rPr lang="en-US" altLang="ko-KR" sz="2000" dirty="0" smtClean="0"/>
                  <a:t>challenger, you: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ko-KR" sz="2000" dirty="0" smtClean="0"/>
                  <a:t>Choose a (pseudo) random function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ko-KR" sz="2000" dirty="0" smtClean="0"/>
                  <a:t> and send it to the prover; prover is supposed to generate “advice” for the future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ko-KR" sz="2000" dirty="0" smtClean="0"/>
                  <a:t>Wait for a while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ko-KR" sz="2000" dirty="0" smtClean="0"/>
                  <a:t>Choose a (pseudo) random perfect bijection and send it to the prover; prover is asked to return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2000" dirty="0" smtClean="0"/>
                  <a:t> such </a:t>
                </a:r>
                <a:r>
                  <a:rPr lang="en-US" altLang="ko-KR" sz="2000" dirty="0"/>
                  <a:t>that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(0,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)⊕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(1,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sz="2000" dirty="0" smtClean="0"/>
                  <a:t> quickly</a:t>
                </a:r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To answer promptly at the end, the prover must either store in step 2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2000" dirty="0" smtClean="0"/>
                  <a:t>-qubit quantum state or 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sz="2000" dirty="0" smtClean="0"/>
                  <a:t>-bit classical string</a:t>
                </a:r>
                <a:endParaRPr lang="en-US" altLang="ko-K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812" t="-1261" r="-9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직사각형 41"/>
          <p:cNvSpPr/>
          <p:nvPr/>
        </p:nvSpPr>
        <p:spPr>
          <a:xfrm>
            <a:off x="10533262" y="847542"/>
            <a:ext cx="1023456" cy="3607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advanced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728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11300</TotalTime>
  <Words>384</Words>
  <Application>Microsoft Office PowerPoint</Application>
  <PresentationFormat>와이드스크린</PresentationFormat>
  <Paragraphs>298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Cambria Math</vt:lpstr>
      <vt:lpstr>Office 테마</vt:lpstr>
      <vt:lpstr>Introduction to  Quantum Algorithms</vt:lpstr>
      <vt:lpstr>n-qubit Unitary matrix</vt:lpstr>
      <vt:lpstr>Multiple qubit gates</vt:lpstr>
      <vt:lpstr>Computing classical circuits</vt:lpstr>
      <vt:lpstr>Computing classical circuits</vt:lpstr>
      <vt:lpstr>Four different single-(qu)bit functions</vt:lpstr>
      <vt:lpstr>Deutsch’s algorithm</vt:lpstr>
      <vt:lpstr>Deutsch’s algorithm</vt:lpstr>
      <vt:lpstr>Deutsch’s algorithm analysis</vt:lpstr>
      <vt:lpstr>Deutsch’s algorithm analysis</vt:lpstr>
      <vt:lpstr>Deutsch’s algorithm analysis</vt:lpstr>
      <vt:lpstr>Deutsch’s algorithm analysis</vt:lpstr>
      <vt:lpstr>Two unitaries for classical circuits</vt:lpstr>
      <vt:lpstr>Deutsch’s algorithm by phase circuit</vt:lpstr>
      <vt:lpstr>Hidden matching problem</vt:lpstr>
      <vt:lpstr>Hidden matching problem Classical strategy</vt:lpstr>
      <vt:lpstr>Hidden matching problem Quantum strategy</vt:lpstr>
      <vt:lpstr>Example: Hidden matching problem</vt:lpstr>
      <vt:lpstr>Quantum information supremacy experiment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Quantum Algorithms</dc:title>
  <dc:creator>Minki Hhan</dc:creator>
  <cp:lastModifiedBy>Minki Hhan</cp:lastModifiedBy>
  <cp:revision>156</cp:revision>
  <dcterms:created xsi:type="dcterms:W3CDTF">2026-02-24T07:16:23Z</dcterms:created>
  <dcterms:modified xsi:type="dcterms:W3CDTF">2026-03-31T02:02:16Z</dcterms:modified>
</cp:coreProperties>
</file>