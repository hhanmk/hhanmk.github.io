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372" r:id="rId2"/>
    <p:sldId id="417" r:id="rId3"/>
    <p:sldId id="399" r:id="rId4"/>
    <p:sldId id="400" r:id="rId5"/>
    <p:sldId id="401" r:id="rId6"/>
    <p:sldId id="418" r:id="rId7"/>
    <p:sldId id="402" r:id="rId8"/>
    <p:sldId id="404" r:id="rId9"/>
    <p:sldId id="403" r:id="rId10"/>
    <p:sldId id="408" r:id="rId11"/>
    <p:sldId id="409" r:id="rId12"/>
    <p:sldId id="410" r:id="rId13"/>
    <p:sldId id="412" r:id="rId14"/>
    <p:sldId id="413" r:id="rId15"/>
    <p:sldId id="420" r:id="rId16"/>
    <p:sldId id="411" r:id="rId17"/>
    <p:sldId id="414" r:id="rId18"/>
    <p:sldId id="416" r:id="rId19"/>
    <p:sldId id="419" r:id="rId20"/>
    <p:sldId id="415" r:id="rId21"/>
    <p:sldId id="421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60" d="100"/>
          <a:sy n="60" d="100"/>
        </p:scale>
        <p:origin x="72" y="1272"/>
      </p:cViewPr>
      <p:guideLst>
        <p:guide orient="horz" pos="2137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F7EABD-121C-4E1C-A30D-B7AAAB8F758C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9CA3E8-17C6-46E1-AB81-2C03EE0FF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8499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B3D6-5FF2-4C83-B3C3-C5C37AAB6EE8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9058-EE6E-4782-B725-5941026A47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3636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B3D6-5FF2-4C83-B3C3-C5C37AAB6EE8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9058-EE6E-4782-B725-5941026A47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005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B3D6-5FF2-4C83-B3C3-C5C37AAB6EE8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9058-EE6E-4782-B725-5941026A47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4600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B3D6-5FF2-4C83-B3C3-C5C37AAB6EE8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9058-EE6E-4782-B725-5941026A47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6718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B3D6-5FF2-4C83-B3C3-C5C37AAB6EE8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9058-EE6E-4782-B725-5941026A47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2596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B3D6-5FF2-4C83-B3C3-C5C37AAB6EE8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9058-EE6E-4782-B725-5941026A47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8691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B3D6-5FF2-4C83-B3C3-C5C37AAB6EE8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9058-EE6E-4782-B725-5941026A47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60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B3D6-5FF2-4C83-B3C3-C5C37AAB6EE8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9058-EE6E-4782-B725-5941026A47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3052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B3D6-5FF2-4C83-B3C3-C5C37AAB6EE8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9058-EE6E-4782-B725-5941026A47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8421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B3D6-5FF2-4C83-B3C3-C5C37AAB6EE8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9058-EE6E-4782-B725-5941026A47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8561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B3D6-5FF2-4C83-B3C3-C5C37AAB6EE8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09058-EE6E-4782-B725-5941026A47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5098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B8B3D6-5FF2-4C83-B3C3-C5C37AAB6EE8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709058-EE6E-4782-B725-5941026A47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800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1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.png"/><Relationship Id="rId3" Type="http://schemas.openxmlformats.org/officeDocument/2006/relationships/image" Target="../media/image23.png"/><Relationship Id="rId12" Type="http://schemas.openxmlformats.org/officeDocument/2006/relationships/image" Target="../media/image3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480683"/>
            <a:ext cx="9144000" cy="2387600"/>
          </a:xfrm>
        </p:spPr>
        <p:txBody>
          <a:bodyPr/>
          <a:lstStyle/>
          <a:p>
            <a:r>
              <a:rPr lang="en-US" altLang="ko-KR" dirty="0" smtClean="0"/>
              <a:t>Introduction to </a:t>
            </a:r>
            <a:br>
              <a:rPr lang="en-US" altLang="ko-KR" dirty="0" smtClean="0"/>
            </a:br>
            <a:r>
              <a:rPr lang="en-US" altLang="ko-KR" dirty="0" smtClean="0"/>
              <a:t>Quantum Algorithms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2960357"/>
            <a:ext cx="9144000" cy="3648989"/>
          </a:xfrm>
        </p:spPr>
        <p:txBody>
          <a:bodyPr/>
          <a:lstStyle/>
          <a:p>
            <a:r>
              <a:rPr lang="en-US" altLang="ko-KR" dirty="0" smtClean="0"/>
              <a:t>CS.49900	(Spring 2026)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sz="3200" dirty="0" smtClean="0"/>
              <a:t>Grover’s algorithm and applications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787950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Today: Grover’s algorithm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 smtClean="0"/>
              <a:t>Previous algorithms (Simon, </a:t>
            </a:r>
            <a:r>
              <a:rPr lang="en-US" altLang="ko-KR" sz="2000" dirty="0" err="1" smtClean="0"/>
              <a:t>Duetsch-Josza</a:t>
            </a:r>
            <a:r>
              <a:rPr lang="en-US" altLang="ko-KR" sz="2000" dirty="0" smtClean="0"/>
              <a:t>) </a:t>
            </a:r>
          </a:p>
          <a:p>
            <a:r>
              <a:rPr lang="en-US" altLang="ko-KR" sz="2000" dirty="0" smtClean="0"/>
              <a:t>require a strong promise of the problem</a:t>
            </a:r>
          </a:p>
          <a:p>
            <a:r>
              <a:rPr lang="en-US" altLang="ko-KR" sz="2000" dirty="0" smtClean="0"/>
              <a:t>have exponential quantum speed up</a:t>
            </a:r>
          </a:p>
          <a:p>
            <a:r>
              <a:rPr lang="en-US" altLang="ko-KR" sz="2000" dirty="0"/>
              <a:t>are based on Quantum Fourier transform (specifically, QFT-do something-QFT)</a:t>
            </a:r>
          </a:p>
          <a:p>
            <a:pPr marL="0" indent="0">
              <a:buNone/>
            </a:pPr>
            <a:r>
              <a:rPr lang="en-US" altLang="ko-KR" sz="2000" dirty="0" smtClean="0"/>
              <a:t>(Shor’s algorithm has the same style, but we will learn it later.)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 smtClean="0"/>
              <a:t>Grover algorithm:</a:t>
            </a:r>
            <a:endParaRPr lang="en-US" altLang="ko-KR" sz="2000" dirty="0"/>
          </a:p>
          <a:p>
            <a:r>
              <a:rPr lang="en-US" altLang="ko-KR" sz="2000" dirty="0" smtClean="0"/>
              <a:t>has a (quadratic) quantum speedup</a:t>
            </a:r>
          </a:p>
          <a:p>
            <a:r>
              <a:rPr lang="en-US" altLang="ko-KR" sz="2000" dirty="0" smtClean="0"/>
              <a:t>applies to general problems (without strong promise!)</a:t>
            </a:r>
          </a:p>
          <a:p>
            <a:r>
              <a:rPr lang="en-US" altLang="ko-KR" sz="2000" dirty="0" smtClean="0"/>
              <a:t>has a bit different structure!</a:t>
            </a:r>
          </a:p>
        </p:txBody>
      </p:sp>
    </p:spTree>
    <p:extLst>
      <p:ext uri="{BB962C8B-B14F-4D97-AF65-F5344CB8AC3E}">
        <p14:creationId xmlns:p14="http://schemas.microsoft.com/office/powerpoint/2010/main" val="657984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Preimage Finding Problem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ko-KR" dirty="0" smtClean="0"/>
                  <a:t>Let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→{0,1}</m:t>
                    </m:r>
                  </m:oMath>
                </a14:m>
                <a:r>
                  <a:rPr lang="ko-KR" altLang="en-US" dirty="0" smtClean="0"/>
                  <a:t> </a:t>
                </a:r>
                <a:r>
                  <a:rPr lang="en-US" altLang="ko-KR" dirty="0" smtClean="0"/>
                  <a:t>be a function </a:t>
                </a:r>
                <a:br>
                  <a:rPr lang="en-US" altLang="ko-KR" dirty="0" smtClean="0"/>
                </a:br>
                <a:r>
                  <a:rPr lang="en-US" altLang="ko-KR" dirty="0" smtClean="0"/>
                  <a:t>	promise: there is a “target”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ko-KR" altLang="en-US" dirty="0" smtClean="0"/>
                  <a:t> </a:t>
                </a:r>
                <a:r>
                  <a:rPr lang="en-US" altLang="ko-KR" dirty="0" smtClean="0"/>
                  <a:t>such that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ko-KR" dirty="0" smtClean="0"/>
                  <a:t>. </a:t>
                </a:r>
              </a:p>
              <a:p>
                <a:pPr marL="0" indent="0">
                  <a:buNone/>
                </a:pPr>
                <a:r>
                  <a:rPr lang="en-US" altLang="ko-KR" dirty="0" smtClean="0"/>
                  <a:t>Our goal is to find such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ko-KR" dirty="0" smtClean="0"/>
                  <a:t>.</a:t>
                </a:r>
              </a:p>
              <a:p>
                <a:pPr marL="0" indent="0">
                  <a:buNone/>
                </a:pPr>
                <a:endParaRPr lang="en-US" altLang="ko-KR" dirty="0" smtClean="0"/>
              </a:p>
              <a:p>
                <a:pPr marL="0" indent="0">
                  <a:buNone/>
                </a:pPr>
                <a:r>
                  <a:rPr lang="en-US" altLang="ko-KR" dirty="0" smtClean="0"/>
                  <a:t>Classical strategy must query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ko-KR" dirty="0" smtClean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0" dirty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dirty="0" smtClean="0"/>
                  <a:t> times in the worst case.</a:t>
                </a:r>
              </a:p>
              <a:p>
                <a:pPr marL="0" indent="0">
                  <a:buNone/>
                </a:pPr>
                <a:endParaRPr lang="en-US" altLang="ko-KR" dirty="0"/>
              </a:p>
              <a:p>
                <a:pPr marL="0" indent="0">
                  <a:buNone/>
                </a:pPr>
                <a:r>
                  <a:rPr lang="en-US" altLang="ko-KR" dirty="0" smtClean="0"/>
                  <a:t>We’ll see that we can do better using quantum queries: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altLang="ko-KR" dirty="0" smtClean="0"/>
                  <a:t> !</a:t>
                </a: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540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Abstract example: One-way function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ko-KR" dirty="0" smtClean="0"/>
                  <a:t>A function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altLang="ko-KR" dirty="0" smtClean="0"/>
                  <a:t> is called one-way if</a:t>
                </a:r>
              </a:p>
              <a:p>
                <a:r>
                  <a:rPr lang="en-US" altLang="ko-KR" dirty="0" smtClean="0"/>
                  <a:t>There’s an efficient way to compute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dirty="0" smtClean="0"/>
                  <a:t> given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altLang="ko-KR" dirty="0" smtClean="0"/>
              </a:p>
              <a:p>
                <a:r>
                  <a:rPr lang="en-US" altLang="ko-KR" dirty="0" smtClean="0"/>
                  <a:t>It is hard to find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dirty="0" smtClean="0"/>
                  <a:t> such that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dirty="0" smtClean="0"/>
                  <a:t> given random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altLang="ko-KR" dirty="0"/>
              </a:p>
              <a:p>
                <a:pPr marL="0" indent="0">
                  <a:buNone/>
                </a:pPr>
                <a:endParaRPr lang="en-US" altLang="ko-KR" dirty="0" smtClean="0"/>
              </a:p>
              <a:p>
                <a:pPr marL="0" indent="0">
                  <a:buNone/>
                </a:pPr>
                <a:r>
                  <a:rPr lang="en-US" altLang="ko-KR" dirty="0" smtClean="0"/>
                  <a:t>Given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ko-KR" dirty="0" smtClean="0"/>
                  <a:t>, consider the following function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ko-KR" dirty="0" smtClean="0"/>
              </a:p>
              <a:p>
                <a:pPr marL="0" indent="0">
                  <a:buNone/>
                </a:pPr>
                <a:r>
                  <a:rPr lang="en-US" altLang="ko-KR" dirty="0" smtClean="0"/>
                  <a:t>The target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ko-KR" dirty="0" smtClean="0"/>
                  <a:t> is the preimage of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ko-KR" dirty="0" smtClean="0"/>
                  <a:t>.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0241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Concrete example: Password hashing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 smtClean="0"/>
              <a:t>Storing password in plaintext is </a:t>
            </a:r>
            <a:r>
              <a:rPr lang="en-US" altLang="ko-KR" dirty="0"/>
              <a:t>very dangerous. When a data breach happens, all the passwords are leaked. Thus, usually a hash function is used to “scramble” the passwords.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2390274" y="3392488"/>
            <a:ext cx="2630905" cy="24949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123456</a:t>
            </a:r>
          </a:p>
          <a:p>
            <a:pPr algn="ctr"/>
            <a:r>
              <a:rPr lang="en-US" altLang="ko-KR" dirty="0" smtClean="0"/>
              <a:t>111177</a:t>
            </a:r>
          </a:p>
          <a:p>
            <a:pPr algn="ctr"/>
            <a:r>
              <a:rPr lang="en-US" altLang="ko-KR" dirty="0" smtClean="0"/>
              <a:t>qwerty</a:t>
            </a:r>
          </a:p>
          <a:p>
            <a:pPr algn="ctr"/>
            <a:r>
              <a:rPr lang="en-US" altLang="ko-KR" dirty="0" smtClean="0"/>
              <a:t>quantum</a:t>
            </a:r>
          </a:p>
          <a:p>
            <a:pPr algn="ctr"/>
            <a:r>
              <a:rPr lang="en-US" altLang="ko-KR" dirty="0" smtClean="0"/>
              <a:t>.</a:t>
            </a:r>
          </a:p>
          <a:p>
            <a:pPr algn="ctr"/>
            <a:r>
              <a:rPr lang="en-US" altLang="ko-KR" dirty="0" smtClean="0"/>
              <a:t>.</a:t>
            </a:r>
          </a:p>
          <a:p>
            <a:pPr algn="ctr"/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7098632" y="3392487"/>
            <a:ext cx="2630905" cy="24949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7c4a8d09c…</a:t>
            </a:r>
          </a:p>
          <a:p>
            <a:pPr algn="ctr"/>
            <a:r>
              <a:rPr lang="en-US" altLang="ko-KR" dirty="0" smtClean="0"/>
              <a:t>15c3523fe…</a:t>
            </a:r>
          </a:p>
          <a:p>
            <a:pPr algn="ctr"/>
            <a:r>
              <a:rPr lang="en-US" altLang="ko-KR" dirty="0" smtClean="0"/>
              <a:t>b1b3773a…</a:t>
            </a:r>
          </a:p>
          <a:p>
            <a:pPr algn="ctr"/>
            <a:r>
              <a:rPr lang="en-US" altLang="ko-KR" dirty="0" smtClean="0"/>
              <a:t>56c3e9bf2…</a:t>
            </a:r>
          </a:p>
          <a:p>
            <a:pPr algn="ctr"/>
            <a:r>
              <a:rPr lang="en-US" altLang="ko-KR" dirty="0" smtClean="0"/>
              <a:t>.</a:t>
            </a:r>
          </a:p>
          <a:p>
            <a:pPr algn="ctr"/>
            <a:r>
              <a:rPr lang="en-US" altLang="ko-KR" dirty="0" smtClean="0"/>
              <a:t>.</a:t>
            </a:r>
          </a:p>
          <a:p>
            <a:pPr algn="ctr"/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오른쪽 화살표 5"/>
          <p:cNvSpPr/>
          <p:nvPr/>
        </p:nvSpPr>
        <p:spPr>
          <a:xfrm>
            <a:off x="5379118" y="4383295"/>
            <a:ext cx="1433763" cy="5133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SHA1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60406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In theory: Satisfiability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ko-KR" sz="2400" dirty="0" smtClean="0"/>
                  <a:t>Given a Boolean formula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altLang="ko-KR" sz="2400" dirty="0" smtClean="0"/>
                  <a:t> of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ko-KR" sz="2400" dirty="0" smtClean="0"/>
                  <a:t> variables taking true (1) or false (0)</a:t>
                </a:r>
              </a:p>
              <a:p>
                <a:pPr marL="0" indent="0" algn="ctr">
                  <a:buNone/>
                </a:pPr>
                <a:r>
                  <a:rPr lang="en-US" altLang="ko-KR" sz="2400" dirty="0" smtClean="0"/>
                  <a:t>(e.g., a AND b,		 (x1 AND x2) OR x3)</a:t>
                </a:r>
              </a:p>
              <a:p>
                <a:pPr marL="0" indent="0">
                  <a:buNone/>
                </a:pPr>
                <a:r>
                  <a:rPr lang="en-US" altLang="ko-KR" sz="2400" dirty="0" smtClean="0"/>
                  <a:t>determine if there exists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sz="2400" dirty="0" smtClean="0"/>
                  <a:t> such that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ko-KR" sz="2400" dirty="0" smtClean="0"/>
                  <a:t> (i.e., true)</a:t>
                </a:r>
              </a:p>
              <a:p>
                <a:pPr marL="0" indent="0">
                  <a:buNone/>
                </a:pPr>
                <a:endParaRPr lang="en-US" altLang="ko-KR" sz="2400" dirty="0"/>
              </a:p>
              <a:p>
                <a:pPr marL="0" indent="0">
                  <a:buNone/>
                </a:pPr>
                <a:r>
                  <a:rPr lang="en-US" altLang="ko-KR" sz="2400" dirty="0" smtClean="0"/>
                  <a:t>Classical exhaustive search takes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ko-KR" sz="2400" dirty="0" smtClean="0"/>
                  <a:t> time</a:t>
                </a:r>
              </a:p>
              <a:p>
                <a:pPr marL="0" indent="0">
                  <a:buNone/>
                </a:pPr>
                <a:r>
                  <a:rPr lang="en-US" altLang="ko-KR" sz="2400" dirty="0" smtClean="0"/>
                  <a:t>DPLL algorithm: fast in practice but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ko-KR" sz="2400" dirty="0" smtClean="0"/>
                  <a:t> in the worst case.</a:t>
                </a:r>
                <a:endParaRPr lang="en-US" altLang="ko-KR" sz="2400" dirty="0"/>
              </a:p>
              <a:p>
                <a:pPr marL="0" indent="0">
                  <a:buNone/>
                </a:pPr>
                <a:r>
                  <a:rPr lang="en-US" altLang="ko-KR" sz="2400" dirty="0" smtClean="0"/>
                  <a:t>(Strong) exponential time hypothesis: It may be essentially optimal.</a:t>
                </a:r>
              </a:p>
              <a:p>
                <a:pPr marL="0" indent="0">
                  <a:buNone/>
                </a:pPr>
                <a:endParaRPr lang="en-US" altLang="ko-KR" sz="2400" dirty="0" smtClean="0"/>
              </a:p>
              <a:p>
                <a:pPr marL="0" indent="0">
                  <a:buNone/>
                </a:pPr>
                <a:r>
                  <a:rPr lang="en-US" altLang="ko-KR" sz="2400" dirty="0" smtClean="0"/>
                  <a:t>Grover algorithm: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altLang="ko-KR" sz="2400" dirty="0" smtClean="0"/>
                  <a:t> (quantum) time!</a:t>
                </a:r>
                <a:endParaRPr lang="en-US" altLang="ko-KR" sz="2400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19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1399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Grover algorithm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ko-KR" sz="2400" dirty="0" smtClean="0"/>
                  <a:t>Let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ko-KR" sz="2400" i="1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ko-KR" sz="2400" i="1">
                        <a:latin typeface="Cambria Math" panose="02040503050406030204" pitchFamily="18" charset="0"/>
                      </a:rPr>
                      <m:t>→{0,1}</m:t>
                    </m:r>
                  </m:oMath>
                </a14:m>
                <a:r>
                  <a:rPr lang="en-US" altLang="ko-KR" sz="2400" dirty="0" smtClean="0"/>
                  <a:t> such that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ko-KR" sz="2400" dirty="0" smtClean="0"/>
                  <a:t> for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ko-KR" sz="2400" dirty="0" smtClean="0"/>
                  <a:t> and otherwise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ko-KR" sz="2400" dirty="0" smtClean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altLang="ko-KR" sz="2400" dirty="0" smtClean="0"/>
                  <a:t>Prepare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e>
                        </m:rad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0,1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sub>
                      <m:sup/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⟩</m:t>
                        </m:r>
                      </m:e>
                    </m:nary>
                  </m:oMath>
                </a14:m>
                <a:endParaRPr lang="en-US" altLang="ko-KR" sz="2400" dirty="0" smtClean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altLang="ko-KR" sz="2400" dirty="0" smtClean="0"/>
                  <a:t>Repeat the following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e>
                        </m:rad>
                      </m:e>
                    </m:d>
                  </m:oMath>
                </a14:m>
                <a:r>
                  <a:rPr lang="ko-KR" altLang="en-US" sz="2400" dirty="0" smtClean="0"/>
                  <a:t> </a:t>
                </a:r>
                <a:r>
                  <a:rPr lang="en-US" altLang="ko-KR" sz="2400" dirty="0" smtClean="0"/>
                  <a:t>times:</a:t>
                </a:r>
              </a:p>
              <a:p>
                <a:pPr lvl="1"/>
                <a:r>
                  <a:rPr lang="en-US" altLang="ko-KR" dirty="0" smtClean="0"/>
                  <a:t>Apply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|"/>
                        <m:endChr m:val="⟩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en-US" altLang="ko-KR" dirty="0" smtClean="0"/>
              </a:p>
              <a:p>
                <a:pPr lvl="1"/>
                <a:r>
                  <a:rPr lang="en-US" altLang="ko-KR" dirty="0" smtClean="0"/>
                  <a:t>Apply the Grover diffusion operator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→−</m:t>
                      </m:r>
                      <m:d>
                        <m:dPr>
                          <m:begChr m:val="|"/>
                          <m:endChr m:val="⟩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0,1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sub>
                        <m:sup/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⟩</m:t>
                          </m:r>
                        </m:e>
                      </m:nary>
                    </m:oMath>
                  </m:oMathPara>
                </a14:m>
                <a:endParaRPr lang="en-US" altLang="ko-KR" dirty="0" smtClean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altLang="ko-KR" sz="2400" dirty="0" smtClean="0"/>
                  <a:t>Measure under the standard basis</a:t>
                </a:r>
              </a:p>
              <a:p>
                <a:pPr marL="0" indent="0">
                  <a:buNone/>
                </a:pPr>
                <a:r>
                  <a:rPr lang="en-US" altLang="ko-KR" sz="2400" dirty="0" smtClean="0"/>
                  <a:t>Check: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ko-KR" altLang="en-US" sz="2400" dirty="0" smtClean="0"/>
                  <a:t> </a:t>
                </a:r>
                <a:r>
                  <a:rPr lang="en-US" altLang="ko-KR" sz="2400" dirty="0" smtClean="0"/>
                  <a:t>is a unitary operation</a:t>
                </a:r>
                <a:endParaRPr lang="ko-KR" altLang="en-US" sz="2400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1" t="-19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5901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Grover algorithm, analysis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ko-KR" sz="2400" dirty="0" smtClean="0"/>
                  <a:t>What does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en-US" altLang="ko-KR" sz="2400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altLang="ko-KR" sz="2400" dirty="0" smtClean="0"/>
                  <a:t> do?</a:t>
                </a:r>
              </a:p>
              <a:p>
                <a:pPr marL="0" indent="0" algn="ctr">
                  <a:buNone/>
                </a:pPr>
                <a:endParaRPr lang="en-US" altLang="ko-KR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𝐺</m:t>
                          </m:r>
                        </m:sub>
                      </m:sSub>
                      <m:nary>
                        <m:naryPr>
                          <m:chr m:val="∑"/>
                          <m:supHide m:val="on"/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⟩</m:t>
                          </m:r>
                        </m:e>
                      </m:nary>
                      <m:r>
                        <a:rPr lang="en-US" altLang="ko-KR" sz="2400" i="1">
                          <a:latin typeface="Cambria Math" panose="02040503050406030204" pitchFamily="18" charset="0"/>
                        </a:rPr>
                        <m:t>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en-US" altLang="ko-K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altLang="ko-KR" sz="2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n-US" altLang="ko-KR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sub>
                                      </m:sSub>
                                    </m:e>
                                  </m:nary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altLang="ko-K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sup>
                                      <m:r>
                                        <a:rPr lang="en-US" altLang="ko-KR" sz="24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d>
                        <m:dPr>
                          <m:begChr m:val="|"/>
                          <m:endChr m:val="⟩"/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altLang="ko-KR" sz="2400" dirty="0" smtClean="0"/>
              </a:p>
              <a:p>
                <a:pPr marL="0" indent="0">
                  <a:buNone/>
                </a:pPr>
                <a:endParaRPr lang="en-US" altLang="ko-KR" sz="2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pHide m:val="on"/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e>
                        </m:nary>
                      </m:num>
                      <m:den>
                        <m:sSup>
                          <m:sSup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ko-KR" sz="2400" dirty="0" smtClean="0"/>
                  <a:t>=(mean of amplitudes), 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ko-KR" altLang="en-US" sz="2400" dirty="0" smtClean="0"/>
                  <a:t> </a:t>
                </a:r>
                <a:r>
                  <a:rPr lang="en-US" altLang="ko-KR" sz="2400" dirty="0" smtClean="0"/>
                  <a:t>turns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ko-KR" altLang="en-US" sz="2400" dirty="0" smtClean="0"/>
                  <a:t> </a:t>
                </a:r>
                <a:r>
                  <a:rPr lang="en-US" altLang="ko-KR" sz="2400" dirty="0" smtClean="0"/>
                  <a:t>into 2*(mean)-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altLang="ko-KR" sz="2400" dirty="0" smtClean="0"/>
              </a:p>
              <a:p>
                <a:pPr marL="0" indent="0">
                  <a:buNone/>
                </a:pPr>
                <a:r>
                  <a:rPr lang="en-US" altLang="ko-KR" sz="2400" dirty="0" smtClean="0"/>
                  <a:t>In other words,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ko-KR" altLang="en-US" sz="2400" dirty="0" smtClean="0"/>
                  <a:t> </a:t>
                </a:r>
                <a:r>
                  <a:rPr lang="en-US" altLang="ko-KR" sz="2400" dirty="0" smtClean="0"/>
                  <a:t>effectively reflect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ko-KR" altLang="en-US" sz="2400" dirty="0" smtClean="0"/>
                  <a:t> </a:t>
                </a:r>
                <a:r>
                  <a:rPr lang="en-US" altLang="ko-KR" sz="2400" dirty="0" smtClean="0"/>
                  <a:t>over the mean of all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US" altLang="ko-KR" sz="2400" dirty="0" smtClean="0"/>
              </a:p>
              <a:p>
                <a:pPr marL="0" indent="0">
                  <a:buNone/>
                </a:pPr>
                <a:endParaRPr lang="en-US" altLang="ko-KR" sz="2400" dirty="0"/>
              </a:p>
              <a:p>
                <a:pPr marL="0" indent="0">
                  <a:buNone/>
                </a:pPr>
                <a:r>
                  <a:rPr lang="en-US" altLang="ko-KR" sz="2400" dirty="0" smtClean="0"/>
                  <a:t>On the other hand,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ko-KR" altLang="en-US" sz="2400" dirty="0" smtClean="0"/>
                  <a:t> </a:t>
                </a:r>
                <a:r>
                  <a:rPr lang="en-US" altLang="ko-KR" sz="2400" dirty="0" smtClean="0"/>
                  <a:t>turns the amplitude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ko-KR" altLang="en-US" sz="2400" dirty="0" smtClean="0"/>
                  <a:t> </a:t>
                </a:r>
                <a:r>
                  <a:rPr lang="en-US" altLang="ko-KR" sz="2400" dirty="0" smtClean="0"/>
                  <a:t>to </a:t>
                </a:r>
                <a14:m>
                  <m:oMath xmlns:m="http://schemas.openxmlformats.org/officeDocument/2006/math">
                    <m:r>
                      <a:rPr lang="en-US" altLang="ko-KR" sz="2400" b="0" i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19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7963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Grover algorithm, analysis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altLang="ko-KR" sz="2400" dirty="0" smtClean="0"/>
          </a:p>
          <a:p>
            <a:pPr marL="0" indent="0" algn="ctr">
              <a:buNone/>
            </a:pPr>
            <a:endParaRPr lang="en-US" altLang="ko-KR" sz="2400" dirty="0"/>
          </a:p>
          <a:p>
            <a:pPr marL="0" indent="0" algn="ctr">
              <a:buNone/>
            </a:pPr>
            <a:endParaRPr lang="en-US" altLang="ko-KR" sz="2400" dirty="0" smtClean="0"/>
          </a:p>
          <a:p>
            <a:pPr marL="0" indent="0" algn="ctr">
              <a:buNone/>
            </a:pPr>
            <a:endParaRPr lang="en-US" altLang="ko-KR" sz="2400" dirty="0"/>
          </a:p>
          <a:p>
            <a:pPr marL="0" indent="0" algn="ctr">
              <a:buNone/>
            </a:pPr>
            <a:endParaRPr lang="en-US" altLang="ko-KR" sz="2400" dirty="0" smtClean="0"/>
          </a:p>
          <a:p>
            <a:pPr marL="0" indent="0" algn="ctr">
              <a:buNone/>
            </a:pPr>
            <a:endParaRPr lang="en-US" altLang="ko-KR" sz="2400" dirty="0"/>
          </a:p>
          <a:p>
            <a:pPr marL="0" indent="0" algn="ctr">
              <a:buNone/>
            </a:pPr>
            <a:endParaRPr lang="en-US" altLang="ko-KR" sz="2400" dirty="0" smtClean="0"/>
          </a:p>
          <a:p>
            <a:pPr marL="0" indent="0" algn="ctr">
              <a:buNone/>
            </a:pPr>
            <a:endParaRPr lang="en-US" altLang="ko-KR" sz="2400" dirty="0" smtClean="0"/>
          </a:p>
          <a:p>
            <a:pPr marL="0" indent="0" algn="ctr">
              <a:buNone/>
            </a:pPr>
            <a:r>
              <a:rPr lang="en-US" altLang="ko-KR" sz="2400" dirty="0" smtClean="0"/>
              <a:t>(</a:t>
            </a:r>
            <a:r>
              <a:rPr lang="en-US" altLang="ko-KR" sz="2400" dirty="0"/>
              <a:t>full algorithm analysis sketch on board)</a:t>
            </a:r>
          </a:p>
          <a:p>
            <a:pPr marL="0" indent="0" algn="ctr">
              <a:buNone/>
            </a:pPr>
            <a:endParaRPr lang="en-US" altLang="ko-KR" sz="2400" dirty="0" smtClean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91E78E4-542E-3BF9-60EB-0A75C5E77BF2}"/>
              </a:ext>
            </a:extLst>
          </p:cNvPr>
          <p:cNvCxnSpPr>
            <a:cxnSpLocks/>
          </p:cNvCxnSpPr>
          <p:nvPr/>
        </p:nvCxnSpPr>
        <p:spPr>
          <a:xfrm>
            <a:off x="1873183" y="4759403"/>
            <a:ext cx="8955238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/>
              <p:nvPr/>
            </p:nvSpPr>
            <p:spPr>
              <a:xfrm>
                <a:off x="1380848" y="4564624"/>
                <a:ext cx="660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A1150F2-6D78-71A7-81BC-966916C9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0848" y="4564624"/>
                <a:ext cx="66004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직사각형 5"/>
              <p:cNvSpPr/>
              <p:nvPr/>
            </p:nvSpPr>
            <p:spPr>
              <a:xfrm>
                <a:off x="2931199" y="4504622"/>
                <a:ext cx="501172" cy="489336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직사각형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1199" y="4504622"/>
                <a:ext cx="501172" cy="4893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직사각형 6"/>
              <p:cNvSpPr/>
              <p:nvPr/>
            </p:nvSpPr>
            <p:spPr>
              <a:xfrm>
                <a:off x="2102141" y="4467840"/>
                <a:ext cx="579964" cy="57996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 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7" name="직사각형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2141" y="4467840"/>
                <a:ext cx="579964" cy="579964"/>
              </a:xfrm>
              <a:prstGeom prst="rect">
                <a:avLst/>
              </a:prstGeom>
              <a:blipFill>
                <a:blip r:embed="rId4"/>
                <a:stretch>
                  <a:fillRect l="-515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그림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47858" y="4595683"/>
            <a:ext cx="467256" cy="36601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직사각형 10"/>
              <p:cNvSpPr/>
              <p:nvPr/>
            </p:nvSpPr>
            <p:spPr>
              <a:xfrm>
                <a:off x="3657572" y="4504622"/>
                <a:ext cx="501172" cy="489336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1" name="직사각형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572" y="4504622"/>
                <a:ext cx="501172" cy="48933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직사각형 11"/>
          <p:cNvSpPr/>
          <p:nvPr/>
        </p:nvSpPr>
        <p:spPr>
          <a:xfrm>
            <a:off x="2810312" y="4400728"/>
            <a:ext cx="1476462" cy="690947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직사각형 12"/>
              <p:cNvSpPr/>
              <p:nvPr/>
            </p:nvSpPr>
            <p:spPr>
              <a:xfrm>
                <a:off x="4632862" y="4496233"/>
                <a:ext cx="501172" cy="489336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3" name="직사각형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2862" y="4496233"/>
                <a:ext cx="501172" cy="48933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직사각형 13"/>
              <p:cNvSpPr/>
              <p:nvPr/>
            </p:nvSpPr>
            <p:spPr>
              <a:xfrm>
                <a:off x="5359235" y="4496233"/>
                <a:ext cx="501172" cy="489336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4" name="직사각형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9235" y="4496233"/>
                <a:ext cx="501172" cy="48933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직사각형 14"/>
          <p:cNvSpPr/>
          <p:nvPr/>
        </p:nvSpPr>
        <p:spPr>
          <a:xfrm>
            <a:off x="4511975" y="4392339"/>
            <a:ext cx="1476462" cy="690947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직사각형 15"/>
              <p:cNvSpPr/>
              <p:nvPr/>
            </p:nvSpPr>
            <p:spPr>
              <a:xfrm>
                <a:off x="8903958" y="4496233"/>
                <a:ext cx="501172" cy="489336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6" name="직사각형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3958" y="4496233"/>
                <a:ext cx="501172" cy="48933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직사각형 16"/>
              <p:cNvSpPr/>
              <p:nvPr/>
            </p:nvSpPr>
            <p:spPr>
              <a:xfrm>
                <a:off x="9630331" y="4496233"/>
                <a:ext cx="501172" cy="489336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7" name="직사각형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0331" y="4496233"/>
                <a:ext cx="501172" cy="48933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직사각형 17"/>
          <p:cNvSpPr/>
          <p:nvPr/>
        </p:nvSpPr>
        <p:spPr>
          <a:xfrm>
            <a:off x="8783071" y="4392339"/>
            <a:ext cx="1476462" cy="690947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직사각형 18"/>
              <p:cNvSpPr/>
              <p:nvPr/>
            </p:nvSpPr>
            <p:spPr>
              <a:xfrm>
                <a:off x="6718487" y="4816249"/>
                <a:ext cx="1523109" cy="41767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rad>
                      </m:e>
                    </m:d>
                  </m:oMath>
                </a14:m>
                <a:r>
                  <a:rPr lang="ko-KR" altLang="en-US" dirty="0" smtClean="0"/>
                  <a:t> </a:t>
                </a:r>
                <a:r>
                  <a:rPr lang="en-US" altLang="ko-KR" dirty="0" smtClean="0"/>
                  <a:t>times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19" name="직사각형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8487" y="4816249"/>
                <a:ext cx="1523109" cy="417678"/>
              </a:xfrm>
              <a:prstGeom prst="rect">
                <a:avLst/>
              </a:prstGeom>
              <a:blipFill>
                <a:blip r:embed="rId11"/>
                <a:stretch>
                  <a:fillRect t="-1449" r="-2400" b="-1594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0906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Grover algorithm, analysis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ko-KR" sz="2400" dirty="0" smtClean="0"/>
                  <a:t>We look at another geometric intuition for Grover’s algorithm. Recall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ko-KR" sz="2400" i="1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ko-KR" sz="2400" i="1">
                        <a:latin typeface="Cambria Math" panose="02040503050406030204" pitchFamily="18" charset="0"/>
                      </a:rPr>
                      <m:t>→{0,1}</m:t>
                    </m:r>
                  </m:oMath>
                </a14:m>
                <a:r>
                  <a:rPr lang="en-US" altLang="ko-KR" sz="2400" dirty="0"/>
                  <a:t> </a:t>
                </a:r>
                <a:r>
                  <a:rPr lang="en-US" altLang="ko-KR" sz="2400" dirty="0" smtClean="0"/>
                  <a:t>is such </a:t>
                </a:r>
                <a:r>
                  <a:rPr lang="en-US" altLang="ko-KR" sz="2400" dirty="0"/>
                  <a:t>that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sz="24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ko-KR" sz="2400" dirty="0"/>
                  <a:t> for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4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ko-KR" sz="2400" dirty="0"/>
                  <a:t> and otherwise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sz="24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ko-KR" sz="2400" dirty="0" smtClean="0"/>
                  <a:t>.</a:t>
                </a:r>
              </a:p>
              <a:p>
                <a:pPr marL="0" indent="0">
                  <a:buNone/>
                </a:pPr>
                <a:endParaRPr lang="en-US" altLang="ko-KR" sz="2400" dirty="0" smtClean="0"/>
              </a:p>
              <a:p>
                <a:pPr marL="0" indent="0">
                  <a:buNone/>
                </a:pPr>
                <a:r>
                  <a:rPr lang="en-US" altLang="ko-KR" sz="2400" dirty="0" smtClean="0"/>
                  <a:t>Our main operators are reflection:</a:t>
                </a:r>
                <a:endParaRPr lang="en-US" altLang="ko-KR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−2</m:t>
                    </m:r>
                    <m:d>
                      <m:dPr>
                        <m:begChr m:val="|"/>
                        <m:endChr m:val="⟩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d>
                      <m:dPr>
                        <m:begChr m:val="⟨"/>
                        <m:endChr m:val="|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en-US" altLang="ko-KR" sz="2400" b="0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=2</m:t>
                    </m:r>
                    <m:d>
                      <m:dPr>
                        <m:begChr m:val="|"/>
                        <m:endChr m:val="⟩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d>
                      <m:dPr>
                        <m:begChr m:val="⟨"/>
                        <m:endChr m:val="|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altLang="ko-KR" sz="2400" dirty="0" smtClean="0"/>
                  <a:t> where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e>
                        </m:rad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0,1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sub>
                      <m:sup/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⟩</m:t>
                        </m:r>
                      </m:e>
                    </m:nary>
                  </m:oMath>
                </a14:m>
                <a:endParaRPr lang="en-US" altLang="ko-KR" sz="2400" dirty="0" smtClean="0"/>
              </a:p>
              <a:p>
                <a:endParaRPr lang="en-US" altLang="ko-KR" sz="2400" dirty="0"/>
              </a:p>
              <a:p>
                <a:pPr marL="0" indent="0" algn="ctr">
                  <a:buNone/>
                </a:pPr>
                <a:r>
                  <a:rPr lang="en-US" altLang="ko-KR" sz="2400" dirty="0" smtClean="0"/>
                  <a:t>(See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ko-KR" sz="2400" dirty="0" smtClean="0"/>
                  <a:t> geometry on board)</a:t>
                </a: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19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6641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Grover algorithm, analysis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−2</m:t>
                    </m:r>
                    <m:d>
                      <m:dPr>
                        <m:begChr m:val="|"/>
                        <m:endChr m:val="⟩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d>
                      <m:dPr>
                        <m:begChr m:val="⟨"/>
                        <m:endChr m:val="|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en-US" altLang="ko-KR" sz="2400" b="0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=2</m:t>
                    </m:r>
                    <m:d>
                      <m:dPr>
                        <m:begChr m:val="|"/>
                        <m:endChr m:val="⟩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d>
                      <m:dPr>
                        <m:begChr m:val="⟨"/>
                        <m:endChr m:val="|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altLang="ko-KR" sz="2400" dirty="0" smtClean="0"/>
                  <a:t> where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e>
                        </m:rad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0,1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sub>
                      <m:sup/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⟩</m:t>
                        </m:r>
                      </m:e>
                    </m:nary>
                  </m:oMath>
                </a14:m>
                <a:endParaRPr lang="en-US" altLang="ko-KR" sz="2400" dirty="0" smtClean="0"/>
              </a:p>
              <a:p>
                <a:pPr marL="0" indent="0">
                  <a:buNone/>
                </a:pPr>
                <a:r>
                  <a:rPr lang="en-US" altLang="ko-KR" sz="2400" dirty="0" smtClean="0"/>
                  <a:t>Two reflections effectively act only on the span of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altLang="ko-KR" sz="2400" dirty="0" smtClean="0"/>
                  <a:t> and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altLang="ko-KR" sz="2400" i="1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en-US" altLang="ko-KR" sz="2400" dirty="0" smtClean="0"/>
              </a:p>
              <a:p>
                <a:pPr marL="0" indent="0">
                  <a:buNone/>
                </a:pPr>
                <a:endParaRPr lang="en-US" altLang="ko-KR" sz="2400" dirty="0"/>
              </a:p>
              <a:p>
                <a:pPr marL="0" indent="0">
                  <a:buNone/>
                </a:pPr>
                <a:r>
                  <a:rPr lang="en-US" altLang="ko-KR" sz="2400" dirty="0" smtClean="0"/>
                  <a:t>Or on </a:t>
                </a:r>
                <a:r>
                  <a:rPr lang="en-US" altLang="ko-KR" sz="2400" dirty="0"/>
                  <a:t>the span of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ko-KR" sz="24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2400" i="1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altLang="ko-KR" sz="2400" dirty="0"/>
                  <a:t> and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</a:rPr>
                      <m:t>|</m:t>
                    </m:r>
                    <m:sSup>
                      <m:sSup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⊥</m:t>
                        </m:r>
                      </m:sup>
                    </m:sSup>
                    <m:r>
                      <a:rPr lang="en-US" altLang="ko-KR" sz="2400" i="1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altLang="ko-KR" sz="2400" dirty="0" smtClean="0"/>
                  <a:t> where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⊥</m:t>
                            </m:r>
                          </m:sup>
                        </m:sSup>
                      </m:e>
                    </m:d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rad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0,1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∖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sub>
                      <m:sup/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⟩</m:t>
                        </m:r>
                      </m:e>
                    </m:nary>
                  </m:oMath>
                </a14:m>
                <a:endParaRPr lang="en-US" altLang="ko-KR" sz="2400" dirty="0" smtClean="0"/>
              </a:p>
              <a:p>
                <a:pPr marL="0" indent="0">
                  <a:buNone/>
                </a:pPr>
                <a:endParaRPr lang="en-US" altLang="ko-KR" sz="2400" dirty="0"/>
              </a:p>
              <a:p>
                <a:pPr marL="0" indent="0" algn="ctr">
                  <a:buNone/>
                </a:pPr>
                <a:r>
                  <a:rPr lang="en-US" altLang="ko-KR" sz="2400" dirty="0"/>
                  <a:t>(See </a:t>
                </a:r>
                <a:r>
                  <a:rPr lang="en-US" altLang="ko-KR" sz="2400" dirty="0" smtClean="0"/>
                  <a:t>geometry </a:t>
                </a:r>
                <a:r>
                  <a:rPr lang="en-US" altLang="ko-KR" sz="2400" dirty="0"/>
                  <a:t>on board)</a:t>
                </a: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12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0620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0738"/>
            <a:ext cx="10515600" cy="1325563"/>
          </a:xfrm>
        </p:spPr>
        <p:txBody>
          <a:bodyPr/>
          <a:lstStyle/>
          <a:p>
            <a:r>
              <a:rPr lang="en-US" altLang="ko-KR" dirty="0" smtClean="0"/>
              <a:t>Grover algorithm, analysis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ko-KR" sz="2400" dirty="0" smtClean="0"/>
                  <a:t>Note on Initial state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−1 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e>
                    </m:rad>
                    <m:d>
                      <m:dPr>
                        <m:begChr m:val="|"/>
                        <m:endChr m:val="⟩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⊥</m:t>
                            </m:r>
                          </m:sup>
                        </m:sSup>
                      </m:e>
                    </m:d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=:</m:t>
                    </m:r>
                    <m:func>
                      <m:func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24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d>
                      <m:dPr>
                        <m:begChr m:val="|"/>
                        <m:endChr m:val="⟩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24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d>
                      <m:dPr>
                        <m:begChr m:val="|"/>
                        <m:endChr m:val="⟩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⊥</m:t>
                            </m:r>
                          </m:sup>
                        </m:sSup>
                      </m:e>
                    </m:d>
                  </m:oMath>
                </a14:m>
                <a:endParaRPr lang="en-US" altLang="ko-KR" sz="2400" dirty="0" smtClean="0"/>
              </a:p>
              <a:p>
                <a:pPr marL="0" indent="0">
                  <a:buNone/>
                </a:pPr>
                <a:r>
                  <a:rPr lang="en-US" altLang="ko-KR" sz="2400" dirty="0" smtClean="0"/>
                  <a:t>Let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altLang="ko-KR" sz="2400" b="0" i="0" smtClean="0">
                        <a:latin typeface="Cambria Math" panose="02040503050406030204" pitchFamily="18" charset="0"/>
                      </a:rPr>
                      <m:t>=:|</m:t>
                    </m:r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altLang="ko-KR" sz="2400" dirty="0" smtClean="0"/>
                  <a:t> 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sz="2400" dirty="0"/>
              </a:p>
              <a:p>
                <a:pPr marL="0" indent="0">
                  <a:buNone/>
                </a:pPr>
                <a:r>
                  <a:rPr lang="en-US" altLang="ko-KR" sz="2400" dirty="0" smtClean="0"/>
                  <a:t>Claim: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24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  <m:d>
                      <m:dPr>
                        <m:begChr m:val="|"/>
                        <m:endChr m:val="⟩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24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d>
                          <m:dPr>
                            <m:begChr m:val="|"/>
                            <m:endChr m:val="⟩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⊥</m:t>
                                </m:r>
                              </m:sup>
                            </m:sSup>
                          </m:e>
                        </m:d>
                      </m:e>
                    </m:func>
                  </m:oMath>
                </a14:m>
                <a:endParaRPr lang="en-US" altLang="ko-KR" sz="2400" dirty="0" smtClean="0"/>
              </a:p>
              <a:p>
                <a:pPr marL="0" indent="0">
                  <a:buNone/>
                </a:pPr>
                <a:endParaRPr lang="en-US" altLang="ko-KR" sz="2400" dirty="0" smtClean="0"/>
              </a:p>
              <a:p>
                <a:pPr marL="0" indent="0">
                  <a:buNone/>
                </a:pPr>
                <a:endParaRPr lang="en-US" altLang="ko-KR" sz="2400" dirty="0"/>
              </a:p>
              <a:p>
                <a:pPr marL="0" indent="0">
                  <a:buNone/>
                </a:pPr>
                <a:endParaRPr lang="en-US" altLang="ko-KR" sz="2400" dirty="0" smtClean="0"/>
              </a:p>
              <a:p>
                <a:pPr marL="0" indent="0">
                  <a:buNone/>
                </a:pPr>
                <a:endParaRPr lang="en-US" altLang="ko-KR" sz="2400" dirty="0"/>
              </a:p>
              <a:p>
                <a:pPr marL="0" indent="0">
                  <a:buNone/>
                </a:pPr>
                <a:r>
                  <a:rPr lang="en-US" altLang="ko-KR" sz="2400" dirty="0" smtClean="0"/>
                  <a:t>Choosing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⋅</m:t>
                    </m:r>
                    <m:rad>
                      <m:radPr>
                        <m:degHide m:val="on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rad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ko-KR" sz="2400" dirty="0" smtClean="0"/>
                  <a:t>, we will measure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altLang="ko-KR" sz="2400" dirty="0" smtClean="0"/>
                  <a:t> with high probability</a:t>
                </a: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직선 화살표 연결선 4"/>
          <p:cNvCxnSpPr/>
          <p:nvPr/>
        </p:nvCxnSpPr>
        <p:spPr>
          <a:xfrm flipV="1">
            <a:off x="8823148" y="2935706"/>
            <a:ext cx="0" cy="21977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/>
          <p:cNvCxnSpPr/>
          <p:nvPr/>
        </p:nvCxnSpPr>
        <p:spPr>
          <a:xfrm>
            <a:off x="8823148" y="5133475"/>
            <a:ext cx="24865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직사각형 11"/>
              <p:cNvSpPr/>
              <p:nvPr/>
            </p:nvSpPr>
            <p:spPr>
              <a:xfrm>
                <a:off x="8700242" y="2566374"/>
                <a:ext cx="53456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2" name="직사각형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0242" y="2566374"/>
                <a:ext cx="53456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직사각형 12"/>
              <p:cNvSpPr/>
              <p:nvPr/>
            </p:nvSpPr>
            <p:spPr>
              <a:xfrm>
                <a:off x="11309675" y="4982130"/>
                <a:ext cx="67005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</a:rPr>
                        <m:t>|</m:t>
                      </m:r>
                      <m:sSup>
                        <m:sSup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⊥</m:t>
                          </m:r>
                        </m:sup>
                      </m:sSup>
                      <m:r>
                        <a:rPr lang="en-US" altLang="ko-KR" i="1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13" name="직사각형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9675" y="4982130"/>
                <a:ext cx="670055" cy="369332"/>
              </a:xfrm>
              <a:prstGeom prst="rect">
                <a:avLst/>
              </a:prstGeom>
              <a:blipFill>
                <a:blip r:embed="rId4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직선 화살표 연결선 14"/>
          <p:cNvCxnSpPr/>
          <p:nvPr/>
        </p:nvCxnSpPr>
        <p:spPr>
          <a:xfrm flipV="1">
            <a:off x="8807106" y="4539917"/>
            <a:ext cx="2192664" cy="5935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직사각형 15"/>
              <p:cNvSpPr/>
              <p:nvPr/>
            </p:nvSpPr>
            <p:spPr>
              <a:xfrm>
                <a:off x="10967686" y="4159079"/>
                <a:ext cx="131542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=|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6" name="직사각형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7686" y="4159079"/>
                <a:ext cx="1315424" cy="369332"/>
              </a:xfrm>
              <a:prstGeom prst="rect">
                <a:avLst/>
              </a:prstGeom>
              <a:blipFill>
                <a:blip r:embed="rId5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원호 17"/>
          <p:cNvSpPr/>
          <p:nvPr/>
        </p:nvSpPr>
        <p:spPr>
          <a:xfrm>
            <a:off x="9737548" y="4847193"/>
            <a:ext cx="165890" cy="543149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직사각형 18"/>
              <p:cNvSpPr/>
              <p:nvPr/>
            </p:nvSpPr>
            <p:spPr>
              <a:xfrm>
                <a:off x="9916512" y="4797464"/>
                <a:ext cx="40299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9" name="직사각형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6512" y="4797464"/>
                <a:ext cx="40299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직사각형 22"/>
              <p:cNvSpPr/>
              <p:nvPr/>
            </p:nvSpPr>
            <p:spPr>
              <a:xfrm>
                <a:off x="10956742" y="5575688"/>
                <a:ext cx="910634" cy="3915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d>
                        <m:dPr>
                          <m:begChr m:val="|"/>
                          <m:endChr m:val="⟩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3" name="직사각형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56742" y="5575688"/>
                <a:ext cx="910634" cy="391582"/>
              </a:xfrm>
              <a:prstGeom prst="rect">
                <a:avLst/>
              </a:prstGeom>
              <a:blipFill>
                <a:blip r:embed="rId9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직선 화살표 연결선 26"/>
          <p:cNvCxnSpPr/>
          <p:nvPr/>
        </p:nvCxnSpPr>
        <p:spPr>
          <a:xfrm>
            <a:off x="8841816" y="5137089"/>
            <a:ext cx="2082842" cy="591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직사각형 28"/>
              <p:cNvSpPr/>
              <p:nvPr/>
            </p:nvSpPr>
            <p:spPr>
              <a:xfrm>
                <a:off x="9938148" y="5166796"/>
                <a:ext cx="40299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9" name="직사각형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8148" y="5166796"/>
                <a:ext cx="402994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원호 29"/>
          <p:cNvSpPr/>
          <p:nvPr/>
        </p:nvSpPr>
        <p:spPr>
          <a:xfrm flipV="1">
            <a:off x="9761980" y="4847192"/>
            <a:ext cx="176167" cy="581415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1" name="직선 화살표 연결선 30"/>
          <p:cNvCxnSpPr/>
          <p:nvPr/>
        </p:nvCxnSpPr>
        <p:spPr>
          <a:xfrm flipV="1">
            <a:off x="8817598" y="3771652"/>
            <a:ext cx="1295704" cy="13422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원호 32"/>
          <p:cNvSpPr/>
          <p:nvPr/>
        </p:nvSpPr>
        <p:spPr>
          <a:xfrm>
            <a:off x="9215711" y="4376011"/>
            <a:ext cx="631266" cy="1014331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직사각형 33"/>
              <p:cNvSpPr/>
              <p:nvPr/>
            </p:nvSpPr>
            <p:spPr>
              <a:xfrm>
                <a:off x="9798718" y="4276253"/>
                <a:ext cx="53123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4" name="직사각형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8718" y="4276253"/>
                <a:ext cx="531236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직사각형 34"/>
              <p:cNvSpPr/>
              <p:nvPr/>
            </p:nvSpPr>
            <p:spPr>
              <a:xfrm>
                <a:off x="10064336" y="3594768"/>
                <a:ext cx="1904047" cy="3915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sub>
                      </m:sSub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d>
                        <m:dPr>
                          <m:begChr m:val="|"/>
                          <m:endChr m:val="⟩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5" name="직사각형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4336" y="3594768"/>
                <a:ext cx="1904047" cy="391582"/>
              </a:xfrm>
              <a:prstGeom prst="rect">
                <a:avLst/>
              </a:prstGeom>
              <a:blipFill>
                <a:blip r:embed="rId12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직사각형 3"/>
              <p:cNvSpPr/>
              <p:nvPr/>
            </p:nvSpPr>
            <p:spPr>
              <a:xfrm>
                <a:off x="7982321" y="1065405"/>
                <a:ext cx="1435841" cy="6646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4" name="직사각형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2321" y="1065405"/>
                <a:ext cx="1435841" cy="66460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7706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animBg="1"/>
      <p:bldP spid="19" grpId="0"/>
      <p:bldP spid="23" grpId="0"/>
      <p:bldP spid="29" grpId="0"/>
      <p:bldP spid="30" grpId="0" animBg="1"/>
      <p:bldP spid="33" grpId="0" animBg="1"/>
      <p:bldP spid="34" grpId="0"/>
      <p:bldP spid="35" grpId="0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0738"/>
            <a:ext cx="10515600" cy="1325563"/>
          </a:xfrm>
        </p:spPr>
        <p:txBody>
          <a:bodyPr/>
          <a:lstStyle/>
          <a:p>
            <a:r>
              <a:rPr lang="en-US" altLang="ko-KR" dirty="0" smtClean="0"/>
              <a:t>Grover algorithm, analysis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ko-KR" sz="2400" dirty="0" smtClean="0"/>
                  <a:t>Claim: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24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  <m:d>
                      <m:dPr>
                        <m:begChr m:val="|"/>
                        <m:endChr m:val="⟩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24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d>
                          <m:dPr>
                            <m:begChr m:val="|"/>
                            <m:endChr m:val="⟩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⊥</m:t>
                                </m:r>
                              </m:sup>
                            </m:sSup>
                          </m:e>
                        </m:d>
                      </m:e>
                    </m:func>
                  </m:oMath>
                </a14:m>
                <a:endParaRPr lang="en-US" altLang="ko-KR" sz="2400" dirty="0" smtClean="0"/>
              </a:p>
              <a:p>
                <a:pPr marL="0" indent="0">
                  <a:buNone/>
                </a:pPr>
                <a:endParaRPr lang="en-US" altLang="ko-KR" sz="2400" dirty="0" smtClean="0"/>
              </a:p>
              <a:p>
                <a:pPr marL="0" indent="0">
                  <a:buNone/>
                </a:pPr>
                <a:r>
                  <a:rPr lang="en-US" altLang="ko-KR" sz="2400" dirty="0" smtClean="0"/>
                  <a:t>Recall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24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lang="en-US" altLang="ko-KR" sz="2400" dirty="0" smtClean="0"/>
                  <a:t> so that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endParaRPr lang="en-US" altLang="ko-KR" sz="2400" dirty="0"/>
              </a:p>
              <a:p>
                <a:pPr marL="0" indent="0">
                  <a:buNone/>
                </a:pPr>
                <a:r>
                  <a:rPr lang="en-US" altLang="ko-KR" sz="2400" dirty="0" smtClean="0"/>
                  <a:t>Choosing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den>
                    </m:f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rad>
                          <m:radPr>
                            <m:degHide m:val="on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e>
                        </m:rad>
                      </m:num>
                      <m:den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altLang="ko-KR" sz="2400" dirty="0" smtClean="0"/>
                  <a:t>, we will measure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altLang="ko-KR" sz="2400" dirty="0" smtClean="0"/>
                  <a:t> with high probability</a:t>
                </a:r>
              </a:p>
              <a:p>
                <a:pPr marL="0" indent="0">
                  <a:buNone/>
                </a:pPr>
                <a:endParaRPr lang="en-US" altLang="ko-KR" sz="2400" dirty="0"/>
              </a:p>
              <a:p>
                <a:pPr marL="0" indent="0">
                  <a:buNone/>
                </a:pPr>
                <a:r>
                  <a:rPr lang="en-US" altLang="ko-KR" sz="2400" dirty="0" smtClean="0"/>
                  <a:t>For general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ko-KR" sz="2400" dirty="0" smtClean="0"/>
                  <a:t>, the success probability scales like for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ko-KR" sz="2400" dirty="0" smtClean="0"/>
                  <a:t>:</a:t>
                </a:r>
              </a:p>
              <a:p>
                <a:pPr marL="0" indent="0">
                  <a:buNone/>
                </a:pPr>
                <a:endParaRPr lang="en-US" altLang="ko-KR" sz="24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4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US" altLang="ko-KR" sz="24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den>
                      </m:f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ko-KR" sz="2400" b="0" i="0" smtClean="0"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ko-KR" sz="2400" b="0" i="0" smtClean="0"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altLang="ko-KR" sz="2400" dirty="0" smtClean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15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0981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Generalization to multiple solutions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altLang="ko-KR" sz="2400" dirty="0" smtClean="0"/>
                  <a:t>Let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ko-KR" sz="2400" i="1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ko-KR" sz="2400" i="1">
                        <a:latin typeface="Cambria Math" panose="02040503050406030204" pitchFamily="18" charset="0"/>
                      </a:rPr>
                      <m:t>→{0,1}</m:t>
                    </m:r>
                  </m:oMath>
                </a14:m>
                <a:r>
                  <a:rPr lang="en-US" altLang="ko-KR" sz="2400" dirty="0"/>
                  <a:t> is such that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0,1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altLang="ko-KR" sz="2400" b="0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ko-KR" sz="2400" dirty="0" smtClean="0"/>
              </a:p>
              <a:p>
                <a:pPr marL="0" indent="0">
                  <a:buNone/>
                </a:pPr>
                <a:r>
                  <a:rPr lang="en-US" altLang="ko-KR" sz="2400" dirty="0" smtClean="0"/>
                  <a:t>We use the same Grover’s algorithm. What will we have?</a:t>
                </a:r>
                <a:endParaRPr lang="en-US" altLang="ko-KR" sz="2400" b="0" i="1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=2</m:t>
                    </m:r>
                    <m:d>
                      <m:dPr>
                        <m:begChr m:val="|"/>
                        <m:endChr m:val="⟩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d>
                      <m:dPr>
                        <m:begChr m:val="⟨"/>
                        <m:endChr m:val="|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altLang="ko-KR" sz="2400" dirty="0" smtClean="0"/>
                  <a:t> where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e>
                        </m:rad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0,1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sub>
                      <m:sup/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⟩</m:t>
                        </m:r>
                      </m:e>
                    </m:nary>
                  </m:oMath>
                </a14:m>
                <a:endParaRPr lang="en-US" altLang="ko-KR" sz="2400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sz="2400" dirty="0" smtClean="0"/>
                  <a:t>?</a:t>
                </a:r>
              </a:p>
              <a:p>
                <a:pPr marL="0" indent="0">
                  <a:buNone/>
                </a:pPr>
                <a:endParaRPr lang="en-US" altLang="ko-KR" sz="2400" dirty="0"/>
              </a:p>
              <a:p>
                <a:pPr marL="0" indent="0">
                  <a:buNone/>
                </a:pPr>
                <a:r>
                  <a:rPr lang="en-US" altLang="ko-KR" sz="2400" dirty="0" smtClean="0"/>
                  <a:t>Define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rad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/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⟩</m:t>
                        </m:r>
                      </m:e>
                    </m:nary>
                  </m:oMath>
                </a14:m>
                <a:r>
                  <a:rPr lang="en-US" altLang="ko-KR" sz="2400" dirty="0"/>
                  <a:t> </a:t>
                </a:r>
                <a:endParaRPr lang="en-US" altLang="ko-KR" sz="2400" dirty="0" smtClean="0"/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⊥</m:t>
                            </m:r>
                          </m:sup>
                        </m:sSup>
                      </m:e>
                    </m:d>
                    <m:r>
                      <a:rPr lang="en-US" altLang="ko-KR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rad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/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⟩</m:t>
                        </m:r>
                      </m:e>
                    </m:nary>
                  </m:oMath>
                </a14:m>
                <a:endParaRPr lang="en-US" altLang="ko-KR" sz="2400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80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5891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Generalization to multiple solutions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ko-KR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ko-KR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rad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/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⟩</m:t>
                        </m:r>
                      </m:e>
                    </m:nary>
                  </m:oMath>
                </a14:m>
                <a:r>
                  <a:rPr lang="en-US" altLang="ko-KR" sz="2400" dirty="0"/>
                  <a:t> </a:t>
                </a:r>
                <a:r>
                  <a:rPr lang="en-US" altLang="ko-KR" sz="2400" dirty="0" smtClean="0"/>
                  <a:t>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⊥</m:t>
                            </m:r>
                          </m:sup>
                        </m:sSup>
                      </m:e>
                    </m:d>
                    <m:r>
                      <a:rPr lang="en-US" altLang="ko-KR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rad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/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⟩</m:t>
                        </m:r>
                      </m:e>
                    </m:nary>
                  </m:oMath>
                </a14:m>
                <a:endParaRPr lang="en-US" altLang="ko-KR" sz="2400" dirty="0" smtClean="0"/>
              </a:p>
              <a:p>
                <a:pPr marL="0" indent="0">
                  <a:buNone/>
                </a:pPr>
                <a:r>
                  <a:rPr lang="en-US" altLang="ko-KR" sz="2400" dirty="0" smtClean="0"/>
                  <a:t>Initial state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altLang="ko-KR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e>
                        </m:rad>
                      </m:den>
                    </m:f>
                    <m:d>
                      <m:dPr>
                        <m:begChr m:val="|"/>
                        <m:endChr m:val="⟩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ko-KR" sz="2400" i="1"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e>
                    </m:rad>
                    <m:d>
                      <m:dPr>
                        <m:begChr m:val="|"/>
                        <m:endChr m:val="⟩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⊥</m:t>
                            </m:r>
                          </m:sup>
                        </m:sSup>
                      </m:e>
                    </m:d>
                    <m:r>
                      <a:rPr lang="en-US" altLang="ko-KR" sz="2400" i="1">
                        <a:latin typeface="Cambria Math" panose="02040503050406030204" pitchFamily="18" charset="0"/>
                      </a:rPr>
                      <m:t>=:</m:t>
                    </m:r>
                    <m:func>
                      <m:func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24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d>
                      <m:dPr>
                        <m:begChr m:val="|"/>
                        <m:endChr m:val="⟩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ko-KR" sz="2400" i="1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24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d>
                      <m:dPr>
                        <m:begChr m:val="|"/>
                        <m:endChr m:val="⟩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⊥</m:t>
                            </m:r>
                          </m:sup>
                        </m:sSup>
                      </m:e>
                    </m:d>
                  </m:oMath>
                </a14:m>
                <a:endParaRPr lang="en-US" altLang="ko-KR" sz="2400" dirty="0" smtClean="0"/>
              </a:p>
              <a:p>
                <a:r>
                  <a:rPr lang="en-US" altLang="ko-KR" sz="2400" dirty="0" smtClean="0"/>
                  <a:t>How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en-US" altLang="ko-KR" sz="2400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altLang="ko-KR" sz="2400" dirty="0" smtClean="0"/>
                  <a:t> act on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altLang="ko-KR" sz="2400" dirty="0" smtClean="0"/>
                  <a:t> 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⊥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ko-KR" sz="2400" dirty="0" smtClean="0"/>
                  <a:t>?</a:t>
                </a:r>
                <a:endParaRPr lang="en-US" altLang="ko-KR" sz="2400" dirty="0"/>
              </a:p>
              <a:p>
                <a:pPr marL="0" indent="0">
                  <a:buNone/>
                </a:pPr>
                <a:endParaRPr lang="en-US" altLang="ko-KR" sz="2400" dirty="0" smtClean="0"/>
              </a:p>
              <a:p>
                <a:pPr marL="0" indent="0">
                  <a:buNone/>
                </a:pPr>
                <a:endParaRPr lang="en-US" altLang="ko-KR" sz="2400" dirty="0" smtClean="0"/>
              </a:p>
              <a:p>
                <a:pPr marL="0" indent="0">
                  <a:buNone/>
                </a:pPr>
                <a:endParaRPr lang="en-US" altLang="ko-KR" sz="2400" dirty="0"/>
              </a:p>
              <a:p>
                <a:pPr marL="0" indent="0">
                  <a:buNone/>
                </a:pPr>
                <a:endParaRPr lang="en-US" altLang="ko-KR" sz="2400" dirty="0" smtClean="0"/>
              </a:p>
              <a:p>
                <a:pPr marL="0" indent="0">
                  <a:buNone/>
                </a:pPr>
                <a:r>
                  <a:rPr lang="en-US" altLang="ko-KR" sz="2400" dirty="0"/>
                  <a:t>Conclusion: We can find </a:t>
                </a:r>
                <a:r>
                  <a:rPr lang="en-US" altLang="ko-KR" sz="2400" dirty="0" smtClean="0"/>
                  <a:t>one solution </a:t>
                </a:r>
                <a:r>
                  <a:rPr lang="en-US" altLang="ko-KR" sz="2400" dirty="0"/>
                  <a:t>using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rad>
                      </m:e>
                    </m:d>
                  </m:oMath>
                </a14:m>
                <a:r>
                  <a:rPr lang="en-US" altLang="ko-KR" sz="2400" dirty="0"/>
                  <a:t> queries for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ko-KR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altLang="ko-KR" sz="2400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56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7009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Generalization to multiple solutions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ko-KR" sz="2400" dirty="0" smtClean="0"/>
                  <a:t>Let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ko-KR" sz="2400" i="1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ko-KR" sz="2400" i="1">
                        <a:latin typeface="Cambria Math" panose="02040503050406030204" pitchFamily="18" charset="0"/>
                      </a:rPr>
                      <m:t>→{0,1}</m:t>
                    </m:r>
                  </m:oMath>
                </a14:m>
                <a:r>
                  <a:rPr lang="en-US" altLang="ko-KR" sz="2400" dirty="0"/>
                  <a:t> is such that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0,1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altLang="ko-KR" sz="2400" b="0" i="1" dirty="0" smtClean="0">
                  <a:latin typeface="Cambria Math" panose="02040503050406030204" pitchFamily="18" charset="0"/>
                </a:endParaRPr>
              </a:p>
              <a:p>
                <a:endParaRPr lang="en-US" altLang="ko-KR" sz="2400" dirty="0"/>
              </a:p>
              <a:p>
                <a:r>
                  <a:rPr lang="en-US" altLang="ko-KR" sz="2400" dirty="0" smtClean="0"/>
                  <a:t>What if we want to find all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ko-KR" sz="2400" dirty="0" smtClean="0"/>
                  <a:t> solutions?</a:t>
                </a:r>
              </a:p>
              <a:p>
                <a:endParaRPr lang="en-US" altLang="ko-KR" sz="2400" dirty="0"/>
              </a:p>
              <a:p>
                <a:endParaRPr lang="en-US" altLang="ko-KR" sz="2400" dirty="0" smtClean="0"/>
              </a:p>
              <a:p>
                <a:endParaRPr lang="en-US" altLang="ko-KR" sz="2400" dirty="0" smtClean="0"/>
              </a:p>
              <a:p>
                <a:endParaRPr lang="en-US" altLang="ko-KR" sz="2400" dirty="0" smtClean="0"/>
              </a:p>
              <a:p>
                <a:endParaRPr lang="en-US" altLang="ko-KR" sz="2400" dirty="0"/>
              </a:p>
              <a:p>
                <a:pPr marL="0" indent="0">
                  <a:buNone/>
                </a:pPr>
                <a:r>
                  <a:rPr lang="en-US" altLang="ko-KR" sz="2400" dirty="0" smtClean="0"/>
                  <a:t>Conclusion: We can find all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ko-KR" sz="2400" dirty="0" smtClean="0"/>
                  <a:t> solutions using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𝑁𝑚</m:t>
                            </m:r>
                          </m:e>
                        </m:rad>
                      </m:e>
                    </m:d>
                  </m:oMath>
                </a14:m>
                <a:r>
                  <a:rPr lang="en-US" altLang="ko-KR" sz="2400" dirty="0"/>
                  <a:t> queries for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ko-KR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altLang="ko-KR" sz="2400" dirty="0" smtClean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19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6799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Generalization to multiple solutions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ko-KR" sz="2400" dirty="0" smtClean="0"/>
                  <a:t>In the previous slides, we assumed that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ko-KR" sz="2400" dirty="0" smtClean="0"/>
                  <a:t> is known a priori.</a:t>
                </a:r>
                <a:endParaRPr lang="en-US" altLang="ko-KR" sz="2400" dirty="0"/>
              </a:p>
              <a:p>
                <a:r>
                  <a:rPr lang="en-US" altLang="ko-KR" sz="2400" dirty="0" smtClean="0"/>
                  <a:t>What if we do not know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ko-KR" sz="2400" dirty="0" smtClean="0"/>
                  <a:t>?</a:t>
                </a:r>
              </a:p>
              <a:p>
                <a:pPr marL="0" indent="0">
                  <a:buNone/>
                </a:pPr>
                <a:endParaRPr lang="en-US" altLang="ko-KR" sz="2400" dirty="0"/>
              </a:p>
              <a:p>
                <a:pPr marL="0" indent="0">
                  <a:buNone/>
                </a:pPr>
                <a:endParaRPr lang="en-US" altLang="ko-KR" sz="2400" dirty="0"/>
              </a:p>
              <a:p>
                <a:endParaRPr lang="en-US" altLang="ko-KR" sz="2400" dirty="0" smtClean="0"/>
              </a:p>
              <a:p>
                <a:pPr marL="0" indent="0">
                  <a:buNone/>
                </a:pPr>
                <a:r>
                  <a:rPr lang="en-US" altLang="ko-KR" sz="2400" dirty="0"/>
                  <a:t>Conclusion: We can find </a:t>
                </a:r>
                <a:r>
                  <a:rPr lang="en-US" altLang="ko-KR" sz="2400" dirty="0" smtClean="0"/>
                  <a:t>a random solutions </a:t>
                </a:r>
                <a:r>
                  <a:rPr lang="en-US" altLang="ko-KR" sz="2400" dirty="0"/>
                  <a:t>using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num>
                              <m:den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den>
                            </m:f>
                          </m:e>
                        </m:rad>
                      </m:e>
                    </m:d>
                  </m:oMath>
                </a14:m>
                <a:r>
                  <a:rPr lang="en-US" altLang="ko-KR" sz="2400" dirty="0"/>
                  <a:t> </a:t>
                </a:r>
                <a:r>
                  <a:rPr lang="en-US" altLang="ko-KR" sz="2400" dirty="0" smtClean="0"/>
                  <a:t>queries</a:t>
                </a:r>
              </a:p>
              <a:p>
                <a:pPr marL="0" indent="0">
                  <a:buNone/>
                </a:pPr>
                <a:r>
                  <a:rPr lang="en-US" altLang="ko-KR" sz="2400" dirty="0" smtClean="0"/>
                  <a:t>Rough application: We can estimate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ko-KR" sz="2400" dirty="0"/>
                  <a:t> using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num>
                              <m:den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den>
                            </m:f>
                          </m:e>
                        </m:rad>
                      </m:e>
                    </m:d>
                  </m:oMath>
                </a14:m>
                <a:r>
                  <a:rPr lang="en-US" altLang="ko-KR" sz="2400" dirty="0"/>
                  <a:t> queries</a:t>
                </a:r>
                <a:endParaRPr lang="en-US" altLang="ko-KR" sz="2400" dirty="0" smtClean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19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0486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Grover algorithm summary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ko-KR" sz="2000" dirty="0" smtClean="0"/>
                  <a:t>Given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ko-KR" sz="2000" i="1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altLang="ko-KR" sz="2000" i="1">
                        <a:latin typeface="Cambria Math" panose="02040503050406030204" pitchFamily="18" charset="0"/>
                      </a:rPr>
                      <m:t>→{0,1}</m:t>
                    </m:r>
                  </m:oMath>
                </a14:m>
                <a:r>
                  <a:rPr lang="en-US" altLang="ko-KR" sz="2000" dirty="0" smtClean="0"/>
                  <a:t>,</a:t>
                </a:r>
              </a:p>
              <a:p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rad>
                      </m:e>
                    </m:d>
                  </m:oMath>
                </a14:m>
                <a:r>
                  <a:rPr lang="en-US" altLang="ko-KR" sz="2000" dirty="0" smtClean="0"/>
                  <a:t> queries to check if the solution exists (and find if any)</a:t>
                </a:r>
                <a:endParaRPr lang="en-US" altLang="ko-KR" sz="2000" i="1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rad>
                      </m:e>
                    </m:d>
                  </m:oMath>
                </a14:m>
                <a:r>
                  <a:rPr lang="en-US" altLang="ko-KR" sz="2000" dirty="0" smtClean="0"/>
                  <a:t> queries to find one solution if there are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ko-KR" sz="2000" dirty="0" smtClean="0"/>
                  <a:t> solutions</a:t>
                </a:r>
              </a:p>
              <a:p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rad>
                      </m:e>
                    </m:d>
                  </m:oMath>
                </a14:m>
                <a:r>
                  <a:rPr lang="en-US" altLang="ko-KR" sz="2000" dirty="0" smtClean="0"/>
                  <a:t> queries to find all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ko-KR" sz="2000" dirty="0" smtClean="0"/>
                  <a:t> solutions</a:t>
                </a:r>
              </a:p>
              <a:p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rad>
                      </m:e>
                    </m:d>
                  </m:oMath>
                </a14:m>
                <a:r>
                  <a:rPr lang="en-US" altLang="ko-KR" sz="2000" dirty="0"/>
                  <a:t> queries to estimate the number of solution </a:t>
                </a: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altLang="ko-KR" sz="2000" dirty="0" smtClean="0"/>
              </a:p>
              <a:p>
                <a:endParaRPr lang="en-US" altLang="ko-KR" sz="2000" dirty="0"/>
              </a:p>
              <a:p>
                <a:pPr marL="0" indent="0">
                  <a:buNone/>
                </a:pPr>
                <a:r>
                  <a:rPr lang="en-US" altLang="ko-KR" sz="2000" dirty="0" smtClean="0"/>
                  <a:t>Basic applications: Quadratic speedup for</a:t>
                </a:r>
              </a:p>
              <a:p>
                <a:r>
                  <a:rPr lang="en-US" altLang="ko-KR" sz="2000" dirty="0" smtClean="0"/>
                  <a:t>SAT problem</a:t>
                </a:r>
              </a:p>
              <a:p>
                <a:r>
                  <a:rPr lang="en-US" altLang="ko-KR" sz="2000" dirty="0" smtClean="0"/>
                  <a:t>Function inversion</a:t>
                </a:r>
              </a:p>
              <a:p>
                <a:r>
                  <a:rPr lang="en-US" altLang="ko-KR" sz="2000" dirty="0" smtClean="0"/>
                  <a:t>Finding secret key</a:t>
                </a: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 t="-140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7533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Further applications: Minimum finding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ko-KR" sz="2400" dirty="0" smtClean="0"/>
                  <a:t>Suppose that </a:t>
                </a:r>
                <a:r>
                  <a:rPr lang="en-US" altLang="ko-KR" sz="2400" dirty="0"/>
                  <a:t>Let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ko-KR" sz="2400" i="1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ko-KR" sz="2400" dirty="0" smtClean="0"/>
                  <a:t> is an injective function, where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ko-KR" sz="2400" dirty="0" smtClean="0"/>
                  <a:t> is an ordered set (e.g.,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altLang="ko-KR" sz="2400" dirty="0" smtClean="0"/>
                  <a:t>).</a:t>
                </a:r>
                <a:endParaRPr lang="en-US" altLang="ko-KR" sz="2400" dirty="0"/>
              </a:p>
              <a:p>
                <a:pPr marL="0" indent="0">
                  <a:buNone/>
                </a:pPr>
                <a:r>
                  <a:rPr lang="en-US" altLang="ko-KR" sz="2400" dirty="0" smtClean="0"/>
                  <a:t>Problem: Find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sz="2400" dirty="0" smtClean="0"/>
                  <a:t> such that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2400" dirty="0" smtClean="0"/>
                  <a:t> is the minimum using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altLang="ko-KR" sz="2400" dirty="0" smtClean="0"/>
                  <a:t> queries</a:t>
                </a:r>
              </a:p>
              <a:p>
                <a:pPr marL="0" indent="0">
                  <a:buNone/>
                </a:pPr>
                <a:endParaRPr lang="en-US" altLang="ko-KR" sz="2400" dirty="0"/>
              </a:p>
              <a:p>
                <a:pPr marL="0" indent="0">
                  <a:buNone/>
                </a:pPr>
                <a:endParaRPr lang="en-US" altLang="ko-KR" sz="2400" dirty="0" smtClean="0"/>
              </a:p>
              <a:p>
                <a:pPr marL="0" indent="0">
                  <a:buNone/>
                </a:pPr>
                <a:endParaRPr lang="en-US" altLang="ko-KR" sz="2400" dirty="0"/>
              </a:p>
              <a:p>
                <a:pPr marL="0" indent="0">
                  <a:buNone/>
                </a:pPr>
                <a:endParaRPr lang="en-US" altLang="ko-KR" sz="2400" dirty="0" smtClean="0"/>
              </a:p>
              <a:p>
                <a:pPr marL="0" indent="0">
                  <a:buNone/>
                </a:pPr>
                <a:endParaRPr lang="en-US" altLang="ko-KR" sz="2400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19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1958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Further applications: Collision finding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ko-KR" sz="2400" dirty="0" smtClean="0"/>
                  <a:t>Suppose that </a:t>
                </a:r>
                <a:r>
                  <a:rPr lang="en-US" altLang="ko-KR" sz="2400" dirty="0"/>
                  <a:t>Let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ko-KR" sz="2400" dirty="0" smtClean="0"/>
                  <a:t> is a two-to-one function.</a:t>
                </a:r>
              </a:p>
              <a:p>
                <a:pPr marL="0" indent="0">
                  <a:buNone/>
                </a:pPr>
                <a:r>
                  <a:rPr lang="en-US" altLang="ko-KR" sz="2400" dirty="0" smtClean="0"/>
                  <a:t>Problem: Find a collision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altLang="ko-KR" sz="2400" dirty="0"/>
                  <a:t> </a:t>
                </a:r>
                <a:r>
                  <a:rPr lang="en-US" altLang="ko-KR" sz="2400" dirty="0" smtClean="0"/>
                  <a:t>such that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altLang="ko-KR" sz="2400" dirty="0" smtClean="0"/>
                  <a:t> using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/3</m:t>
                        </m:r>
                      </m:sup>
                    </m:sSup>
                  </m:oMath>
                </a14:m>
                <a:r>
                  <a:rPr lang="en-US" altLang="ko-KR" sz="2400" dirty="0"/>
                  <a:t> queries</a:t>
                </a: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19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5935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Nontrivial </a:t>
            </a:r>
            <a:r>
              <a:rPr lang="en-US" altLang="ko-KR" dirty="0" smtClean="0"/>
              <a:t>applications of Grover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 smtClean="0"/>
              <a:t>We </a:t>
            </a:r>
            <a:r>
              <a:rPr lang="en-US" altLang="ko-KR" sz="2000" dirty="0" smtClean="0"/>
              <a:t>will try to cover various applications of Grover’s algorithm and analysis.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 smtClean="0"/>
              <a:t>Potential topics:</a:t>
            </a:r>
          </a:p>
          <a:p>
            <a:r>
              <a:rPr lang="en-US" altLang="ko-KR" sz="2000" dirty="0" smtClean="0"/>
              <a:t>Graph connectivity</a:t>
            </a:r>
          </a:p>
          <a:p>
            <a:r>
              <a:rPr lang="en-US" altLang="ko-KR" sz="2000" dirty="0" smtClean="0"/>
              <a:t>Traveling salesman problem</a:t>
            </a:r>
          </a:p>
          <a:p>
            <a:r>
              <a:rPr lang="en-US" altLang="ko-KR" sz="2000" dirty="0" smtClean="0"/>
              <a:t>“Quantum” probability amplification</a:t>
            </a:r>
          </a:p>
          <a:p>
            <a:r>
              <a:rPr lang="en-US" altLang="ko-KR" sz="2000" dirty="0" smtClean="0"/>
              <a:t>Element distinctness</a:t>
            </a:r>
          </a:p>
          <a:p>
            <a:r>
              <a:rPr lang="en-US" altLang="ko-KR" sz="2000" dirty="0" smtClean="0"/>
              <a:t>Quantum collision finding revisited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b="1" dirty="0" smtClean="0"/>
              <a:t>This lecture will be only on board. </a:t>
            </a:r>
          </a:p>
          <a:p>
            <a:pPr marL="0" indent="0">
              <a:buNone/>
            </a:pPr>
            <a:r>
              <a:rPr lang="en-US" altLang="ko-KR" sz="2000" dirty="0" smtClean="0"/>
              <a:t>The covered topic will be uploaded as a note. </a:t>
            </a:r>
          </a:p>
          <a:p>
            <a:pPr marL="0" indent="0">
              <a:buNone/>
            </a:pPr>
            <a:r>
              <a:rPr lang="en-US" altLang="ko-KR" sz="2000" dirty="0" smtClean="0"/>
              <a:t>Some uncovered topics may appear in homework.</a:t>
            </a:r>
          </a:p>
        </p:txBody>
      </p:sp>
    </p:spTree>
    <p:extLst>
      <p:ext uri="{BB962C8B-B14F-4D97-AF65-F5344CB8AC3E}">
        <p14:creationId xmlns:p14="http://schemas.microsoft.com/office/powerpoint/2010/main" val="740221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11981</TotalTime>
  <Words>406</Words>
  <Application>Microsoft Office PowerPoint</Application>
  <PresentationFormat>와이드스크린</PresentationFormat>
  <Paragraphs>206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5" baseType="lpstr">
      <vt:lpstr>맑은 고딕</vt:lpstr>
      <vt:lpstr>Arial</vt:lpstr>
      <vt:lpstr>Cambria Math</vt:lpstr>
      <vt:lpstr>Office 테마</vt:lpstr>
      <vt:lpstr>Introduction to  Quantum Algorithms</vt:lpstr>
      <vt:lpstr>Today: Grover’s algorithm</vt:lpstr>
      <vt:lpstr>Preimage Finding Problem</vt:lpstr>
      <vt:lpstr>Abstract example: One-way function</vt:lpstr>
      <vt:lpstr>Concrete example: Password hashing</vt:lpstr>
      <vt:lpstr>In theory: Satisfiability</vt:lpstr>
      <vt:lpstr>Grover algorithm</vt:lpstr>
      <vt:lpstr>Grover algorithm, analysis</vt:lpstr>
      <vt:lpstr>Grover algorithm, analysis</vt:lpstr>
      <vt:lpstr>Grover algorithm, analysis</vt:lpstr>
      <vt:lpstr>Grover algorithm, analysis</vt:lpstr>
      <vt:lpstr>Grover algorithm, analysis</vt:lpstr>
      <vt:lpstr>Grover algorithm, analysis</vt:lpstr>
      <vt:lpstr>Generalization to multiple solutions</vt:lpstr>
      <vt:lpstr>Generalization to multiple solutions</vt:lpstr>
      <vt:lpstr>Generalization to multiple solutions</vt:lpstr>
      <vt:lpstr>Generalization to multiple solutions</vt:lpstr>
      <vt:lpstr>Grover algorithm summary</vt:lpstr>
      <vt:lpstr>Further applications: Minimum finding</vt:lpstr>
      <vt:lpstr>Further applications: Collision finding</vt:lpstr>
      <vt:lpstr>Nontrivial applications of Grover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 Quantum Algorithms</dc:title>
  <dc:creator>Minki Hhan</dc:creator>
  <cp:lastModifiedBy>Minki Hhan</cp:lastModifiedBy>
  <cp:revision>191</cp:revision>
  <dcterms:created xsi:type="dcterms:W3CDTF">2026-02-24T07:16:23Z</dcterms:created>
  <dcterms:modified xsi:type="dcterms:W3CDTF">2026-03-31T02:05:57Z</dcterms:modified>
</cp:coreProperties>
</file>