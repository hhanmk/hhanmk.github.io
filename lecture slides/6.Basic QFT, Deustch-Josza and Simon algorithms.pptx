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72" r:id="rId2"/>
    <p:sldId id="417" r:id="rId3"/>
    <p:sldId id="418" r:id="rId4"/>
    <p:sldId id="406" r:id="rId5"/>
    <p:sldId id="419" r:id="rId6"/>
    <p:sldId id="420" r:id="rId7"/>
    <p:sldId id="405" r:id="rId8"/>
    <p:sldId id="407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2" y="1272"/>
      </p:cViewPr>
      <p:guideLst>
        <p:guide orient="horz" pos="2137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7EABD-121C-4E1C-A30D-B7AAAB8F758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CA3E8-17C6-46E1-AB81-2C03EE0FF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499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636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0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60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71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59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9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05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42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561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9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00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6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1.png"/><Relationship Id="rId7" Type="http://schemas.openxmlformats.org/officeDocument/2006/relationships/image" Target="../media/image13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38.png"/><Relationship Id="rId5" Type="http://schemas.openxmlformats.org/officeDocument/2006/relationships/image" Target="../media/image133.png"/><Relationship Id="rId10" Type="http://schemas.openxmlformats.org/officeDocument/2006/relationships/image" Target="../media/image137.png"/><Relationship Id="rId4" Type="http://schemas.openxmlformats.org/officeDocument/2006/relationships/image" Target="../media/image132.png"/><Relationship Id="rId9" Type="http://schemas.openxmlformats.org/officeDocument/2006/relationships/image" Target="../media/image1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1.png"/><Relationship Id="rId7" Type="http://schemas.openxmlformats.org/officeDocument/2006/relationships/image" Target="../media/image6.png"/><Relationship Id="rId12" Type="http://schemas.openxmlformats.org/officeDocument/2006/relationships/image" Target="../media/image149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11" Type="http://schemas.openxmlformats.org/officeDocument/2006/relationships/image" Target="../media/image148.png"/><Relationship Id="rId5" Type="http://schemas.openxmlformats.org/officeDocument/2006/relationships/image" Target="../media/image143.png"/><Relationship Id="rId10" Type="http://schemas.openxmlformats.org/officeDocument/2006/relationships/image" Target="../media/image147.png"/><Relationship Id="rId4" Type="http://schemas.openxmlformats.org/officeDocument/2006/relationships/image" Target="../media/image142.png"/><Relationship Id="rId9" Type="http://schemas.openxmlformats.org/officeDocument/2006/relationships/image" Target="../media/image14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1.png"/><Relationship Id="rId7" Type="http://schemas.openxmlformats.org/officeDocument/2006/relationships/image" Target="../media/image6.png"/><Relationship Id="rId12" Type="http://schemas.openxmlformats.org/officeDocument/2006/relationships/image" Target="../media/image149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11" Type="http://schemas.openxmlformats.org/officeDocument/2006/relationships/image" Target="../media/image148.png"/><Relationship Id="rId5" Type="http://schemas.openxmlformats.org/officeDocument/2006/relationships/image" Target="../media/image143.png"/><Relationship Id="rId10" Type="http://schemas.openxmlformats.org/officeDocument/2006/relationships/image" Target="../media/image147.png"/><Relationship Id="rId4" Type="http://schemas.openxmlformats.org/officeDocument/2006/relationships/image" Target="../media/image142.png"/><Relationship Id="rId9" Type="http://schemas.openxmlformats.org/officeDocument/2006/relationships/image" Target="../media/image1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1.png"/><Relationship Id="rId7" Type="http://schemas.openxmlformats.org/officeDocument/2006/relationships/image" Target="../media/image6.png"/><Relationship Id="rId12" Type="http://schemas.openxmlformats.org/officeDocument/2006/relationships/image" Target="../media/image149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11" Type="http://schemas.openxmlformats.org/officeDocument/2006/relationships/image" Target="../media/image148.png"/><Relationship Id="rId5" Type="http://schemas.openxmlformats.org/officeDocument/2006/relationships/image" Target="../media/image143.png"/><Relationship Id="rId10" Type="http://schemas.openxmlformats.org/officeDocument/2006/relationships/image" Target="../media/image147.png"/><Relationship Id="rId4" Type="http://schemas.openxmlformats.org/officeDocument/2006/relationships/image" Target="../media/image142.png"/><Relationship Id="rId9" Type="http://schemas.openxmlformats.org/officeDocument/2006/relationships/image" Target="../media/image1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3.png"/><Relationship Id="rId7" Type="http://schemas.openxmlformats.org/officeDocument/2006/relationships/image" Target="../media/image156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60.png"/><Relationship Id="rId5" Type="http://schemas.openxmlformats.org/officeDocument/2006/relationships/image" Target="../media/image155.png"/><Relationship Id="rId10" Type="http://schemas.openxmlformats.org/officeDocument/2006/relationships/image" Target="../media/image159.png"/><Relationship Id="rId4" Type="http://schemas.openxmlformats.org/officeDocument/2006/relationships/image" Target="../media/image154.png"/><Relationship Id="rId9" Type="http://schemas.openxmlformats.org/officeDocument/2006/relationships/image" Target="../media/image15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2.png"/><Relationship Id="rId7" Type="http://schemas.openxmlformats.org/officeDocument/2006/relationships/image" Target="../media/image6.png"/><Relationship Id="rId12" Type="http://schemas.openxmlformats.org/officeDocument/2006/relationships/image" Target="../media/image17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11" Type="http://schemas.openxmlformats.org/officeDocument/2006/relationships/image" Target="../media/image169.png"/><Relationship Id="rId5" Type="http://schemas.openxmlformats.org/officeDocument/2006/relationships/image" Target="../media/image164.png"/><Relationship Id="rId10" Type="http://schemas.openxmlformats.org/officeDocument/2006/relationships/image" Target="../media/image168.png"/><Relationship Id="rId4" Type="http://schemas.openxmlformats.org/officeDocument/2006/relationships/image" Target="../media/image163.png"/><Relationship Id="rId9" Type="http://schemas.openxmlformats.org/officeDocument/2006/relationships/image" Target="../media/image16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480683"/>
            <a:ext cx="9144000" cy="2387600"/>
          </a:xfrm>
        </p:spPr>
        <p:txBody>
          <a:bodyPr/>
          <a:lstStyle/>
          <a:p>
            <a:r>
              <a:rPr lang="en-US" altLang="ko-KR" dirty="0" smtClean="0"/>
              <a:t>Introduction to </a:t>
            </a:r>
            <a:br>
              <a:rPr lang="en-US" altLang="ko-KR" dirty="0" smtClean="0"/>
            </a:br>
            <a:r>
              <a:rPr lang="en-US" altLang="ko-KR" dirty="0" smtClean="0"/>
              <a:t>Quantum Algorithms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2960357"/>
            <a:ext cx="9144000" cy="3648989"/>
          </a:xfrm>
        </p:spPr>
        <p:txBody>
          <a:bodyPr/>
          <a:lstStyle/>
          <a:p>
            <a:r>
              <a:rPr lang="en-US" altLang="ko-KR" dirty="0" smtClean="0"/>
              <a:t>CS.49900	(Spring 2026)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3200" dirty="0" smtClean="0"/>
              <a:t>Basic quantum </a:t>
            </a:r>
            <a:r>
              <a:rPr lang="en-US" altLang="ko-KR" sz="3200" dirty="0"/>
              <a:t>Fourier </a:t>
            </a:r>
            <a:r>
              <a:rPr lang="en-US" altLang="ko-KR" sz="3200" dirty="0" smtClean="0"/>
              <a:t>transform, </a:t>
            </a:r>
            <a:br>
              <a:rPr lang="en-US" altLang="ko-KR" sz="3200" dirty="0" smtClean="0"/>
            </a:br>
            <a:r>
              <a:rPr lang="en-US" altLang="ko-KR" sz="3200" dirty="0" err="1" smtClean="0"/>
              <a:t>Deustch-Josza</a:t>
            </a:r>
            <a:r>
              <a:rPr lang="en-US" altLang="ko-KR" sz="3200" dirty="0" smtClean="0"/>
              <a:t> and Simon algorithms</a:t>
            </a:r>
            <a:endParaRPr lang="en-US" altLang="ko-KR" sz="3200" dirty="0"/>
          </a:p>
          <a:p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8795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Deutsch’s algorithm by phase oracle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Suppose we have a classical circuit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en-US" altLang="ko-KR" sz="2000" dirty="0" smtClean="0"/>
                  <a:t>. </a:t>
                </a:r>
                <a:endParaRPr lang="en-US" altLang="ko-KR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altLang="ko-KR" sz="2000" dirty="0" smtClean="0"/>
                  <a:t> or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ko-KR" sz="2000" dirty="0" smtClean="0"/>
                  <a:t>?</a:t>
                </a:r>
              </a:p>
              <a:p>
                <a:pPr marL="0" indent="0" algn="ctr">
                  <a:buNone/>
                </a:pPr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Apply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2000" dirty="0" smtClean="0"/>
                  <a:t> </a:t>
                </a:r>
                <a:r>
                  <a:rPr lang="en-US" altLang="ko-KR" sz="2000" i="1" dirty="0">
                    <a:latin typeface="Cambria Math" panose="02040503050406030204" pitchFamily="18" charset="0"/>
                  </a:rPr>
                  <a:t/>
                </a:r>
                <a:br>
                  <a:rPr lang="en-US" altLang="ko-KR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Apply </a:t>
                </a:r>
                <a:r>
                  <a:rPr lang="en-US" altLang="ko-KR" sz="2000" dirty="0"/>
                  <a:t>the phase circuit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ko-KR" sz="2000" i="1" dirty="0">
                    <a:latin typeface="Cambria Math" panose="02040503050406030204" pitchFamily="18" charset="0"/>
                  </a:rPr>
                  <a:t/>
                </a:r>
                <a:br>
                  <a:rPr lang="en-US" altLang="ko-KR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Apply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2000" dirty="0" smtClean="0"/>
                  <a:t> again</a:t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Measure in the standard basis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812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사각형 설명선 3"/>
          <p:cNvSpPr/>
          <p:nvPr/>
        </p:nvSpPr>
        <p:spPr>
          <a:xfrm>
            <a:off x="7636043" y="3180347"/>
            <a:ext cx="3978442" cy="497306"/>
          </a:xfrm>
          <a:prstGeom prst="wedgeRectCallout">
            <a:avLst>
              <a:gd name="adj1" fmla="val -77323"/>
              <a:gd name="adj2" fmla="val 214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1. Generate a uniform superposition</a:t>
            </a:r>
            <a:endParaRPr lang="ko-KR" altLang="en-US" dirty="0"/>
          </a:p>
        </p:txBody>
      </p:sp>
      <p:sp>
        <p:nvSpPr>
          <p:cNvPr id="5" name="사각형 설명선 4"/>
          <p:cNvSpPr/>
          <p:nvPr/>
        </p:nvSpPr>
        <p:spPr>
          <a:xfrm>
            <a:off x="7636042" y="3856706"/>
            <a:ext cx="4283241" cy="497306"/>
          </a:xfrm>
          <a:prstGeom prst="wedgeRectCallout">
            <a:avLst>
              <a:gd name="adj1" fmla="val -73114"/>
              <a:gd name="adj2" fmla="val 118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2. Compute the function in the phase</a:t>
            </a:r>
            <a:endParaRPr lang="ko-KR" altLang="en-US" dirty="0"/>
          </a:p>
        </p:txBody>
      </p:sp>
      <p:sp>
        <p:nvSpPr>
          <p:cNvPr id="6" name="사각형 설명선 5"/>
          <p:cNvSpPr/>
          <p:nvPr/>
        </p:nvSpPr>
        <p:spPr>
          <a:xfrm>
            <a:off x="7331243" y="4488949"/>
            <a:ext cx="4860757" cy="497306"/>
          </a:xfrm>
          <a:prstGeom prst="wedgeRectCallout">
            <a:avLst>
              <a:gd name="adj1" fmla="val -64733"/>
              <a:gd name="adj2" fmla="val 182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3. Make the interference between branches</a:t>
            </a:r>
            <a:endParaRPr lang="ko-KR" altLang="en-US" dirty="0"/>
          </a:p>
        </p:txBody>
      </p:sp>
      <p:sp>
        <p:nvSpPr>
          <p:cNvPr id="7" name="사각형 설명선 6"/>
          <p:cNvSpPr/>
          <p:nvPr/>
        </p:nvSpPr>
        <p:spPr>
          <a:xfrm>
            <a:off x="5863390" y="5165308"/>
            <a:ext cx="5317957" cy="497306"/>
          </a:xfrm>
          <a:prstGeom prst="wedgeRectCallout">
            <a:avLst>
              <a:gd name="adj1" fmla="val -66865"/>
              <a:gd name="adj2" fmla="val -333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4. Observe </a:t>
            </a:r>
            <a:r>
              <a:rPr lang="en-US" altLang="ko-KR" dirty="0"/>
              <a:t>which kind of interference happens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98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Use of </a:t>
            </a:r>
            <a:r>
              <a:rPr lang="en-US" sz="4000" dirty="0" err="1" smtClean="0"/>
              <a:t>Hadamard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We use </a:t>
                </a:r>
                <a:r>
                  <a:rPr lang="en-US" altLang="ko-KR" sz="2000" dirty="0" err="1" smtClean="0"/>
                  <a:t>Hadamard</a:t>
                </a:r>
                <a:r>
                  <a:rPr lang="en-US" altLang="ko-KR" sz="2000" dirty="0" smtClean="0"/>
                  <a:t> three </a:t>
                </a:r>
                <a:r>
                  <a:rPr lang="en-US" altLang="ko-KR" sz="2000" dirty="0"/>
                  <a:t>times in Deutsch’s algorithm</a:t>
                </a:r>
                <a:endParaRPr lang="en-US" altLang="ko-KR" sz="2000" dirty="0" smtClean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to convert standard circuit to phase circuit</a:t>
                </a:r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to generate uniform superposition (Step 1) and </a:t>
                </a:r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to make the “right” interference between branches (Step 3).</a:t>
                </a:r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A way to write this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∈{0,1}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812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117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Quantum Fourier Transform (QFT)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∈{0,1}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This is the QFT over the group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,⊕)</m:t>
                    </m:r>
                  </m:oMath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/>
                  <a:t>For each group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ko-KR" sz="2000" dirty="0"/>
                  <a:t>, the QFT unitary is defined differently. We focus on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</m:d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/>
                  <a:t>Other groups are studied extensively (especially the non-abelian groups)</a:t>
                </a:r>
              </a:p>
              <a:p>
                <a:pPr marL="0" indent="0">
                  <a:buNone/>
                </a:pPr>
                <a:r>
                  <a:rPr lang="en-US" altLang="ko-KR" sz="2000" dirty="0"/>
                  <a:t>We don’t need to study the group theory here anyway. We only use the QFT </a:t>
                </a:r>
                <a:r>
                  <a:rPr lang="en-US" altLang="ko-KR" sz="2000" dirty="0" err="1"/>
                  <a:t>unitaries</a:t>
                </a:r>
                <a:r>
                  <a:rPr lang="en-US" altLang="ko-KR" sz="2000" dirty="0"/>
                  <a:t>.</a:t>
                </a:r>
              </a:p>
              <a:p>
                <a:pPr marL="0" indent="0">
                  <a:buNone/>
                </a:pPr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/>
          <p:cNvSpPr/>
          <p:nvPr/>
        </p:nvSpPr>
        <p:spPr>
          <a:xfrm>
            <a:off x="9459470" y="4674032"/>
            <a:ext cx="1023456" cy="3607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advanced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0928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Quantum Fourier Transform (QFT)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The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2000" dirty="0" smtClean="0"/>
                  <a:t>-qubit QFT (over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</m:d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) is just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⊗…⊗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2000" dirty="0" smtClean="0"/>
                  <a:t> 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2000" dirty="0" smtClean="0"/>
                  <a:t> times), </a:t>
                </a:r>
              </a:p>
              <a:p>
                <a:pPr marL="0" indent="0">
                  <a:buNone/>
                </a:pPr>
                <a:r>
                  <a:rPr lang="en-US" altLang="ko-KR" sz="2000" dirty="0" smtClean="0"/>
                  <a:t>or simply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. Using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∈{0,1}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p>
                        </m:s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r>
                  <a:rPr lang="en-US" altLang="ko-KR" sz="2000" dirty="0" smtClean="0"/>
                  <a:t>, we can write:</a:t>
                </a:r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⊗…⊗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Or simply, for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⊕…⊕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2000" dirty="0" smtClean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22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25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Some properties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Let use write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=|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As calculation exercises, we check on board: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n-US" altLang="ko-KR" sz="2000" dirty="0" smtClean="0"/>
                  <a:t> is a uniform superposition of n-bit strings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000" dirty="0" smtClean="0"/>
                  <a:t> is a unit vector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 smtClean="0"/>
                  <a:t> forms an orthonormal basis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7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Why it is Fourier Transform?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We will later learn the following QFT over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000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sup>
                          </m:sSubSup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ko-KR" sz="2000" dirty="0" smtClean="0"/>
                  <a:t> is the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sz="2000" dirty="0" smtClean="0"/>
                  <a:t>-</a:t>
                </a:r>
                <a:r>
                  <a:rPr lang="en-US" altLang="ko-KR" sz="2000" dirty="0" err="1" smtClean="0"/>
                  <a:t>th</a:t>
                </a:r>
                <a:r>
                  <a:rPr lang="en-US" altLang="ko-KR" sz="2000" dirty="0" smtClean="0"/>
                  <a:t> root of unity. </a:t>
                </a:r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This exactly matches the (inverse) discrete Fourier transform</a:t>
                </a: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b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633" y="1469820"/>
            <a:ext cx="3593430" cy="349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64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Why it is Fourier Transform?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𝑗𝑘</m:t>
                            </m:r>
                          </m:sup>
                        </m:sSubSup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=:|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r>
                  <a:rPr lang="en-US" altLang="ko-KR" sz="2000" dirty="0" smtClean="0"/>
                  <a:t>. Let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altLang="ko-KR" sz="2000" dirty="0" smtClean="0"/>
                  <a:t> and see the real components of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=0,1,5</m:t>
                    </m:r>
                  </m:oMath>
                </a14:m>
                <a:r>
                  <a:rPr lang="en-US" altLang="ko-KR" sz="2000" dirty="0" smtClean="0"/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95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61" y="2306688"/>
            <a:ext cx="3649630" cy="355295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936" y="2306688"/>
            <a:ext cx="4125503" cy="287580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3328" y="3070374"/>
            <a:ext cx="4563351" cy="325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2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Deutsch-</a:t>
            </a:r>
            <a:r>
              <a:rPr lang="en-US" sz="4000" dirty="0" err="1" smtClean="0"/>
              <a:t>Jozsa</a:t>
            </a:r>
            <a:r>
              <a:rPr lang="en-US" sz="4000" dirty="0" smtClean="0"/>
              <a:t> algorithm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Suppose we have a classical circuit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en-US" altLang="ko-KR" sz="2000" dirty="0"/>
                  <a:t>. </a:t>
                </a:r>
              </a:p>
              <a:p>
                <a:pPr marL="0" indent="0">
                  <a:buNone/>
                </a:pPr>
                <a:r>
                  <a:rPr lang="en-US" altLang="ko-KR" sz="2000" dirty="0"/>
                  <a:t>We want to know whether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2000" dirty="0"/>
                  <a:t> is constant, which means for all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2000" dirty="0"/>
                  <a:t> (or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20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2000" dirty="0"/>
                  <a:t> is balanced, which means the number of preimages for 0 and 1 are equal</a:t>
                </a:r>
              </a:p>
              <a:p>
                <a:pPr marL="0" indent="0" algn="ctr">
                  <a:buNone/>
                </a:pPr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Apply </a:t>
                </a:r>
                <a:r>
                  <a:rPr lang="en-US" altLang="ko-KR" sz="2000" dirty="0"/>
                  <a:t>the phase circuit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Measure in the Fourier basis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812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621772" y="5593594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3129437" y="539881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437" y="5398815"/>
                <a:ext cx="6600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/>
              <p:cNvSpPr/>
              <p:nvPr/>
            </p:nvSpPr>
            <p:spPr>
              <a:xfrm>
                <a:off x="5415534" y="5380957"/>
                <a:ext cx="501172" cy="48933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직사각형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534" y="5380957"/>
                <a:ext cx="501172" cy="4893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/>
              <p:cNvSpPr/>
              <p:nvPr/>
            </p:nvSpPr>
            <p:spPr>
              <a:xfrm>
                <a:off x="3850730" y="5302031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직사각형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30" y="5302031"/>
                <a:ext cx="579964" cy="579964"/>
              </a:xfrm>
              <a:prstGeom prst="rect">
                <a:avLst/>
              </a:prstGeom>
              <a:blipFill>
                <a:blip r:embed="rId5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855" y="5429874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/>
              <p:cNvSpPr/>
              <p:nvPr/>
            </p:nvSpPr>
            <p:spPr>
              <a:xfrm>
                <a:off x="7192410" y="5322901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직사각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410" y="5322901"/>
                <a:ext cx="579964" cy="579964"/>
              </a:xfrm>
              <a:prstGeom prst="rect">
                <a:avLst/>
              </a:prstGeom>
              <a:blipFill>
                <a:blip r:embed="rId7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57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Analysis of Deutsch-</a:t>
            </a:r>
            <a:r>
              <a:rPr lang="en-US" sz="4000" dirty="0" err="1" smtClean="0"/>
              <a:t>Jozsa</a:t>
            </a:r>
            <a:r>
              <a:rPr lang="en-US" sz="4000" dirty="0" smtClean="0"/>
              <a:t> algorithm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sz="2000" dirty="0" smtClean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 </a:t>
                </a:r>
                <a:r>
                  <a:rPr lang="en-US" altLang="ko-KR" sz="2000" i="1" dirty="0">
                    <a:latin typeface="Cambria Math" panose="02040503050406030204" pitchFamily="18" charset="0"/>
                  </a:rPr>
                  <a:t/>
                </a:r>
                <a:br>
                  <a:rPr lang="en-US" altLang="ko-KR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Apply </a:t>
                </a:r>
                <a:r>
                  <a:rPr lang="en-US" altLang="ko-KR" sz="2000" dirty="0"/>
                  <a:t>the phase circuit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ko-KR" sz="2000" i="1" dirty="0">
                    <a:latin typeface="Cambria Math" panose="02040503050406030204" pitchFamily="18" charset="0"/>
                  </a:rPr>
                  <a:t/>
                </a:r>
                <a:br>
                  <a:rPr lang="en-US" altLang="ko-KR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0,1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sub>
                          <m:sup/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000" dirty="0"/>
              </a:p>
              <a:p>
                <a:pPr marL="457200" indent="-457200">
                  <a:buAutoNum type="arabicPeriod"/>
                </a:pPr>
                <a:r>
                  <a:rPr lang="en-US" altLang="ko-KR" sz="2000" dirty="0" smtClean="0"/>
                  <a:t>Measure in the Fourier basis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sz="2000" dirty="0"/>
              </a:p>
              <a:p>
                <a:pPr marL="0" indent="0" algn="ctr">
                  <a:buNone/>
                </a:pPr>
                <a:r>
                  <a:rPr lang="en-US" altLang="ko-KR" sz="2000" dirty="0" smtClean="0"/>
                  <a:t>Inner product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r>
                  <a:rPr lang="en-US" altLang="ko-KR" sz="2000" dirty="0" smtClean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000" dirty="0" smtClean="0"/>
              </a:p>
              <a:p>
                <a:pPr marL="0" indent="0" algn="ctr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Claim 1: When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2000" dirty="0" smtClean="0"/>
                  <a:t> is constant, the measurement always gives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/>
                  <a:t>Claim </a:t>
                </a:r>
                <a:r>
                  <a:rPr lang="en-US" altLang="ko-KR" sz="2000" dirty="0" smtClean="0"/>
                  <a:t>2: </a:t>
                </a:r>
                <a:r>
                  <a:rPr lang="en-US" altLang="ko-KR" sz="2000" dirty="0"/>
                  <a:t>When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2000" dirty="0"/>
                  <a:t> is </a:t>
                </a:r>
                <a:r>
                  <a:rPr lang="en-US" altLang="ko-KR" sz="2000" dirty="0" smtClean="0"/>
                  <a:t>balanced, </a:t>
                </a:r>
                <a:r>
                  <a:rPr lang="en-US" altLang="ko-KR" sz="2000" dirty="0"/>
                  <a:t>the measurement </a:t>
                </a:r>
                <a:r>
                  <a:rPr lang="en-US" altLang="ko-KR" sz="2000" dirty="0" smtClean="0"/>
                  <a:t>never </a:t>
                </a:r>
                <a:r>
                  <a:rPr lang="en-US" altLang="ko-KR" sz="2000" dirty="0"/>
                  <a:t>gives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812" t="-1261" b="-7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63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Deutsch and </a:t>
            </a:r>
            <a:r>
              <a:rPr lang="en-US" altLang="ko-KR" sz="4000" dirty="0" smtClean="0"/>
              <a:t>Deutsch-</a:t>
            </a:r>
            <a:r>
              <a:rPr lang="en-US" altLang="ko-KR" sz="4000" dirty="0" err="1" smtClean="0"/>
              <a:t>Josza</a:t>
            </a:r>
            <a:r>
              <a:rPr lang="en-US" altLang="ko-KR" sz="4000" dirty="0" smtClean="0"/>
              <a:t>, summary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In Deutsch’s problem, we obtain a quantum algorithm that gives 2x speedup!</a:t>
                </a:r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In </a:t>
                </a:r>
                <a:r>
                  <a:rPr lang="en-US" altLang="ko-KR" sz="2000" dirty="0" err="1" smtClean="0"/>
                  <a:t>Deustch-Josza</a:t>
                </a:r>
                <a:r>
                  <a:rPr lang="en-US" altLang="ko-KR" sz="2000" dirty="0" smtClean="0"/>
                  <a:t>, we obtain *exponential* quantum speedup!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sz="2000" dirty="0" smtClean="0"/>
                  <a:t> vs. 1</a:t>
                </a:r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Caveat: You need “quantum access”,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sz="2000" dirty="0" smtClean="0"/>
                  <a:t> is for the </a:t>
                </a:r>
                <a:r>
                  <a:rPr lang="en-US" altLang="ko-KR" sz="2000" i="1" dirty="0" smtClean="0"/>
                  <a:t>worst-case</a:t>
                </a:r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If we allow randomness, we can solve the problem using 3 queries with </a:t>
                </a:r>
                <a:r>
                  <a:rPr lang="en-US" altLang="ko-KR" sz="2000" dirty="0" err="1" smtClean="0"/>
                  <a:t>prob</a:t>
                </a:r>
                <a:r>
                  <a:rPr lang="en-US" altLang="ko-KR" sz="2000" dirty="0" smtClean="0"/>
                  <a:t> about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¾</m:t>
                    </m:r>
                  </m:oMath>
                </a14:m>
                <a:r>
                  <a:rPr lang="en-US" altLang="ko-KR" sz="2000" dirty="0" smtClean="0"/>
                  <a:t>.</a:t>
                </a:r>
              </a:p>
              <a:p>
                <a:pPr marL="0" indent="0">
                  <a:buNone/>
                </a:pPr>
                <a:endParaRPr lang="en-US" altLang="ko-KR" sz="2000" dirty="0"/>
              </a:p>
              <a:p>
                <a:r>
                  <a:rPr lang="en-US" altLang="ko-KR" sz="2000" dirty="0" smtClean="0"/>
                  <a:t>Probabilistic algorithm vs. quantum algorithms?</a:t>
                </a:r>
              </a:p>
              <a:p>
                <a:r>
                  <a:rPr lang="en-US" altLang="ko-KR" sz="2000" dirty="0" smtClean="0"/>
                  <a:t>How to interpret this mathematically or complexity-theoretically? We will see later.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95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Simon’s Problem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Suppose we have a classical circuit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. </a:t>
                </a:r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Promise: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2000" dirty="0" smtClean="0"/>
                  <a:t> has a hidden “order”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2000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⟺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Q) Find the hidden string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r>
                  <a:rPr lang="en-US" altLang="ko-KR" sz="1800" dirty="0" err="1" smtClean="0"/>
                  <a:t>Quantumly</a:t>
                </a:r>
                <a:r>
                  <a:rPr lang="en-US" altLang="ko-KR" sz="1800" dirty="0" smtClean="0"/>
                  <a:t>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1800" dirty="0" smtClean="0"/>
                  <a:t> for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898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Simon’s Problem: Example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1800" dirty="0" smtClean="0"/>
                  <a:t>Example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sz="1800" dirty="0" smtClean="0"/>
                  <a:t>:</a:t>
                </a:r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r>
                  <a:rPr lang="en-US" altLang="ko-KR" sz="1800" dirty="0" smtClean="0"/>
                  <a:t>What is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1800" dirty="0" smtClean="0"/>
                  <a:t>?</a:t>
                </a:r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099677" y="2307835"/>
          <a:ext cx="3919622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9811">
                  <a:extLst>
                    <a:ext uri="{9D8B030D-6E8A-4147-A177-3AD203B41FA5}">
                      <a16:colId xmlns:a16="http://schemas.microsoft.com/office/drawing/2014/main" val="2291562340"/>
                    </a:ext>
                  </a:extLst>
                </a:gridCol>
                <a:gridCol w="1959811">
                  <a:extLst>
                    <a:ext uri="{9D8B030D-6E8A-4147-A177-3AD203B41FA5}">
                      <a16:colId xmlns:a16="http://schemas.microsoft.com/office/drawing/2014/main" val="2816261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f(x)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72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928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08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384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64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826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38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089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535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60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Classical strategy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1800" dirty="0" smtClean="0"/>
                  <a:t>Set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endParaRPr lang="en-US" altLang="ko-KR" sz="1800" dirty="0" smtClean="0"/>
              </a:p>
              <a:p>
                <a:r>
                  <a:rPr lang="en-US" altLang="ko-KR" sz="1800" dirty="0" smtClean="0"/>
                  <a:t>Randomly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sz="1800" dirty="0" smtClean="0"/>
              </a:p>
              <a:p>
                <a:r>
                  <a:rPr lang="en-US" altLang="ko-KR" sz="1800" dirty="0" smtClean="0"/>
                  <a:t>Check if there exists a pair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800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800" dirty="0" smtClean="0"/>
              </a:p>
              <a:p>
                <a:r>
                  <a:rPr lang="en-US" altLang="ko-KR" sz="1800" dirty="0" smtClean="0"/>
                  <a:t>If such a pair exists, we can conclude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ko-KR" sz="1800" dirty="0" smtClean="0"/>
              </a:p>
              <a:p>
                <a:endParaRPr lang="en-US" altLang="ko-KR" sz="1800" dirty="0" smtClean="0"/>
              </a:p>
              <a:p>
                <a:endParaRPr lang="en-US" altLang="ko-KR" sz="1800" dirty="0"/>
              </a:p>
              <a:p>
                <a:pPr marL="0" indent="0">
                  <a:buNone/>
                </a:pPr>
                <a:r>
                  <a:rPr lang="en-US" altLang="ko-KR" sz="1800" dirty="0" smtClean="0"/>
                  <a:t>By the birthday paradox, we need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1800" dirty="0" smtClean="0"/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altLang="ko-KR" sz="1800" dirty="0" smtClean="0"/>
                  <a:t> queries to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 algn="ctr">
                  <a:buNone/>
                </a:pPr>
                <a:r>
                  <a:rPr lang="en-US" altLang="ko-KR" sz="1800" dirty="0" smtClean="0"/>
                  <a:t>(Show on board)</a:t>
                </a:r>
                <a:endParaRPr lang="en-US" altLang="ko-KR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522" t="-10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28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Simon’s algorithm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A8FCB-12CC-692A-1B75-ED3ACF8A8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2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 smtClean="0"/>
              <a:t>This is a quantum-classical hybrid algorithm, with classical post-processing.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smtClean="0"/>
              <a:t>Main quantum subroutine:</a:t>
            </a:r>
            <a:endParaRPr lang="en-US" altLang="ko-KR" sz="1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585912" y="4942440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585912" y="4390354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3093577" y="419557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577" y="4195575"/>
                <a:ext cx="6600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3093577" y="473440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577" y="4734406"/>
                <a:ext cx="6600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/>
              <p:cNvSpPr/>
              <p:nvPr/>
            </p:nvSpPr>
            <p:spPr>
              <a:xfrm>
                <a:off x="5065909" y="4210289"/>
                <a:ext cx="939567" cy="8808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직사각형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5909" y="4210289"/>
                <a:ext cx="939567" cy="880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3814870" y="4098791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70" y="4098791"/>
                <a:ext cx="579964" cy="579964"/>
              </a:xfrm>
              <a:prstGeom prst="rect">
                <a:avLst/>
              </a:prstGeom>
              <a:blipFill>
                <a:blip r:embed="rId5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95" y="4226634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433300" y="518575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300" y="5185756"/>
                <a:ext cx="660041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429561" y="518575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561" y="5185756"/>
                <a:ext cx="660041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496509" y="5214121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509" y="5214121"/>
                <a:ext cx="660041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697757" y="522034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757" y="5220340"/>
                <a:ext cx="660041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 16"/>
          <p:cNvCxnSpPr>
            <a:endCxn id="14" idx="0"/>
          </p:cNvCxnSpPr>
          <p:nvPr/>
        </p:nvCxnSpPr>
        <p:spPr>
          <a:xfrm>
            <a:off x="4759581" y="4257719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6812067" y="4241800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8027776" y="4210289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/>
              <p:cNvSpPr/>
              <p:nvPr/>
            </p:nvSpPr>
            <p:spPr>
              <a:xfrm>
                <a:off x="7156550" y="4119661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직사각형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550" y="4119661"/>
                <a:ext cx="579964" cy="579964"/>
              </a:xfrm>
              <a:prstGeom prst="rect">
                <a:avLst/>
              </a:prstGeom>
              <a:blipFill>
                <a:blip r:embed="rId11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그림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8112" y="4744607"/>
            <a:ext cx="467256" cy="36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3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1" grpId="0" animBg="1"/>
      <p:bldP spid="13" grpId="0"/>
      <p:bldP spid="14" grpId="0"/>
      <p:bldP spid="15" grpId="0"/>
      <p:bldP spid="16" grpId="0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Simon’s algorithm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d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⊗|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p>
                        <m:sSup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d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⊗|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)⟩</m:t>
                          </m:r>
                        </m:e>
                      </m:nary>
                    </m:oMath>
                  </m:oMathPara>
                </a14:m>
                <a:endParaRPr lang="en-US" altLang="ko-KR" sz="1800" dirty="0" smtClean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92965" y="2330560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92965" y="1778474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900630" y="158369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630" y="1583695"/>
                <a:ext cx="6600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900630" y="212252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630" y="2122526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/>
              <p:cNvSpPr/>
              <p:nvPr/>
            </p:nvSpPr>
            <p:spPr>
              <a:xfrm>
                <a:off x="4872962" y="1598409"/>
                <a:ext cx="939567" cy="8808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직사각형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962" y="1598409"/>
                <a:ext cx="939567" cy="8808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/>
              <p:cNvSpPr/>
              <p:nvPr/>
            </p:nvSpPr>
            <p:spPr>
              <a:xfrm>
                <a:off x="3621923" y="1486911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직사각형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923" y="1486911"/>
                <a:ext cx="579964" cy="579964"/>
              </a:xfrm>
              <a:prstGeom prst="rect">
                <a:avLst/>
              </a:prstGeom>
              <a:blipFill>
                <a:blip r:embed="rId6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그림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1048" y="1614754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240353" y="257387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353" y="2573876"/>
                <a:ext cx="660041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236614" y="257387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614" y="2573876"/>
                <a:ext cx="660041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303562" y="2602241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562" y="2602241"/>
                <a:ext cx="660041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504810" y="260846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810" y="2608460"/>
                <a:ext cx="660041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직선 연결선 31"/>
          <p:cNvCxnSpPr>
            <a:endCxn id="29" idx="0"/>
          </p:cNvCxnSpPr>
          <p:nvPr/>
        </p:nvCxnSpPr>
        <p:spPr>
          <a:xfrm>
            <a:off x="4566634" y="1645839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6619120" y="1629920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7834829" y="1598409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/>
              <p:cNvSpPr/>
              <p:nvPr/>
            </p:nvSpPr>
            <p:spPr>
              <a:xfrm>
                <a:off x="6963603" y="1507781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직사각형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603" y="1507781"/>
                <a:ext cx="579964" cy="579964"/>
              </a:xfrm>
              <a:prstGeom prst="rect">
                <a:avLst/>
              </a:prstGeom>
              <a:blipFill>
                <a:blip r:embed="rId12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그림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165" y="2132727"/>
            <a:ext cx="467256" cy="36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7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Simon’s algorithm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p>
                        <m:sSup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d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⊗|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)⟩</m:t>
                          </m:r>
                        </m:e>
                      </m:nary>
                    </m:oMath>
                  </m:oMathPara>
                </a14:m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r>
                  <a:rPr lang="en-US" altLang="ko-KR" sz="1800" dirty="0" smtClean="0"/>
                  <a:t>If the measurement outcome: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800" dirty="0" smtClean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800" dirty="0" smtClean="0"/>
                  <a:t>, the post-measurement state is</a:t>
                </a:r>
              </a:p>
              <a:p>
                <a:pPr marL="0" indent="0">
                  <a:buNone/>
                </a:pPr>
                <a:endParaRPr lang="en-US" altLang="ko-KR" sz="18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+|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ko-KR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92965" y="2330560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92965" y="1778474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900630" y="158369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630" y="1583695"/>
                <a:ext cx="6600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900630" y="212252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630" y="2122526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/>
              <p:cNvSpPr/>
              <p:nvPr/>
            </p:nvSpPr>
            <p:spPr>
              <a:xfrm>
                <a:off x="4872962" y="1598409"/>
                <a:ext cx="939567" cy="8808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직사각형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962" y="1598409"/>
                <a:ext cx="939567" cy="8808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/>
              <p:cNvSpPr/>
              <p:nvPr/>
            </p:nvSpPr>
            <p:spPr>
              <a:xfrm>
                <a:off x="3621923" y="1486911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직사각형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923" y="1486911"/>
                <a:ext cx="579964" cy="579964"/>
              </a:xfrm>
              <a:prstGeom prst="rect">
                <a:avLst/>
              </a:prstGeom>
              <a:blipFill>
                <a:blip r:embed="rId6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그림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1048" y="1614754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240353" y="257387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353" y="2573876"/>
                <a:ext cx="660041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236614" y="257387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614" y="2573876"/>
                <a:ext cx="660041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303562" y="2602241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562" y="2602241"/>
                <a:ext cx="660041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504810" y="260846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810" y="2608460"/>
                <a:ext cx="660041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직선 연결선 31"/>
          <p:cNvCxnSpPr>
            <a:endCxn id="29" idx="0"/>
          </p:cNvCxnSpPr>
          <p:nvPr/>
        </p:nvCxnSpPr>
        <p:spPr>
          <a:xfrm>
            <a:off x="4566634" y="1645839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6619120" y="1629920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7834829" y="1598409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/>
              <p:cNvSpPr/>
              <p:nvPr/>
            </p:nvSpPr>
            <p:spPr>
              <a:xfrm>
                <a:off x="6963603" y="1507781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직사각형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603" y="1507781"/>
                <a:ext cx="579964" cy="579964"/>
              </a:xfrm>
              <a:prstGeom prst="rect">
                <a:avLst/>
              </a:prstGeom>
              <a:blipFill>
                <a:blip r:embed="rId12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그림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165" y="2132727"/>
            <a:ext cx="467256" cy="36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5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Simon’s algorithm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+|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ko-KR" sz="1800" b="0" dirty="0" smtClean="0"/>
              </a:p>
              <a:p>
                <a:pPr marL="0" indent="0">
                  <a:buNone/>
                </a:pPr>
                <a:r>
                  <a:rPr lang="en-US" altLang="ko-KR" sz="1800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8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ko-KR" sz="1800" dirty="0" smtClean="0"/>
                  <a:t>Ignoring the second register (which is </a:t>
                </a:r>
                <a:r>
                  <a:rPr lang="en-US" altLang="ko-KR" sz="1800" dirty="0" err="1" smtClean="0"/>
                  <a:t>unentangled</a:t>
                </a:r>
                <a:r>
                  <a:rPr lang="en-US" altLang="ko-KR" sz="1800" dirty="0" smtClean="0"/>
                  <a:t>). Applying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1800" dirty="0" smtClean="0"/>
                  <a:t>, we have…</a:t>
                </a:r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 algn="ctr">
                  <a:buNone/>
                </a:pPr>
                <a:r>
                  <a:rPr lang="en-US" altLang="ko-KR" sz="1800" dirty="0" smtClean="0"/>
                  <a:t>(Analysis on board)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92965" y="2330560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92965" y="1778474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900630" y="158369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630" y="1583695"/>
                <a:ext cx="6600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900630" y="212252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630" y="2122526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/>
              <p:cNvSpPr/>
              <p:nvPr/>
            </p:nvSpPr>
            <p:spPr>
              <a:xfrm>
                <a:off x="4872962" y="1598409"/>
                <a:ext cx="939567" cy="8808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직사각형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962" y="1598409"/>
                <a:ext cx="939567" cy="8808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/>
              <p:cNvSpPr/>
              <p:nvPr/>
            </p:nvSpPr>
            <p:spPr>
              <a:xfrm>
                <a:off x="3621923" y="1486911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직사각형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923" y="1486911"/>
                <a:ext cx="579964" cy="579964"/>
              </a:xfrm>
              <a:prstGeom prst="rect">
                <a:avLst/>
              </a:prstGeom>
              <a:blipFill>
                <a:blip r:embed="rId6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그림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1048" y="1614754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240353" y="257387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353" y="2573876"/>
                <a:ext cx="660041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236614" y="2573876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614" y="2573876"/>
                <a:ext cx="660041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303562" y="2602241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562" y="2602241"/>
                <a:ext cx="660041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504810" y="260846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810" y="2608460"/>
                <a:ext cx="660041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직선 연결선 31"/>
          <p:cNvCxnSpPr>
            <a:endCxn id="29" idx="0"/>
          </p:cNvCxnSpPr>
          <p:nvPr/>
        </p:nvCxnSpPr>
        <p:spPr>
          <a:xfrm>
            <a:off x="4566634" y="1645839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6619120" y="1629920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7834829" y="1598409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/>
              <p:cNvSpPr/>
              <p:nvPr/>
            </p:nvSpPr>
            <p:spPr>
              <a:xfrm>
                <a:off x="6963603" y="1507781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직사각형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603" y="1507781"/>
                <a:ext cx="579964" cy="579964"/>
              </a:xfrm>
              <a:prstGeom prst="rect">
                <a:avLst/>
              </a:prstGeom>
              <a:blipFill>
                <a:blip r:embed="rId12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그림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165" y="2132727"/>
            <a:ext cx="467256" cy="36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43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Simon’s algorithm (without measurement)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A8FCB-12CC-692A-1B75-ED3ACF8A8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23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8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 marL="0" indent="0">
              <a:buNone/>
            </a:pPr>
            <a:endParaRPr lang="en-US" altLang="ko-KR" sz="1800" dirty="0"/>
          </a:p>
          <a:p>
            <a:endParaRPr lang="en-US" altLang="ko-KR" sz="1800" dirty="0" smtClean="0"/>
          </a:p>
          <a:p>
            <a:endParaRPr lang="en-US" altLang="ko-KR" sz="1800" dirty="0"/>
          </a:p>
          <a:p>
            <a:pPr marL="0" indent="0" algn="ctr">
              <a:buNone/>
            </a:pPr>
            <a:endParaRPr lang="en-US" altLang="ko-KR" sz="1800" dirty="0" smtClean="0"/>
          </a:p>
          <a:p>
            <a:pPr marL="0" indent="0" algn="ctr">
              <a:buNone/>
            </a:pPr>
            <a:endParaRPr lang="en-US" altLang="ko-KR" sz="1800" dirty="0"/>
          </a:p>
          <a:p>
            <a:pPr marL="0" indent="0" algn="ctr">
              <a:buNone/>
            </a:pPr>
            <a:r>
              <a:rPr lang="en-US" altLang="ko-KR" sz="1800" dirty="0" smtClean="0"/>
              <a:t>(Analysis on board?)</a:t>
            </a:r>
            <a:endParaRPr lang="en-US" altLang="ko-KR" sz="1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426521" y="2358422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426521" y="1806336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934186" y="1611557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186" y="1611557"/>
                <a:ext cx="6600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934186" y="2150388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186" y="2150388"/>
                <a:ext cx="6600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/>
              <p:cNvSpPr/>
              <p:nvPr/>
            </p:nvSpPr>
            <p:spPr>
              <a:xfrm>
                <a:off x="5018556" y="1626271"/>
                <a:ext cx="939567" cy="8808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직사각형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8556" y="1626271"/>
                <a:ext cx="939567" cy="880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3655479" y="1514773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479" y="1514773"/>
                <a:ext cx="579964" cy="579964"/>
              </a:xfrm>
              <a:prstGeom prst="rect">
                <a:avLst/>
              </a:prstGeom>
              <a:blipFill>
                <a:blip r:embed="rId5"/>
                <a:stretch>
                  <a:fillRect l="-61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0714" y="1642616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273909" y="2601738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909" y="2601738"/>
                <a:ext cx="660041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270170" y="2601738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170" y="2601738"/>
                <a:ext cx="660041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253228" y="2630103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228" y="2630103"/>
                <a:ext cx="660041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454476" y="2636322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476" y="2636322"/>
                <a:ext cx="660041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 16"/>
          <p:cNvCxnSpPr>
            <a:endCxn id="14" idx="0"/>
          </p:cNvCxnSpPr>
          <p:nvPr/>
        </p:nvCxnSpPr>
        <p:spPr>
          <a:xfrm>
            <a:off x="4600190" y="1673701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6568786" y="1657782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784495" y="1626271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/>
              <p:cNvSpPr/>
              <p:nvPr/>
            </p:nvSpPr>
            <p:spPr>
              <a:xfrm>
                <a:off x="6913269" y="1535643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직사각형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269" y="1535643"/>
                <a:ext cx="579964" cy="579964"/>
              </a:xfrm>
              <a:prstGeom prst="rect">
                <a:avLst/>
              </a:prstGeom>
              <a:blipFill>
                <a:blip r:embed="rId11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27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Simon’s algorithm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1800" dirty="0" smtClean="0"/>
                  <a:t>This is a quantum-classical hybrid algorithm, with classical post-processing.</a:t>
                </a:r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r>
                  <a:rPr lang="en-US" altLang="ko-KR" sz="1800" dirty="0" smtClean="0"/>
                  <a:t>Main quantum subroutine:</a:t>
                </a:r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 smtClean="0"/>
              </a:p>
              <a:p>
                <a:r>
                  <a:rPr lang="en-US" altLang="ko-KR" sz="1800" dirty="0" smtClean="0"/>
                  <a:t>Running this, we get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800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800" dirty="0" smtClean="0"/>
                  <a:t> uniformly at random</a:t>
                </a:r>
              </a:p>
              <a:p>
                <a:r>
                  <a:rPr lang="en-US" altLang="ko-KR" sz="1800" dirty="0" smtClean="0"/>
                  <a:t>After 2n repetition, we have linearly independent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1800" dirty="0" smtClean="0"/>
                  <a:t> with high probability</a:t>
                </a:r>
              </a:p>
              <a:p>
                <a:r>
                  <a:rPr lang="en-US" altLang="ko-KR" sz="1800" dirty="0" smtClean="0"/>
                  <a:t>We can compute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1800" dirty="0" smtClean="0"/>
                  <a:t> using classical linear algebra</a:t>
                </a:r>
                <a:endParaRPr lang="en-US" altLang="ko-KR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84576" y="3994484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3384576" y="3442398"/>
            <a:ext cx="5110231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892241" y="3247619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241" y="3247619"/>
                <a:ext cx="66004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2892241" y="378645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241" y="3786450"/>
                <a:ext cx="660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/>
              <p:cNvSpPr/>
              <p:nvPr/>
            </p:nvSpPr>
            <p:spPr>
              <a:xfrm>
                <a:off x="4864573" y="3262333"/>
                <a:ext cx="939567" cy="88084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직사각형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573" y="3262333"/>
                <a:ext cx="939567" cy="8808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3613534" y="3150835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534" y="3150835"/>
                <a:ext cx="579964" cy="579964"/>
              </a:xfrm>
              <a:prstGeom prst="rect">
                <a:avLst/>
              </a:prstGeom>
              <a:blipFill>
                <a:blip r:embed="rId6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2659" y="3278678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231964" y="423780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964" y="4237800"/>
                <a:ext cx="660041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4228225" y="4237800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225" y="4237800"/>
                <a:ext cx="660041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6295173" y="4266165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173" y="4266165"/>
                <a:ext cx="660041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7496421" y="4272384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421" y="4272384"/>
                <a:ext cx="660041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 16"/>
          <p:cNvCxnSpPr>
            <a:endCxn id="14" idx="0"/>
          </p:cNvCxnSpPr>
          <p:nvPr/>
        </p:nvCxnSpPr>
        <p:spPr>
          <a:xfrm>
            <a:off x="4558245" y="3309763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6610731" y="3293844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826440" y="3262333"/>
            <a:ext cx="1" cy="9280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/>
              <p:cNvSpPr/>
              <p:nvPr/>
            </p:nvSpPr>
            <p:spPr>
              <a:xfrm>
                <a:off x="6955214" y="3171705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직사각형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214" y="3171705"/>
                <a:ext cx="579964" cy="579964"/>
              </a:xfrm>
              <a:prstGeom prst="rect">
                <a:avLst/>
              </a:prstGeom>
              <a:blipFill>
                <a:blip r:embed="rId12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그림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6776" y="3796651"/>
            <a:ext cx="467256" cy="36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7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996C-B5F6-B594-B19D-FDB3BDDB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Simon’s problem, summary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In Simon’s, we obtain *exponential* quantum speedup!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 vs.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Even probabilistic algorithm requires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 queries.</a:t>
                </a:r>
              </a:p>
              <a:p>
                <a:endParaRPr lang="en-US" altLang="ko-KR" sz="2000" dirty="0" smtClean="0"/>
              </a:p>
              <a:p>
                <a:r>
                  <a:rPr lang="en-US" altLang="ko-KR" sz="2000" dirty="0" smtClean="0"/>
                  <a:t>Deterministic classical algorithm vs. quantum algorithms:</a:t>
                </a:r>
                <a:r>
                  <a:rPr lang="en-US" altLang="ko-KR" sz="2000" dirty="0"/>
                  <a:t>	</a:t>
                </a:r>
                <a:r>
                  <a:rPr lang="en-US" altLang="ko-KR" sz="2000" dirty="0" err="1" smtClean="0"/>
                  <a:t>Deustch-Josza</a:t>
                </a:r>
                <a:endParaRPr lang="en-US" altLang="ko-KR" sz="2000" dirty="0" smtClean="0"/>
              </a:p>
              <a:p>
                <a:r>
                  <a:rPr lang="en-US" altLang="ko-KR" sz="2000" dirty="0" smtClean="0"/>
                  <a:t>Probabilistic algorithm vs. quantum algorithms:		Simon’s</a:t>
                </a:r>
              </a:p>
              <a:p>
                <a:endParaRPr lang="en-US" altLang="ko-KR" sz="2000" dirty="0" smtClean="0"/>
              </a:p>
              <a:p>
                <a:endParaRPr lang="en-US" altLang="ko-KR" sz="2000" dirty="0"/>
              </a:p>
              <a:p>
                <a:r>
                  <a:rPr lang="en-US" altLang="ko-KR" sz="2000" dirty="0" smtClean="0"/>
                  <a:t>How to interpret this mathematically or complexity-theoretically?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A8FCB-12CC-692A-1B75-ED3ACF8A8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2350"/>
              </a:xfrm>
              <a:blipFill>
                <a:blip r:embed="rId2"/>
                <a:stretch>
                  <a:fillRect l="-63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53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11704</TotalTime>
  <Words>362</Words>
  <Application>Microsoft Office PowerPoint</Application>
  <PresentationFormat>와이드스크린</PresentationFormat>
  <Paragraphs>273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Cambria Math</vt:lpstr>
      <vt:lpstr>Office 테마</vt:lpstr>
      <vt:lpstr>Introduction to  Quantum Algorithms</vt:lpstr>
      <vt:lpstr>Deutsch’s algorithm by phase oracle</vt:lpstr>
      <vt:lpstr>Use of Hadamard</vt:lpstr>
      <vt:lpstr>Quantum Fourier Transform (QFT)</vt:lpstr>
      <vt:lpstr>Quantum Fourier Transform (QFT)</vt:lpstr>
      <vt:lpstr>Some properties</vt:lpstr>
      <vt:lpstr>Why it is Fourier Transform?</vt:lpstr>
      <vt:lpstr>Why it is Fourier Transform?</vt:lpstr>
      <vt:lpstr>Deutsch-Jozsa algorithm</vt:lpstr>
      <vt:lpstr>Analysis of Deutsch-Jozsa algorithm</vt:lpstr>
      <vt:lpstr>Deutsch and Deutsch-Josza, summary</vt:lpstr>
      <vt:lpstr>Simon’s Problem</vt:lpstr>
      <vt:lpstr>Simon’s Problem: Example</vt:lpstr>
      <vt:lpstr>Classical strategy</vt:lpstr>
      <vt:lpstr>Simon’s algorithm</vt:lpstr>
      <vt:lpstr>Simon’s algorithm</vt:lpstr>
      <vt:lpstr>Simon’s algorithm</vt:lpstr>
      <vt:lpstr>Simon’s algorithm</vt:lpstr>
      <vt:lpstr>Simon’s algorithm (without measurement)</vt:lpstr>
      <vt:lpstr>Simon’s algorithm</vt:lpstr>
      <vt:lpstr>Simon’s problem,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Quantum Algorithms</dc:title>
  <dc:creator>Minki Hhan</dc:creator>
  <cp:lastModifiedBy>Minki Hhan</cp:lastModifiedBy>
  <cp:revision>178</cp:revision>
  <dcterms:created xsi:type="dcterms:W3CDTF">2026-02-24T07:16:23Z</dcterms:created>
  <dcterms:modified xsi:type="dcterms:W3CDTF">2026-03-31T02:03:48Z</dcterms:modified>
</cp:coreProperties>
</file>