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14" r:id="rId3"/>
    <p:sldId id="367" r:id="rId4"/>
    <p:sldId id="368" r:id="rId5"/>
    <p:sldId id="369" r:id="rId6"/>
    <p:sldId id="370" r:id="rId7"/>
    <p:sldId id="315" r:id="rId8"/>
    <p:sldId id="371" r:id="rId9"/>
    <p:sldId id="372" r:id="rId10"/>
    <p:sldId id="316" r:id="rId11"/>
    <p:sldId id="318" r:id="rId12"/>
    <p:sldId id="373" r:id="rId13"/>
    <p:sldId id="317" r:id="rId14"/>
    <p:sldId id="321" r:id="rId15"/>
    <p:sldId id="319" r:id="rId16"/>
    <p:sldId id="324" r:id="rId17"/>
    <p:sldId id="327" r:id="rId18"/>
    <p:sldId id="328" r:id="rId19"/>
    <p:sldId id="329" r:id="rId20"/>
    <p:sldId id="332" r:id="rId21"/>
    <p:sldId id="331" r:id="rId22"/>
    <p:sldId id="330" r:id="rId23"/>
    <p:sldId id="365" r:id="rId24"/>
    <p:sldId id="325" r:id="rId25"/>
    <p:sldId id="32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2" y="1272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7EABD-121C-4E1C-A30D-B7AAAB8F758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CA3E8-17C6-46E1-AB81-2C03EE0FF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49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63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0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60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71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59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5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42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56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9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00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480683"/>
            <a:ext cx="9144000" cy="2387600"/>
          </a:xfrm>
        </p:spPr>
        <p:txBody>
          <a:bodyPr/>
          <a:lstStyle/>
          <a:p>
            <a:r>
              <a:rPr lang="en-US" altLang="ko-KR" dirty="0" smtClean="0"/>
              <a:t>Introduction to </a:t>
            </a:r>
            <a:br>
              <a:rPr lang="en-US" altLang="ko-KR" dirty="0" smtClean="0"/>
            </a:br>
            <a:r>
              <a:rPr lang="en-US" altLang="ko-KR" dirty="0" smtClean="0"/>
              <a:t>Quantum Algorithms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960357"/>
            <a:ext cx="9144000" cy="3648989"/>
          </a:xfrm>
        </p:spPr>
        <p:txBody>
          <a:bodyPr/>
          <a:lstStyle/>
          <a:p>
            <a:r>
              <a:rPr lang="en-US" altLang="ko-KR" dirty="0" smtClean="0"/>
              <a:t>CS.49900	(Spring 2026)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3200" dirty="0" smtClean="0"/>
              <a:t>n-qubit quantum states, measurements, </a:t>
            </a:r>
            <a:r>
              <a:rPr lang="en-US" altLang="ko-KR" sz="3200" smtClean="0"/>
              <a:t>unitaries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1127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n-qubit quantum state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 smtClean="0"/>
                  <a:t>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 smtClean="0"/>
                  <a:t>-qubit quantum state is a superposition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b="0" dirty="0" smtClean="0"/>
                  <a:t> for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b="0" dirty="0" smtClean="0"/>
              </a:p>
              <a:p>
                <a:r>
                  <a:rPr lang="en-US" altLang="ko-KR" sz="2400" dirty="0" smtClean="0"/>
                  <a:t>Alternatively,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-dimensional unit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altLang="ko-KR" sz="2400" dirty="0" smtClean="0"/>
              </a:p>
              <a:p>
                <a:endParaRPr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2400" dirty="0" smtClean="0"/>
                  <a:t>.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2-qubit example: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, the “EPR pair”</a:t>
                </a:r>
                <a:r>
                  <a:rPr lang="en-US" altLang="ko-KR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+|11⟩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eqArr>
                      </m:e>
                    </m:d>
                  </m:oMath>
                </a14:m>
                <a:endParaRPr lang="ko-KR" altLang="en-US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 t="-2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03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Dual vector: “bra”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 smtClean="0"/>
                  <a:t>We define the conjugate of a quantum state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 smtClean="0"/>
                  <a:t>, denoted by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ko-KR" sz="2400" dirty="0" smtClean="0"/>
                  <a:t>: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400" b="0" dirty="0" smtClean="0"/>
                  <a:t>		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ko-KR" sz="2400" b="0" dirty="0" smtClean="0"/>
                  <a:t>	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|=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which corresponds to the conjugate transpose vector: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0001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1111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ko-KR" sz="2400" dirty="0"/>
                  <a:t>	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ko-KR" sz="2400" dirty="0"/>
                  <a:t>	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0000</m:t>
                                  </m:r>
                                </m:sub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1111</m:t>
                                  </m:r>
                                </m:sub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92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Bra-</a:t>
            </a:r>
            <a:r>
              <a:rPr lang="en-US" sz="4000" dirty="0" err="1" smtClean="0"/>
              <a:t>ket</a:t>
            </a:r>
            <a:r>
              <a:rPr lang="en-US" sz="4000" dirty="0" smtClean="0"/>
              <a:t> notation = Inner product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 smtClean="0"/>
                  <a:t>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, we define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ko-KR" sz="2400" dirty="0" smtClean="0"/>
                  <a:t> 		(=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|"/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⋅|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 smtClean="0"/>
                  <a:t>)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This extends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as follows: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0,1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nary>
                        <m:d>
                          <m:dPr>
                            <m:begChr m:val="⟨"/>
                            <m:endChr m:val="|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0,1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nary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b="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begChr m:val="⟨"/>
                            <m:endChr m:val="⟩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/>
                  <a:t>	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begChr m:val="⟨"/>
                            <m:endChr m:val="⟩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b="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1274637" y="5800251"/>
                <a:ext cx="46272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 smtClean="0"/>
                  <a:t>Sometimes write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637" y="5800251"/>
                <a:ext cx="4627292" cy="369332"/>
              </a:xfrm>
              <a:prstGeom prst="rect">
                <a:avLst/>
              </a:prstGeom>
              <a:blipFill>
                <a:blip r:embed="rId3"/>
                <a:stretch>
                  <a:fillRect l="-1054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76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Inner product &amp; extension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For quantum states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altLang="ko-KR" sz="24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2400" i="1" dirty="0" smtClean="0">
                    <a:latin typeface="Cambria Math" panose="02040503050406030204" pitchFamily="18" charset="0"/>
                  </a:rPr>
                  <a:t>			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altLang="ko-KR" sz="2400" dirty="0"/>
                  <a:t>		</a:t>
                </a:r>
                <a:r>
                  <a:rPr lang="en-US" altLang="ko-KR" sz="2400" dirty="0" smtClean="0"/>
                  <a:t>This measures “closeness”</a:t>
                </a:r>
                <a:r>
                  <a:rPr lang="en-US" altLang="ko-KR" sz="2400" dirty="0"/>
                  <a:t>	</a:t>
                </a:r>
              </a:p>
              <a:p>
                <a:pPr marL="0" indent="0">
                  <a:buNone/>
                </a:pPr>
                <a:r>
                  <a:rPr lang="en-US" altLang="ko-KR" sz="2000" dirty="0" smtClean="0"/>
                  <a:t>We 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,|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</m:oMath>
                </a14:m>
                <a:r>
                  <a:rPr lang="en-US" altLang="ko-KR" sz="2000" dirty="0" smtClean="0"/>
                  <a:t> as the distance between quantum states</a:t>
                </a: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We sometimes use the bra-</a:t>
                </a:r>
                <a:r>
                  <a:rPr lang="en-US" altLang="ko-KR" sz="2000" dirty="0" err="1" smtClean="0"/>
                  <a:t>ket</a:t>
                </a:r>
                <a:r>
                  <a:rPr lang="en-US" altLang="ko-KR" sz="2000" dirty="0" smtClean="0"/>
                  <a:t> notations for the </a:t>
                </a:r>
                <a:r>
                  <a:rPr lang="en-US" altLang="ko-KR" sz="2000" dirty="0" err="1" smtClean="0"/>
                  <a:t>unnormalized</a:t>
                </a:r>
                <a:r>
                  <a:rPr lang="en-US" altLang="ko-KR" sz="2000" dirty="0" smtClean="0"/>
                  <a:t> vectors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|+⟨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|⋅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altLang="ko-KR" sz="2000" dirty="0" smtClean="0"/>
              </a:p>
              <a:p>
                <a:r>
                  <a:rPr lang="en-US" altLang="ko-KR" sz="2000" dirty="0" smtClean="0"/>
                  <a:t>We define the norm of vector by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||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m:rPr>
                        <m:lit/>
                      </m:rPr>
                      <a:rPr lang="en-US" altLang="ko-KR" sz="20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rad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사각형 설명선 3"/>
          <p:cNvSpPr/>
          <p:nvPr/>
        </p:nvSpPr>
        <p:spPr>
          <a:xfrm>
            <a:off x="8595920" y="3695240"/>
            <a:ext cx="3096126" cy="705853"/>
          </a:xfrm>
          <a:prstGeom prst="wedgeRectCallout">
            <a:avLst>
              <a:gd name="adj1" fmla="val -41960"/>
              <a:gd name="adj2" fmla="val 920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Every states are normalized unless clearly noted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4539297" y="2323632"/>
                <a:ext cx="40566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i="1" dirty="0">
                    <a:latin typeface="Cambria Math" panose="02040503050406030204" pitchFamily="18" charset="0"/>
                  </a:rPr>
                  <a:t>…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⟩ 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dirty="0"/>
                  <a:t>for any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297" y="2323632"/>
                <a:ext cx="4056623" cy="369332"/>
              </a:xfrm>
              <a:prstGeom prst="rect">
                <a:avLst/>
              </a:prstGeom>
              <a:blipFill>
                <a:blip r:embed="rId3"/>
                <a:stretch>
                  <a:fillRect l="-1353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590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 smtClean="0"/>
              <a:t>Ket</a:t>
            </a:r>
            <a:r>
              <a:rPr lang="en-US" altLang="ko-KR" sz="4000" dirty="0" smtClean="0"/>
              <a:t>-bra notation = matrix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K</a:t>
                </a:r>
                <a:r>
                  <a:rPr lang="en-US" altLang="ko-KR" sz="2000" dirty="0" err="1"/>
                  <a:t>et</a:t>
                </a:r>
                <a:r>
                  <a:rPr lang="en-US" altLang="ko-KR" sz="2000" dirty="0"/>
                  <a:t>-bra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lang="en-US" altLang="ko-KR" sz="2000" dirty="0"/>
                  <a:t> = column vector-row vector multiplication = matrix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2000" dirty="0"/>
                  <a:t>, 	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2000" dirty="0"/>
                  <a:t>, 	</a:t>
                </a:r>
                <a:r>
                  <a:rPr lang="en-US" altLang="ko-KR" sz="2000" dirty="0" smtClean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=|0⟩⟨0|+|1⟩⟨1|</m:t>
                      </m:r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err="1" smtClean="0"/>
                  <a:t>Ket</a:t>
                </a:r>
                <a:r>
                  <a:rPr lang="en-US" altLang="ko-KR" sz="2000" dirty="0" smtClean="0"/>
                  <a:t>-bra-</a:t>
                </a:r>
                <a:r>
                  <a:rPr lang="en-US" altLang="ko-KR" sz="2000" dirty="0" err="1" smtClean="0"/>
                  <a:t>ket</a:t>
                </a:r>
                <a:r>
                  <a:rPr lang="en-US" altLang="ko-KR" sz="2000" dirty="0" smtClean="0"/>
                  <a:t> computation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|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39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Bra-</a:t>
            </a:r>
            <a:r>
              <a:rPr lang="en-US" sz="4000" dirty="0" err="1" smtClean="0"/>
              <a:t>ket</a:t>
            </a:r>
            <a:r>
              <a:rPr lang="en-US" sz="4000" dirty="0" smtClean="0"/>
              <a:t> </a:t>
            </a:r>
            <a:r>
              <a:rPr lang="en-US" sz="4000" dirty="0" smtClean="0"/>
              <a:t>notation summary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400" dirty="0" smtClean="0"/>
                  <a:t>Conjugate transpose of “</a:t>
                </a:r>
                <a:r>
                  <a:rPr lang="en-US" altLang="ko-KR" sz="2400" dirty="0" err="1" smtClean="0"/>
                  <a:t>ket</a:t>
                </a:r>
                <a:r>
                  <a:rPr lang="en-US" altLang="ko-KR" sz="2400" dirty="0" smtClean="0"/>
                  <a:t>” vector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 smtClean="0"/>
                  <a:t> is </a:t>
                </a:r>
                <a:r>
                  <a:rPr lang="en-US" altLang="ko-KR" sz="2400" dirty="0"/>
                  <a:t>denoted </a:t>
                </a:r>
                <a:r>
                  <a:rPr lang="en-US" altLang="ko-KR" sz="2400" dirty="0" smtClean="0"/>
                  <a:t>by “bra” vector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ko-KR" sz="24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400" dirty="0"/>
                  <a:t>		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ko-KR" sz="2400" dirty="0"/>
                  <a:t>	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r>
                  <a:rPr lang="en-US" altLang="ko-KR" sz="2400" dirty="0" smtClean="0"/>
                  <a:t>Bra-</a:t>
                </a:r>
                <a:r>
                  <a:rPr lang="en-US" altLang="ko-KR" sz="2400" dirty="0" err="1" smtClean="0"/>
                  <a:t>ket</a:t>
                </a:r>
                <a:r>
                  <a:rPr lang="en-US" altLang="ko-KR" sz="2400" dirty="0" smtClean="0"/>
                  <a:t> = inner product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altLang="ko-KR" sz="24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begChr m:val="⟨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begChr m:val="⟨"/>
                                  <m:endChr m:val="|"/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endChr m:val="⟩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ko-KR" sz="2400" dirty="0" smtClean="0"/>
              </a:p>
              <a:p>
                <a:r>
                  <a:rPr lang="en-US" altLang="ko-KR" sz="2400" dirty="0" smtClean="0"/>
                  <a:t>We defined orthogonal states and orthonormal basis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r>
                  <a:rPr lang="en-US" altLang="ko-KR" sz="2400" dirty="0" err="1" smtClean="0"/>
                  <a:t>Ket</a:t>
                </a:r>
                <a:r>
                  <a:rPr lang="en-US" altLang="ko-KR" sz="2400" dirty="0" smtClean="0"/>
                  <a:t>-bra = matrix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begChr m:val="⟨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begChr m:val="⟨"/>
                                  <m:endChr m:val="|"/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24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⟨"/>
                          <m:endChr m:val="|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3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98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smtClean="0"/>
              <a:t>Computations with bra-</a:t>
            </a:r>
            <a:r>
              <a:rPr lang="en-US" altLang="ko-KR" sz="4000" dirty="0" err="1" smtClean="0"/>
              <a:t>ket</a:t>
            </a:r>
            <a:r>
              <a:rPr lang="en-US" altLang="ko-KR" sz="4000" dirty="0" smtClean="0"/>
              <a:t> notations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=|0⟩⟨0|+|1⟩⟨1|</m:t>
                      </m:r>
                    </m:oMath>
                  </m:oMathPara>
                </a14:m>
                <a:endParaRPr lang="en-US" altLang="ko-KR" sz="2000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000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⟩⟨0|+|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⟩⟨1|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  <m:mr>
                              <m:e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⟩⟨0|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⟩⟨1|</m:t>
                      </m:r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dirty="0"/>
                        <m:t>(</m:t>
                      </m:r>
                      <m:r>
                        <m:rPr>
                          <m:nor/>
                        </m:rPr>
                        <a:rPr lang="en-US" altLang="ko-KR" sz="2000" dirty="0"/>
                        <m:t>do</m:t>
                      </m:r>
                      <m:r>
                        <m:rPr>
                          <m:nor/>
                        </m:rPr>
                        <a:rPr lang="en-US" altLang="ko-KR" sz="2000" dirty="0"/>
                        <m:t> </m:t>
                      </m:r>
                      <m:r>
                        <m:rPr>
                          <m:nor/>
                        </m:rPr>
                        <a:rPr lang="en-US" altLang="ko-KR" sz="2000" dirty="0"/>
                        <m:t>on</m:t>
                      </m:r>
                      <m:r>
                        <m:rPr>
                          <m:nor/>
                        </m:rPr>
                        <a:rPr lang="en-US" altLang="ko-KR" sz="2000" dirty="0"/>
                        <m:t> </m:t>
                      </m:r>
                      <m:r>
                        <m:rPr>
                          <m:nor/>
                        </m:rPr>
                        <a:rPr lang="en-US" altLang="ko-KR" sz="2000" dirty="0"/>
                        <m:t>board</m:t>
                      </m:r>
                      <m:r>
                        <m:rPr>
                          <m:nor/>
                        </m:rPr>
                        <a:rPr lang="en-US" altLang="ko-KR" sz="2000" dirty="0"/>
                        <m:t>)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|1⟩)=</m:t>
                    </m:r>
                  </m:oMath>
                </a14:m>
                <a:r>
                  <a:rPr lang="en-US" altLang="ko-KR" sz="2000" dirty="0"/>
                  <a:t> (do on board)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21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Examples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altLang="ko-KR" sz="2000" dirty="0" smtClean="0"/>
                  <a:t>Recall </a:t>
                </a:r>
                <a:r>
                  <a:rPr lang="en-CA" altLang="ko-KR" sz="2000" dirty="0" err="1" smtClean="0"/>
                  <a:t>Hadamard</a:t>
                </a:r>
                <a:r>
                  <a:rPr lang="en-CA" altLang="ko-KR" sz="2000" dirty="0" smtClean="0"/>
                  <a:t> </a:t>
                </a:r>
                <a:r>
                  <a:rPr lang="en-CA" altLang="ko-KR" sz="2000" dirty="0"/>
                  <a:t>matrix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2000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⟩⟨0|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⟩⟨1|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|+|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 algn="ctr">
                  <a:buNone/>
                </a:pPr>
                <a:r>
                  <a:rPr lang="en-US" altLang="ko-KR" sz="2000" dirty="0" smtClean="0"/>
                  <a:t>(Do computations on board)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6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Further computation </a:t>
            </a:r>
            <a:r>
              <a:rPr lang="en-US" sz="4000" dirty="0" smtClean="0"/>
              <a:t>with bra-</a:t>
            </a:r>
            <a:r>
              <a:rPr lang="en-US" sz="4000" dirty="0" err="1" smtClean="0"/>
              <a:t>ket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|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⋅|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Given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=|+⟩⟨0|+|−⟩⟨1|</m:t>
                    </m:r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=|0⟩⟨+|+|1⟩⟨−|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|+⟩⟨0|+|−⟩⟨1|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en-US" altLang="ko-KR" sz="2400" b="0" dirty="0" smtClean="0"/>
              </a:p>
              <a:p>
                <a:pPr marL="0" indent="0">
                  <a:buNone/>
                </a:pPr>
                <a:endParaRPr lang="en-US" altLang="ko-KR" sz="24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|0⟩⟨+|+|1⟩⟨−|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b="0" dirty="0" smtClean="0"/>
                  <a:t>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|+⟩⟨0|+|−⟩⟨1|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−|−⟩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=|1⟩</m:t>
                      </m:r>
                    </m:oMath>
                  </m:oMathPara>
                </a14:m>
                <a:endParaRPr lang="en-US" altLang="ko-KR" sz="2400" b="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23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Tensor product properties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For the matrices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2000" dirty="0" smtClean="0"/>
                  <a:t> of “right dimensions” (so that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en-US" altLang="ko-KR" sz="2000" dirty="0" smtClean="0"/>
                  <a:t> are well-defined):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For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2000" dirty="0" smtClean="0"/>
                  <a:t>-qubit unitary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000" dirty="0" smtClean="0"/>
                  <a:t>-qubit unitary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2000" dirty="0" smtClean="0"/>
                  <a:t>- and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000" dirty="0" smtClean="0"/>
                  <a:t>-qubit states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altLang="ko-KR" sz="2000" dirty="0" smtClean="0"/>
                  <a:t>:</a:t>
                </a: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⊗|+⟩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+−</m:t>
                          </m:r>
                        </m:e>
                      </m:d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𝐻𝐼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𝑍𝑍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++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−−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+|10⟩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|10⟩+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42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27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Unitary gate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Recall a one-qubit unitary transform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ko-KR" sz="2400" dirty="0"/>
                  <a:t> is represented by a </a:t>
                </a:r>
                <a:r>
                  <a:rPr lang="en-US" altLang="ko-KR" sz="2400" dirty="0" smtClean="0"/>
                  <a:t>2 by 2 matrix</a:t>
                </a:r>
                <a:r>
                  <a:rPr lang="en-US" altLang="ko-KR" sz="2400" dirty="0"/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CA" altLang="ko-KR" sz="2400" dirty="0" smtClean="0"/>
                  <a:t>The </a:t>
                </a:r>
                <a:r>
                  <a:rPr lang="en-CA" altLang="ko-KR" sz="2400" dirty="0"/>
                  <a:t>rows of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CA" altLang="ko-KR" sz="2400" dirty="0"/>
                  <a:t> form an orthonormal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altLang="ko-KR" sz="2400" dirty="0"/>
                  <a:t>, and the columns form an orthonormal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CA" altLang="ko-KR" sz="2400" dirty="0"/>
              </a:p>
              <a:p>
                <a:pPr marL="457200" indent="-457200">
                  <a:buAutoNum type="arabicPeriod"/>
                </a:pPr>
                <a:r>
                  <a:rPr lang="en-US" altLang="ko-KR" sz="2400" dirty="0"/>
                  <a:t>The inverse of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CA" altLang="ko-KR" sz="2400" dirty="0"/>
                  <a:t> is its Hermitian conjugate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ko-KR" sz="2400" dirty="0"/>
              </a:p>
              <a:p>
                <a:pPr marL="457200" indent="-457200">
                  <a:buAutoNum type="arabicPeriod"/>
                </a:pPr>
                <a:r>
                  <a:rPr lang="en-CA" altLang="ko-KR" sz="2400" dirty="0" smtClean="0"/>
                  <a:t>(New)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+|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⟩⟨1|</m:t>
                    </m:r>
                  </m:oMath>
                </a14:m>
                <a:r>
                  <a:rPr lang="en-CA" altLang="ko-KR" sz="2400" dirty="0" smtClean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CA" altLang="ko-KR" sz="2400" dirty="0" smtClean="0"/>
                  <a:t> form an orthonormal basis.</a:t>
                </a:r>
              </a:p>
              <a:p>
                <a:pPr marL="0" indent="0">
                  <a:buNone/>
                </a:pPr>
                <a:endParaRPr lang="en-CA" altLang="ko-KR" sz="2400" dirty="0" smtClean="0"/>
              </a:p>
              <a:p>
                <a:pPr marL="0" indent="0">
                  <a:buNone/>
                </a:pPr>
                <a:endParaRPr lang="en-CA" altLang="ko-K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1101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모서리가 둥근 직사각형 3"/>
          <p:cNvSpPr/>
          <p:nvPr/>
        </p:nvSpPr>
        <p:spPr>
          <a:xfrm>
            <a:off x="2621523" y="4701171"/>
            <a:ext cx="6875930" cy="6418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Briefly check on board: (1)=(2)=&gt;(3)=&gt;(1)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31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Unitary gate, n-qubit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altLang="ko-KR" sz="2400" dirty="0"/>
                  <a:t>n-qubit </a:t>
                </a:r>
                <a:r>
                  <a:rPr lang="en-CA" altLang="ko-KR" sz="2400" dirty="0" err="1"/>
                  <a:t>unitaries</a:t>
                </a:r>
                <a:r>
                  <a:rPr lang="en-CA" altLang="ko-KR" sz="2400" dirty="0"/>
                  <a:t> are defined similarly: </a:t>
                </a:r>
                <a:endParaRPr lang="en-US" altLang="ko-K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Recall a n-qubit unitary transform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ko-KR" sz="2400" dirty="0"/>
                  <a:t> is represented by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 matrix</a:t>
                </a:r>
                <a:r>
                  <a:rPr lang="en-US" altLang="ko-KR" sz="2400" dirty="0"/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CA" altLang="ko-KR" sz="2400" dirty="0" smtClean="0"/>
                  <a:t>The </a:t>
                </a:r>
                <a:r>
                  <a:rPr lang="en-CA" altLang="ko-KR" sz="2400" dirty="0"/>
                  <a:t>rows of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CA" altLang="ko-KR" sz="2400" dirty="0"/>
                  <a:t> form an orthonormal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CA" altLang="ko-KR" sz="2400" dirty="0"/>
                  <a:t>, and the columns form an orthonormal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CA" altLang="ko-KR" sz="2400" dirty="0"/>
              </a:p>
              <a:p>
                <a:pPr marL="457200" indent="-457200">
                  <a:buAutoNum type="arabicPeriod"/>
                </a:pPr>
                <a:r>
                  <a:rPr lang="en-US" altLang="ko-KR" sz="2400" dirty="0"/>
                  <a:t>The inverse of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CA" altLang="ko-KR" sz="2400" dirty="0"/>
                  <a:t> is its Hermitian conjugate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ko-KR" sz="2400" dirty="0"/>
              </a:p>
              <a:p>
                <a:pPr marL="457200" indent="-457200">
                  <a:buAutoNum type="arabicPeriod"/>
                </a:pPr>
                <a:r>
                  <a:rPr lang="en-CA" altLang="ko-KR" sz="2400" dirty="0" smtClean="0"/>
                  <a:t>(New)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⟩⟨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CA" altLang="ko-KR" sz="2400" dirty="0"/>
                  <a:t> for orthonormal basis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altLang="ko-KR" sz="2400" dirty="0" smtClean="0"/>
                  <a:t>.</a:t>
                </a:r>
              </a:p>
              <a:p>
                <a:pPr marL="0" indent="0">
                  <a:buNone/>
                </a:pPr>
                <a:endParaRPr lang="en-CA" altLang="ko-KR" sz="2400" dirty="0" smtClean="0"/>
              </a:p>
              <a:p>
                <a:pPr marL="0" indent="0">
                  <a:buNone/>
                </a:pPr>
                <a:endParaRPr lang="en-CA" altLang="ko-K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1101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01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n-qubit computational basis measurement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 altLang="ko-KR" sz="2400" dirty="0" smtClean="0"/>
                  <a:t> is measured (under the computational basis):</a:t>
                </a:r>
              </a:p>
              <a:p>
                <a:r>
                  <a:rPr lang="en-US" altLang="ko-KR" sz="2400" dirty="0" smtClean="0"/>
                  <a:t>You will get outcome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400" dirty="0" smtClean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2400" dirty="0" smtClean="0"/>
              </a:p>
              <a:p>
                <a:r>
                  <a:rPr lang="en-US" altLang="ko-KR" sz="2400" dirty="0" smtClean="0"/>
                  <a:t>After seeing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400" dirty="0" smtClean="0"/>
                  <a:t>, the state collapsed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Example: </a:t>
                </a:r>
              </a:p>
              <a:p>
                <a:r>
                  <a:rPr lang="en-US" altLang="ko-KR" sz="2400" dirty="0" smtClean="0"/>
                  <a:t>Measure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+|11⟩</m:t>
                        </m:r>
                      </m:e>
                    </m:d>
                  </m:oMath>
                </a14:m>
                <a:endParaRPr lang="en-US" altLang="ko-KR" sz="2400" dirty="0" smtClean="0"/>
              </a:p>
              <a:p>
                <a:r>
                  <a:rPr lang="en-US" altLang="ko-KR" sz="2400" dirty="0" smtClean="0"/>
                  <a:t>Measure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|10⟩+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altLang="ko-K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 t="-129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4630723" y="4590635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51" y="4346896"/>
            <a:ext cx="571580" cy="447737"/>
          </a:xfrm>
          <a:prstGeom prst="rect">
            <a:avLst/>
          </a:prstGeom>
        </p:spPr>
      </p:pic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4630723" y="4094964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51" y="3851225"/>
            <a:ext cx="571580" cy="447737"/>
          </a:xfrm>
          <a:prstGeom prst="rect">
            <a:avLst/>
          </a:prstGeom>
        </p:spPr>
      </p:pic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4630723" y="3608225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51" y="3364486"/>
            <a:ext cx="571580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891082" y="3890427"/>
                <a:ext cx="5844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082" y="3890427"/>
                <a:ext cx="584455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왼쪽 중괄호 13"/>
          <p:cNvSpPr/>
          <p:nvPr/>
        </p:nvSpPr>
        <p:spPr>
          <a:xfrm>
            <a:off x="4412609" y="3429000"/>
            <a:ext cx="125835" cy="136563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94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Partial measurement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A8FCB-12CC-692A-1B75-ED3ACF8A8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 smtClean="0"/>
              <a:t>What happens if we only measure the first qubit of the system?</a:t>
            </a:r>
          </a:p>
          <a:p>
            <a:pPr marL="0" indent="0">
              <a:buNone/>
            </a:pPr>
            <a:endParaRPr lang="en-US" altLang="ko-KR" sz="2400" dirty="0" smtClean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smtClean="0"/>
              <a:t>What is this?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 smtClean="0"/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4968638" y="5122033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4968638" y="4635294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966" y="4391555"/>
            <a:ext cx="571580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4166069" y="4686782"/>
                <a:ext cx="5844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069" y="4686782"/>
                <a:ext cx="584455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왼쪽 중괄호 13"/>
          <p:cNvSpPr/>
          <p:nvPr/>
        </p:nvSpPr>
        <p:spPr>
          <a:xfrm>
            <a:off x="4750524" y="4456069"/>
            <a:ext cx="218114" cy="83075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56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Distribution of the outcome: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with equal probability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Post-measurement state given outcome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⊗|−⟩</m:t>
                      </m:r>
                    </m:oMath>
                  </m:oMathPara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This is “</a:t>
                </a:r>
                <a:r>
                  <a:rPr lang="en-US" altLang="ko-KR" sz="2400" dirty="0" err="1" smtClean="0"/>
                  <a:t>unentangled</a:t>
                </a:r>
                <a:r>
                  <a:rPr lang="en-US" altLang="ko-KR" sz="2400" dirty="0" smtClean="0"/>
                  <a:t>” state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035750" y="2556103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035750" y="2069364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78" y="1825625"/>
            <a:ext cx="571580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560049" y="2120852"/>
                <a:ext cx="12575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⊗|−⟩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049" y="2120852"/>
                <a:ext cx="1257587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왼쪽 중괄호 13"/>
          <p:cNvSpPr/>
          <p:nvPr/>
        </p:nvSpPr>
        <p:spPr>
          <a:xfrm>
            <a:off x="4817636" y="1890139"/>
            <a:ext cx="218114" cy="83075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85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Distribution of the outcome: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with equal probability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Post-measurement state given outcome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</m:oMath>
                  </m:oMathPara>
                </a14:m>
                <a:endParaRPr lang="en-US" altLang="ko-KR" sz="2400" b="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/>
                  <a:t>Post-measurement state given outcome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ko-KR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035750" y="2556103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035750" y="2069364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78" y="1825625"/>
            <a:ext cx="571580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2939558" y="1941059"/>
                <a:ext cx="1878078" cy="664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+|11⟩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558" y="1941059"/>
                <a:ext cx="1878078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왼쪽 중괄호 13"/>
          <p:cNvSpPr/>
          <p:nvPr/>
        </p:nvSpPr>
        <p:spPr>
          <a:xfrm>
            <a:off x="4817636" y="1890139"/>
            <a:ext cx="218114" cy="83075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40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Distribution of the outcome: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Post-measurement state given outcome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</m:oMath>
                  </m:oMathPara>
                </a14:m>
                <a:endParaRPr lang="en-US" altLang="ko-KR" sz="2400" b="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/>
                  <a:t>Post-measurement state given outcome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ko-KR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ra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|1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16594" y="2197297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5916594" y="1710558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22" y="1466819"/>
            <a:ext cx="571580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2709143" y="1614409"/>
                <a:ext cx="3011273" cy="664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|10⟩+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143" y="1614409"/>
                <a:ext cx="3011273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왼쪽 중괄호 13"/>
          <p:cNvSpPr/>
          <p:nvPr/>
        </p:nvSpPr>
        <p:spPr>
          <a:xfrm>
            <a:off x="5698480" y="1531333"/>
            <a:ext cx="218114" cy="83075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94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Things to check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</a:t>
                </a:r>
                <a:r>
                  <a:rPr lang="en-US" altLang="ko-KR" sz="2000" dirty="0"/>
                  <a:t>say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ko-KR" sz="2000" dirty="0"/>
                  <a:t> is </a:t>
                </a:r>
                <a:r>
                  <a:rPr lang="en-US" altLang="ko-KR" sz="2000" dirty="0" err="1"/>
                  <a:t>unentangled</a:t>
                </a:r>
                <a:r>
                  <a:rPr lang="en-US" altLang="ko-KR" sz="2000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⊗|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000" dirty="0"/>
                  <a:t> for some two states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/>
                  <a:t>Otherwise,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ko-KR" sz="2000" dirty="0"/>
                  <a:t> is an entangled state</a:t>
                </a: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Two </a:t>
                </a:r>
                <a:r>
                  <a:rPr lang="en-US" altLang="ko-KR" sz="2000" dirty="0"/>
                  <a:t>qubits are </a:t>
                </a:r>
                <a:r>
                  <a:rPr lang="en-US" altLang="ko-KR" sz="2000" dirty="0" err="1" smtClean="0"/>
                  <a:t>unentangled</a:t>
                </a:r>
                <a:r>
                  <a:rPr lang="en-US" altLang="ko-KR" sz="2000" dirty="0" smtClean="0"/>
                  <a:t>, then </a:t>
                </a:r>
                <a:r>
                  <a:rPr lang="en-US" altLang="ko-KR" sz="2000" dirty="0"/>
                  <a:t>measuring </a:t>
                </a:r>
                <a:r>
                  <a:rPr lang="en-US" altLang="ko-KR" sz="2000" dirty="0" smtClean="0"/>
                  <a:t>one </a:t>
                </a:r>
                <a:r>
                  <a:rPr lang="en-US" altLang="ko-KR" sz="2000" dirty="0"/>
                  <a:t>qubit does not affect </a:t>
                </a:r>
                <a:r>
                  <a:rPr lang="en-US" altLang="ko-KR" sz="2000" dirty="0" smtClean="0"/>
                  <a:t>the other </a:t>
                </a:r>
                <a:r>
                  <a:rPr lang="en-US" altLang="ko-KR" sz="2000" dirty="0"/>
                  <a:t>qubit</a:t>
                </a:r>
                <a:r>
                  <a:rPr lang="en-US" altLang="ko-KR" sz="2000" dirty="0" smtClean="0"/>
                  <a:t>!</a:t>
                </a: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Measuring </a:t>
                </a:r>
                <a:r>
                  <a:rPr lang="en-US" altLang="ko-KR" sz="2000" dirty="0"/>
                  <a:t>second qubit </a:t>
                </a:r>
                <a:r>
                  <a:rPr lang="en-US" altLang="ko-KR" sz="2000" i="1" dirty="0"/>
                  <a:t>does affect</a:t>
                </a:r>
                <a:r>
                  <a:rPr lang="en-US" altLang="ko-KR" sz="2000" dirty="0"/>
                  <a:t> first qubit for the entangled states! </a:t>
                </a: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Yet it is consistent with measuring both states </a:t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>(i.e., the order of measurement does not matter)</a:t>
                </a: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894847" y="5410280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894847" y="4923541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040" y="4708604"/>
            <a:ext cx="571580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687396" y="4827392"/>
                <a:ext cx="3011273" cy="6646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|10⟩+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96" y="4827392"/>
                <a:ext cx="3011273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왼쪽 중괄호 17"/>
          <p:cNvSpPr/>
          <p:nvPr/>
        </p:nvSpPr>
        <p:spPr>
          <a:xfrm>
            <a:off x="3676733" y="4744316"/>
            <a:ext cx="218114" cy="83075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500" y="5195343"/>
            <a:ext cx="571580" cy="447737"/>
          </a:xfrm>
          <a:prstGeom prst="rect">
            <a:avLst/>
          </a:prstGeom>
        </p:spPr>
      </p:pic>
      <p:cxnSp>
        <p:nvCxnSpPr>
          <p:cNvPr id="20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 flipV="1">
            <a:off x="8952191" y="5377343"/>
            <a:ext cx="2289057" cy="4067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8952191" y="4931279"/>
            <a:ext cx="2261320" cy="89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844" y="4716342"/>
            <a:ext cx="571580" cy="447737"/>
          </a:xfrm>
          <a:prstGeom prst="rect">
            <a:avLst/>
          </a:prstGeom>
        </p:spPr>
      </p:pic>
      <p:sp>
        <p:nvSpPr>
          <p:cNvPr id="24" name="왼쪽 중괄호 23"/>
          <p:cNvSpPr/>
          <p:nvPr/>
        </p:nvSpPr>
        <p:spPr>
          <a:xfrm>
            <a:off x="8734077" y="4752054"/>
            <a:ext cx="218114" cy="83075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844" y="5203081"/>
            <a:ext cx="571580" cy="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7459617" y="4971675"/>
                <a:ext cx="4395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17" y="4971675"/>
                <a:ext cx="4395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31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4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Define partial measurement (2-qubit)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can observe only the first qubit of the system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altLang="ko-KR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altLang="ko-K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|11⟩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We will get</a:t>
                </a:r>
              </a:p>
              <a:p>
                <a:r>
                  <a:rPr lang="en-US" altLang="ko-KR" sz="2000" dirty="0" smtClean="0"/>
                  <a:t>the outcome </a:t>
                </a:r>
                <a:r>
                  <a:rPr lang="en-US" altLang="ko-KR" sz="2000" dirty="0" smtClean="0">
                    <a:solidFill>
                      <a:srgbClr val="FF0000"/>
                    </a:solidFill>
                  </a:rPr>
                  <a:t>0</a:t>
                </a:r>
                <a:r>
                  <a:rPr lang="en-US" altLang="ko-KR" sz="2000" dirty="0" smtClean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 and the state collapsed to</a:t>
                </a:r>
              </a:p>
              <a:p>
                <a:pPr marL="0" indent="0">
                  <a:buNone/>
                </a:pPr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|01⟩</m:t>
                    </m:r>
                  </m:oMath>
                </a14:m>
                <a:r>
                  <a:rPr lang="en-US" altLang="ko-KR" sz="2400" dirty="0" smtClean="0"/>
                  <a:t> (up to normalization) =</a:t>
                </a:r>
                <a:endParaRPr lang="en-US" altLang="ko-KR" sz="240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  <m:r>
                            <a:rPr lang="en-US" altLang="ko-K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|01⟩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00</m:t>
                                  </m:r>
                                </m:e>
                              </m:d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|01⟩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e>
                          </m:rad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altLang="ko-K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  <m:r>
                            <a:rPr lang="en-US" altLang="ko-K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|01⟩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00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01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r>
                  <a:rPr lang="en-US" altLang="ko-KR" sz="2000" dirty="0" smtClean="0"/>
                  <a:t>or </a:t>
                </a:r>
                <a:r>
                  <a:rPr lang="en-US" altLang="ko-KR" sz="2000" dirty="0"/>
                  <a:t>the outcome </a:t>
                </a:r>
                <a:r>
                  <a:rPr lang="en-US" altLang="ko-KR" sz="2000" dirty="0" smtClean="0">
                    <a:solidFill>
                      <a:srgbClr val="0070C0"/>
                    </a:solidFill>
                  </a:rPr>
                  <a:t>1</a:t>
                </a:r>
                <a:r>
                  <a:rPr lang="en-US" altLang="ko-KR" sz="2000" dirty="0" smtClean="0"/>
                  <a:t> </a:t>
                </a:r>
                <a:r>
                  <a:rPr lang="en-US" altLang="ko-KR" sz="2000" dirty="0"/>
                  <a:t>with </a:t>
                </a:r>
                <a:r>
                  <a:rPr lang="en-US" altLang="ko-KR" sz="2000" dirty="0" smtClean="0"/>
                  <a:t>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/>
                  <a:t>and the state collapsed to</a:t>
                </a:r>
              </a:p>
              <a:p>
                <a:pPr marL="0" indent="0">
                  <a:buNone/>
                </a:pPr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1⟩</m:t>
                    </m:r>
                  </m:oMath>
                </a14:m>
                <a:r>
                  <a:rPr lang="en-US" altLang="ko-KR" sz="2400" dirty="0" smtClean="0"/>
                  <a:t>	</a:t>
                </a:r>
                <a:r>
                  <a:rPr lang="en-US" altLang="ko-KR" sz="2400" dirty="0"/>
                  <a:t> (up to normalization) = </a:t>
                </a:r>
                <a:r>
                  <a:rPr lang="en-US" altLang="ko-KR" sz="2400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1⟩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8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64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Partial measurement (n-qubit)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can observe only the first qubit of the system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We will get</a:t>
                </a:r>
              </a:p>
              <a:p>
                <a:r>
                  <a:rPr lang="en-US" altLang="ko-KR" sz="2000" dirty="0" smtClean="0"/>
                  <a:t>the outcome 0 with probability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 sz="200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sz="2000" dirty="0" smtClean="0"/>
                  <a:t> and the state collapsed to</a:t>
                </a:r>
              </a:p>
              <a:p>
                <a:pPr marL="0" indent="0">
                  <a:buNone/>
                </a:pPr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sz="2000" dirty="0" smtClean="0"/>
              </a:p>
              <a:p>
                <a:r>
                  <a:rPr lang="en-US" altLang="ko-KR" sz="2000" dirty="0" smtClean="0"/>
                  <a:t>or </a:t>
                </a:r>
                <a:r>
                  <a:rPr lang="en-US" altLang="ko-KR" sz="2000" dirty="0"/>
                  <a:t>the outcome </a:t>
                </a:r>
                <a:r>
                  <a:rPr lang="en-US" altLang="ko-KR" sz="2000" dirty="0" smtClean="0"/>
                  <a:t>1 </a:t>
                </a:r>
                <a:r>
                  <a:rPr lang="en-US" altLang="ko-KR" sz="2000" dirty="0"/>
                  <a:t>with probability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 sz="200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sz="2000" dirty="0"/>
                  <a:t> and the state collapsed to</a:t>
                </a:r>
              </a:p>
              <a:p>
                <a:pPr marL="0" indent="0">
                  <a:buNone/>
                </a:pPr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b="1" dirty="0" smtClean="0"/>
                  <a:t>up to normalization</a:t>
                </a:r>
                <a:endParaRPr lang="en-US" altLang="ko-KR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892" b="-2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8368912" y="3592648"/>
                <a:ext cx="3261614" cy="12983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0,1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|"/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ko-KR" altLang="en-US" sz="2400">
                                              <a:latin typeface="Cambria Math" panose="02040503050406030204" pitchFamily="18" charset="0"/>
                                            </a:rPr>
                                            <m:t>​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altLang="ko-KR" sz="24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912" y="3592648"/>
                <a:ext cx="3261614" cy="1298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82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can observe only the second register (=last 3 qubits) of the system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010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111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|111⟩</m:t>
                      </m:r>
                    </m:oMath>
                  </m:oMathPara>
                </a14:m>
                <a:endParaRPr lang="en-US" altLang="ko-KR" sz="2000" dirty="0"/>
              </a:p>
              <a:p>
                <a:endParaRPr lang="en-US" altLang="ko-KR" sz="2000" dirty="0" smtClean="0"/>
              </a:p>
              <a:p>
                <a:r>
                  <a:rPr lang="en-US" altLang="ko-KR" sz="2000" dirty="0" smtClean="0"/>
                  <a:t>the outcome 101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2000" dirty="0" smtClean="0"/>
                  <a:t> and the state collapsed to</a:t>
                </a:r>
              </a:p>
              <a:p>
                <a:pPr marL="0" indent="0">
                  <a:buNone/>
                </a:pPr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000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101</m:t>
                                  </m:r>
                                </m:e>
                              </m:d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101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|101⟩</m:t>
                      </m:r>
                    </m:oMath>
                  </m:oMathPara>
                </a14:m>
                <a:endParaRPr lang="en-US" altLang="ko-KR" sz="2000" dirty="0" smtClean="0"/>
              </a:p>
              <a:p>
                <a:r>
                  <a:rPr lang="en-US" altLang="ko-KR" sz="2000" dirty="0" smtClean="0"/>
                  <a:t>or </a:t>
                </a:r>
                <a:r>
                  <a:rPr lang="en-US" altLang="ko-KR" sz="2000" dirty="0"/>
                  <a:t>the outcome </a:t>
                </a:r>
                <a:r>
                  <a:rPr lang="en-US" altLang="ko-KR" sz="2000" dirty="0" smtClean="0"/>
                  <a:t>111 </a:t>
                </a:r>
              </a:p>
              <a:p>
                <a:pPr marL="0" indent="0" algn="ctr">
                  <a:buNone/>
                </a:pPr>
                <a:r>
                  <a:rPr lang="en-US" altLang="ko-KR" sz="2000" dirty="0" smtClean="0"/>
                  <a:t>(on board)</a:t>
                </a:r>
              </a:p>
              <a:p>
                <a:endParaRPr lang="en-US" altLang="ko-KR" sz="2000" dirty="0" smtClean="0"/>
              </a:p>
              <a:p>
                <a:r>
                  <a:rPr lang="en-US" altLang="ko-KR" sz="2000" dirty="0" smtClean="0"/>
                  <a:t>Measuring the first register (=first 3qubits) on board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8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49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Measure after unitary = General measurement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400" dirty="0" smtClean="0"/>
                  <a:t> be an orthonormal basis and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⟨"/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Consider measure-after-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 </a:t>
                </a:r>
              </a:p>
              <a:p>
                <a:r>
                  <a:rPr lang="en-US" altLang="ko-KR" sz="2400" b="0" dirty="0" smtClean="0"/>
                  <a:t>Getting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400" b="0" dirty="0" smtClean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p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and then apply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ko-KR" sz="2400" dirty="0" smtClean="0"/>
                  <a:t>?</a:t>
                </a: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ko-KR" sz="2400" dirty="0"/>
                  <a:t> is measured under the </a:t>
                </a:r>
                <a:r>
                  <a:rPr lang="en-US" altLang="ko-KR" sz="2400" i="1" dirty="0"/>
                  <a:t>orthonormal basis</a:t>
                </a:r>
                <a:r>
                  <a:rPr lang="en-US" altLang="ko-KR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/>
                  <a:t> means:</a:t>
                </a:r>
              </a:p>
              <a:p>
                <a:r>
                  <a:rPr lang="en-US" altLang="ko-KR" sz="2400" dirty="0"/>
                  <a:t>You will get outcome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400" dirty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2400" dirty="0"/>
              </a:p>
              <a:p>
                <a:r>
                  <a:rPr lang="en-US" altLang="ko-KR" sz="2400" dirty="0"/>
                  <a:t>After seeing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400" dirty="0"/>
                  <a:t>, the state collapsed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 t="-129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6669248" y="4489967"/>
            <a:ext cx="370127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576" y="4246228"/>
            <a:ext cx="571580" cy="447737"/>
          </a:xfrm>
          <a:prstGeom prst="rect">
            <a:avLst/>
          </a:prstGeom>
        </p:spPr>
      </p:pic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6669248" y="3994296"/>
            <a:ext cx="370127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576" y="3750557"/>
            <a:ext cx="571580" cy="447737"/>
          </a:xfrm>
          <a:prstGeom prst="rect">
            <a:avLst/>
          </a:prstGeom>
        </p:spPr>
      </p:pic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6669248" y="3507557"/>
            <a:ext cx="388410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576" y="3263818"/>
            <a:ext cx="571580" cy="447737"/>
          </a:xfrm>
          <a:prstGeom prst="rect">
            <a:avLst/>
          </a:prstGeom>
        </p:spPr>
      </p:pic>
      <p:sp>
        <p:nvSpPr>
          <p:cNvPr id="11" name="Rectangle 8">
            <a:extLst>
              <a:ext uri="{FF2B5EF4-FFF2-40B4-BE49-F238E27FC236}">
                <a16:creationId xmlns:a16="http://schemas.microsoft.com/office/drawing/2014/main" id="{8F8C30A2-A972-77DA-0C5B-305510918A61}"/>
              </a:ext>
            </a:extLst>
          </p:cNvPr>
          <p:cNvSpPr/>
          <p:nvPr/>
        </p:nvSpPr>
        <p:spPr>
          <a:xfrm>
            <a:off x="6870584" y="3263817"/>
            <a:ext cx="1563905" cy="1430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/>
              <p:nvPr/>
            </p:nvSpPr>
            <p:spPr>
              <a:xfrm>
                <a:off x="7331622" y="3684224"/>
                <a:ext cx="64182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622" y="3684224"/>
                <a:ext cx="64182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5928461" y="3750557"/>
                <a:ext cx="5844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461" y="3750557"/>
                <a:ext cx="584455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왼쪽 중괄호 13"/>
          <p:cNvSpPr/>
          <p:nvPr/>
        </p:nvSpPr>
        <p:spPr>
          <a:xfrm>
            <a:off x="6449988" y="3289130"/>
            <a:ext cx="125835" cy="136563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F8C30A2-A972-77DA-0C5B-305510918A61}"/>
              </a:ext>
            </a:extLst>
          </p:cNvPr>
          <p:cNvSpPr/>
          <p:nvPr/>
        </p:nvSpPr>
        <p:spPr>
          <a:xfrm>
            <a:off x="9515407" y="3242072"/>
            <a:ext cx="1563905" cy="1430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/>
              <p:nvPr/>
            </p:nvSpPr>
            <p:spPr>
              <a:xfrm>
                <a:off x="9976445" y="3662479"/>
                <a:ext cx="64182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15F584D-43C4-54C5-127E-34070AEF5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445" y="3662479"/>
                <a:ext cx="64182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33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Example: High-dimensional Cat state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+|110⟩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or just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+|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⟩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 smtClean="0"/>
                  <a:t> for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altLang="ko-KR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=110</m:t>
                    </m:r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r>
                  <a:rPr lang="en-US" altLang="ko-KR" sz="2000" dirty="0" smtClean="0"/>
                  <a:t>Measure under the computational basis?</a:t>
                </a:r>
              </a:p>
              <a:p>
                <a:r>
                  <a:rPr lang="en-US" altLang="ko-KR" sz="2000" dirty="0" smtClean="0"/>
                  <a:t>Measure the first or second qubit?</a:t>
                </a:r>
              </a:p>
              <a:p>
                <a:r>
                  <a:rPr lang="en-US" altLang="ko-KR" sz="2000" dirty="0" smtClean="0"/>
                  <a:t>Measure under the basis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000" dirty="0" smtClean="0"/>
                  <a:t>, and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000" dirty="0" smtClean="0"/>
                  <a:t> for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2000" dirty="0" smtClean="0"/>
                  <a:t>?</a:t>
                </a: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66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11070</TotalTime>
  <Words>315</Words>
  <Application>Microsoft Office PowerPoint</Application>
  <PresentationFormat>와이드스크린</PresentationFormat>
  <Paragraphs>258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Cambria Math</vt:lpstr>
      <vt:lpstr>Office 테마</vt:lpstr>
      <vt:lpstr>Introduction to  Quantum Algorithms</vt:lpstr>
      <vt:lpstr>n-qubit quantum state</vt:lpstr>
      <vt:lpstr>Dual vector: “bra”</vt:lpstr>
      <vt:lpstr>Bra-ket notation = Inner product</vt:lpstr>
      <vt:lpstr>Inner product &amp; extension</vt:lpstr>
      <vt:lpstr>Ket-bra notation = matrix</vt:lpstr>
      <vt:lpstr>Bra-ket notation summary</vt:lpstr>
      <vt:lpstr>Computations with bra-ket notations</vt:lpstr>
      <vt:lpstr>Examples</vt:lpstr>
      <vt:lpstr>Further computation with bra-ket</vt:lpstr>
      <vt:lpstr>Tensor product properties</vt:lpstr>
      <vt:lpstr>Example</vt:lpstr>
      <vt:lpstr>Unitary gate</vt:lpstr>
      <vt:lpstr>Unitary gate, n-qubit</vt:lpstr>
      <vt:lpstr>n-qubit computational basis measurement</vt:lpstr>
      <vt:lpstr>Partial measurement</vt:lpstr>
      <vt:lpstr>Examples</vt:lpstr>
      <vt:lpstr>Examples</vt:lpstr>
      <vt:lpstr>Examples</vt:lpstr>
      <vt:lpstr>Things to check</vt:lpstr>
      <vt:lpstr>Define partial measurement (2-qubit)</vt:lpstr>
      <vt:lpstr>Partial measurement (n-qubit)</vt:lpstr>
      <vt:lpstr>Example</vt:lpstr>
      <vt:lpstr>Measure after unitary = General measurement</vt:lpstr>
      <vt:lpstr>Example: High-dimensional Cat 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Quantum Algorithms</dc:title>
  <dc:creator>Minki Hhan</dc:creator>
  <cp:lastModifiedBy>Minki Hhan</cp:lastModifiedBy>
  <cp:revision>149</cp:revision>
  <dcterms:created xsi:type="dcterms:W3CDTF">2026-02-24T07:16:23Z</dcterms:created>
  <dcterms:modified xsi:type="dcterms:W3CDTF">2026-03-31T01:57:44Z</dcterms:modified>
</cp:coreProperties>
</file>